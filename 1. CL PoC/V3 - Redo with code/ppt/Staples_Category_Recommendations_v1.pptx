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0e59c2c-3ee7-fc46-da95-0d8f05761d7a}">
          <p14:sldIdLst>
            <p14:sldId id="256"/>
          </p14:sldIdLst>
        </p14:section>
        <p14:section name="Category recommendations" id="{cf35e525-32c0-638f-b930-95977e374cba}">
          <p14:sldIdLst>
            <p14:sldId id="257"/>
          </p14:sldIdLst>
        </p14:section>
        <p14:section name="Tech architecture" id="{52a9ed63-e45c-d046-4471-71a20a00a0a0}">
          <p14:sldIdLst>
            <p14:sldId id="258"/>
          </p14:sldIdLst>
        </p14:section>
        <p14:section name="Close" id="{442a0a23-807a-bce5-efa3-54486940d1eb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Pat which categories Staples could open to marketplace sellers, and how we arrived at them. Two slides: the recommendations (one decision picture), then the architecture behind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read: each bubble is one category opportunity, i.e. related sub-categories in one zone and one Staples department. Up = closer to what Staples already sells (AAS, Adjacency Affinity Score). Right = more risk of taking sales from Staples' own range (CRS, Cannibalisation Risk Score). Bubble size = total opportunity score O. Only sub-categories carried by 2+ competitors count.
CURATE (11), open to curated sellers now: Garment Steamers &amp; Irons (Sewing Machines, Fabric); Concrete &amp; Asphalt Maintenance (Work Lights, Chain, Rope &amp; Tie Downs); Clay and Modeling (Craft Supplies); Workbenches (Buffet Tables &amp; Sideboards); Refrigerators (Dining &amp; Tableware).
VERTICAL EXTENSION (10), phase 2 through a vertical Staples already serves: Home &amp; Office Decor (Rugs, Dressers); Forklift Booms (Loading Dock Levelers, Lock Bolts); Calibration (Mechanical Pulleys, Address Numbers &amp; Plaques); Garbage Disposals (Ramekins &amp; Souffle Dishes, Griddles, Grills &amp; Waffle Makers); Microscope Sample Slides (single sub-category).
REVIEW (12), merchant decision with sales and margin data: Outdoor Lighting (TV Stands, Bookcases &amp; Bookshelves); Electrical (Bathroom Tiles &amp; Flooring, Patio Heater Replacement Parts); Popcorn (Gummy &amp; Chewy Candy, Nuts &amp; Seeds); Dinnerware (Flatware); Wall Ovens (Microwaves).
1P-CORE GAP (10), keep in 1P and fix the range (not labelled). Off-brand and brand-unsafe categories (e.g. adult, weapons, livestock) are screened out and not plotted.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to right. 1 Acquire: the Staples tree plus five competitor trees, every row accounted for. 2 Clean: one shared scope, deep levels folded into their parents, Office Depot's orphan pages placed, row reconciliation. 3 Match: two independent engines. Method V reads category names with a sentence-embedding model (bge-base) and searches a Qdrant vector database for the nearest Staples shelf. Method G builds a knowledge graph of all six trees and spreads similarity through it (similarity flooding, PageRank). Each is calibrated per competitor on labelled checks. 4 Combine: a category counts as missing only when both engines agree; flagged gaps were reviewed by hand, and labelled rows override the models. 5 Score: AAS adjacency, CRS cannibalisation risk, BFS workplace brand fit, EASE ease of launch and PC peer consensus roll up into one opportunity score O, discounted by CRS. 6 Zone &amp; rank: each category lands in a zone; related sub-categories in the same zone and Staples department form one opportunity. A 500-run stress test and 200 label bootstraps check that the zones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737360"/>
            <a:ext cx="76809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rgbClr val="F2A7A7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14884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703320"/>
            <a:ext cx="75895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D3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9AA6BF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LOS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rgbClr val="F2A7A7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51460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611880"/>
            <a:ext cx="69494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9D3E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9AA6BF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15568"/>
            <a:ext cx="110642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5B6170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slideLayout" Target="../slideLayouts/slideLayout4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_bubble_1"/>
          <p:cNvSpPr/>
          <p:nvPr/>
        </p:nvSpPr>
        <p:spPr>
          <a:xfrm>
            <a:off x="9784080" y="1143000"/>
            <a:ext cx="1554480" cy="1554480"/>
          </a:xfrm>
          <a:prstGeom prst="ellipse">
            <a:avLst/>
          </a:prstGeom>
          <a:solidFill>
            <a:srgbClr val="008300">
              <a:alpha val="95000"/>
            </a:srgbClr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motif_bubble_2"/>
          <p:cNvSpPr/>
          <p:nvPr/>
        </p:nvSpPr>
        <p:spPr>
          <a:xfrm>
            <a:off x="8915400" y="2788920"/>
            <a:ext cx="960120" cy="960120"/>
          </a:xfrm>
          <a:prstGeom prst="ellipse">
            <a:avLst/>
          </a:prstGeom>
          <a:solidFill>
            <a:srgbClr val="2A78D6">
              <a:alpha val="95000"/>
            </a:srgbClr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" name="motif_bubble_3"/>
          <p:cNvSpPr/>
          <p:nvPr/>
        </p:nvSpPr>
        <p:spPr>
          <a:xfrm>
            <a:off x="10515600" y="3017520"/>
            <a:ext cx="1234440" cy="1234440"/>
          </a:xfrm>
          <a:prstGeom prst="ellipse">
            <a:avLst/>
          </a:prstGeom>
          <a:solidFill>
            <a:srgbClr val="EDA100">
              <a:alpha val="95000"/>
            </a:srgbClr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motif_bubble_4"/>
          <p:cNvSpPr/>
          <p:nvPr/>
        </p:nvSpPr>
        <p:spPr>
          <a:xfrm>
            <a:off x="9555480" y="4434840"/>
            <a:ext cx="685800" cy="685800"/>
          </a:xfrm>
          <a:prstGeom prst="ellipse">
            <a:avLst/>
          </a:prstGeom>
          <a:solidFill>
            <a:srgbClr val="E34948">
              <a:alpha val="95000"/>
            </a:srgbClr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motif_bubble_5"/>
          <p:cNvSpPr/>
          <p:nvPr/>
        </p:nvSpPr>
        <p:spPr>
          <a:xfrm>
            <a:off x="10972800" y="4754880"/>
            <a:ext cx="457200" cy="457200"/>
          </a:xfrm>
          <a:prstGeom prst="ellipse">
            <a:avLst/>
          </a:prstGeom>
          <a:solidFill>
            <a:srgbClr val="008300">
              <a:alpha val="70000"/>
            </a:srgbClr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motif_bubble_6"/>
          <p:cNvSpPr/>
          <p:nvPr/>
        </p:nvSpPr>
        <p:spPr>
          <a:xfrm>
            <a:off x="8549640" y="4983480"/>
            <a:ext cx="365760" cy="365760"/>
          </a:xfrm>
          <a:prstGeom prst="ellipse">
            <a:avLst/>
          </a:prstGeom>
          <a:solidFill>
            <a:srgbClr val="EDA100">
              <a:alpha val="70000"/>
            </a:srgbClr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motif_bubble_7"/>
          <p:cNvSpPr/>
          <p:nvPr/>
        </p:nvSpPr>
        <p:spPr>
          <a:xfrm>
            <a:off x="11338560" y="1005840"/>
            <a:ext cx="347472" cy="347472"/>
          </a:xfrm>
          <a:prstGeom prst="ellipse">
            <a:avLst/>
          </a:prstGeom>
          <a:solidFill>
            <a:srgbClr val="2A78D6">
              <a:alpha val="70000"/>
            </a:srgbClr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0"/>
          <p:cNvSpPr/>
          <p:nvPr>
            <p:ph idx="100" type="body" hasCustomPrompt="1"/>
          </p:nvPr>
        </p:nvSpPr>
        <p:spPr>
          <a:xfrm>
            <a:off x="731520" y="1737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7A7"/>
                </a:solidFill>
              </a:rPr>
              <a:t>STAPLES.COM MARKETPLACE  ·  CATEGORY PoC</a:t>
            </a:r>
            <a:endParaRPr lang="en-US" sz="1400" dirty="0"/>
          </a:p>
        </p:txBody>
      </p:sp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731520" y="21488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Where Staples can grow its marketplace</a:t>
            </a:r>
            <a:endParaRPr lang="en-US" sz="4400" dirty="0"/>
          </a:p>
        </p:txBody>
      </p:sp>
      <p:sp>
        <p:nvSpPr>
          <p:cNvPr id="11" name="Text 0"/>
          <p:cNvSpPr/>
          <p:nvPr>
            <p:ph idx="102" type="body" hasCustomPrompt="1"/>
          </p:nvPr>
        </p:nvSpPr>
        <p:spPr>
          <a:xfrm>
            <a:off x="731520" y="370332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E6"/>
                </a:solidFill>
              </a:rPr>
              <a:t>Which categories Staples could open to marketplace sellers: what Office Depot, West Elm, Wayfair, Amazon and Walmart carry that Staples does not</a:t>
            </a:r>
            <a:endParaRPr lang="en-US" sz="1800" dirty="0"/>
          </a:p>
        </p:txBody>
      </p:sp>
      <p:sp>
        <p:nvSpPr>
          <p:cNvPr id="12" name="Text 0"/>
          <p:cNvSpPr/>
          <p:nvPr>
            <p:ph idx="103" type="body" hasCustomPrompt="1"/>
          </p:nvPr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dirty="0">
                <a:solidFill>
                  <a:srgbClr val="9AA6BF"/>
                </a:solidFill>
              </a:rPr>
              <a:t>Prepared for Pat  · 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CATEGORY RECOMMENDATIONS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21 category opportunities to open to marketplace sellers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1556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170"/>
                </a:solidFill>
              </a:rPr>
              <a:t>43 opportunities by adjacency and cannibalisation risk  ·  bubble size = opportunity score  ·  labels = top 5 per zone (1P-CORE GAP not labelled)</a:t>
            </a:r>
            <a:endParaRPr lang="en-US" sz="1400" dirty="0"/>
          </a:p>
        </p:txBody>
      </p:sp>
      <p:sp>
        <p:nvSpPr>
          <p:cNvPr id="5" name="zone_1P-CORE GAP"/>
          <p:cNvSpPr/>
          <p:nvPr/>
        </p:nvSpPr>
        <p:spPr>
          <a:xfrm>
            <a:off x="8122920" y="1627632"/>
            <a:ext cx="3535680" cy="3785616"/>
          </a:xfrm>
          <a:prstGeom prst="rect">
            <a:avLst/>
          </a:prstGeom>
          <a:solidFill>
            <a:srgbClr val="E34948">
              <a:alpha val="9000"/>
            </a:srgbClr>
          </a:solidFill>
          <a:ln w="12700">
            <a:solidFill>
              <a:srgbClr val="E34948">
                <a:alpha val="0"/>
              </a:srgbClr>
            </a:solidFill>
            <a:prstDash val="solid"/>
          </a:ln>
        </p:spPr>
      </p:sp>
      <p:sp>
        <p:nvSpPr>
          <p:cNvPr id="6" name="zone_REVIEW"/>
          <p:cNvSpPr/>
          <p:nvPr/>
        </p:nvSpPr>
        <p:spPr>
          <a:xfrm>
            <a:off x="5913120" y="1627632"/>
            <a:ext cx="2209800" cy="3785616"/>
          </a:xfrm>
          <a:prstGeom prst="rect">
            <a:avLst/>
          </a:prstGeom>
          <a:solidFill>
            <a:srgbClr val="EDA100">
              <a:alpha val="9000"/>
            </a:srgbClr>
          </a:solidFill>
          <a:ln w="12700">
            <a:solidFill>
              <a:srgbClr val="EDA100">
                <a:alpha val="0"/>
              </a:srgbClr>
            </a:solidFill>
            <a:prstDash val="solid"/>
          </a:ln>
        </p:spPr>
      </p:sp>
      <p:sp>
        <p:nvSpPr>
          <p:cNvPr id="7" name="zone_CURATE"/>
          <p:cNvSpPr/>
          <p:nvPr/>
        </p:nvSpPr>
        <p:spPr>
          <a:xfrm>
            <a:off x="1051560" y="1627632"/>
            <a:ext cx="4861560" cy="2393845"/>
          </a:xfrm>
          <a:prstGeom prst="rect">
            <a:avLst/>
          </a:prstGeom>
          <a:solidFill>
            <a:srgbClr val="008300">
              <a:alpha val="9000"/>
            </a:srgbClr>
          </a:solidFill>
          <a:ln w="12700">
            <a:solidFill>
              <a:srgbClr val="008300">
                <a:alpha val="0"/>
              </a:srgbClr>
            </a:solidFill>
            <a:prstDash val="solid"/>
          </a:ln>
        </p:spPr>
      </p:sp>
      <p:sp>
        <p:nvSpPr>
          <p:cNvPr id="8" name="zone_VERTICAL EXTENSION"/>
          <p:cNvSpPr/>
          <p:nvPr/>
        </p:nvSpPr>
        <p:spPr>
          <a:xfrm>
            <a:off x="1051560" y="4021477"/>
            <a:ext cx="4861560" cy="1113416"/>
          </a:xfrm>
          <a:prstGeom prst="rect">
            <a:avLst/>
          </a:prstGeom>
          <a:solidFill>
            <a:srgbClr val="2A78D6">
              <a:alpha val="9000"/>
            </a:srgbClr>
          </a:solidFill>
          <a:ln w="12700">
            <a:solidFill>
              <a:srgbClr val="2A78D6">
                <a:alpha val="0"/>
              </a:srgbClr>
            </a:solidFill>
            <a:prstDash val="solid"/>
          </a:ln>
        </p:spPr>
      </p:sp>
      <p:sp>
        <p:nvSpPr>
          <p:cNvPr id="9" name="zone_OFF-BRAND"/>
          <p:cNvSpPr/>
          <p:nvPr/>
        </p:nvSpPr>
        <p:spPr>
          <a:xfrm>
            <a:off x="1051560" y="5134894"/>
            <a:ext cx="4861560" cy="278354"/>
          </a:xfrm>
          <a:prstGeom prst="rect">
            <a:avLst/>
          </a:prstGeom>
          <a:solidFill>
            <a:srgbClr val="8C8C8C">
              <a:alpha val="9000"/>
            </a:srgbClr>
          </a:solidFill>
          <a:ln w="12700">
            <a:solidFill>
              <a:srgbClr val="8C8C8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13120" y="1627632"/>
            <a:ext cx="0" cy="3785616"/>
          </a:xfrm>
          <a:prstGeom prst="line">
            <a:avLst/>
          </a:prstGeom>
          <a:noFill/>
          <a:ln w="12700">
            <a:solidFill>
              <a:srgbClr val="9AA0A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8122920" y="1627632"/>
            <a:ext cx="0" cy="3785616"/>
          </a:xfrm>
          <a:prstGeom prst="line">
            <a:avLst/>
          </a:prstGeom>
          <a:noFill/>
          <a:ln w="12700">
            <a:solidFill>
              <a:srgbClr val="9AA0A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051560" y="5134894"/>
            <a:ext cx="4861560" cy="0"/>
          </a:xfrm>
          <a:prstGeom prst="line">
            <a:avLst/>
          </a:prstGeom>
          <a:noFill/>
          <a:ln w="12700">
            <a:solidFill>
              <a:srgbClr val="9AA0A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051560" y="4021477"/>
            <a:ext cx="4861560" cy="0"/>
          </a:xfrm>
          <a:prstGeom prst="line">
            <a:avLst/>
          </a:prstGeom>
          <a:noFill/>
          <a:ln w="12700">
            <a:solidFill>
              <a:srgbClr val="9AA0A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051560" y="5413248"/>
            <a:ext cx="10607040" cy="0"/>
          </a:xfrm>
          <a:prstGeom prst="line">
            <a:avLst/>
          </a:prstGeom>
          <a:noFill/>
          <a:ln w="12700">
            <a:solidFill>
              <a:srgbClr val="7A80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627632"/>
            <a:ext cx="0" cy="3785616"/>
          </a:xfrm>
          <a:prstGeom prst="line">
            <a:avLst/>
          </a:prstGeom>
          <a:noFill/>
          <a:ln w="12700">
            <a:solidFill>
              <a:srgbClr val="7A808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19200" y="54589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0"/>
                </a:solidFill>
              </a:rPr>
              <a:t>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54589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0"/>
                </a:solidFill>
              </a:rPr>
              <a:t>20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638800" y="54589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0"/>
                </a:solidFill>
              </a:rPr>
              <a:t>40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848600" y="54589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0"/>
                </a:solidFill>
              </a:rPr>
              <a:t>60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0" y="54589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0"/>
                </a:solidFill>
              </a:rPr>
              <a:t>80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503431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170"/>
                </a:solidFill>
              </a:rPr>
              <a:t>40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920893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170"/>
                </a:solidFill>
              </a:rPr>
              <a:t>60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2807477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170"/>
                </a:solidFill>
              </a:rPr>
              <a:t>80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16940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170"/>
                </a:solidFill>
              </a:rPr>
              <a:t>100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568756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2A"/>
                </a:solidFill>
              </a:rPr>
              <a:t>Cannibalisation risk to Staples 1P  (CRS, 0–100)  →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 rot="16200000">
            <a:off x="-1508760" y="3401568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2A"/>
                </a:solidFill>
              </a:rPr>
              <a:t>Adjacency to what Staples sells  (AAS)  →</a:t>
            </a:r>
            <a:endParaRPr lang="en-US" sz="1200" dirty="0"/>
          </a:p>
        </p:txBody>
      </p:sp>
      <p:sp>
        <p:nvSpPr>
          <p:cNvPr id="27" name="tag_CURATE"/>
          <p:cNvSpPr txBox="1"/>
          <p:nvPr/>
        </p:nvSpPr>
        <p:spPr>
          <a:xfrm>
            <a:off x="1143000" y="16824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06B00"/>
                </a:solidFill>
              </a:rPr>
              <a:t>CURATE</a:t>
            </a:r>
            <a:endParaRPr lang="en-US" sz="1200" dirty="0"/>
          </a:p>
        </p:txBody>
      </p:sp>
      <p:sp>
        <p:nvSpPr>
          <p:cNvPr id="28" name="tag_VERTICAL EXTENSION"/>
          <p:cNvSpPr txBox="1"/>
          <p:nvPr/>
        </p:nvSpPr>
        <p:spPr>
          <a:xfrm>
            <a:off x="3810000" y="484228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1F5FB0"/>
                </a:solidFill>
              </a:rPr>
              <a:t>VERTICAL EXTENSION</a:t>
            </a:r>
            <a:endParaRPr lang="en-US" sz="1200" dirty="0"/>
          </a:p>
        </p:txBody>
      </p:sp>
      <p:sp>
        <p:nvSpPr>
          <p:cNvPr id="29" name="tag_OFF-BRAND"/>
          <p:cNvSpPr txBox="1"/>
          <p:nvPr/>
        </p:nvSpPr>
        <p:spPr>
          <a:xfrm>
            <a:off x="1143000" y="515318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6E6E6E"/>
                </a:solidFill>
              </a:rPr>
              <a:t>OFF-BRAND  (pass, not plotted)</a:t>
            </a:r>
            <a:endParaRPr lang="en-US" sz="1200" dirty="0"/>
          </a:p>
        </p:txBody>
      </p:sp>
      <p:sp>
        <p:nvSpPr>
          <p:cNvPr id="30" name="tag_REVIEW"/>
          <p:cNvSpPr txBox="1"/>
          <p:nvPr/>
        </p:nvSpPr>
        <p:spPr>
          <a:xfrm>
            <a:off x="6004560" y="51023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8F6000"/>
                </a:solidFill>
              </a:rPr>
              <a:t>REVIEW</a:t>
            </a:r>
            <a:endParaRPr lang="en-US" sz="1200" dirty="0"/>
          </a:p>
        </p:txBody>
      </p:sp>
      <p:sp>
        <p:nvSpPr>
          <p:cNvPr id="31" name="tag_1P-CORE GAP"/>
          <p:cNvSpPr txBox="1"/>
          <p:nvPr/>
        </p:nvSpPr>
        <p:spPr>
          <a:xfrm>
            <a:off x="10012680" y="51023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B8282A"/>
                </a:solidFill>
              </a:rPr>
              <a:t>1P-CORE GAP</a:t>
            </a:r>
            <a:endParaRPr lang="en-US" sz="1200" dirty="0"/>
          </a:p>
        </p:txBody>
      </p:sp>
      <p:sp>
        <p:nvSpPr>
          <p:cNvPr id="32" name="bubble_OP34"/>
          <p:cNvSpPr/>
          <p:nvPr/>
        </p:nvSpPr>
        <p:spPr>
          <a:xfrm>
            <a:off x="9148731" y="3290690"/>
            <a:ext cx="399710" cy="399710"/>
          </a:xfrm>
          <a:prstGeom prst="ellipse">
            <a:avLst/>
          </a:prstGeom>
          <a:solidFill>
            <a:srgbClr val="E34948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bubble_OP35"/>
          <p:cNvSpPr/>
          <p:nvPr/>
        </p:nvSpPr>
        <p:spPr>
          <a:xfrm>
            <a:off x="9632703" y="2209942"/>
            <a:ext cx="361207" cy="361207"/>
          </a:xfrm>
          <a:prstGeom prst="ellipse">
            <a:avLst/>
          </a:prstGeom>
          <a:solidFill>
            <a:srgbClr val="E34948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bubble_OP36"/>
          <p:cNvSpPr/>
          <p:nvPr/>
        </p:nvSpPr>
        <p:spPr>
          <a:xfrm>
            <a:off x="9495970" y="2150679"/>
            <a:ext cx="339664" cy="339664"/>
          </a:xfrm>
          <a:prstGeom prst="ellipse">
            <a:avLst/>
          </a:prstGeom>
          <a:solidFill>
            <a:srgbClr val="E34948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bubble_OP37"/>
          <p:cNvSpPr/>
          <p:nvPr/>
        </p:nvSpPr>
        <p:spPr>
          <a:xfrm>
            <a:off x="8793166" y="2349928"/>
            <a:ext cx="276640" cy="276640"/>
          </a:xfrm>
          <a:prstGeom prst="ellipse">
            <a:avLst/>
          </a:prstGeom>
          <a:solidFill>
            <a:srgbClr val="E34948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bubble_OP38"/>
          <p:cNvSpPr/>
          <p:nvPr/>
        </p:nvSpPr>
        <p:spPr>
          <a:xfrm>
            <a:off x="10575853" y="2443492"/>
            <a:ext cx="246503" cy="246503"/>
          </a:xfrm>
          <a:prstGeom prst="ellipse">
            <a:avLst/>
          </a:prstGeom>
          <a:solidFill>
            <a:srgbClr val="E34948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bubble_OP39"/>
          <p:cNvSpPr/>
          <p:nvPr/>
        </p:nvSpPr>
        <p:spPr>
          <a:xfrm>
            <a:off x="10721019" y="1913784"/>
            <a:ext cx="237038" cy="237038"/>
          </a:xfrm>
          <a:prstGeom prst="ellipse">
            <a:avLst/>
          </a:prstGeom>
          <a:solidFill>
            <a:srgbClr val="E34948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bubble_OP40"/>
          <p:cNvSpPr/>
          <p:nvPr/>
        </p:nvSpPr>
        <p:spPr>
          <a:xfrm>
            <a:off x="9315984" y="1805163"/>
            <a:ext cx="232265" cy="232265"/>
          </a:xfrm>
          <a:prstGeom prst="ellipse">
            <a:avLst/>
          </a:prstGeom>
          <a:solidFill>
            <a:srgbClr val="E34948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bubble_OP41"/>
          <p:cNvSpPr/>
          <p:nvPr/>
        </p:nvSpPr>
        <p:spPr>
          <a:xfrm>
            <a:off x="9610404" y="2401492"/>
            <a:ext cx="222613" cy="222613"/>
          </a:xfrm>
          <a:prstGeom prst="ellipse">
            <a:avLst/>
          </a:prstGeom>
          <a:solidFill>
            <a:srgbClr val="E34948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bubble_OP42"/>
          <p:cNvSpPr/>
          <p:nvPr/>
        </p:nvSpPr>
        <p:spPr>
          <a:xfrm>
            <a:off x="10164963" y="1912976"/>
            <a:ext cx="218836" cy="218836"/>
          </a:xfrm>
          <a:prstGeom prst="ellipse">
            <a:avLst/>
          </a:prstGeom>
          <a:solidFill>
            <a:srgbClr val="E34948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bubble_OP43"/>
          <p:cNvSpPr/>
          <p:nvPr/>
        </p:nvSpPr>
        <p:spPr>
          <a:xfrm>
            <a:off x="11078295" y="2000636"/>
            <a:ext cx="207745" cy="207745"/>
          </a:xfrm>
          <a:prstGeom prst="ellipse">
            <a:avLst/>
          </a:prstGeom>
          <a:solidFill>
            <a:srgbClr val="E34948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bubble_OP22"/>
          <p:cNvSpPr/>
          <p:nvPr/>
        </p:nvSpPr>
        <p:spPr>
          <a:xfrm>
            <a:off x="6760113" y="2240733"/>
            <a:ext cx="438912" cy="438912"/>
          </a:xfrm>
          <a:prstGeom prst="ellipse">
            <a:avLst/>
          </a:prstGeom>
          <a:solidFill>
            <a:srgbClr val="EDA100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bubble_OP23"/>
          <p:cNvSpPr/>
          <p:nvPr/>
        </p:nvSpPr>
        <p:spPr>
          <a:xfrm>
            <a:off x="6735770" y="2916910"/>
            <a:ext cx="404731" cy="404731"/>
          </a:xfrm>
          <a:prstGeom prst="ellipse">
            <a:avLst/>
          </a:prstGeom>
          <a:solidFill>
            <a:srgbClr val="EDA100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bubble_OP24"/>
          <p:cNvSpPr/>
          <p:nvPr/>
        </p:nvSpPr>
        <p:spPr>
          <a:xfrm>
            <a:off x="7129982" y="3742409"/>
            <a:ext cx="325433" cy="325433"/>
          </a:xfrm>
          <a:prstGeom prst="ellipse">
            <a:avLst/>
          </a:prstGeom>
          <a:solidFill>
            <a:srgbClr val="EDA100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bubble_OP25"/>
          <p:cNvSpPr/>
          <p:nvPr/>
        </p:nvSpPr>
        <p:spPr>
          <a:xfrm>
            <a:off x="6404863" y="2160942"/>
            <a:ext cx="311678" cy="311678"/>
          </a:xfrm>
          <a:prstGeom prst="ellipse">
            <a:avLst/>
          </a:prstGeom>
          <a:solidFill>
            <a:srgbClr val="EDA100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bubble_OP26"/>
          <p:cNvSpPr/>
          <p:nvPr/>
        </p:nvSpPr>
        <p:spPr>
          <a:xfrm>
            <a:off x="6806227" y="3026772"/>
            <a:ext cx="304479" cy="304479"/>
          </a:xfrm>
          <a:prstGeom prst="ellipse">
            <a:avLst/>
          </a:prstGeom>
          <a:solidFill>
            <a:srgbClr val="EDA100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bubble_OP27"/>
          <p:cNvSpPr/>
          <p:nvPr/>
        </p:nvSpPr>
        <p:spPr>
          <a:xfrm>
            <a:off x="7970405" y="2477698"/>
            <a:ext cx="277408" cy="277408"/>
          </a:xfrm>
          <a:prstGeom prst="ellipse">
            <a:avLst/>
          </a:prstGeom>
          <a:solidFill>
            <a:srgbClr val="EDA100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bubble_OP28"/>
          <p:cNvSpPr/>
          <p:nvPr/>
        </p:nvSpPr>
        <p:spPr>
          <a:xfrm>
            <a:off x="6415754" y="3026880"/>
            <a:ext cx="275090" cy="275090"/>
          </a:xfrm>
          <a:prstGeom prst="ellipse">
            <a:avLst/>
          </a:prstGeom>
          <a:solidFill>
            <a:srgbClr val="EDA100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bubble_OP29"/>
          <p:cNvSpPr/>
          <p:nvPr/>
        </p:nvSpPr>
        <p:spPr>
          <a:xfrm>
            <a:off x="6102315" y="4414426"/>
            <a:ext cx="271292" cy="271292"/>
          </a:xfrm>
          <a:prstGeom prst="ellipse">
            <a:avLst/>
          </a:prstGeom>
          <a:solidFill>
            <a:srgbClr val="EDA100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bubble_OP30"/>
          <p:cNvSpPr/>
          <p:nvPr/>
        </p:nvSpPr>
        <p:spPr>
          <a:xfrm>
            <a:off x="6170935" y="2157586"/>
            <a:ext cx="269512" cy="269512"/>
          </a:xfrm>
          <a:prstGeom prst="ellipse">
            <a:avLst/>
          </a:prstGeom>
          <a:solidFill>
            <a:srgbClr val="EDA100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bubble_OP31"/>
          <p:cNvSpPr/>
          <p:nvPr/>
        </p:nvSpPr>
        <p:spPr>
          <a:xfrm>
            <a:off x="7301879" y="2570339"/>
            <a:ext cx="266041" cy="266041"/>
          </a:xfrm>
          <a:prstGeom prst="ellipse">
            <a:avLst/>
          </a:prstGeom>
          <a:solidFill>
            <a:srgbClr val="EDA100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bubble_OP32"/>
          <p:cNvSpPr/>
          <p:nvPr/>
        </p:nvSpPr>
        <p:spPr>
          <a:xfrm>
            <a:off x="7746131" y="1663585"/>
            <a:ext cx="262119" cy="262119"/>
          </a:xfrm>
          <a:prstGeom prst="ellipse">
            <a:avLst/>
          </a:prstGeom>
          <a:solidFill>
            <a:srgbClr val="EDA100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bubble_OP33"/>
          <p:cNvSpPr/>
          <p:nvPr/>
        </p:nvSpPr>
        <p:spPr>
          <a:xfrm>
            <a:off x="7561255" y="2736610"/>
            <a:ext cx="246703" cy="246703"/>
          </a:xfrm>
          <a:prstGeom prst="ellipse">
            <a:avLst/>
          </a:prstGeom>
          <a:solidFill>
            <a:srgbClr val="EDA100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bubble_OP12"/>
          <p:cNvSpPr/>
          <p:nvPr/>
        </p:nvSpPr>
        <p:spPr>
          <a:xfrm>
            <a:off x="2886125" y="3423692"/>
            <a:ext cx="438225" cy="438225"/>
          </a:xfrm>
          <a:prstGeom prst="ellipse">
            <a:avLst/>
          </a:prstGeom>
          <a:solidFill>
            <a:srgbClr val="2A78D6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bubble_OP13"/>
          <p:cNvSpPr/>
          <p:nvPr/>
        </p:nvSpPr>
        <p:spPr>
          <a:xfrm>
            <a:off x="1283899" y="4223486"/>
            <a:ext cx="419242" cy="419242"/>
          </a:xfrm>
          <a:prstGeom prst="ellipse">
            <a:avLst/>
          </a:prstGeom>
          <a:solidFill>
            <a:srgbClr val="2A78D6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bubble_OP14"/>
          <p:cNvSpPr/>
          <p:nvPr/>
        </p:nvSpPr>
        <p:spPr>
          <a:xfrm>
            <a:off x="1291193" y="4520659"/>
            <a:ext cx="404654" cy="404654"/>
          </a:xfrm>
          <a:prstGeom prst="ellipse">
            <a:avLst/>
          </a:prstGeom>
          <a:solidFill>
            <a:srgbClr val="2A78D6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bubble_OP15"/>
          <p:cNvSpPr/>
          <p:nvPr/>
        </p:nvSpPr>
        <p:spPr>
          <a:xfrm>
            <a:off x="2113277" y="4201198"/>
            <a:ext cx="389108" cy="389108"/>
          </a:xfrm>
          <a:prstGeom prst="ellipse">
            <a:avLst/>
          </a:prstGeom>
          <a:solidFill>
            <a:srgbClr val="2A78D6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bubble_OP16"/>
          <p:cNvSpPr/>
          <p:nvPr/>
        </p:nvSpPr>
        <p:spPr>
          <a:xfrm>
            <a:off x="1341918" y="4570437"/>
            <a:ext cx="303204" cy="303204"/>
          </a:xfrm>
          <a:prstGeom prst="ellipse">
            <a:avLst/>
          </a:prstGeom>
          <a:solidFill>
            <a:srgbClr val="2A78D6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bubble_OP17"/>
          <p:cNvSpPr/>
          <p:nvPr/>
        </p:nvSpPr>
        <p:spPr>
          <a:xfrm>
            <a:off x="3099677" y="3672194"/>
            <a:ext cx="297069" cy="297069"/>
          </a:xfrm>
          <a:prstGeom prst="ellipse">
            <a:avLst/>
          </a:prstGeom>
          <a:solidFill>
            <a:srgbClr val="2A78D6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bubble_OP18"/>
          <p:cNvSpPr/>
          <p:nvPr/>
        </p:nvSpPr>
        <p:spPr>
          <a:xfrm>
            <a:off x="4390974" y="3508967"/>
            <a:ext cx="297069" cy="297069"/>
          </a:xfrm>
          <a:prstGeom prst="ellipse">
            <a:avLst/>
          </a:prstGeom>
          <a:solidFill>
            <a:srgbClr val="2A78D6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bubble_OP19"/>
          <p:cNvSpPr/>
          <p:nvPr/>
        </p:nvSpPr>
        <p:spPr>
          <a:xfrm>
            <a:off x="3918579" y="3064643"/>
            <a:ext cx="291644" cy="291644"/>
          </a:xfrm>
          <a:prstGeom prst="ellipse">
            <a:avLst/>
          </a:prstGeom>
          <a:solidFill>
            <a:srgbClr val="2A78D6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bubble_OP20"/>
          <p:cNvSpPr/>
          <p:nvPr/>
        </p:nvSpPr>
        <p:spPr>
          <a:xfrm>
            <a:off x="4601866" y="3977695"/>
            <a:ext cx="285865" cy="285865"/>
          </a:xfrm>
          <a:prstGeom prst="ellipse">
            <a:avLst/>
          </a:prstGeom>
          <a:solidFill>
            <a:srgbClr val="2A78D6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bubble_OP21"/>
          <p:cNvSpPr/>
          <p:nvPr/>
        </p:nvSpPr>
        <p:spPr>
          <a:xfrm>
            <a:off x="5447016" y="4233369"/>
            <a:ext cx="262638" cy="262638"/>
          </a:xfrm>
          <a:prstGeom prst="ellipse">
            <a:avLst/>
          </a:prstGeom>
          <a:solidFill>
            <a:srgbClr val="2A78D6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bubble_OP01"/>
          <p:cNvSpPr/>
          <p:nvPr/>
        </p:nvSpPr>
        <p:spPr>
          <a:xfrm>
            <a:off x="4897776" y="3079952"/>
            <a:ext cx="383502" cy="383502"/>
          </a:xfrm>
          <a:prstGeom prst="ellipse">
            <a:avLst/>
          </a:prstGeom>
          <a:solidFill>
            <a:srgbClr val="008300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bubble_OP02"/>
          <p:cNvSpPr/>
          <p:nvPr/>
        </p:nvSpPr>
        <p:spPr>
          <a:xfrm>
            <a:off x="5252614" y="3037741"/>
            <a:ext cx="380521" cy="380521"/>
          </a:xfrm>
          <a:prstGeom prst="ellipse">
            <a:avLst/>
          </a:prstGeom>
          <a:solidFill>
            <a:srgbClr val="008300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bubble_OP03"/>
          <p:cNvSpPr/>
          <p:nvPr/>
        </p:nvSpPr>
        <p:spPr>
          <a:xfrm>
            <a:off x="2686277" y="2860103"/>
            <a:ext cx="364360" cy="364360"/>
          </a:xfrm>
          <a:prstGeom prst="ellipse">
            <a:avLst/>
          </a:prstGeom>
          <a:solidFill>
            <a:srgbClr val="008300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bubble_OP04"/>
          <p:cNvSpPr/>
          <p:nvPr/>
        </p:nvSpPr>
        <p:spPr>
          <a:xfrm>
            <a:off x="1349744" y="2858765"/>
            <a:ext cx="361580" cy="361580"/>
          </a:xfrm>
          <a:prstGeom prst="ellipse">
            <a:avLst/>
          </a:prstGeom>
          <a:solidFill>
            <a:srgbClr val="008300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bubble_OP05"/>
          <p:cNvSpPr/>
          <p:nvPr/>
        </p:nvSpPr>
        <p:spPr>
          <a:xfrm>
            <a:off x="5000582" y="3043312"/>
            <a:ext cx="353791" cy="353791"/>
          </a:xfrm>
          <a:prstGeom prst="ellipse">
            <a:avLst/>
          </a:prstGeom>
          <a:solidFill>
            <a:srgbClr val="008300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bubble_OP06"/>
          <p:cNvSpPr/>
          <p:nvPr/>
        </p:nvSpPr>
        <p:spPr>
          <a:xfrm>
            <a:off x="1334582" y="3361224"/>
            <a:ext cx="317875" cy="317875"/>
          </a:xfrm>
          <a:prstGeom prst="ellipse">
            <a:avLst/>
          </a:prstGeom>
          <a:solidFill>
            <a:srgbClr val="008300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bubble_OP07"/>
          <p:cNvSpPr/>
          <p:nvPr/>
        </p:nvSpPr>
        <p:spPr>
          <a:xfrm>
            <a:off x="2458062" y="2464293"/>
            <a:ext cx="293974" cy="293974"/>
          </a:xfrm>
          <a:prstGeom prst="ellipse">
            <a:avLst/>
          </a:prstGeom>
          <a:solidFill>
            <a:srgbClr val="008300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bubble_OP08"/>
          <p:cNvSpPr/>
          <p:nvPr/>
        </p:nvSpPr>
        <p:spPr>
          <a:xfrm>
            <a:off x="5153475" y="2539993"/>
            <a:ext cx="288431" cy="288431"/>
          </a:xfrm>
          <a:prstGeom prst="ellipse">
            <a:avLst/>
          </a:prstGeom>
          <a:solidFill>
            <a:srgbClr val="008300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bubble_OP09"/>
          <p:cNvSpPr/>
          <p:nvPr/>
        </p:nvSpPr>
        <p:spPr>
          <a:xfrm>
            <a:off x="5359528" y="2063604"/>
            <a:ext cx="273205" cy="273205"/>
          </a:xfrm>
          <a:prstGeom prst="ellipse">
            <a:avLst/>
          </a:prstGeom>
          <a:solidFill>
            <a:srgbClr val="008300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bubble_OP10"/>
          <p:cNvSpPr/>
          <p:nvPr/>
        </p:nvSpPr>
        <p:spPr>
          <a:xfrm>
            <a:off x="5400163" y="3129385"/>
            <a:ext cx="270162" cy="270162"/>
          </a:xfrm>
          <a:prstGeom prst="ellipse">
            <a:avLst/>
          </a:prstGeom>
          <a:solidFill>
            <a:srgbClr val="008300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bubble_OP11"/>
          <p:cNvSpPr/>
          <p:nvPr/>
        </p:nvSpPr>
        <p:spPr>
          <a:xfrm>
            <a:off x="5658254" y="2875226"/>
            <a:ext cx="268201" cy="268201"/>
          </a:xfrm>
          <a:prstGeom prst="ellipse">
            <a:avLst/>
          </a:prstGeom>
          <a:solidFill>
            <a:srgbClr val="008300">
              <a:alpha val="7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leader_Concrete &amp; Asphalt Maintenance"/>
          <p:cNvSpPr/>
          <p:nvPr/>
        </p:nvSpPr>
        <p:spPr>
          <a:xfrm>
            <a:off x="4734215" y="2360353"/>
            <a:ext cx="600341" cy="735028"/>
          </a:xfrm>
          <a:prstGeom prst="line">
            <a:avLst/>
          </a:prstGeom>
          <a:noFill/>
          <a:ln w="11430">
            <a:solidFill>
              <a:srgbClr val="006B00"/>
            </a:solidFill>
            <a:prstDash val="solid"/>
          </a:ln>
        </p:spPr>
      </p:sp>
      <p:sp>
        <p:nvSpPr>
          <p:cNvPr id="76" name="label_Concrete &amp;amp; Asphalt Maintenance"/>
          <p:cNvSpPr txBox="1"/>
          <p:nvPr/>
        </p:nvSpPr>
        <p:spPr>
          <a:xfrm>
            <a:off x="2173895" y="2131753"/>
            <a:ext cx="2560320" cy="22860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B00"/>
                </a:solidFill>
              </a:rPr>
              <a:t>Concrete &amp; Asphalt Maintenance</a:t>
            </a:r>
            <a:endParaRPr lang="en-US" sz="1200" dirty="0"/>
          </a:p>
        </p:txBody>
      </p:sp>
      <p:sp>
        <p:nvSpPr>
          <p:cNvPr id="77" name="leader_Garment Steamers &amp; Irons"/>
          <p:cNvSpPr/>
          <p:nvPr/>
        </p:nvSpPr>
        <p:spPr>
          <a:xfrm>
            <a:off x="4900196" y="2820728"/>
            <a:ext cx="122528" cy="291853"/>
          </a:xfrm>
          <a:prstGeom prst="line">
            <a:avLst/>
          </a:prstGeom>
          <a:noFill/>
          <a:ln w="11430">
            <a:solidFill>
              <a:srgbClr val="006B00"/>
            </a:solidFill>
            <a:prstDash val="solid"/>
          </a:ln>
        </p:spPr>
      </p:sp>
      <p:sp>
        <p:nvSpPr>
          <p:cNvPr id="78" name="label_Garment Steamers &amp;amp; Irons"/>
          <p:cNvSpPr txBox="1"/>
          <p:nvPr/>
        </p:nvSpPr>
        <p:spPr>
          <a:xfrm>
            <a:off x="2822679" y="2592128"/>
            <a:ext cx="2077517" cy="22860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B00"/>
                </a:solidFill>
              </a:rPr>
              <a:t>Garment Steamers &amp; Irons</a:t>
            </a:r>
            <a:endParaRPr lang="en-US" sz="1200" dirty="0"/>
          </a:p>
        </p:txBody>
      </p:sp>
      <p:sp>
        <p:nvSpPr>
          <p:cNvPr id="79" name="leader_Refrigerators"/>
          <p:cNvSpPr/>
          <p:nvPr/>
        </p:nvSpPr>
        <p:spPr>
          <a:xfrm>
            <a:off x="5177478" y="3379413"/>
            <a:ext cx="0" cy="150451"/>
          </a:xfrm>
          <a:prstGeom prst="line">
            <a:avLst/>
          </a:prstGeom>
          <a:noFill/>
          <a:ln w="11430">
            <a:solidFill>
              <a:srgbClr val="006B00"/>
            </a:solidFill>
            <a:prstDash val="solid"/>
          </a:ln>
        </p:spPr>
      </p:sp>
      <p:sp>
        <p:nvSpPr>
          <p:cNvPr id="80" name="label_Refrigerators"/>
          <p:cNvSpPr txBox="1"/>
          <p:nvPr/>
        </p:nvSpPr>
        <p:spPr>
          <a:xfrm>
            <a:off x="4723287" y="3529864"/>
            <a:ext cx="1192378" cy="22860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B00"/>
                </a:solidFill>
              </a:rPr>
              <a:t>Refrigerators</a:t>
            </a:r>
            <a:endParaRPr lang="en-US" sz="1200" dirty="0"/>
          </a:p>
        </p:txBody>
      </p:sp>
      <p:sp>
        <p:nvSpPr>
          <p:cNvPr id="81" name="leader_Outdoor Lighting"/>
          <p:cNvSpPr/>
          <p:nvPr/>
        </p:nvSpPr>
        <p:spPr>
          <a:xfrm flipH="1">
            <a:off x="6979569" y="2150533"/>
            <a:ext cx="0" cy="112146"/>
          </a:xfrm>
          <a:prstGeom prst="line">
            <a:avLst/>
          </a:prstGeom>
          <a:noFill/>
          <a:ln w="11430">
            <a:solidFill>
              <a:srgbClr val="8F6000"/>
            </a:solidFill>
            <a:prstDash val="solid"/>
          </a:ln>
        </p:spPr>
      </p:sp>
      <p:sp>
        <p:nvSpPr>
          <p:cNvPr id="82" name="label_Outdoor Lighting"/>
          <p:cNvSpPr txBox="1"/>
          <p:nvPr/>
        </p:nvSpPr>
        <p:spPr>
          <a:xfrm>
            <a:off x="6404678" y="1921933"/>
            <a:ext cx="1433779" cy="22860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6000"/>
                </a:solidFill>
              </a:rPr>
              <a:t>Outdoor Lighting</a:t>
            </a:r>
            <a:endParaRPr lang="en-US" sz="1200" dirty="0"/>
          </a:p>
        </p:txBody>
      </p:sp>
      <p:sp>
        <p:nvSpPr>
          <p:cNvPr id="83" name="leader_Forklift Booms"/>
          <p:cNvSpPr/>
          <p:nvPr/>
        </p:nvSpPr>
        <p:spPr>
          <a:xfrm flipH="1">
            <a:off x="1493520" y="3998767"/>
            <a:ext cx="0" cy="245681"/>
          </a:xfrm>
          <a:prstGeom prst="line">
            <a:avLst/>
          </a:prstGeom>
          <a:noFill/>
          <a:ln w="11430">
            <a:solidFill>
              <a:srgbClr val="1F5FB0"/>
            </a:solidFill>
            <a:prstDash val="solid"/>
          </a:ln>
        </p:spPr>
      </p:sp>
      <p:sp>
        <p:nvSpPr>
          <p:cNvPr id="84" name="label_Forklift Booms"/>
          <p:cNvSpPr txBox="1"/>
          <p:nvPr/>
        </p:nvSpPr>
        <p:spPr>
          <a:xfrm>
            <a:off x="1100328" y="3770167"/>
            <a:ext cx="1272845" cy="22860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0"/>
                </a:solidFill>
              </a:rPr>
              <a:t>Forklift Booms</a:t>
            </a:r>
            <a:endParaRPr lang="en-US" sz="1200" dirty="0"/>
          </a:p>
        </p:txBody>
      </p:sp>
      <p:sp>
        <p:nvSpPr>
          <p:cNvPr id="85" name="label_Electrical"/>
          <p:cNvSpPr txBox="1"/>
          <p:nvPr/>
        </p:nvSpPr>
        <p:spPr>
          <a:xfrm>
            <a:off x="7132109" y="3160155"/>
            <a:ext cx="950976" cy="22860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6000"/>
                </a:solidFill>
              </a:rPr>
              <a:t>Electrical</a:t>
            </a:r>
            <a:endParaRPr lang="en-US" sz="1200" dirty="0"/>
          </a:p>
        </p:txBody>
      </p:sp>
      <p:sp>
        <p:nvSpPr>
          <p:cNvPr id="86" name="leader_Calibration"/>
          <p:cNvSpPr/>
          <p:nvPr/>
        </p:nvSpPr>
        <p:spPr>
          <a:xfrm>
            <a:off x="1648513" y="4818565"/>
            <a:ext cx="119327" cy="73585"/>
          </a:xfrm>
          <a:prstGeom prst="line">
            <a:avLst/>
          </a:prstGeom>
          <a:noFill/>
          <a:ln w="11430">
            <a:solidFill>
              <a:srgbClr val="1F5FB0"/>
            </a:solidFill>
            <a:prstDash val="solid"/>
          </a:ln>
        </p:spPr>
      </p:sp>
      <p:sp>
        <p:nvSpPr>
          <p:cNvPr id="87" name="label_Calibration"/>
          <p:cNvSpPr txBox="1"/>
          <p:nvPr/>
        </p:nvSpPr>
        <p:spPr>
          <a:xfrm>
            <a:off x="1767840" y="4892149"/>
            <a:ext cx="1031443" cy="22860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0"/>
                </a:solidFill>
              </a:rPr>
              <a:t>Calibration</a:t>
            </a:r>
            <a:endParaRPr lang="en-US" sz="1200" dirty="0"/>
          </a:p>
        </p:txBody>
      </p:sp>
      <p:sp>
        <p:nvSpPr>
          <p:cNvPr id="88" name="leader_Dinnerware"/>
          <p:cNvSpPr/>
          <p:nvPr/>
        </p:nvSpPr>
        <p:spPr>
          <a:xfrm>
            <a:off x="6560702" y="2457036"/>
            <a:ext cx="0" cy="169402"/>
          </a:xfrm>
          <a:prstGeom prst="line">
            <a:avLst/>
          </a:prstGeom>
          <a:noFill/>
          <a:ln w="11430">
            <a:solidFill>
              <a:srgbClr val="8F6000"/>
            </a:solidFill>
            <a:prstDash val="solid"/>
          </a:ln>
        </p:spPr>
      </p:sp>
      <p:sp>
        <p:nvSpPr>
          <p:cNvPr id="89" name="label_Dinnerware"/>
          <p:cNvSpPr txBox="1"/>
          <p:nvPr/>
        </p:nvSpPr>
        <p:spPr>
          <a:xfrm>
            <a:off x="5943215" y="2626438"/>
            <a:ext cx="950976" cy="22860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6000"/>
                </a:solidFill>
              </a:rPr>
              <a:t>Dinnerware</a:t>
            </a:r>
            <a:endParaRPr lang="en-US" sz="1200" dirty="0"/>
          </a:p>
        </p:txBody>
      </p:sp>
      <p:sp>
        <p:nvSpPr>
          <p:cNvPr id="90" name="leader_Wall Ovens"/>
          <p:cNvSpPr/>
          <p:nvPr/>
        </p:nvSpPr>
        <p:spPr>
          <a:xfrm>
            <a:off x="6958466" y="3316026"/>
            <a:ext cx="0" cy="172641"/>
          </a:xfrm>
          <a:prstGeom prst="line">
            <a:avLst/>
          </a:prstGeom>
          <a:noFill/>
          <a:ln w="11430">
            <a:solidFill>
              <a:srgbClr val="8F6000"/>
            </a:solidFill>
            <a:prstDash val="solid"/>
          </a:ln>
        </p:spPr>
      </p:sp>
      <p:sp>
        <p:nvSpPr>
          <p:cNvPr id="91" name="label_Wall Ovens"/>
          <p:cNvSpPr txBox="1"/>
          <p:nvPr/>
        </p:nvSpPr>
        <p:spPr>
          <a:xfrm>
            <a:off x="6340979" y="3488667"/>
            <a:ext cx="950976" cy="22860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6000"/>
                </a:solidFill>
              </a:rPr>
              <a:t>Wall Ovens</a:t>
            </a:r>
            <a:endParaRPr lang="en-US" sz="1200" dirty="0"/>
          </a:p>
        </p:txBody>
      </p:sp>
      <p:sp>
        <p:nvSpPr>
          <p:cNvPr id="92" name="leader_Microscope Sample Slides"/>
          <p:cNvSpPr/>
          <p:nvPr/>
        </p:nvSpPr>
        <p:spPr>
          <a:xfrm>
            <a:off x="1629962" y="4722039"/>
            <a:ext cx="137878" cy="0"/>
          </a:xfrm>
          <a:prstGeom prst="line">
            <a:avLst/>
          </a:prstGeom>
          <a:noFill/>
          <a:ln w="11430">
            <a:solidFill>
              <a:srgbClr val="1F5FB0"/>
            </a:solidFill>
            <a:prstDash val="solid"/>
          </a:ln>
        </p:spPr>
      </p:sp>
      <p:sp>
        <p:nvSpPr>
          <p:cNvPr id="93" name="label_Microscope Sample Slides"/>
          <p:cNvSpPr txBox="1"/>
          <p:nvPr/>
        </p:nvSpPr>
        <p:spPr>
          <a:xfrm>
            <a:off x="1767840" y="4607739"/>
            <a:ext cx="2077517" cy="22860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0"/>
                </a:solidFill>
              </a:rPr>
              <a:t>Microscope Sample Slides</a:t>
            </a:r>
            <a:endParaRPr lang="en-US" sz="1200" dirty="0"/>
          </a:p>
        </p:txBody>
      </p:sp>
      <p:sp>
        <p:nvSpPr>
          <p:cNvPr id="94" name="label_Home &amp;amp; Office Decor"/>
          <p:cNvSpPr txBox="1"/>
          <p:nvPr/>
        </p:nvSpPr>
        <p:spPr>
          <a:xfrm>
            <a:off x="2161148" y="3210537"/>
            <a:ext cx="1675181" cy="22860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0"/>
                </a:solidFill>
              </a:rPr>
              <a:t>Home &amp; Office Decor</a:t>
            </a:r>
            <a:endParaRPr lang="en-US" sz="1200" dirty="0"/>
          </a:p>
        </p:txBody>
      </p:sp>
      <p:sp>
        <p:nvSpPr>
          <p:cNvPr id="95" name="leader_Clay and Modeling"/>
          <p:cNvSpPr/>
          <p:nvPr/>
        </p:nvSpPr>
        <p:spPr>
          <a:xfrm>
            <a:off x="3032420" y="3042283"/>
            <a:ext cx="101011" cy="0"/>
          </a:xfrm>
          <a:prstGeom prst="line">
            <a:avLst/>
          </a:prstGeom>
          <a:noFill/>
          <a:ln w="11430">
            <a:solidFill>
              <a:srgbClr val="006B00"/>
            </a:solidFill>
            <a:prstDash val="solid"/>
          </a:ln>
        </p:spPr>
      </p:sp>
      <p:sp>
        <p:nvSpPr>
          <p:cNvPr id="96" name="label_Clay and Modeling"/>
          <p:cNvSpPr txBox="1"/>
          <p:nvPr/>
        </p:nvSpPr>
        <p:spPr>
          <a:xfrm>
            <a:off x="3133430" y="2871184"/>
            <a:ext cx="1514246" cy="22860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B00"/>
                </a:solidFill>
              </a:rPr>
              <a:t>Clay and Modeling</a:t>
            </a:r>
            <a:endParaRPr lang="en-US" sz="1200" dirty="0"/>
          </a:p>
        </p:txBody>
      </p:sp>
      <p:sp>
        <p:nvSpPr>
          <p:cNvPr id="97" name="label_Workbenches"/>
          <p:cNvSpPr txBox="1"/>
          <p:nvPr/>
        </p:nvSpPr>
        <p:spPr>
          <a:xfrm>
            <a:off x="1121311" y="2607288"/>
            <a:ext cx="1031443" cy="22860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B00"/>
                </a:solidFill>
              </a:rPr>
              <a:t>Workbenches</a:t>
            </a:r>
            <a:endParaRPr lang="en-US" sz="1200" dirty="0"/>
          </a:p>
        </p:txBody>
      </p:sp>
      <p:sp>
        <p:nvSpPr>
          <p:cNvPr id="98" name="label_Garbage Disposals"/>
          <p:cNvSpPr txBox="1"/>
          <p:nvPr/>
        </p:nvSpPr>
        <p:spPr>
          <a:xfrm>
            <a:off x="2501805" y="4126274"/>
            <a:ext cx="1514246" cy="22860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0"/>
                </a:solidFill>
              </a:rPr>
              <a:t>Garbage Disposals</a:t>
            </a:r>
            <a:endParaRPr lang="en-US" sz="1200" dirty="0"/>
          </a:p>
        </p:txBody>
      </p:sp>
      <p:sp>
        <p:nvSpPr>
          <p:cNvPr id="99" name="label_Popcorn"/>
          <p:cNvSpPr txBox="1"/>
          <p:nvPr/>
        </p:nvSpPr>
        <p:spPr>
          <a:xfrm>
            <a:off x="6389150" y="3946004"/>
            <a:ext cx="709574" cy="22860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6000"/>
                </a:solidFill>
              </a:rPr>
              <a:t>Popcorn</a:t>
            </a:r>
            <a:endParaRPr lang="en-US" sz="1200" dirty="0"/>
          </a:p>
        </p:txBody>
      </p:sp>
      <p:sp>
        <p:nvSpPr>
          <p:cNvPr id="100" name="legend_CURATE"/>
          <p:cNvSpPr/>
          <p:nvPr/>
        </p:nvSpPr>
        <p:spPr>
          <a:xfrm>
            <a:off x="548640" y="6016752"/>
            <a:ext cx="2537460" cy="566928"/>
          </a:xfrm>
          <a:prstGeom prst="roundRect">
            <a:avLst>
              <a:gd name="adj" fmla="val 12903"/>
            </a:avLst>
          </a:prstGeom>
          <a:solidFill>
            <a:srgbClr val="008300">
              <a:alpha val="10000"/>
            </a:srgbClr>
          </a:solidFill>
          <a:ln w="12700">
            <a:solidFill>
              <a:srgbClr val="008300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76656" y="6199632"/>
            <a:ext cx="201168" cy="201168"/>
          </a:xfrm>
          <a:prstGeom prst="ellipse">
            <a:avLst/>
          </a:prstGeom>
          <a:solidFill>
            <a:srgbClr val="0083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969264" y="6053328"/>
            <a:ext cx="20619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B00"/>
                </a:solidFill>
              </a:rPr>
              <a:t>11  CURATE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Open to curated sellers now</a:t>
            </a:r>
            <a:endParaRPr lang="en-US" sz="1300" dirty="0"/>
          </a:p>
        </p:txBody>
      </p:sp>
      <p:sp>
        <p:nvSpPr>
          <p:cNvPr id="103" name="legend_VERTICAL EXTENSION"/>
          <p:cNvSpPr/>
          <p:nvPr/>
        </p:nvSpPr>
        <p:spPr>
          <a:xfrm>
            <a:off x="3268980" y="6016752"/>
            <a:ext cx="2537460" cy="566928"/>
          </a:xfrm>
          <a:prstGeom prst="roundRect">
            <a:avLst>
              <a:gd name="adj" fmla="val 12903"/>
            </a:avLst>
          </a:prstGeom>
          <a:solidFill>
            <a:srgbClr val="2A78D6">
              <a:alpha val="10000"/>
            </a:srgbClr>
          </a:solidFill>
          <a:ln w="12700">
            <a:solidFill>
              <a:srgbClr val="2A78D6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396996" y="6199632"/>
            <a:ext cx="201168" cy="201168"/>
          </a:xfrm>
          <a:prstGeom prst="ellipse">
            <a:avLst/>
          </a:prstGeom>
          <a:solidFill>
            <a:srgbClr val="2A78D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3689604" y="6053328"/>
            <a:ext cx="20619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B0"/>
                </a:solidFill>
              </a:rPr>
              <a:t>10  VERTICAL EXT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Phase 2, via a vertical Staples serves</a:t>
            </a:r>
            <a:endParaRPr lang="en-US" sz="1300" dirty="0"/>
          </a:p>
        </p:txBody>
      </p:sp>
      <p:sp>
        <p:nvSpPr>
          <p:cNvPr id="106" name="legend_REVIEW"/>
          <p:cNvSpPr/>
          <p:nvPr/>
        </p:nvSpPr>
        <p:spPr>
          <a:xfrm>
            <a:off x="5989320" y="6016752"/>
            <a:ext cx="2537460" cy="566928"/>
          </a:xfrm>
          <a:prstGeom prst="roundRect">
            <a:avLst>
              <a:gd name="adj" fmla="val 12903"/>
            </a:avLst>
          </a:prstGeom>
          <a:solidFill>
            <a:srgbClr val="EDA100">
              <a:alpha val="10000"/>
            </a:srgbClr>
          </a:solidFill>
          <a:ln w="12700">
            <a:solidFill>
              <a:srgbClr val="EDA100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117336" y="6199632"/>
            <a:ext cx="201168" cy="201168"/>
          </a:xfrm>
          <a:prstGeom prst="ellipse">
            <a:avLst/>
          </a:prstGeom>
          <a:solidFill>
            <a:srgbClr val="EDA1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6409944" y="6053328"/>
            <a:ext cx="20619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6000"/>
                </a:solidFill>
              </a:rPr>
              <a:t>12  REVIEW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Merchant call: sits next to a 1P line</a:t>
            </a:r>
            <a:endParaRPr lang="en-US" sz="1300" dirty="0"/>
          </a:p>
        </p:txBody>
      </p:sp>
      <p:sp>
        <p:nvSpPr>
          <p:cNvPr id="109" name="legend_1P-CORE GAP"/>
          <p:cNvSpPr/>
          <p:nvPr/>
        </p:nvSpPr>
        <p:spPr>
          <a:xfrm>
            <a:off x="8709660" y="6016752"/>
            <a:ext cx="2537460" cy="566928"/>
          </a:xfrm>
          <a:prstGeom prst="roundRect">
            <a:avLst>
              <a:gd name="adj" fmla="val 12903"/>
            </a:avLst>
          </a:prstGeom>
          <a:solidFill>
            <a:srgbClr val="E34948">
              <a:alpha val="10000"/>
            </a:srgbClr>
          </a:solidFill>
          <a:ln w="12700">
            <a:solidFill>
              <a:srgbClr val="E34948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837676" y="6199632"/>
            <a:ext cx="201168" cy="201168"/>
          </a:xfrm>
          <a:prstGeom prst="ellipse">
            <a:avLst/>
          </a:prstGeom>
          <a:solidFill>
            <a:srgbClr val="E3494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9130284" y="6053328"/>
            <a:ext cx="20619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282A"/>
                </a:solidFill>
              </a:rPr>
              <a:t>10  1P-CORE GAP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Keep in 1P, fix the range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TECH ARCHITECTURE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the recommendations are built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1556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170"/>
                </a:solidFill>
              </a:rPr>
              <a:t>Six navigation trees → two independent matching engines → one scoring and decision framework</a:t>
            </a:r>
            <a:endParaRPr lang="en-US" sz="1400" dirty="0"/>
          </a:p>
        </p:txBody>
      </p:sp>
      <p:sp>
        <p:nvSpPr>
          <p:cNvPr id="5" name="phase_Data foundation"/>
          <p:cNvSpPr/>
          <p:nvPr/>
        </p:nvSpPr>
        <p:spPr>
          <a:xfrm>
            <a:off x="548640" y="1572768"/>
            <a:ext cx="3648456" cy="402336"/>
          </a:xfrm>
          <a:prstGeom prst="rightArrow">
            <a:avLst/>
          </a:prstGeom>
          <a:solidFill>
            <a:srgbClr val="C9DAF8"/>
          </a:solidFill>
          <a:ln>
            <a:solidFill>
              <a:srgbClr val="C9DAF8"/>
            </a:solidFill>
          </a:ln>
        </p:spPr>
        <p:txBody>
          <a:bodyPr wrap="square" lIns="0" tIns="76200" rIns="2286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Data foundation</a:t>
            </a:r>
            <a:endParaRPr lang="en-US" sz="1400" dirty="0"/>
          </a:p>
        </p:txBody>
      </p:sp>
      <p:sp>
        <p:nvSpPr>
          <p:cNvPr id="6" name="phase_Matching engine"/>
          <p:cNvSpPr/>
          <p:nvPr/>
        </p:nvSpPr>
        <p:spPr>
          <a:xfrm>
            <a:off x="4325112" y="1572768"/>
            <a:ext cx="3648456" cy="402336"/>
          </a:xfrm>
          <a:prstGeom prst="rightArrow">
            <a:avLst/>
          </a:prstGeom>
          <a:solidFill>
            <a:srgbClr val="C9DAF8"/>
          </a:solidFill>
          <a:ln>
            <a:solidFill>
              <a:srgbClr val="C9DAF8"/>
            </a:solidFill>
          </a:ln>
        </p:spPr>
        <p:txBody>
          <a:bodyPr wrap="square" lIns="0" tIns="76200" rIns="2286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Matching engine</a:t>
            </a:r>
            <a:endParaRPr lang="en-US" sz="1400" dirty="0"/>
          </a:p>
        </p:txBody>
      </p:sp>
      <p:sp>
        <p:nvSpPr>
          <p:cNvPr id="7" name="phase_Decision framework"/>
          <p:cNvSpPr/>
          <p:nvPr/>
        </p:nvSpPr>
        <p:spPr>
          <a:xfrm>
            <a:off x="8101584" y="1572768"/>
            <a:ext cx="3648456" cy="402336"/>
          </a:xfrm>
          <a:prstGeom prst="rightArrow">
            <a:avLst/>
          </a:prstGeom>
          <a:solidFill>
            <a:srgbClr val="C9DAF8"/>
          </a:solidFill>
          <a:ln>
            <a:solidFill>
              <a:srgbClr val="C9DAF8"/>
            </a:solidFill>
          </a:ln>
        </p:spPr>
        <p:txBody>
          <a:bodyPr wrap="square" lIns="0" tIns="76200" rIns="2286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Decision framework</a:t>
            </a:r>
            <a:endParaRPr lang="en-US" sz="1400" dirty="0"/>
          </a:p>
        </p:txBody>
      </p:sp>
      <p:sp>
        <p:nvSpPr>
          <p:cNvPr id="8" name="step_1"/>
          <p:cNvSpPr/>
          <p:nvPr/>
        </p:nvSpPr>
        <p:spPr>
          <a:xfrm>
            <a:off x="548640" y="2048256"/>
            <a:ext cx="1760220" cy="347472"/>
          </a:xfrm>
          <a:prstGeom prst="rightArrow">
            <a:avLst/>
          </a:prstGeom>
          <a:solidFill>
            <a:srgbClr val="DCE7FB"/>
          </a:solidFill>
          <a:ln>
            <a:solidFill>
              <a:srgbClr val="DCE7FB"/>
            </a:solidFill>
          </a:ln>
        </p:spPr>
        <p:txBody>
          <a:bodyPr wrap="square" lIns="0" tIns="76200" rIns="2286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1  Acquire</a:t>
            </a:r>
            <a:endParaRPr lang="en-US" sz="1200" dirty="0"/>
          </a:p>
        </p:txBody>
      </p:sp>
      <p:sp>
        <p:nvSpPr>
          <p:cNvPr id="9" name="step_2"/>
          <p:cNvSpPr/>
          <p:nvPr/>
        </p:nvSpPr>
        <p:spPr>
          <a:xfrm>
            <a:off x="2436876" y="2048256"/>
            <a:ext cx="1760220" cy="347472"/>
          </a:xfrm>
          <a:prstGeom prst="rightArrow">
            <a:avLst/>
          </a:prstGeom>
          <a:solidFill>
            <a:srgbClr val="DCE7FB"/>
          </a:solidFill>
          <a:ln>
            <a:solidFill>
              <a:srgbClr val="DCE7FB"/>
            </a:solidFill>
          </a:ln>
        </p:spPr>
        <p:txBody>
          <a:bodyPr wrap="square" lIns="0" tIns="76200" rIns="2286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2  Clean &amp; harmonise</a:t>
            </a:r>
            <a:endParaRPr lang="en-US" sz="1200" dirty="0"/>
          </a:p>
        </p:txBody>
      </p:sp>
      <p:sp>
        <p:nvSpPr>
          <p:cNvPr id="10" name="step_3"/>
          <p:cNvSpPr/>
          <p:nvPr/>
        </p:nvSpPr>
        <p:spPr>
          <a:xfrm>
            <a:off x="4325112" y="2048256"/>
            <a:ext cx="1760220" cy="347472"/>
          </a:xfrm>
          <a:prstGeom prst="rightArrow">
            <a:avLst/>
          </a:prstGeom>
          <a:solidFill>
            <a:srgbClr val="DCE7FB"/>
          </a:solidFill>
          <a:ln>
            <a:solidFill>
              <a:srgbClr val="DCE7FB"/>
            </a:solidFill>
          </a:ln>
        </p:spPr>
        <p:txBody>
          <a:bodyPr wrap="square" lIns="0" tIns="76200" rIns="2286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3  Match (V ∥ G)</a:t>
            </a:r>
            <a:endParaRPr lang="en-US" sz="1200" dirty="0"/>
          </a:p>
        </p:txBody>
      </p:sp>
      <p:sp>
        <p:nvSpPr>
          <p:cNvPr id="11" name="step_4"/>
          <p:cNvSpPr/>
          <p:nvPr/>
        </p:nvSpPr>
        <p:spPr>
          <a:xfrm>
            <a:off x="6213348" y="2048256"/>
            <a:ext cx="1760220" cy="347472"/>
          </a:xfrm>
          <a:prstGeom prst="rightArrow">
            <a:avLst/>
          </a:prstGeom>
          <a:solidFill>
            <a:srgbClr val="DCE7FB"/>
          </a:solidFill>
          <a:ln>
            <a:solidFill>
              <a:srgbClr val="DCE7FB"/>
            </a:solidFill>
          </a:ln>
        </p:spPr>
        <p:txBody>
          <a:bodyPr wrap="square" lIns="0" tIns="76200" rIns="2286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4  Combine &amp; verify</a:t>
            </a:r>
            <a:endParaRPr lang="en-US" sz="1200" dirty="0"/>
          </a:p>
        </p:txBody>
      </p:sp>
      <p:sp>
        <p:nvSpPr>
          <p:cNvPr id="12" name="step_5"/>
          <p:cNvSpPr/>
          <p:nvPr/>
        </p:nvSpPr>
        <p:spPr>
          <a:xfrm>
            <a:off x="8101584" y="2048256"/>
            <a:ext cx="1760220" cy="347472"/>
          </a:xfrm>
          <a:prstGeom prst="rightArrow">
            <a:avLst/>
          </a:prstGeom>
          <a:solidFill>
            <a:srgbClr val="DCE7FB"/>
          </a:solidFill>
          <a:ln>
            <a:solidFill>
              <a:srgbClr val="DCE7FB"/>
            </a:solidFill>
          </a:ln>
        </p:spPr>
        <p:txBody>
          <a:bodyPr wrap="square" lIns="0" tIns="76200" rIns="2286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5  Score</a:t>
            </a:r>
            <a:endParaRPr lang="en-US" sz="1200" dirty="0"/>
          </a:p>
        </p:txBody>
      </p:sp>
      <p:sp>
        <p:nvSpPr>
          <p:cNvPr id="13" name="step_6"/>
          <p:cNvSpPr/>
          <p:nvPr/>
        </p:nvSpPr>
        <p:spPr>
          <a:xfrm>
            <a:off x="9989820" y="2048256"/>
            <a:ext cx="1760220" cy="347472"/>
          </a:xfrm>
          <a:prstGeom prst="rightArrow">
            <a:avLst/>
          </a:prstGeom>
          <a:solidFill>
            <a:srgbClr val="DCE7FB"/>
          </a:solidFill>
          <a:ln>
            <a:solidFill>
              <a:srgbClr val="DCE7FB"/>
            </a:solidFill>
          </a:ln>
        </p:spPr>
        <p:txBody>
          <a:bodyPr wrap="square" lIns="0" tIns="76200" rIns="2286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6  Zone &amp; rank</a:t>
            </a:r>
            <a:endParaRPr lang="en-US" sz="1200" dirty="0"/>
          </a:p>
        </p:txBody>
      </p:sp>
      <p:sp>
        <p:nvSpPr>
          <p:cNvPr id="14" name="stage_1"/>
          <p:cNvSpPr/>
          <p:nvPr/>
        </p:nvSpPr>
        <p:spPr>
          <a:xfrm>
            <a:off x="548640" y="2542032"/>
            <a:ext cx="1650492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8DA2C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226564" y="4151376"/>
            <a:ext cx="182880" cy="182880"/>
          </a:xfrm>
          <a:prstGeom prst="rightArrow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sp>
        <p:nvSpPr>
          <p:cNvPr id="16" name="stage_2"/>
          <p:cNvSpPr/>
          <p:nvPr/>
        </p:nvSpPr>
        <p:spPr>
          <a:xfrm>
            <a:off x="2436876" y="2542032"/>
            <a:ext cx="1650492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8DA2C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114800" y="4151376"/>
            <a:ext cx="182880" cy="182880"/>
          </a:xfrm>
          <a:prstGeom prst="rightArrow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sp>
        <p:nvSpPr>
          <p:cNvPr id="18" name="stage_3"/>
          <p:cNvSpPr/>
          <p:nvPr/>
        </p:nvSpPr>
        <p:spPr>
          <a:xfrm>
            <a:off x="4325112" y="2542032"/>
            <a:ext cx="1650492" cy="3401568"/>
          </a:xfrm>
          <a:prstGeom prst="rect">
            <a:avLst/>
          </a:prstGeom>
          <a:solidFill>
            <a:srgbClr val="F5F8FD"/>
          </a:solidFill>
          <a:ln w="12700">
            <a:solidFill>
              <a:srgbClr val="8DA2C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003036" y="4151376"/>
            <a:ext cx="182880" cy="182880"/>
          </a:xfrm>
          <a:prstGeom prst="rightArrow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sp>
        <p:nvSpPr>
          <p:cNvPr id="20" name="stage_4"/>
          <p:cNvSpPr/>
          <p:nvPr/>
        </p:nvSpPr>
        <p:spPr>
          <a:xfrm>
            <a:off x="6213348" y="2542032"/>
            <a:ext cx="1650492" cy="3401568"/>
          </a:xfrm>
          <a:prstGeom prst="rect">
            <a:avLst/>
          </a:prstGeom>
          <a:solidFill>
            <a:srgbClr val="F5F8FD"/>
          </a:solidFill>
          <a:ln w="12700">
            <a:solidFill>
              <a:srgbClr val="8DA2C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891272" y="4151376"/>
            <a:ext cx="182880" cy="182880"/>
          </a:xfrm>
          <a:prstGeom prst="rightArrow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sp>
        <p:nvSpPr>
          <p:cNvPr id="22" name="stage_5"/>
          <p:cNvSpPr/>
          <p:nvPr/>
        </p:nvSpPr>
        <p:spPr>
          <a:xfrm>
            <a:off x="8101584" y="2542032"/>
            <a:ext cx="1650492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8DA2C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9779508" y="4151376"/>
            <a:ext cx="182880" cy="182880"/>
          </a:xfrm>
          <a:prstGeom prst="rightArrow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sp>
        <p:nvSpPr>
          <p:cNvPr id="24" name="stage_6"/>
          <p:cNvSpPr/>
          <p:nvPr/>
        </p:nvSpPr>
        <p:spPr>
          <a:xfrm>
            <a:off x="9989820" y="2542032"/>
            <a:ext cx="1650492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8DA2C8"/>
            </a:solidFill>
            <a:prstDash val="dash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955" y="2724912"/>
            <a:ext cx="402336" cy="402336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594360" y="3163824"/>
            <a:ext cx="7795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Staples</a:t>
            </a:r>
            <a:endParaRPr lang="en-US" sz="11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481" y="2724912"/>
            <a:ext cx="402336" cy="402336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373886" y="3163824"/>
            <a:ext cx="7795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Office Depot</a:t>
            </a:r>
            <a:endParaRPr lang="en-US" sz="11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55" y="3511296"/>
            <a:ext cx="402336" cy="402336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594360" y="3950208"/>
            <a:ext cx="7795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West Elm</a:t>
            </a:r>
            <a:endParaRPr lang="en-US" sz="11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481" y="3511296"/>
            <a:ext cx="402336" cy="40233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373886" y="3950208"/>
            <a:ext cx="7795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Wayfair</a:t>
            </a:r>
            <a:endParaRPr lang="en-US" sz="11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55" y="4297680"/>
            <a:ext cx="402336" cy="402336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594360" y="4736592"/>
            <a:ext cx="7795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Amazon</a:t>
            </a:r>
            <a:endParaRPr lang="en-US" sz="11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2481" y="4297680"/>
            <a:ext cx="402336" cy="402336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373886" y="4736592"/>
            <a:ext cx="7795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Walmart</a:t>
            </a:r>
            <a:endParaRPr lang="en-US" sz="1100" dirty="0"/>
          </a:p>
        </p:txBody>
      </p:sp>
      <p:sp>
        <p:nvSpPr>
          <p:cNvPr id="37" name="Text 29"/>
          <p:cNvSpPr txBox="1"/>
          <p:nvPr/>
        </p:nvSpPr>
        <p:spPr>
          <a:xfrm>
            <a:off x="640080" y="5148072"/>
            <a:ext cx="1467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6 navigation trees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47,586 rows · 24 sheets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Staples = focal tree</a:t>
            </a:r>
            <a:endParaRPr lang="en-US" sz="11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6604" y="2761488"/>
            <a:ext cx="365760" cy="36576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2985516" y="2724912"/>
            <a:ext cx="10287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One shared scope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170"/>
                </a:solidFill>
              </a:rPr>
              <a:t>same departments for every retailer</a:t>
            </a:r>
            <a:endParaRPr lang="en-US" sz="11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6604" y="3584448"/>
            <a:ext cx="365760" cy="36576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2985516" y="3547872"/>
            <a:ext cx="10287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Fold &amp; place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170"/>
                </a:solidFill>
              </a:rPr>
              <a:t>deep levels folded, orphan pages placed</a:t>
            </a:r>
            <a:endParaRPr lang="en-US" sz="110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46604" y="4407408"/>
            <a:ext cx="365760" cy="36576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2985516" y="4370832"/>
            <a:ext cx="10287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Row reconciliation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170"/>
                </a:solidFill>
              </a:rPr>
              <a:t>every Excel row used or explained</a:t>
            </a:r>
            <a:endParaRPr lang="en-US" sz="1100" dirty="0"/>
          </a:p>
        </p:txBody>
      </p:sp>
      <p:sp>
        <p:nvSpPr>
          <p:cNvPr id="44" name="Text 33"/>
          <p:cNvSpPr txBox="1"/>
          <p:nvPr/>
        </p:nvSpPr>
        <p:spPr>
          <a:xfrm>
            <a:off x="2528316" y="5148072"/>
            <a:ext cx="1467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14,108 competitor shelves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0 unexplained rows</a:t>
            </a:r>
            <a:endParaRPr lang="en-US" sz="1100" dirty="0"/>
          </a:p>
        </p:txBody>
      </p:sp>
      <p:sp>
        <p:nvSpPr>
          <p:cNvPr id="45" name="Shape 34"/>
          <p:cNvSpPr/>
          <p:nvPr/>
        </p:nvSpPr>
        <p:spPr>
          <a:xfrm>
            <a:off x="4398264" y="2670048"/>
            <a:ext cx="150418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B8C7E3"/>
            </a:solidFill>
            <a:prstDash val="solid"/>
          </a:ln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1416" y="2761488"/>
            <a:ext cx="310896" cy="310896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4855464" y="2779776"/>
            <a:ext cx="10469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V · Vector</a:t>
            </a:r>
            <a:endParaRPr lang="en-US" sz="1200" dirty="0"/>
          </a:p>
        </p:txBody>
      </p:sp>
      <p:sp>
        <p:nvSpPr>
          <p:cNvPr id="48" name="Text 36"/>
          <p:cNvSpPr txBox="1"/>
          <p:nvPr/>
        </p:nvSpPr>
        <p:spPr>
          <a:xfrm>
            <a:off x="4471416" y="3127248"/>
            <a:ext cx="13578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170"/>
                </a:solidFill>
              </a:rPr>
              <a:t>bge-base embeddings in a Qdrant vector DB; nearest Staples shelf</a:t>
            </a:r>
            <a:endParaRPr lang="en-US" sz="1100" dirty="0"/>
          </a:p>
        </p:txBody>
      </p:sp>
      <p:sp>
        <p:nvSpPr>
          <p:cNvPr id="49" name="Shape 37"/>
          <p:cNvSpPr/>
          <p:nvPr/>
        </p:nvSpPr>
        <p:spPr>
          <a:xfrm>
            <a:off x="4398264" y="3877056"/>
            <a:ext cx="150418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B8C7E3"/>
            </a:solidFill>
            <a:prstDash val="solid"/>
          </a:ln>
        </p:spPr>
      </p:sp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71416" y="3968496"/>
            <a:ext cx="310896" cy="310896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4855464" y="3986784"/>
            <a:ext cx="10469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G · Graph</a:t>
            </a:r>
            <a:endParaRPr lang="en-US" sz="1200" dirty="0"/>
          </a:p>
        </p:txBody>
      </p:sp>
      <p:sp>
        <p:nvSpPr>
          <p:cNvPr id="52" name="Text 39"/>
          <p:cNvSpPr txBox="1"/>
          <p:nvPr/>
        </p:nvSpPr>
        <p:spPr>
          <a:xfrm>
            <a:off x="4471416" y="4334256"/>
            <a:ext cx="13578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170"/>
                </a:solidFill>
              </a:rPr>
              <a:t>knowledge graph of all six trees; similarity flooding + PageRank</a:t>
            </a:r>
            <a:endParaRPr lang="en-US" sz="1100" dirty="0"/>
          </a:p>
        </p:txBody>
      </p:sp>
      <p:sp>
        <p:nvSpPr>
          <p:cNvPr id="53" name="Text 40"/>
          <p:cNvSpPr txBox="1"/>
          <p:nvPr/>
        </p:nvSpPr>
        <p:spPr>
          <a:xfrm>
            <a:off x="4398264" y="4937760"/>
            <a:ext cx="15041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4E9A"/>
                </a:solidFill>
              </a:rPr>
              <a:t>run independently, in parallel</a:t>
            </a:r>
            <a:endParaRPr lang="en-US" sz="1000" dirty="0"/>
          </a:p>
        </p:txBody>
      </p:sp>
      <p:sp>
        <p:nvSpPr>
          <p:cNvPr id="54" name="Text 41"/>
          <p:cNvSpPr txBox="1"/>
          <p:nvPr/>
        </p:nvSpPr>
        <p:spPr>
          <a:xfrm>
            <a:off x="4416552" y="5239512"/>
            <a:ext cx="14676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Calibrated per competitor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917 labelled checks</a:t>
            </a:r>
            <a:endParaRPr lang="en-US" sz="1100" dirty="0"/>
          </a:p>
        </p:txBody>
      </p:sp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3076" y="2761488"/>
            <a:ext cx="365760" cy="365760"/>
          </a:xfrm>
          <a:prstGeom prst="rect">
            <a:avLst/>
          </a:prstGeom>
        </p:spPr>
      </p:pic>
      <p:sp>
        <p:nvSpPr>
          <p:cNvPr id="56" name="Text 42"/>
          <p:cNvSpPr txBox="1"/>
          <p:nvPr/>
        </p:nvSpPr>
        <p:spPr>
          <a:xfrm>
            <a:off x="6761988" y="2724912"/>
            <a:ext cx="10287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Ensemble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170"/>
                </a:solidFill>
              </a:rPr>
              <a:t>a gap only when both engines find no match</a:t>
            </a:r>
            <a:endParaRPr lang="en-US" sz="1100" dirty="0"/>
          </a:p>
        </p:txBody>
      </p:sp>
      <p:pic>
        <p:nvPicPr>
          <p:cNvPr id="5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3076" y="3584448"/>
            <a:ext cx="365760" cy="365760"/>
          </a:xfrm>
          <a:prstGeom prst="rect">
            <a:avLst/>
          </a:prstGeom>
        </p:spPr>
      </p:pic>
      <p:sp>
        <p:nvSpPr>
          <p:cNvPr id="58" name="Text 43"/>
          <p:cNvSpPr txBox="1"/>
          <p:nvPr/>
        </p:nvSpPr>
        <p:spPr>
          <a:xfrm>
            <a:off x="6761988" y="3547872"/>
            <a:ext cx="10287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Verification loop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170"/>
                </a:solidFill>
              </a:rPr>
              <a:t>222 flagged gaps reviewed by hand</a:t>
            </a:r>
            <a:endParaRPr lang="en-US" sz="1100" dirty="0"/>
          </a:p>
        </p:txBody>
      </p:sp>
      <p:pic>
        <p:nvPicPr>
          <p:cNvPr id="5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3076" y="4407408"/>
            <a:ext cx="365760" cy="365760"/>
          </a:xfrm>
          <a:prstGeom prst="rect">
            <a:avLst/>
          </a:prstGeom>
        </p:spPr>
      </p:pic>
      <p:sp>
        <p:nvSpPr>
          <p:cNvPr id="60" name="Text 44"/>
          <p:cNvSpPr txBox="1"/>
          <p:nvPr/>
        </p:nvSpPr>
        <p:spPr>
          <a:xfrm>
            <a:off x="6761988" y="4370832"/>
            <a:ext cx="10287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Second opinion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170"/>
                </a:solidFill>
              </a:rPr>
              <a:t>blind relabel agrees: κ = 0.65</a:t>
            </a:r>
            <a:endParaRPr lang="en-US" sz="1100" dirty="0"/>
          </a:p>
        </p:txBody>
      </p:sp>
      <p:sp>
        <p:nvSpPr>
          <p:cNvPr id="61" name="Text 45"/>
          <p:cNvSpPr txBox="1"/>
          <p:nvPr/>
        </p:nvSpPr>
        <p:spPr>
          <a:xfrm>
            <a:off x="6286500" y="5120640"/>
            <a:ext cx="15041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Hand labels override models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121 "gaps" were already sold under another name</a:t>
            </a:r>
            <a:endParaRPr lang="en-US" sz="1100" dirty="0"/>
          </a:p>
        </p:txBody>
      </p:sp>
      <p:sp>
        <p:nvSpPr>
          <p:cNvPr id="62" name="Text 46"/>
          <p:cNvSpPr/>
          <p:nvPr/>
        </p:nvSpPr>
        <p:spPr>
          <a:xfrm>
            <a:off x="8211312" y="2688336"/>
            <a:ext cx="603504" cy="347472"/>
          </a:xfrm>
          <a:prstGeom prst="roundRect">
            <a:avLst>
              <a:gd name="adj" fmla="val 13158"/>
            </a:avLst>
          </a:prstGeom>
          <a:solidFill>
            <a:srgbClr val="1F4E9A"/>
          </a:solidFill>
          <a:ln>
            <a:solidFill>
              <a:srgbClr val="1F4E9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AAS</a:t>
            </a:r>
            <a:endParaRPr lang="en-US" sz="1100" dirty="0"/>
          </a:p>
        </p:txBody>
      </p:sp>
      <p:sp>
        <p:nvSpPr>
          <p:cNvPr id="63" name="Text 47"/>
          <p:cNvSpPr txBox="1"/>
          <p:nvPr/>
        </p:nvSpPr>
        <p:spPr>
          <a:xfrm>
            <a:off x="8887968" y="2688336"/>
            <a:ext cx="8092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Adjacency to Staples</a:t>
            </a:r>
            <a:endParaRPr lang="en-US" sz="1100" dirty="0"/>
          </a:p>
        </p:txBody>
      </p:sp>
      <p:sp>
        <p:nvSpPr>
          <p:cNvPr id="64" name="Text 48"/>
          <p:cNvSpPr/>
          <p:nvPr/>
        </p:nvSpPr>
        <p:spPr>
          <a:xfrm>
            <a:off x="8211312" y="3145536"/>
            <a:ext cx="603504" cy="347472"/>
          </a:xfrm>
          <a:prstGeom prst="roundRect">
            <a:avLst>
              <a:gd name="adj" fmla="val 13158"/>
            </a:avLst>
          </a:prstGeom>
          <a:solidFill>
            <a:srgbClr val="1F4E9A"/>
          </a:solidFill>
          <a:ln>
            <a:solidFill>
              <a:srgbClr val="1F4E9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CRS</a:t>
            </a:r>
            <a:endParaRPr lang="en-US" sz="1100" dirty="0"/>
          </a:p>
        </p:txBody>
      </p:sp>
      <p:sp>
        <p:nvSpPr>
          <p:cNvPr id="65" name="Text 49"/>
          <p:cNvSpPr txBox="1"/>
          <p:nvPr/>
        </p:nvSpPr>
        <p:spPr>
          <a:xfrm>
            <a:off x="8887968" y="3145536"/>
            <a:ext cx="8092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Risk to 1P sales</a:t>
            </a:r>
            <a:endParaRPr lang="en-US" sz="1100" dirty="0"/>
          </a:p>
        </p:txBody>
      </p:sp>
      <p:sp>
        <p:nvSpPr>
          <p:cNvPr id="66" name="Text 50"/>
          <p:cNvSpPr/>
          <p:nvPr/>
        </p:nvSpPr>
        <p:spPr>
          <a:xfrm>
            <a:off x="8211312" y="3602736"/>
            <a:ext cx="603504" cy="347472"/>
          </a:xfrm>
          <a:prstGeom prst="roundRect">
            <a:avLst>
              <a:gd name="adj" fmla="val 13158"/>
            </a:avLst>
          </a:prstGeom>
          <a:solidFill>
            <a:srgbClr val="1F4E9A"/>
          </a:solidFill>
          <a:ln>
            <a:solidFill>
              <a:srgbClr val="1F4E9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BFS</a:t>
            </a:r>
            <a:endParaRPr lang="en-US" sz="1100" dirty="0"/>
          </a:p>
        </p:txBody>
      </p:sp>
      <p:sp>
        <p:nvSpPr>
          <p:cNvPr id="67" name="Text 51"/>
          <p:cNvSpPr txBox="1"/>
          <p:nvPr/>
        </p:nvSpPr>
        <p:spPr>
          <a:xfrm>
            <a:off x="8887968" y="3602736"/>
            <a:ext cx="8092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Workplace brand fit</a:t>
            </a:r>
            <a:endParaRPr lang="en-US" sz="1100" dirty="0"/>
          </a:p>
        </p:txBody>
      </p:sp>
      <p:sp>
        <p:nvSpPr>
          <p:cNvPr id="68" name="Text 52"/>
          <p:cNvSpPr/>
          <p:nvPr/>
        </p:nvSpPr>
        <p:spPr>
          <a:xfrm>
            <a:off x="8211312" y="4059936"/>
            <a:ext cx="603504" cy="347472"/>
          </a:xfrm>
          <a:prstGeom prst="roundRect">
            <a:avLst>
              <a:gd name="adj" fmla="val 13158"/>
            </a:avLst>
          </a:prstGeom>
          <a:solidFill>
            <a:srgbClr val="1F4E9A"/>
          </a:solidFill>
          <a:ln>
            <a:solidFill>
              <a:srgbClr val="1F4E9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EASE</a:t>
            </a:r>
            <a:endParaRPr lang="en-US" sz="1100" dirty="0"/>
          </a:p>
        </p:txBody>
      </p:sp>
      <p:sp>
        <p:nvSpPr>
          <p:cNvPr id="69" name="Text 53"/>
          <p:cNvSpPr txBox="1"/>
          <p:nvPr/>
        </p:nvSpPr>
        <p:spPr>
          <a:xfrm>
            <a:off x="8887968" y="4059936"/>
            <a:ext cx="8092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Ease of launch</a:t>
            </a:r>
            <a:endParaRPr lang="en-US" sz="1100" dirty="0"/>
          </a:p>
        </p:txBody>
      </p:sp>
      <p:sp>
        <p:nvSpPr>
          <p:cNvPr id="70" name="Text 54"/>
          <p:cNvSpPr/>
          <p:nvPr/>
        </p:nvSpPr>
        <p:spPr>
          <a:xfrm>
            <a:off x="8211312" y="4517136"/>
            <a:ext cx="603504" cy="347472"/>
          </a:xfrm>
          <a:prstGeom prst="roundRect">
            <a:avLst>
              <a:gd name="adj" fmla="val 13158"/>
            </a:avLst>
          </a:prstGeom>
          <a:solidFill>
            <a:srgbClr val="1F4E9A"/>
          </a:solidFill>
          <a:ln>
            <a:solidFill>
              <a:srgbClr val="1F4E9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PC</a:t>
            </a:r>
            <a:endParaRPr lang="en-US" sz="1100" dirty="0"/>
          </a:p>
        </p:txBody>
      </p:sp>
      <p:sp>
        <p:nvSpPr>
          <p:cNvPr id="71" name="Text 55"/>
          <p:cNvSpPr txBox="1"/>
          <p:nvPr/>
        </p:nvSpPr>
        <p:spPr>
          <a:xfrm>
            <a:off x="8887968" y="4517136"/>
            <a:ext cx="8092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Peer consensus</a:t>
            </a:r>
            <a:endParaRPr lang="en-US" sz="1100" dirty="0"/>
          </a:p>
        </p:txBody>
      </p:sp>
      <p:sp>
        <p:nvSpPr>
          <p:cNvPr id="72" name="Text 56"/>
          <p:cNvSpPr/>
          <p:nvPr/>
        </p:nvSpPr>
        <p:spPr>
          <a:xfrm>
            <a:off x="8211312" y="5047488"/>
            <a:ext cx="1431036" cy="365760"/>
          </a:xfrm>
          <a:prstGeom prst="roundRect">
            <a:avLst>
              <a:gd name="adj" fmla="val 12500"/>
            </a:avLst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  opportunity score</a:t>
            </a:r>
            <a:endParaRPr lang="en-US" sz="1200" dirty="0"/>
          </a:p>
        </p:txBody>
      </p:sp>
      <p:sp>
        <p:nvSpPr>
          <p:cNvPr id="73" name="Text 57"/>
          <p:cNvSpPr txBox="1"/>
          <p:nvPr/>
        </p:nvSpPr>
        <p:spPr>
          <a:xfrm>
            <a:off x="8193024" y="5522976"/>
            <a:ext cx="1467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0"/>
                </a:solidFill>
              </a:rPr>
              <a:t>CRS discounts the score</a:t>
            </a:r>
            <a:endParaRPr lang="en-US" sz="1100" dirty="0"/>
          </a:p>
        </p:txBody>
      </p:sp>
      <p:sp>
        <p:nvSpPr>
          <p:cNvPr id="74" name="Text 58"/>
          <p:cNvSpPr/>
          <p:nvPr/>
        </p:nvSpPr>
        <p:spPr>
          <a:xfrm>
            <a:off x="10099548" y="2688336"/>
            <a:ext cx="1431036" cy="347472"/>
          </a:xfrm>
          <a:prstGeom prst="roundRect">
            <a:avLst>
              <a:gd name="adj" fmla="val 13158"/>
            </a:avLst>
          </a:prstGeom>
          <a:solidFill>
            <a:srgbClr val="008300"/>
          </a:solidFill>
          <a:ln>
            <a:solidFill>
              <a:srgbClr val="0083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CURATE</a:t>
            </a:r>
            <a:endParaRPr lang="en-US" sz="1100" dirty="0"/>
          </a:p>
        </p:txBody>
      </p:sp>
      <p:sp>
        <p:nvSpPr>
          <p:cNvPr id="75" name="Text 59"/>
          <p:cNvSpPr/>
          <p:nvPr/>
        </p:nvSpPr>
        <p:spPr>
          <a:xfrm>
            <a:off x="10099548" y="3145536"/>
            <a:ext cx="1431036" cy="347472"/>
          </a:xfrm>
          <a:prstGeom prst="roundRect">
            <a:avLst>
              <a:gd name="adj" fmla="val 13158"/>
            </a:avLst>
          </a:prstGeom>
          <a:solidFill>
            <a:srgbClr val="2A78D6"/>
          </a:solidFill>
          <a:ln>
            <a:solidFill>
              <a:srgbClr val="2A78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VERTICAL EXT</a:t>
            </a:r>
            <a:endParaRPr lang="en-US" sz="1100" dirty="0"/>
          </a:p>
        </p:txBody>
      </p:sp>
      <p:sp>
        <p:nvSpPr>
          <p:cNvPr id="76" name="Text 60"/>
          <p:cNvSpPr/>
          <p:nvPr/>
        </p:nvSpPr>
        <p:spPr>
          <a:xfrm>
            <a:off x="10099548" y="3602736"/>
            <a:ext cx="1431036" cy="347472"/>
          </a:xfrm>
          <a:prstGeom prst="roundRect">
            <a:avLst>
              <a:gd name="adj" fmla="val 13158"/>
            </a:avLst>
          </a:prstGeom>
          <a:solidFill>
            <a:srgbClr val="EDA100"/>
          </a:solidFill>
          <a:ln>
            <a:solidFill>
              <a:srgbClr val="EDA1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REVIEW</a:t>
            </a:r>
            <a:endParaRPr lang="en-US" sz="1100" dirty="0"/>
          </a:p>
        </p:txBody>
      </p:sp>
      <p:sp>
        <p:nvSpPr>
          <p:cNvPr id="77" name="Text 61"/>
          <p:cNvSpPr/>
          <p:nvPr/>
        </p:nvSpPr>
        <p:spPr>
          <a:xfrm>
            <a:off x="10099548" y="4059936"/>
            <a:ext cx="1431036" cy="347472"/>
          </a:xfrm>
          <a:prstGeom prst="roundRect">
            <a:avLst>
              <a:gd name="adj" fmla="val 13158"/>
            </a:avLst>
          </a:prstGeom>
          <a:solidFill>
            <a:srgbClr val="E34948"/>
          </a:solidFill>
          <a:ln>
            <a:solidFill>
              <a:srgbClr val="E349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1P-CORE GAP</a:t>
            </a:r>
            <a:endParaRPr lang="en-US" sz="1100" dirty="0"/>
          </a:p>
        </p:txBody>
      </p:sp>
      <p:sp>
        <p:nvSpPr>
          <p:cNvPr id="78" name="Text 62"/>
          <p:cNvSpPr/>
          <p:nvPr/>
        </p:nvSpPr>
        <p:spPr>
          <a:xfrm>
            <a:off x="10099548" y="4517136"/>
            <a:ext cx="1431036" cy="347472"/>
          </a:xfrm>
          <a:prstGeom prst="roundRect">
            <a:avLst>
              <a:gd name="adj" fmla="val 13158"/>
            </a:avLst>
          </a:prstGeom>
          <a:solidFill>
            <a:srgbClr val="8C8C8C"/>
          </a:solidFill>
          <a:ln>
            <a:solidFill>
              <a:srgbClr val="8C8C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OFF-BRAND · PASS</a:t>
            </a:r>
            <a:endParaRPr lang="en-US" sz="1100" dirty="0"/>
          </a:p>
        </p:txBody>
      </p:sp>
      <p:sp>
        <p:nvSpPr>
          <p:cNvPr id="79" name="Text 63"/>
          <p:cNvSpPr txBox="1"/>
          <p:nvPr/>
        </p:nvSpPr>
        <p:spPr>
          <a:xfrm>
            <a:off x="10081260" y="5047488"/>
            <a:ext cx="14676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43 opportunities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zone × Staples department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170"/>
                </a:solidFill>
              </a:rPr>
              <a:t>500-run stress test</a:t>
            </a:r>
            <a:endParaRPr lang="en-US" sz="1100" dirty="0"/>
          </a:p>
        </p:txBody>
      </p:sp>
      <p:sp>
        <p:nvSpPr>
          <p:cNvPr id="80" name="Text 64"/>
          <p:cNvSpPr txBox="1"/>
          <p:nvPr/>
        </p:nvSpPr>
        <p:spPr>
          <a:xfrm>
            <a:off x="548640" y="612648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Outputs:  </a:t>
            </a:r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interactive HTML report  ·  Excel workbook with every sub-category, score and row  ·  this deck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_bubble_1"/>
          <p:cNvSpPr/>
          <p:nvPr/>
        </p:nvSpPr>
        <p:spPr>
          <a:xfrm>
            <a:off x="9784080" y="1143000"/>
            <a:ext cx="1554480" cy="1554480"/>
          </a:xfrm>
          <a:prstGeom prst="ellipse">
            <a:avLst/>
          </a:prstGeom>
          <a:solidFill>
            <a:srgbClr val="008300">
              <a:alpha val="95000"/>
            </a:srgbClr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motif_bubble_2"/>
          <p:cNvSpPr/>
          <p:nvPr/>
        </p:nvSpPr>
        <p:spPr>
          <a:xfrm>
            <a:off x="8915400" y="2788920"/>
            <a:ext cx="960120" cy="960120"/>
          </a:xfrm>
          <a:prstGeom prst="ellipse">
            <a:avLst/>
          </a:prstGeom>
          <a:solidFill>
            <a:srgbClr val="2A78D6">
              <a:alpha val="95000"/>
            </a:srgbClr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" name="motif_bubble_3"/>
          <p:cNvSpPr/>
          <p:nvPr/>
        </p:nvSpPr>
        <p:spPr>
          <a:xfrm>
            <a:off x="10515600" y="3017520"/>
            <a:ext cx="1234440" cy="1234440"/>
          </a:xfrm>
          <a:prstGeom prst="ellipse">
            <a:avLst/>
          </a:prstGeom>
          <a:solidFill>
            <a:srgbClr val="EDA100">
              <a:alpha val="95000"/>
            </a:srgbClr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motif_bubble_4"/>
          <p:cNvSpPr/>
          <p:nvPr/>
        </p:nvSpPr>
        <p:spPr>
          <a:xfrm>
            <a:off x="9555480" y="4434840"/>
            <a:ext cx="685800" cy="685800"/>
          </a:xfrm>
          <a:prstGeom prst="ellipse">
            <a:avLst/>
          </a:prstGeom>
          <a:solidFill>
            <a:srgbClr val="E34948">
              <a:alpha val="95000"/>
            </a:srgbClr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motif_bubble_5"/>
          <p:cNvSpPr/>
          <p:nvPr/>
        </p:nvSpPr>
        <p:spPr>
          <a:xfrm>
            <a:off x="10972800" y="4754880"/>
            <a:ext cx="457200" cy="457200"/>
          </a:xfrm>
          <a:prstGeom prst="ellipse">
            <a:avLst/>
          </a:prstGeom>
          <a:solidFill>
            <a:srgbClr val="008300">
              <a:alpha val="70000"/>
            </a:srgbClr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motif_bubble_6"/>
          <p:cNvSpPr/>
          <p:nvPr/>
        </p:nvSpPr>
        <p:spPr>
          <a:xfrm>
            <a:off x="8549640" y="4983480"/>
            <a:ext cx="365760" cy="365760"/>
          </a:xfrm>
          <a:prstGeom prst="ellipse">
            <a:avLst/>
          </a:prstGeom>
          <a:solidFill>
            <a:srgbClr val="EDA100">
              <a:alpha val="70000"/>
            </a:srgbClr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motif_bubble_7"/>
          <p:cNvSpPr/>
          <p:nvPr/>
        </p:nvSpPr>
        <p:spPr>
          <a:xfrm>
            <a:off x="11338560" y="1005840"/>
            <a:ext cx="347472" cy="347472"/>
          </a:xfrm>
          <a:prstGeom prst="ellipse">
            <a:avLst/>
          </a:prstGeom>
          <a:solidFill>
            <a:srgbClr val="2A78D6">
              <a:alpha val="70000"/>
            </a:srgbClr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0"/>
          <p:cNvSpPr/>
          <p:nvPr>
            <p:ph idx="100" type="body" hasCustomPrompt="1"/>
          </p:nvPr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7A7"/>
                </a:solidFill>
              </a:rPr>
              <a:t>STAPLES.COM MARKETPLACE  ·  CATEGORY PoC</a:t>
            </a:r>
            <a:endParaRPr lang="en-US" sz="1400" dirty="0"/>
          </a:p>
        </p:txBody>
      </p:sp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731520" y="2514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Thank you</a:t>
            </a:r>
            <a:endParaRPr lang="en-US" sz="5400" dirty="0"/>
          </a:p>
        </p:txBody>
      </p:sp>
      <p:sp>
        <p:nvSpPr>
          <p:cNvPr id="11" name="Text 0"/>
          <p:cNvSpPr/>
          <p:nvPr>
            <p:ph idx="102" type="body" hasCustomPrompt="1"/>
          </p:nvPr>
        </p:nvSpPr>
        <p:spPr>
          <a:xfrm>
            <a:off x="731520" y="36118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3E6"/>
                </a:solidFill>
              </a:rPr>
              <a:t>Questions and discussion</a:t>
            </a:r>
            <a:endParaRPr lang="en-US" sz="2000" dirty="0"/>
          </a:p>
        </p:txBody>
      </p:sp>
      <p:sp>
        <p:nvSpPr>
          <p:cNvPr id="12" name="Text 0"/>
          <p:cNvSpPr/>
          <p:nvPr>
            <p:ph idx="103" type="body" hasCustomPrompt="1"/>
          </p:nvPr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dirty="0">
                <a:solidFill>
                  <a:srgbClr val="9AA6BF"/>
                </a:solidFill>
              </a:rPr>
              <a:t>Full detail: interactive HTML report and Excel workbook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ples Category PoC">
  <a:themeElements>
    <a:clrScheme name="Staples Category PoC">
      <a:dk1>
        <a:srgbClr val="1B1F2A"/>
      </a:dk1>
      <a:lt1>
        <a:srgbClr val="FFFFFF"/>
      </a:lt1>
      <a:dk2>
        <a:srgbClr val="14213D"/>
      </a:dk2>
      <a:lt2>
        <a:srgbClr val="EEF3FB"/>
      </a:lt2>
      <a:accent1>
        <a:srgbClr val="1F4E9A"/>
      </a:accent1>
      <a:accent2>
        <a:srgbClr val="008300"/>
      </a:accent2>
      <a:accent3>
        <a:srgbClr val="2A78D6"/>
      </a:accent3>
      <a:accent4>
        <a:srgbClr val="EDA100"/>
      </a:accent4>
      <a:accent5>
        <a:srgbClr val="E34948"/>
      </a:accent5>
      <a:accent6>
        <a:srgbClr val="CC0000"/>
      </a:accent6>
      <a:hlink>
        <a:srgbClr val="1F4E9A"/>
      </a:hlink>
      <a:folHlink>
        <a:srgbClr val="6B4FA0"/>
      </a:folHlink>
    </a:clrScheme>
    <a:fontScheme name="Staples Category PoC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Staples marketplace - category recommendations</dc:title>
  <dc:subject>PptxGenJS Presentation</dc:subject>
  <dc:creator>Analytics team</dc:creator>
  <cp:lastModifiedBy>Analytics team</cp:lastModifiedBy>
  <cp:revision>1</cp:revision>
  <dcterms:created xsi:type="dcterms:W3CDTF">2026-10-05T06:36:00Z</dcterms:created>
  <dcterms:modified xsi:type="dcterms:W3CDTF">2026-10-05T06:36:00Z</dcterms:modified>
</cp:coreProperties>
</file>