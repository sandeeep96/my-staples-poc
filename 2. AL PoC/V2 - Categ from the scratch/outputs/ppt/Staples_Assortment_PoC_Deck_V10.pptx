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6e599183-a01e-b6b9-6b89-b28444138025}">
          <p14:sldIdLst>
            <p14:sldId id="256"/>
          </p14:sldIdLst>
        </p14:section>
        <p14:section name="Summary" id="{80ae4b59-2c3e-1283-11b5-95bba6c9e73f}">
          <p14:sldIdLst>
            <p14:sldId id="257"/>
            <p14:sldId id="258"/>
          </p14:sldIdLst>
        </p14:section>
        <p14:section name="Demo" id="{41f94275-cf7a-c86d-793a-048b939f6f17}">
          <p14:sldIdLst>
            <p14:sldId id="259"/>
          </p14:sldIdLst>
        </p14:section>
        <p14:section name="Next steps" id="{5bc0aa35-5dbe-9890-938b-c4241dee949e}">
          <p14:sldIdLst>
            <p14:sldId id="260"/>
            <p14:sldId id="261"/>
          </p14:sldIdLst>
        </p14:section>
        <p14:section name="Appendix" id="{d8426432-1d1f-5ad9-a553-c08432222a2e}">
          <p14:sldIdLst>
            <p14:sldId id="262"/>
            <p14:sldId id="263"/>
          </p14:sldIdLst>
        </p14:section>
        <p14:section name="Close" id="{bd70e25e-3324-b621-9088-85328ca51bcd}">
          <p14:sldIdLst>
            <p14:sldId id="26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This PoC answers one question for each of 12 Staples nodes: what does the leading competitor (Amazon or Wayfair) carry that Staples does not, and which of those items can Staples add through the marketplace without cannibalising its own assortment. External data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ask: a curated, core-adjacent ("White Chair") marketplace for Q1 2027 that does not cannibalise 1P sales, built on external data only.
Funnel: 19,928 product families (3,416 Staples, 6,577 Amazon, 9,935 Wayfair; colour/size variants merged) → 897 archetypes compared → 74 pass the safety gates (22 Strong, 23 Vector-led, 28 Gap-led, 1 Conditional) → 213 example products, each shown beside the nearest Staples item → 13 brands already selling on Staples (at-A-Glance, BAGSMART, Bentgo, CamelBak, Ello, Excello, Fringe, High Sierra, La Crosse Technology, Mead, PlanAhead, STANLEY, Targus).
How: Method 1 compares products in an embedding space (whitespace, fit with Staples, look, cannibalisation risk, price position); Method 2 compares attribute shares (share gap, price, colour, material/style, design). Each has its own cannibalisation gate; the final list is their union.
The four headline picks are anchored to what Staples already sells, so a merchant recognises them; each was checked against the Staples catalog: wooden K-Cup pod drawers 0 of 50 coffee organisers (Strong: both methods; Staples sells 583 single-serve coffee items and 139 coffee makers); adult stainless bento 1 of 318 lunch bags (Strong); statement / oversized wall clocks 13 of 174 clocks vs 36% of Wayfair's (Strong: both methods; 0% cannibalisation risk; mostly priced well above Staples' clocks, a design trade-up); barrel chairs 0 of 116 accent chairs (the literal "White Chair"; Gap-led: a clear gap, but Method 1 reads most barrel chairs as off-brand for today's Staples customer, so check the fit).
Backup picks if asked: folding screens under $150 (0 of 99 partitions vs 20% of Wayfair's; Strong), guided / daily journals (0 of 805 planners vs 17% of Amazon's; Gap-led, read as off-brand by Method 1), hiking / outdoor daypacks (5 of 379 vs 31% of Amazon's).
If asked about the assortments: Staples builds for the workplace (57% of accent chairs are reception/lobby seats vs 1% at Wayfair; 83% of partitions tackable vs 2%); Wayfair for the home (38% of accent chairs for living rooms vs 7%); Amazon for the person and the activity (40% of backpacks hiking/outdoor vs 1%). Design-forward share 20% at Staples vs 44% at the competitors (text-based, provisional). Price: Staples desks median $729 vs $286 at Wayfair; 41% of Amazon planners under $10 vs 12%.
More picks: 70 further archetypes, each with example products, are in the demo.
Next steps: the five steps of slide 5 (same labels and headings). First moves if asked: 1 Prioritise: Link sales &amp; search to the top picks in 2–3 pilot nodes; 2 Protect: Calibrate gates with merchants (60 side-by-side pairs); 3 Expand: Agree the next nodes &amp; benchmark competitors; 4 Curate: Vet top picks; start with the 13 brands on Staples; 5 Monitor: Track pilots' GMV, attach &amp; commission.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Segments (as per our research): Hero = Staples' top-performing categories, so we EXTEND them with design-led variants; Probable Hero = a good market where Staples can improve its position, so we BUILD depth; Non-Hero = a smaller Staples presence today, so we EXPLORE via marketplace sellers with near-zero 1P risk.
Competitors (as per our research): each node is compared with its Primary competitor only: Wayfair, the leading online home-furnishing store, for furniture and décor (5 nodes); Amazon, the default everyday marketplace, for supplies, bags and kitchen (7 nodes).
Archetypes recommended: the final gate keeps 3 to 10 per node; Desk Organizers, Water Bottles and Desk Pads have the smallest competitor samples (185, 194 and 61 product families), hence fewer picks.
Disclaimer detail: Amazon 14.6K and Wayfair 11.2K SKUs vs 4.9K Staples SKUs. Because the competitor files are samples, every comparison is a share of each retailer's range with a credibility check, never a raw count. No internal sales, traffic or margin data were used.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Placeholder: add the demo link here before the session.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PoC engine on Staples data: the same analysis, now on Staples' internal data. If asked about order: deepen the 12 nodes first, then broaden.
1 Prioritise: join sales, traffic and search data to each archetype; profile buyers (B2B vs B2C, RFM, basket mix); re-rank each node's add-list by expected GMV and commission per segment (Hero / Probable / Non-Hero).
2 Protect: today's cannibalisation checks use supply only (how close a competitor product sits to Staples products). With Staples data we tune every safety-gate threshold with merchants (cannibalisation risk bands, price-position limits, fit-with-Staples cut-offs, picks per node; the merchant calibration session on slide 2 is the first move) and replace the supply proxy with real 1P sales overlap and substitution seen in baskets, plus price and margin floors per node.
3 Expand: once calibrated, point the engine at any Staples category and any competitor that represents the audience Staples wants (e.g. IKEA for small-space home offices, Target for students and Back-to-School, Etsy for gifting). A new competitor is one adapter entry and a new node one config file; no code change.
4 Curate: the same attribute and archetype engine scores every seller submission for fit, 1P overlap and price, feeding an approve / review / reject queue that learns from curator decisions (first move: vet the top picks, starting with the brands already on Staples).
5 Monitor: scheduled re-crawls flag new and closing gaps; pilot listings are tracked for GMV, attach rate and commission against the forecast, and results feed back into prioritisation.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Growth paths, read left to right: sense demand early, size and validate it, then act on the basket and the catalog. Each combines external signals with Staples data.
- Social media &amp; trend listening (social media analytics + trend listening): mentions, hashtags and saves per archetype on TikTok, Instagram, Pinterest and Reddit plus Google Trends, scored for growth and sentiment; rising styles feed the Explore nodes.
- SEO &amp; search-intent gaps: on-site searches (zero-result, high-exit) and external SEO keywords where competitors rank and Staples does not, mapped to archetypes; feeds seller recruiting and product pages.
- Demand forecasting: per node and archetype from sales history, with Back-to-School seasonality and the trend signals from social listening; sizes GMV and commission before listing.
- Market research &amp; customer surveys (market research + market survey): B2B and B2C customers on unmet needs, style and price; concept tests of the top archetypes; results set the prioritisation weights.
- Basket completion &amp; Back-to-School kits: market-basket analysis finds missing complements; target 1–2 attach items per order (the brief's basket goal).
- New-category whitespace: the PoC already set aside 8,399 competitor product families that fit none of the 12 nodes (e.g. wall calendars, thermocoolers, reusable bags, briefcases, many of which Staples shelves elsewhere); running the engine against the whole Staples tree, plus the brief's adjacent verticals such as facility supplies, finds categories with no Staples home.
Further options if asked: B2B account cross-sell, seller recruitment scoring, listing content enrichment (our attribute extractor auto-tags seller listings for filters and search).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End-to-end flow. S0–S2: ingest and clean the three sources (PII from Wayfair reviews removed), merge colour/size variants into product families, map each competitor product to the right Staples node with a k-NN classifier over all Staples nodes. S3–S4: read every product's full text with the same extractor on both sides into 3 tiers of attributes; build archetypes as combinations of 4–6 attributes (no price). Neutral product embeddings: each product becomes a card of its extracted attributes only (same template on both sides, no title, price or brand, so neither retailer's copy style separates them), embedded with bge-base; it powers Method 1, the clustering cross-check and the nearest-Staples match for every example product. S5: Method 1 in embedding space (whitespace, fit with Staples, aesthetic difference, cannibalisation risk, price position) gives VOS. S6: Method 2 on attribute shares (share gap, price, colour, material/style, design) gives TG, with its own attribute cannibalisation check (ACR). S7: each method has its own safety gate; the final gate takes the union and tiers it. S8: example products safe under the recommending method, each shown next to the nearest Staples product, plus brand and seller notes.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Method 1 decision map: every competitor product gets one label. First EXCLUDE (identical to a Staples product), then OFF-BRAND (AAS below T_low: poor fit with Staples' catalog and customers), then the CRS band decides. Low CRS (&lt; 30): CURATE if AAS ≥ T_high (true whitespace), else EDGE (hold for phase 2). Middle CRS: LEAN-APPROVE if the look is clearly different (AD ≥ 0.5) and the fit is strong, else REVIEW (merchant calibration queue). High CRS (≥ 70), top-down: UNDERCUT (PPR &lt; 0.85×, hard reject), TRADE-UP (PPR ≥ 1.5× with a design or material upgrade), STYLE-EXTENSION (AD ≥ 0.5), otherwise SUBSTITUTE (same job, same look, reject).
T_low / T_high are set from Staples' own AAS per L2 group (ranges 24–42 and 43–61); all cut-offs are provisional until the merchant calibration session (slide 5, step 2 Protect).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Next steps are on the executive summary and in detail on slide 5 (the PoC engine on Staples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11480" y="914400"/>
            <a:ext cx="1005840" cy="54864"/>
          </a:xfrm>
          <a:prstGeom prst="rect">
            <a:avLst/>
          </a:prstGeom>
          <a:solidFill>
            <a:srgbClr val="F5A623"/>
          </a:solidFill>
          <a:ln w="12700">
            <a:solidFill>
              <a:srgbClr val="F5A623"/>
            </a:solidFill>
            <a:prstDash val="solid"/>
          </a:ln>
        </p:spPr>
      </p:sp>
      <p:sp>
        <p:nvSpPr>
          <p:cNvPr id="3" name="Shape 1"/>
          <p:cNvSpPr/>
          <p:nvPr/>
        </p:nvSpPr>
        <p:spPr>
          <a:xfrm>
            <a:off x="1417320" y="914400"/>
            <a:ext cx="10360152" cy="54864"/>
          </a:xfrm>
          <a:prstGeom prst="rect">
            <a:avLst/>
          </a:prstGeom>
          <a:solidFill>
            <a:srgbClr val="1F4E9A"/>
          </a:solidFill>
          <a:ln w="12700">
            <a:solidFill>
              <a:srgbClr val="1F4E9A"/>
            </a:solidFill>
            <a:prstDash val="solid"/>
          </a:ln>
        </p:spPr>
      </p:sp>
      <p:sp>
        <p:nvSpPr>
          <p:cNvPr id="4" name="Text 2"/>
          <p:cNvSpPr/>
          <p:nvPr/>
        </p:nvSpPr>
        <p:spPr>
          <a:xfrm>
            <a:off x="411480" y="6528816"/>
            <a:ext cx="7315200" cy="219456"/>
          </a:xfrm>
          <a:prstGeom prst="rect">
            <a:avLst/>
          </a:prstGeom>
          <a:noFill/>
          <a:ln/>
        </p:spPr>
        <p:txBody>
          <a:bodyPr wrap="square" lIns="0" tIns="0" rIns="0" bIns="0" rtlCol="0" anchor="ctr"/>
          <a:lstStyle/>
          <a:p>
            <a:pPr indent="0" marL="0">
              <a:buNone/>
            </a:pPr>
            <a:r>
              <a:rPr lang="en-US" sz="900" dirty="0">
                <a:solidFill>
                  <a:srgbClr val="7A8599"/>
                </a:solidFill>
                <a:latin typeface="Calibri" pitchFamily="34" charset="0"/>
                <a:ea typeface="Calibri" pitchFamily="34" charset="-122"/>
                <a:cs typeface="Calibri" pitchFamily="34" charset="-120"/>
              </a:rPr>
              <a:t>Staples × LatentView  |  Assortment Gap &amp; Archetype PoC  |  Confidential</a:t>
            </a:r>
            <a:endParaRPr lang="en-US" sz="900" dirty="0"/>
          </a:p>
        </p:txBody>
      </p:sp>
      <p:sp>
        <p:nvSpPr>
          <p:cNvPr id="5" name="Text 3"/>
          <p:cNvSpPr/>
          <p:nvPr>
            <p:ph idx="103" type="title" hasCustomPrompt="1"/>
          </p:nvPr>
        </p:nvSpPr>
        <p:spPr>
          <a:xfrm>
            <a:off x="411480" y="219456"/>
            <a:ext cx="11365992" cy="658368"/>
          </a:xfrm>
          <a:prstGeom prst="rect">
            <a:avLst/>
          </a:prstGeom>
          <a:noFill/>
          <a:ln/>
        </p:spPr>
        <p:txBody>
          <a:bodyPr wrap="square" rtlCol="0"/>
          <a:lstStyle>
            <a:lvl1pPr algn="l" indent="0" marL="0">
              <a:buNone/>
              <a:defRPr lang="en-US" sz="2800" b="1" dirty="0">
                <a:solidFill>
                  <a:srgbClr val="1F4E9A"/>
                </a:solidFill>
                <a:latin typeface="Calibri" pitchFamily="34" charset="0"/>
                <a:ea typeface="Calibri" pitchFamily="34" charset="-122"/>
                <a:cs typeface="Calibri" pitchFamily="34" charset="-120"/>
              </a:defRPr>
            </a:lvl1pPr>
          </a:lstStyle>
          <a:p>
            <a:pPr algn="l" indent="0" marL="0">
              <a:buNone/>
            </a:pPr>
            <a:endParaRPr lang="en-US" sz="2800" dirty="0"/>
          </a:p>
        </p:txBody>
      </p:sp>
      <p:sp>
        <p:nvSpPr>
          <p:cNvPr id="25" name="Slide Number Placeholder 0"/>
          <p:cNvSpPr>
            <a:spLocks noGrp="1"/>
          </p:cNvSpPr>
          <p:nvPr>
            <p:ph type="sldNum" sz="quarter" idx="4294967295"/>
          </p:nvPr>
        </p:nvSpPr>
        <p:spPr>
          <a:xfrm>
            <a:off x="11320272" y="6510528"/>
            <a:ext cx="457200" cy="237744"/>
          </a:xfrm>
          <a:prstGeom prst="rect">
            <a:avLst/>
          </a:prstGeom>
          <a:extLst>
            <a:ext uri="{C572A759-6A51-4108-AA02-DFA0A04FC94B}">
              <ma14:wrappingTextBoxFlag xmlns:ma14="http://schemas.microsoft.com/office/mac/drawingml/2011/main" val="0"/>
            </a:ext>
          </a:extLst>
        </p:spPr>
        <p:txBody>
          <a:bodyPr/>
          <a:lstStyle>
            <a:lvl1pPr>
              <a:defRPr sz="900">
                <a:solidFill>
                  <a:srgbClr val="7A8599"/>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13285B"/>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320272" y="6510528"/>
            <a:ext cx="457200" cy="237744"/>
          </a:xfrm>
          <a:prstGeom prst="rect">
            <a:avLst/>
          </a:prstGeom>
          <a:extLst>
            <a:ext uri="{C572A759-6A51-4108-AA02-DFA0A04FC94B}">
              <ma14:wrappingTextBoxFlag xmlns:ma14="http://schemas.microsoft.com/office/mac/drawingml/2011/main" val="0"/>
            </a:ext>
          </a:extLst>
        </p:spPr>
        <p:txBody>
          <a:bodyPr/>
          <a:lstStyle>
            <a:lvl1pPr>
              <a:defRPr sz="900">
                <a:solidFill>
                  <a:srgbClr val="7A8599"/>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png"/><Relationship Id="rId8" Type="http://schemas.openxmlformats.org/officeDocument/2006/relationships/image" Target="../media/image-1-8.png"/><Relationship Id="rId9" Type="http://schemas.openxmlformats.org/officeDocument/2006/relationships/image" Target="../media/image-1-9.png"/><Relationship Id="rId10" Type="http://schemas.openxmlformats.org/officeDocument/2006/relationships/image" Target="../media/image-1-10.png"/><Relationship Id="rId11" Type="http://schemas.openxmlformats.org/officeDocument/2006/relationships/image" Target="../media/image-1-11.png"/><Relationship Id="rId12" Type="http://schemas.openxmlformats.org/officeDocument/2006/relationships/image" Target="../media/image-1-12.png"/><Relationship Id="rId13" Type="http://schemas.openxmlformats.org/officeDocument/2006/relationships/slideLayout" Target="../slideLayouts/slideLayout3.xml"/><Relationship Id="rId1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2" Type="http://schemas.openxmlformats.org/officeDocument/2006/relationships/hyperlink" Target="https://www.amazon.com/dp/B0DBH21SRN" TargetMode="External"/><Relationship Id="rId4" Type="http://schemas.openxmlformats.org/officeDocument/2006/relationships/hyperlink" Target="https://www.amazon.com/dp/B0716B2ZFK" TargetMode="External"/><Relationship Id="rId6" Type="http://schemas.openxmlformats.org/officeDocument/2006/relationships/hyperlink" Target="https://www.wayfair.com/decor-pillows/pdp/east-urban-home-pink-liquid-gold-harmony-wave-abstract-shapes-oversized-wood-wall-clock-w110240375.html?piid=779502042" TargetMode="External"/><Relationship Id="rId8" Type="http://schemas.openxmlformats.org/officeDocument/2006/relationships/hyperlink" Target="https://www.wayfair.com/furniture/pdp/hokku-designs-360-swivel-accent-chair-velvet-upholstered-open-back-swivel-barrel-chair-modern-swivel-lounge-chair-for-living-room-dining-room-bedroom-w119643556.html?piid=1272737804" TargetMode="External"/><Relationship Id="rId1" Type="http://schemas.openxmlformats.org/officeDocument/2006/relationships/image" Target="../media/image-2-1.png"/><Relationship Id="rId3" Type="http://schemas.openxmlformats.org/officeDocument/2006/relationships/image" Target="../media/image-2-2.png"/><Relationship Id="rId5" Type="http://schemas.openxmlformats.org/officeDocument/2006/relationships/image" Target="../media/image-2-3.png"/><Relationship Id="rId7" Type="http://schemas.openxmlformats.org/officeDocument/2006/relationships/image" Target="../media/image-2-4.png"/><Relationship Id="rId9" Type="http://schemas.openxmlformats.org/officeDocument/2006/relationships/image" Target="../media/image-2-5.png"/><Relationship Id="rId10" Type="http://schemas.openxmlformats.org/officeDocument/2006/relationships/image" Target="../media/image-2-6.png"/><Relationship Id="rId11" Type="http://schemas.openxmlformats.org/officeDocument/2006/relationships/image" Target="../media/image-2-7.png"/><Relationship Id="rId12" Type="http://schemas.openxmlformats.org/officeDocument/2006/relationships/image" Target="../media/image-2-8.png"/><Relationship Id="rId13" Type="http://schemas.openxmlformats.org/officeDocument/2006/relationships/image" Target="../media/image-2-9.png"/><Relationship Id="rId14" Type="http://schemas.openxmlformats.org/officeDocument/2006/relationships/slideLayout" Target="../slideLayouts/slideLayout2.xml"/><Relationship Id="rId1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2.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2.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2.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image" Target="../media/image-7-8.png"/><Relationship Id="rId9" Type="http://schemas.openxmlformats.org/officeDocument/2006/relationships/image" Target="../media/image-7-9.png"/><Relationship Id="rId10" Type="http://schemas.openxmlformats.org/officeDocument/2006/relationships/image" Target="../media/image-7-10.png"/><Relationship Id="rId11" Type="http://schemas.openxmlformats.org/officeDocument/2006/relationships/image" Target="../media/image-7-11.png"/><Relationship Id="rId12" Type="http://schemas.openxmlformats.org/officeDocument/2006/relationships/image" Target="../media/image-7-12.png"/><Relationship Id="rId13" Type="http://schemas.openxmlformats.org/officeDocument/2006/relationships/slideLayout" Target="../slideLayouts/slideLayout2.xml"/><Relationship Id="rId1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640080" y="2103120"/>
            <a:ext cx="6675120" cy="868680"/>
          </a:xfrm>
          <a:prstGeom prst="rect">
            <a:avLst/>
          </a:prstGeom>
          <a:noFill/>
          <a:ln/>
        </p:spPr>
        <p:txBody>
          <a:bodyPr wrap="square" lIns="0" tIns="0" rIns="0" bIns="0" rtlCol="0" anchor="ctr"/>
          <a:lstStyle/>
          <a:p>
            <a:pPr indent="0" marL="0">
              <a:buNone/>
            </a:pPr>
            <a:r>
              <a:rPr lang="en-US" sz="4400" b="1" dirty="0">
                <a:solidFill>
                  <a:srgbClr val="FFFFFF"/>
                </a:solidFill>
                <a:latin typeface="Calibri" pitchFamily="34" charset="0"/>
                <a:ea typeface="Calibri" pitchFamily="34" charset="-122"/>
                <a:cs typeface="Calibri" pitchFamily="34" charset="-120"/>
              </a:rPr>
              <a:t>Staples Marketplace</a:t>
            </a:r>
            <a:endParaRPr lang="en-US" sz="4400" dirty="0"/>
          </a:p>
        </p:txBody>
      </p:sp>
      <p:sp>
        <p:nvSpPr>
          <p:cNvPr id="3" name="Shape 1"/>
          <p:cNvSpPr/>
          <p:nvPr/>
        </p:nvSpPr>
        <p:spPr>
          <a:xfrm>
            <a:off x="658368" y="3072384"/>
            <a:ext cx="1097280" cy="54864"/>
          </a:xfrm>
          <a:prstGeom prst="rect">
            <a:avLst/>
          </a:prstGeom>
          <a:solidFill>
            <a:srgbClr val="F5A623"/>
          </a:solidFill>
          <a:ln w="12700">
            <a:solidFill>
              <a:srgbClr val="F5A623"/>
            </a:solidFill>
            <a:prstDash val="solid"/>
          </a:ln>
        </p:spPr>
      </p:sp>
      <p:sp>
        <p:nvSpPr>
          <p:cNvPr id="4" name="Text 2"/>
          <p:cNvSpPr txBox="1"/>
          <p:nvPr/>
        </p:nvSpPr>
        <p:spPr>
          <a:xfrm>
            <a:off x="640080" y="3246120"/>
            <a:ext cx="6675120" cy="548640"/>
          </a:xfrm>
          <a:prstGeom prst="rect">
            <a:avLst/>
          </a:prstGeom>
          <a:noFill/>
          <a:ln/>
        </p:spPr>
        <p:txBody>
          <a:bodyPr wrap="square" lIns="0" tIns="0" rIns="0" bIns="0" rtlCol="0" anchor="t"/>
          <a:lstStyle/>
          <a:p>
            <a:pPr indent="0" marL="0">
              <a:buNone/>
            </a:pPr>
            <a:r>
              <a:rPr lang="en-US" sz="2600" dirty="0">
                <a:solidFill>
                  <a:srgbClr val="CADCFC"/>
                </a:solidFill>
                <a:latin typeface="Calibri" pitchFamily="34" charset="0"/>
                <a:ea typeface="Calibri" pitchFamily="34" charset="-122"/>
                <a:cs typeface="Calibri" pitchFamily="34" charset="-120"/>
              </a:rPr>
              <a:t>Assortment Gap &amp; Archetype Recommendation</a:t>
            </a:r>
            <a:endParaRPr lang="en-US" sz="2600" dirty="0"/>
          </a:p>
        </p:txBody>
      </p:sp>
      <p:sp>
        <p:nvSpPr>
          <p:cNvPr id="5" name="Text 3"/>
          <p:cNvSpPr txBox="1"/>
          <p:nvPr/>
        </p:nvSpPr>
        <p:spPr>
          <a:xfrm>
            <a:off x="640080" y="5715000"/>
            <a:ext cx="6400800" cy="320040"/>
          </a:xfrm>
          <a:prstGeom prst="rect">
            <a:avLst/>
          </a:prstGeom>
          <a:noFill/>
          <a:ln/>
        </p:spPr>
        <p:txBody>
          <a:bodyPr wrap="square" lIns="0" tIns="0" rIns="0" bIns="0" rtlCol="0" anchor="t"/>
          <a:lstStyle/>
          <a:p>
            <a:pPr indent="0" marL="0">
              <a:buNone/>
            </a:pPr>
            <a:r>
              <a:rPr lang="en-US" sz="1400" dirty="0">
                <a:solidFill>
                  <a:srgbClr val="CADCFC"/>
                </a:solidFill>
                <a:latin typeface="Calibri" pitchFamily="34" charset="0"/>
                <a:ea typeface="Calibri" pitchFamily="34" charset="-122"/>
                <a:cs typeface="Calibri" pitchFamily="34" charset="-120"/>
              </a:rPr>
              <a:t>LatentView Analytics  ·  October 2026</a:t>
            </a:r>
            <a:endParaRPr lang="en-US" sz="1400" dirty="0"/>
          </a:p>
        </p:txBody>
      </p:sp>
      <p:sp>
        <p:nvSpPr>
          <p:cNvPr id="6" name="Text 4"/>
          <p:cNvSpPr txBox="1"/>
          <p:nvPr/>
        </p:nvSpPr>
        <p:spPr>
          <a:xfrm>
            <a:off x="7635240" y="457200"/>
            <a:ext cx="1188720" cy="274320"/>
          </a:xfrm>
          <a:prstGeom prst="rect">
            <a:avLst/>
          </a:prstGeom>
          <a:noFill/>
          <a:ln/>
        </p:spPr>
        <p:txBody>
          <a:bodyPr wrap="square" lIns="0" tIns="0" rIns="0" bIns="0" rtlCol="0" anchor="t"/>
          <a:lstStyle/>
          <a:p>
            <a:pPr algn="ctr" indent="0" marL="0">
              <a:buNone/>
            </a:pPr>
            <a:r>
              <a:rPr lang="en-US" sz="1000" b="1" dirty="0">
                <a:solidFill>
                  <a:srgbClr val="CADCFC"/>
                </a:solidFill>
                <a:latin typeface="Calibri" pitchFamily="34" charset="0"/>
                <a:ea typeface="Calibri" pitchFamily="34" charset="-122"/>
                <a:cs typeface="Calibri" pitchFamily="34" charset="-120"/>
              </a:rPr>
              <a:t>HERO</a:t>
            </a:r>
            <a:endParaRPr lang="en-US" sz="1000" dirty="0"/>
          </a:p>
        </p:txBody>
      </p:sp>
      <p:sp>
        <p:nvSpPr>
          <p:cNvPr id="7" name="Shape 5"/>
          <p:cNvSpPr/>
          <p:nvPr/>
        </p:nvSpPr>
        <p:spPr>
          <a:xfrm>
            <a:off x="7635240" y="804672"/>
            <a:ext cx="1188720" cy="1243584"/>
          </a:xfrm>
          <a:prstGeom prst="roundRect">
            <a:avLst>
              <a:gd name="adj" fmla="val 9231"/>
            </a:avLst>
          </a:prstGeom>
          <a:solidFill>
            <a:srgbClr val="1C3A7A"/>
          </a:solidFill>
          <a:ln w="12700">
            <a:solidFill>
              <a:srgbClr val="1C3A7A"/>
            </a:solidFill>
            <a:prstDash val="solid"/>
          </a:ln>
        </p:spPr>
      </p:sp>
      <p:pic>
        <p:nvPicPr>
          <p:cNvPr id="8" name="Image 0" descr="preencoded.png">    </p:cNvPr>
          <p:cNvPicPr>
            <a:picLocks noChangeAspect="1"/>
          </p:cNvPicPr>
          <p:nvPr/>
        </p:nvPicPr>
        <p:blipFill>
          <a:blip r:embed="rId1"/>
          <a:stretch>
            <a:fillRect/>
          </a:stretch>
        </p:blipFill>
        <p:spPr>
          <a:xfrm>
            <a:off x="7991856" y="950976"/>
            <a:ext cx="475488" cy="475488"/>
          </a:xfrm>
          <a:prstGeom prst="rect">
            <a:avLst/>
          </a:prstGeom>
        </p:spPr>
      </p:pic>
      <p:sp>
        <p:nvSpPr>
          <p:cNvPr id="9" name="Text 6"/>
          <p:cNvSpPr txBox="1"/>
          <p:nvPr/>
        </p:nvSpPr>
        <p:spPr>
          <a:xfrm>
            <a:off x="7680960" y="1517904"/>
            <a:ext cx="1097280" cy="420624"/>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Planners</a:t>
            </a:r>
            <a:endParaRPr lang="en-US" sz="1050" dirty="0"/>
          </a:p>
        </p:txBody>
      </p:sp>
      <p:sp>
        <p:nvSpPr>
          <p:cNvPr id="10" name="Shape 7"/>
          <p:cNvSpPr/>
          <p:nvPr/>
        </p:nvSpPr>
        <p:spPr>
          <a:xfrm>
            <a:off x="7635240" y="2176272"/>
            <a:ext cx="1188720" cy="1243584"/>
          </a:xfrm>
          <a:prstGeom prst="roundRect">
            <a:avLst>
              <a:gd name="adj" fmla="val 9231"/>
            </a:avLst>
          </a:prstGeom>
          <a:solidFill>
            <a:srgbClr val="1C3A7A"/>
          </a:solidFill>
          <a:ln w="12700">
            <a:solidFill>
              <a:srgbClr val="1C3A7A"/>
            </a:solidFill>
            <a:prstDash val="solid"/>
          </a:ln>
        </p:spPr>
      </p:sp>
      <p:pic>
        <p:nvPicPr>
          <p:cNvPr id="11" name="Image 1" descr="preencoded.png">    </p:cNvPr>
          <p:cNvPicPr>
            <a:picLocks noChangeAspect="1"/>
          </p:cNvPicPr>
          <p:nvPr/>
        </p:nvPicPr>
        <p:blipFill>
          <a:blip r:embed="rId2"/>
          <a:stretch>
            <a:fillRect/>
          </a:stretch>
        </p:blipFill>
        <p:spPr>
          <a:xfrm>
            <a:off x="7991856" y="2322576"/>
            <a:ext cx="475488" cy="475488"/>
          </a:xfrm>
          <a:prstGeom prst="rect">
            <a:avLst/>
          </a:prstGeom>
        </p:spPr>
      </p:pic>
      <p:sp>
        <p:nvSpPr>
          <p:cNvPr id="12" name="Text 8"/>
          <p:cNvSpPr txBox="1"/>
          <p:nvPr/>
        </p:nvSpPr>
        <p:spPr>
          <a:xfrm>
            <a:off x="7680960" y="2889504"/>
            <a:ext cx="1097280" cy="420624"/>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Desk Organizers</a:t>
            </a:r>
            <a:endParaRPr lang="en-US" sz="1050" dirty="0"/>
          </a:p>
        </p:txBody>
      </p:sp>
      <p:sp>
        <p:nvSpPr>
          <p:cNvPr id="13" name="Shape 9"/>
          <p:cNvSpPr/>
          <p:nvPr/>
        </p:nvSpPr>
        <p:spPr>
          <a:xfrm>
            <a:off x="7635240" y="3547872"/>
            <a:ext cx="1188720" cy="1243584"/>
          </a:xfrm>
          <a:prstGeom prst="roundRect">
            <a:avLst>
              <a:gd name="adj" fmla="val 9231"/>
            </a:avLst>
          </a:prstGeom>
          <a:solidFill>
            <a:srgbClr val="1C3A7A"/>
          </a:solidFill>
          <a:ln w="12700">
            <a:solidFill>
              <a:srgbClr val="1C3A7A"/>
            </a:solidFill>
            <a:prstDash val="solid"/>
          </a:ln>
        </p:spPr>
      </p:sp>
      <p:pic>
        <p:nvPicPr>
          <p:cNvPr id="14" name="Image 2" descr="preencoded.png">    </p:cNvPr>
          <p:cNvPicPr>
            <a:picLocks noChangeAspect="1"/>
          </p:cNvPicPr>
          <p:nvPr/>
        </p:nvPicPr>
        <p:blipFill>
          <a:blip r:embed="rId3"/>
          <a:stretch>
            <a:fillRect/>
          </a:stretch>
        </p:blipFill>
        <p:spPr>
          <a:xfrm>
            <a:off x="7991856" y="3694176"/>
            <a:ext cx="475488" cy="475488"/>
          </a:xfrm>
          <a:prstGeom prst="rect">
            <a:avLst/>
          </a:prstGeom>
        </p:spPr>
      </p:pic>
      <p:sp>
        <p:nvSpPr>
          <p:cNvPr id="15" name="Text 10"/>
          <p:cNvSpPr txBox="1"/>
          <p:nvPr/>
        </p:nvSpPr>
        <p:spPr>
          <a:xfrm>
            <a:off x="7680960" y="4261104"/>
            <a:ext cx="1097280" cy="420624"/>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Backpacks</a:t>
            </a:r>
            <a:endParaRPr lang="en-US" sz="1050" dirty="0"/>
          </a:p>
        </p:txBody>
      </p:sp>
      <p:sp>
        <p:nvSpPr>
          <p:cNvPr id="16" name="Shape 11"/>
          <p:cNvSpPr/>
          <p:nvPr/>
        </p:nvSpPr>
        <p:spPr>
          <a:xfrm>
            <a:off x="7635240" y="4919472"/>
            <a:ext cx="1188720" cy="1243584"/>
          </a:xfrm>
          <a:prstGeom prst="roundRect">
            <a:avLst>
              <a:gd name="adj" fmla="val 9231"/>
            </a:avLst>
          </a:prstGeom>
          <a:solidFill>
            <a:srgbClr val="1C3A7A"/>
          </a:solidFill>
          <a:ln w="12700">
            <a:solidFill>
              <a:srgbClr val="1C3A7A"/>
            </a:solidFill>
            <a:prstDash val="solid"/>
          </a:ln>
        </p:spPr>
      </p:sp>
      <p:pic>
        <p:nvPicPr>
          <p:cNvPr id="17" name="Image 3" descr="preencoded.png">    </p:cNvPr>
          <p:cNvPicPr>
            <a:picLocks noChangeAspect="1"/>
          </p:cNvPicPr>
          <p:nvPr/>
        </p:nvPicPr>
        <p:blipFill>
          <a:blip r:embed="rId4"/>
          <a:stretch>
            <a:fillRect/>
          </a:stretch>
        </p:blipFill>
        <p:spPr>
          <a:xfrm>
            <a:off x="7991856" y="5065776"/>
            <a:ext cx="475488" cy="475488"/>
          </a:xfrm>
          <a:prstGeom prst="rect">
            <a:avLst/>
          </a:prstGeom>
        </p:spPr>
      </p:pic>
      <p:sp>
        <p:nvSpPr>
          <p:cNvPr id="18" name="Text 12"/>
          <p:cNvSpPr txBox="1"/>
          <p:nvPr/>
        </p:nvSpPr>
        <p:spPr>
          <a:xfrm>
            <a:off x="7680960" y="5632704"/>
            <a:ext cx="1097280" cy="420624"/>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Office Desks</a:t>
            </a:r>
            <a:endParaRPr lang="en-US" sz="1050" dirty="0"/>
          </a:p>
        </p:txBody>
      </p:sp>
      <p:sp>
        <p:nvSpPr>
          <p:cNvPr id="19" name="Text 13"/>
          <p:cNvSpPr txBox="1"/>
          <p:nvPr/>
        </p:nvSpPr>
        <p:spPr>
          <a:xfrm>
            <a:off x="8961120" y="457200"/>
            <a:ext cx="1188720" cy="274320"/>
          </a:xfrm>
          <a:prstGeom prst="rect">
            <a:avLst/>
          </a:prstGeom>
          <a:noFill/>
          <a:ln/>
        </p:spPr>
        <p:txBody>
          <a:bodyPr wrap="square" lIns="0" tIns="0" rIns="0" bIns="0" rtlCol="0" anchor="t"/>
          <a:lstStyle/>
          <a:p>
            <a:pPr algn="ctr" indent="0" marL="0">
              <a:buNone/>
            </a:pPr>
            <a:r>
              <a:rPr lang="en-US" sz="1000" b="1" dirty="0">
                <a:solidFill>
                  <a:srgbClr val="CADCFC"/>
                </a:solidFill>
                <a:latin typeface="Calibri" pitchFamily="34" charset="0"/>
                <a:ea typeface="Calibri" pitchFamily="34" charset="-122"/>
                <a:cs typeface="Calibri" pitchFamily="34" charset="-120"/>
              </a:rPr>
              <a:t>PROBABLE HERO</a:t>
            </a:r>
            <a:endParaRPr lang="en-US" sz="1000" dirty="0"/>
          </a:p>
        </p:txBody>
      </p:sp>
      <p:sp>
        <p:nvSpPr>
          <p:cNvPr id="20" name="Shape 14"/>
          <p:cNvSpPr/>
          <p:nvPr/>
        </p:nvSpPr>
        <p:spPr>
          <a:xfrm>
            <a:off x="8961120" y="804672"/>
            <a:ext cx="1188720" cy="1243584"/>
          </a:xfrm>
          <a:prstGeom prst="roundRect">
            <a:avLst>
              <a:gd name="adj" fmla="val 9231"/>
            </a:avLst>
          </a:prstGeom>
          <a:solidFill>
            <a:srgbClr val="24498F"/>
          </a:solidFill>
          <a:ln w="12700">
            <a:solidFill>
              <a:srgbClr val="24498F"/>
            </a:solidFill>
            <a:prstDash val="solid"/>
          </a:ln>
        </p:spPr>
      </p:sp>
      <p:pic>
        <p:nvPicPr>
          <p:cNvPr id="21" name="Image 4" descr="preencoded.png">    </p:cNvPr>
          <p:cNvPicPr>
            <a:picLocks noChangeAspect="1"/>
          </p:cNvPicPr>
          <p:nvPr/>
        </p:nvPicPr>
        <p:blipFill>
          <a:blip r:embed="rId5"/>
          <a:stretch>
            <a:fillRect/>
          </a:stretch>
        </p:blipFill>
        <p:spPr>
          <a:xfrm>
            <a:off x="9317736" y="950976"/>
            <a:ext cx="475488" cy="475488"/>
          </a:xfrm>
          <a:prstGeom prst="rect">
            <a:avLst/>
          </a:prstGeom>
        </p:spPr>
      </p:pic>
      <p:sp>
        <p:nvSpPr>
          <p:cNvPr id="22" name="Text 15"/>
          <p:cNvSpPr txBox="1"/>
          <p:nvPr/>
        </p:nvSpPr>
        <p:spPr>
          <a:xfrm>
            <a:off x="9006840" y="1517904"/>
            <a:ext cx="1097280" cy="420624"/>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Water Bottles</a:t>
            </a:r>
            <a:endParaRPr lang="en-US" sz="1050" dirty="0"/>
          </a:p>
        </p:txBody>
      </p:sp>
      <p:sp>
        <p:nvSpPr>
          <p:cNvPr id="23" name="Shape 16"/>
          <p:cNvSpPr/>
          <p:nvPr/>
        </p:nvSpPr>
        <p:spPr>
          <a:xfrm>
            <a:off x="8961120" y="2176272"/>
            <a:ext cx="1188720" cy="1243584"/>
          </a:xfrm>
          <a:prstGeom prst="roundRect">
            <a:avLst>
              <a:gd name="adj" fmla="val 9231"/>
            </a:avLst>
          </a:prstGeom>
          <a:solidFill>
            <a:srgbClr val="24498F"/>
          </a:solidFill>
          <a:ln w="12700">
            <a:solidFill>
              <a:srgbClr val="24498F"/>
            </a:solidFill>
            <a:prstDash val="solid"/>
          </a:ln>
        </p:spPr>
      </p:sp>
      <p:pic>
        <p:nvPicPr>
          <p:cNvPr id="24" name="Image 5" descr="preencoded.png">    </p:cNvPr>
          <p:cNvPicPr>
            <a:picLocks noChangeAspect="1"/>
          </p:cNvPicPr>
          <p:nvPr/>
        </p:nvPicPr>
        <p:blipFill>
          <a:blip r:embed="rId6"/>
          <a:stretch>
            <a:fillRect/>
          </a:stretch>
        </p:blipFill>
        <p:spPr>
          <a:xfrm>
            <a:off x="9317736" y="2322576"/>
            <a:ext cx="475488" cy="475488"/>
          </a:xfrm>
          <a:prstGeom prst="rect">
            <a:avLst/>
          </a:prstGeom>
        </p:spPr>
      </p:pic>
      <p:sp>
        <p:nvSpPr>
          <p:cNvPr id="25" name="Text 17"/>
          <p:cNvSpPr txBox="1"/>
          <p:nvPr/>
        </p:nvSpPr>
        <p:spPr>
          <a:xfrm>
            <a:off x="9006840" y="2889504"/>
            <a:ext cx="1097280" cy="420624"/>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Accent Chairs</a:t>
            </a:r>
            <a:endParaRPr lang="en-US" sz="1050" dirty="0"/>
          </a:p>
        </p:txBody>
      </p:sp>
      <p:sp>
        <p:nvSpPr>
          <p:cNvPr id="26" name="Shape 18"/>
          <p:cNvSpPr/>
          <p:nvPr/>
        </p:nvSpPr>
        <p:spPr>
          <a:xfrm>
            <a:off x="8961120" y="3547872"/>
            <a:ext cx="1188720" cy="1243584"/>
          </a:xfrm>
          <a:prstGeom prst="roundRect">
            <a:avLst>
              <a:gd name="adj" fmla="val 9231"/>
            </a:avLst>
          </a:prstGeom>
          <a:solidFill>
            <a:srgbClr val="24498F"/>
          </a:solidFill>
          <a:ln w="12700">
            <a:solidFill>
              <a:srgbClr val="24498F"/>
            </a:solidFill>
            <a:prstDash val="solid"/>
          </a:ln>
        </p:spPr>
      </p:sp>
      <p:pic>
        <p:nvPicPr>
          <p:cNvPr id="27" name="Image 6" descr="preencoded.png">    </p:cNvPr>
          <p:cNvPicPr>
            <a:picLocks noChangeAspect="1"/>
          </p:cNvPicPr>
          <p:nvPr/>
        </p:nvPicPr>
        <p:blipFill>
          <a:blip r:embed="rId7"/>
          <a:stretch>
            <a:fillRect/>
          </a:stretch>
        </p:blipFill>
        <p:spPr>
          <a:xfrm>
            <a:off x="9317736" y="3694176"/>
            <a:ext cx="475488" cy="475488"/>
          </a:xfrm>
          <a:prstGeom prst="rect">
            <a:avLst/>
          </a:prstGeom>
        </p:spPr>
      </p:pic>
      <p:sp>
        <p:nvSpPr>
          <p:cNvPr id="28" name="Text 19"/>
          <p:cNvSpPr txBox="1"/>
          <p:nvPr/>
        </p:nvSpPr>
        <p:spPr>
          <a:xfrm>
            <a:off x="9006840" y="4261104"/>
            <a:ext cx="1097280" cy="420624"/>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Desk Lamps</a:t>
            </a:r>
            <a:endParaRPr lang="en-US" sz="1050" dirty="0"/>
          </a:p>
        </p:txBody>
      </p:sp>
      <p:sp>
        <p:nvSpPr>
          <p:cNvPr id="29" name="Shape 20"/>
          <p:cNvSpPr/>
          <p:nvPr/>
        </p:nvSpPr>
        <p:spPr>
          <a:xfrm>
            <a:off x="8961120" y="4919472"/>
            <a:ext cx="1188720" cy="1243584"/>
          </a:xfrm>
          <a:prstGeom prst="roundRect">
            <a:avLst>
              <a:gd name="adj" fmla="val 9231"/>
            </a:avLst>
          </a:prstGeom>
          <a:solidFill>
            <a:srgbClr val="24498F"/>
          </a:solidFill>
          <a:ln w="12700">
            <a:solidFill>
              <a:srgbClr val="24498F"/>
            </a:solidFill>
            <a:prstDash val="solid"/>
          </a:ln>
        </p:spPr>
      </p:sp>
      <p:pic>
        <p:nvPicPr>
          <p:cNvPr id="30" name="Image 7" descr="preencoded.png">    </p:cNvPr>
          <p:cNvPicPr>
            <a:picLocks noChangeAspect="1"/>
          </p:cNvPicPr>
          <p:nvPr/>
        </p:nvPicPr>
        <p:blipFill>
          <a:blip r:embed="rId8"/>
          <a:stretch>
            <a:fillRect/>
          </a:stretch>
        </p:blipFill>
        <p:spPr>
          <a:xfrm>
            <a:off x="9317736" y="5065776"/>
            <a:ext cx="475488" cy="475488"/>
          </a:xfrm>
          <a:prstGeom prst="rect">
            <a:avLst/>
          </a:prstGeom>
        </p:spPr>
      </p:pic>
      <p:sp>
        <p:nvSpPr>
          <p:cNvPr id="31" name="Text 21"/>
          <p:cNvSpPr txBox="1"/>
          <p:nvPr/>
        </p:nvSpPr>
        <p:spPr>
          <a:xfrm>
            <a:off x="9006840" y="5632704"/>
            <a:ext cx="1097280" cy="420624"/>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Lunch Bags</a:t>
            </a:r>
            <a:endParaRPr lang="en-US" sz="1050" dirty="0"/>
          </a:p>
        </p:txBody>
      </p:sp>
      <p:sp>
        <p:nvSpPr>
          <p:cNvPr id="32" name="Text 22"/>
          <p:cNvSpPr txBox="1"/>
          <p:nvPr/>
        </p:nvSpPr>
        <p:spPr>
          <a:xfrm>
            <a:off x="10287000" y="457200"/>
            <a:ext cx="1188720" cy="274320"/>
          </a:xfrm>
          <a:prstGeom prst="rect">
            <a:avLst/>
          </a:prstGeom>
          <a:noFill/>
          <a:ln/>
        </p:spPr>
        <p:txBody>
          <a:bodyPr wrap="square" lIns="0" tIns="0" rIns="0" bIns="0" rtlCol="0" anchor="t"/>
          <a:lstStyle/>
          <a:p>
            <a:pPr algn="ctr" indent="0" marL="0">
              <a:buNone/>
            </a:pPr>
            <a:r>
              <a:rPr lang="en-US" sz="1000" b="1" dirty="0">
                <a:solidFill>
                  <a:srgbClr val="CADCFC"/>
                </a:solidFill>
                <a:latin typeface="Calibri" pitchFamily="34" charset="0"/>
                <a:ea typeface="Calibri" pitchFamily="34" charset="-122"/>
                <a:cs typeface="Calibri" pitchFamily="34" charset="-120"/>
              </a:rPr>
              <a:t>NON-HERO</a:t>
            </a:r>
            <a:endParaRPr lang="en-US" sz="1000" dirty="0"/>
          </a:p>
        </p:txBody>
      </p:sp>
      <p:sp>
        <p:nvSpPr>
          <p:cNvPr id="33" name="Shape 23"/>
          <p:cNvSpPr/>
          <p:nvPr/>
        </p:nvSpPr>
        <p:spPr>
          <a:xfrm>
            <a:off x="10287000" y="804672"/>
            <a:ext cx="1188720" cy="1243584"/>
          </a:xfrm>
          <a:prstGeom prst="roundRect">
            <a:avLst>
              <a:gd name="adj" fmla="val 9231"/>
            </a:avLst>
          </a:prstGeom>
          <a:solidFill>
            <a:srgbClr val="2D5AA6"/>
          </a:solidFill>
          <a:ln w="12700">
            <a:solidFill>
              <a:srgbClr val="2D5AA6"/>
            </a:solidFill>
            <a:prstDash val="solid"/>
          </a:ln>
        </p:spPr>
      </p:sp>
      <p:pic>
        <p:nvPicPr>
          <p:cNvPr id="34" name="Image 8" descr="preencoded.png">    </p:cNvPr>
          <p:cNvPicPr>
            <a:picLocks noChangeAspect="1"/>
          </p:cNvPicPr>
          <p:nvPr/>
        </p:nvPicPr>
        <p:blipFill>
          <a:blip r:embed="rId9"/>
          <a:stretch>
            <a:fillRect/>
          </a:stretch>
        </p:blipFill>
        <p:spPr>
          <a:xfrm>
            <a:off x="10643616" y="950976"/>
            <a:ext cx="475488" cy="475488"/>
          </a:xfrm>
          <a:prstGeom prst="rect">
            <a:avLst/>
          </a:prstGeom>
        </p:spPr>
      </p:pic>
      <p:sp>
        <p:nvSpPr>
          <p:cNvPr id="35" name="Text 24"/>
          <p:cNvSpPr txBox="1"/>
          <p:nvPr/>
        </p:nvSpPr>
        <p:spPr>
          <a:xfrm>
            <a:off x="10332720" y="1517904"/>
            <a:ext cx="1097280" cy="420624"/>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Clocks</a:t>
            </a:r>
            <a:endParaRPr lang="en-US" sz="1050" dirty="0"/>
          </a:p>
        </p:txBody>
      </p:sp>
      <p:sp>
        <p:nvSpPr>
          <p:cNvPr id="36" name="Shape 25"/>
          <p:cNvSpPr/>
          <p:nvPr/>
        </p:nvSpPr>
        <p:spPr>
          <a:xfrm>
            <a:off x="10287000" y="2176272"/>
            <a:ext cx="1188720" cy="1243584"/>
          </a:xfrm>
          <a:prstGeom prst="roundRect">
            <a:avLst>
              <a:gd name="adj" fmla="val 9231"/>
            </a:avLst>
          </a:prstGeom>
          <a:solidFill>
            <a:srgbClr val="2D5AA6"/>
          </a:solidFill>
          <a:ln w="12700">
            <a:solidFill>
              <a:srgbClr val="2D5AA6"/>
            </a:solidFill>
            <a:prstDash val="solid"/>
          </a:ln>
        </p:spPr>
      </p:sp>
      <p:pic>
        <p:nvPicPr>
          <p:cNvPr id="37" name="Image 9" descr="preencoded.png">    </p:cNvPr>
          <p:cNvPicPr>
            <a:picLocks noChangeAspect="1"/>
          </p:cNvPicPr>
          <p:nvPr/>
        </p:nvPicPr>
        <p:blipFill>
          <a:blip r:embed="rId10"/>
          <a:stretch>
            <a:fillRect/>
          </a:stretch>
        </p:blipFill>
        <p:spPr>
          <a:xfrm>
            <a:off x="10643616" y="2322576"/>
            <a:ext cx="475488" cy="475488"/>
          </a:xfrm>
          <a:prstGeom prst="rect">
            <a:avLst/>
          </a:prstGeom>
        </p:spPr>
      </p:pic>
      <p:sp>
        <p:nvSpPr>
          <p:cNvPr id="38" name="Text 26"/>
          <p:cNvSpPr txBox="1"/>
          <p:nvPr/>
        </p:nvSpPr>
        <p:spPr>
          <a:xfrm>
            <a:off x="10332720" y="2889504"/>
            <a:ext cx="1097280" cy="420624"/>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Desk Pads</a:t>
            </a:r>
            <a:endParaRPr lang="en-US" sz="1050" dirty="0"/>
          </a:p>
        </p:txBody>
      </p:sp>
      <p:sp>
        <p:nvSpPr>
          <p:cNvPr id="39" name="Shape 27"/>
          <p:cNvSpPr/>
          <p:nvPr/>
        </p:nvSpPr>
        <p:spPr>
          <a:xfrm>
            <a:off x="10287000" y="3547872"/>
            <a:ext cx="1188720" cy="1243584"/>
          </a:xfrm>
          <a:prstGeom prst="roundRect">
            <a:avLst>
              <a:gd name="adj" fmla="val 9231"/>
            </a:avLst>
          </a:prstGeom>
          <a:solidFill>
            <a:srgbClr val="2D5AA6"/>
          </a:solidFill>
          <a:ln w="12700">
            <a:solidFill>
              <a:srgbClr val="2D5AA6"/>
            </a:solidFill>
            <a:prstDash val="solid"/>
          </a:ln>
        </p:spPr>
      </p:sp>
      <p:pic>
        <p:nvPicPr>
          <p:cNvPr id="40" name="Image 10" descr="preencoded.png">    </p:cNvPr>
          <p:cNvPicPr>
            <a:picLocks noChangeAspect="1"/>
          </p:cNvPicPr>
          <p:nvPr/>
        </p:nvPicPr>
        <p:blipFill>
          <a:blip r:embed="rId11"/>
          <a:stretch>
            <a:fillRect/>
          </a:stretch>
        </p:blipFill>
        <p:spPr>
          <a:xfrm>
            <a:off x="10643616" y="3694176"/>
            <a:ext cx="475488" cy="475488"/>
          </a:xfrm>
          <a:prstGeom prst="rect">
            <a:avLst/>
          </a:prstGeom>
        </p:spPr>
      </p:pic>
      <p:sp>
        <p:nvSpPr>
          <p:cNvPr id="41" name="Text 28"/>
          <p:cNvSpPr txBox="1"/>
          <p:nvPr/>
        </p:nvSpPr>
        <p:spPr>
          <a:xfrm>
            <a:off x="10332720" y="4261104"/>
            <a:ext cx="1097280" cy="420624"/>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Coffee Organizers</a:t>
            </a:r>
            <a:endParaRPr lang="en-US" sz="1050" dirty="0"/>
          </a:p>
        </p:txBody>
      </p:sp>
      <p:sp>
        <p:nvSpPr>
          <p:cNvPr id="42" name="Shape 29"/>
          <p:cNvSpPr/>
          <p:nvPr/>
        </p:nvSpPr>
        <p:spPr>
          <a:xfrm>
            <a:off x="10287000" y="4919472"/>
            <a:ext cx="1188720" cy="1243584"/>
          </a:xfrm>
          <a:prstGeom prst="roundRect">
            <a:avLst>
              <a:gd name="adj" fmla="val 9231"/>
            </a:avLst>
          </a:prstGeom>
          <a:solidFill>
            <a:srgbClr val="2D5AA6"/>
          </a:solidFill>
          <a:ln w="12700">
            <a:solidFill>
              <a:srgbClr val="2D5AA6"/>
            </a:solidFill>
            <a:prstDash val="solid"/>
          </a:ln>
        </p:spPr>
      </p:sp>
      <p:pic>
        <p:nvPicPr>
          <p:cNvPr id="43" name="Image 11" descr="preencoded.png">    </p:cNvPr>
          <p:cNvPicPr>
            <a:picLocks noChangeAspect="1"/>
          </p:cNvPicPr>
          <p:nvPr/>
        </p:nvPicPr>
        <p:blipFill>
          <a:blip r:embed="rId12"/>
          <a:stretch>
            <a:fillRect/>
          </a:stretch>
        </p:blipFill>
        <p:spPr>
          <a:xfrm>
            <a:off x="10643616" y="5065776"/>
            <a:ext cx="475488" cy="475488"/>
          </a:xfrm>
          <a:prstGeom prst="rect">
            <a:avLst/>
          </a:prstGeom>
        </p:spPr>
      </p:pic>
      <p:sp>
        <p:nvSpPr>
          <p:cNvPr id="44" name="Text 30"/>
          <p:cNvSpPr txBox="1"/>
          <p:nvPr/>
        </p:nvSpPr>
        <p:spPr>
          <a:xfrm>
            <a:off x="10332720" y="5632704"/>
            <a:ext cx="1097280" cy="420624"/>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Partitions</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3"/>
          <p:cNvSpPr/>
          <p:nvPr>
            <p:ph idx="103" type="title" hasCustomPrompt="1"/>
          </p:nvPr>
        </p:nvSpPr>
        <p:spPr>
          <a:xfrm>
            <a:off x="411480" y="219456"/>
            <a:ext cx="11365992" cy="658368"/>
          </a:xfrm>
          <a:prstGeom prst="rect">
            <a:avLst/>
          </a:prstGeom>
          <a:noFill/>
          <a:ln/>
        </p:spPr>
        <p:txBody>
          <a:bodyPr wrap="square" lIns="0" tIns="0" rIns="0" bIns="0" rtlCol="0" anchor="ctr"/>
          <a:lstStyle/>
          <a:p>
            <a:pPr algn="l" indent="0" marL="0">
              <a:buNone/>
            </a:pPr>
            <a:r>
              <a:rPr lang="en-US" sz="2800" b="1" dirty="0">
                <a:solidFill>
                  <a:srgbClr val="1F4E9A"/>
                </a:solidFill>
                <a:latin typeface="Calibri" pitchFamily="34" charset="0"/>
                <a:ea typeface="Calibri" pitchFamily="34" charset="-122"/>
                <a:cs typeface="Calibri" pitchFamily="34" charset="-120"/>
              </a:rPr>
              <a:t>Executive Summary</a:t>
            </a:r>
            <a:endParaRPr lang="en-US" sz="2800" dirty="0"/>
          </a:p>
        </p:txBody>
      </p:sp>
      <p:sp>
        <p:nvSpPr>
          <p:cNvPr id="3" name="Shape 1"/>
          <p:cNvSpPr/>
          <p:nvPr/>
        </p:nvSpPr>
        <p:spPr>
          <a:xfrm>
            <a:off x="411480" y="1097280"/>
            <a:ext cx="11365992" cy="475488"/>
          </a:xfrm>
          <a:prstGeom prst="roundRect">
            <a:avLst>
              <a:gd name="adj" fmla="val 15385"/>
            </a:avLst>
          </a:prstGeom>
          <a:solidFill>
            <a:srgbClr val="13285B"/>
          </a:solidFill>
          <a:ln w="12700">
            <a:solidFill>
              <a:srgbClr val="13285B"/>
            </a:solidFill>
            <a:prstDash val="solid"/>
          </a:ln>
        </p:spPr>
      </p:sp>
      <p:sp>
        <p:nvSpPr>
          <p:cNvPr id="4" name="Text 2"/>
          <p:cNvSpPr txBox="1"/>
          <p:nvPr/>
        </p:nvSpPr>
        <p:spPr>
          <a:xfrm>
            <a:off x="548640" y="1097280"/>
            <a:ext cx="914400" cy="475488"/>
          </a:xfrm>
          <a:prstGeom prst="rect">
            <a:avLst/>
          </a:prstGeom>
          <a:noFill/>
          <a:ln/>
        </p:spPr>
        <p:txBody>
          <a:bodyPr wrap="square" lIns="0" tIns="0" rIns="0" bIns="0" rtlCol="0" anchor="ctr"/>
          <a:lstStyle/>
          <a:p>
            <a:pPr indent="0" marL="0">
              <a:buNone/>
            </a:pPr>
            <a:r>
              <a:rPr lang="en-US" sz="1200" b="1" spc="100" kern="0" dirty="0">
                <a:solidFill>
                  <a:srgbClr val="F5A623"/>
                </a:solidFill>
                <a:latin typeface="Calibri" pitchFamily="34" charset="0"/>
                <a:ea typeface="Calibri" pitchFamily="34" charset="-122"/>
                <a:cs typeface="Calibri" pitchFamily="34" charset="-120"/>
              </a:rPr>
              <a:t>THE ASK</a:t>
            </a:r>
            <a:endParaRPr lang="en-US" sz="1200" dirty="0"/>
          </a:p>
        </p:txBody>
      </p:sp>
      <p:sp>
        <p:nvSpPr>
          <p:cNvPr id="5" name="Text 3"/>
          <p:cNvSpPr txBox="1"/>
          <p:nvPr/>
        </p:nvSpPr>
        <p:spPr>
          <a:xfrm>
            <a:off x="1481328" y="1097280"/>
            <a:ext cx="10195560" cy="475488"/>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Which design-led, core-adjacent products can Staples add to its marketplace without cannibalising 1P sales, using only external data?</a:t>
            </a:r>
            <a:endParaRPr lang="en-US" sz="1250" dirty="0"/>
          </a:p>
        </p:txBody>
      </p:sp>
      <p:sp>
        <p:nvSpPr>
          <p:cNvPr id="6" name="Shape 4"/>
          <p:cNvSpPr/>
          <p:nvPr/>
        </p:nvSpPr>
        <p:spPr>
          <a:xfrm>
            <a:off x="411480" y="1755648"/>
            <a:ext cx="2704338" cy="950976"/>
          </a:xfrm>
          <a:prstGeom prst="roundRect">
            <a:avLst>
              <a:gd name="adj" fmla="val 9615"/>
            </a:avLst>
          </a:prstGeom>
          <a:solidFill>
            <a:srgbClr val="EEF3FB"/>
          </a:solidFill>
          <a:ln w="12700">
            <a:solidFill>
              <a:srgbClr val="EEF3FB"/>
            </a:solidFill>
            <a:prstDash val="solid"/>
          </a:ln>
        </p:spPr>
      </p:sp>
      <p:sp>
        <p:nvSpPr>
          <p:cNvPr id="7" name="Text 5"/>
          <p:cNvSpPr txBox="1"/>
          <p:nvPr/>
        </p:nvSpPr>
        <p:spPr>
          <a:xfrm>
            <a:off x="484632" y="1810512"/>
            <a:ext cx="2558034" cy="420624"/>
          </a:xfrm>
          <a:prstGeom prst="rect">
            <a:avLst/>
          </a:prstGeom>
          <a:noFill/>
          <a:ln/>
        </p:spPr>
        <p:txBody>
          <a:bodyPr wrap="square" lIns="0" tIns="0" rIns="0" bIns="0" rtlCol="0" anchor="ctr"/>
          <a:lstStyle/>
          <a:p>
            <a:pPr algn="ctr" indent="0" marL="0">
              <a:buNone/>
            </a:pPr>
            <a:r>
              <a:rPr lang="en-US" sz="2800" b="1" dirty="0">
                <a:solidFill>
                  <a:srgbClr val="1F4E9A"/>
                </a:solidFill>
                <a:latin typeface="Calibri" pitchFamily="34" charset="0"/>
                <a:ea typeface="Calibri" pitchFamily="34" charset="-122"/>
                <a:cs typeface="Calibri" pitchFamily="34" charset="-120"/>
              </a:rPr>
              <a:t>12</a:t>
            </a:r>
            <a:endParaRPr lang="en-US" sz="2800" dirty="0"/>
          </a:p>
        </p:txBody>
      </p:sp>
      <p:sp>
        <p:nvSpPr>
          <p:cNvPr id="8" name="Text 6"/>
          <p:cNvSpPr txBox="1"/>
          <p:nvPr/>
        </p:nvSpPr>
        <p:spPr>
          <a:xfrm>
            <a:off x="539496" y="2249424"/>
            <a:ext cx="2448306" cy="402336"/>
          </a:xfrm>
          <a:prstGeom prst="rect">
            <a:avLst/>
          </a:prstGeom>
          <a:noFill/>
          <a:ln/>
        </p:spPr>
        <p:txBody>
          <a:bodyPr wrap="square" lIns="0" tIns="0" rIns="0" bIns="0" rtlCol="0" anchor="t"/>
          <a:lstStyle/>
          <a:p>
            <a:pPr algn="ctr" indent="0" marL="0">
              <a:buNone/>
            </a:pPr>
            <a:r>
              <a:rPr lang="en-US" sz="1050" dirty="0">
                <a:solidFill>
                  <a:srgbClr val="1F2937"/>
                </a:solidFill>
                <a:latin typeface="Calibri" pitchFamily="34" charset="0"/>
                <a:ea typeface="Calibri" pitchFamily="34" charset="-122"/>
                <a:cs typeface="Calibri" pitchFamily="34" charset="-120"/>
              </a:rPr>
              <a:t>Staples nodes across 3 segments, vs Amazon &amp; Wayfair</a:t>
            </a:r>
            <a:endParaRPr lang="en-US" sz="1050" dirty="0"/>
          </a:p>
        </p:txBody>
      </p:sp>
      <p:sp>
        <p:nvSpPr>
          <p:cNvPr id="9" name="Shape 7"/>
          <p:cNvSpPr/>
          <p:nvPr/>
        </p:nvSpPr>
        <p:spPr>
          <a:xfrm>
            <a:off x="3298698" y="1755648"/>
            <a:ext cx="2704338" cy="950976"/>
          </a:xfrm>
          <a:prstGeom prst="roundRect">
            <a:avLst>
              <a:gd name="adj" fmla="val 9615"/>
            </a:avLst>
          </a:prstGeom>
          <a:solidFill>
            <a:srgbClr val="EEF3FB"/>
          </a:solidFill>
          <a:ln w="12700">
            <a:solidFill>
              <a:srgbClr val="EEF3FB"/>
            </a:solidFill>
            <a:prstDash val="solid"/>
          </a:ln>
        </p:spPr>
      </p:sp>
      <p:sp>
        <p:nvSpPr>
          <p:cNvPr id="10" name="Text 8"/>
          <p:cNvSpPr txBox="1"/>
          <p:nvPr/>
        </p:nvSpPr>
        <p:spPr>
          <a:xfrm>
            <a:off x="3371850" y="1810512"/>
            <a:ext cx="2558034" cy="420624"/>
          </a:xfrm>
          <a:prstGeom prst="rect">
            <a:avLst/>
          </a:prstGeom>
          <a:noFill/>
          <a:ln/>
        </p:spPr>
        <p:txBody>
          <a:bodyPr wrap="square" lIns="0" tIns="0" rIns="0" bIns="0" rtlCol="0" anchor="ctr"/>
          <a:lstStyle/>
          <a:p>
            <a:pPr algn="ctr" indent="0" marL="0">
              <a:buNone/>
            </a:pPr>
            <a:r>
              <a:rPr lang="en-US" sz="2800" b="1" dirty="0">
                <a:solidFill>
                  <a:srgbClr val="1F4E9A"/>
                </a:solidFill>
                <a:latin typeface="Calibri" pitchFamily="34" charset="0"/>
                <a:ea typeface="Calibri" pitchFamily="34" charset="-122"/>
                <a:cs typeface="Calibri" pitchFamily="34" charset="-120"/>
              </a:rPr>
              <a:t>19.9K</a:t>
            </a:r>
            <a:endParaRPr lang="en-US" sz="2800" dirty="0"/>
          </a:p>
        </p:txBody>
      </p:sp>
      <p:sp>
        <p:nvSpPr>
          <p:cNvPr id="11" name="Text 9"/>
          <p:cNvSpPr txBox="1"/>
          <p:nvPr/>
        </p:nvSpPr>
        <p:spPr>
          <a:xfrm>
            <a:off x="3426714" y="2249424"/>
            <a:ext cx="2448306" cy="402336"/>
          </a:xfrm>
          <a:prstGeom prst="rect">
            <a:avLst/>
          </a:prstGeom>
          <a:noFill/>
          <a:ln/>
        </p:spPr>
        <p:txBody>
          <a:bodyPr wrap="square" lIns="0" tIns="0" rIns="0" bIns="0" rtlCol="0" anchor="t"/>
          <a:lstStyle/>
          <a:p>
            <a:pPr algn="ctr" indent="0" marL="0">
              <a:buNone/>
            </a:pPr>
            <a:r>
              <a:rPr lang="en-US" sz="1050" dirty="0">
                <a:solidFill>
                  <a:srgbClr val="1F2937"/>
                </a:solidFill>
                <a:latin typeface="Calibri" pitchFamily="34" charset="0"/>
                <a:ea typeface="Calibri" pitchFamily="34" charset="-122"/>
                <a:cs typeface="Calibri" pitchFamily="34" charset="-120"/>
              </a:rPr>
              <a:t>product families analysed: 3.4K Staples, 16.5K competitor</a:t>
            </a:r>
            <a:endParaRPr lang="en-US" sz="1050" dirty="0"/>
          </a:p>
        </p:txBody>
      </p:sp>
      <p:sp>
        <p:nvSpPr>
          <p:cNvPr id="12" name="Shape 10"/>
          <p:cNvSpPr/>
          <p:nvPr/>
        </p:nvSpPr>
        <p:spPr>
          <a:xfrm>
            <a:off x="6185916" y="1755648"/>
            <a:ext cx="2704338" cy="950976"/>
          </a:xfrm>
          <a:prstGeom prst="roundRect">
            <a:avLst>
              <a:gd name="adj" fmla="val 9615"/>
            </a:avLst>
          </a:prstGeom>
          <a:solidFill>
            <a:srgbClr val="EEF3FB"/>
          </a:solidFill>
          <a:ln w="12700">
            <a:solidFill>
              <a:srgbClr val="EEF3FB"/>
            </a:solidFill>
            <a:prstDash val="solid"/>
          </a:ln>
        </p:spPr>
      </p:sp>
      <p:sp>
        <p:nvSpPr>
          <p:cNvPr id="13" name="Text 11"/>
          <p:cNvSpPr txBox="1"/>
          <p:nvPr/>
        </p:nvSpPr>
        <p:spPr>
          <a:xfrm>
            <a:off x="6259068" y="1810512"/>
            <a:ext cx="2558034" cy="420624"/>
          </a:xfrm>
          <a:prstGeom prst="rect">
            <a:avLst/>
          </a:prstGeom>
          <a:noFill/>
          <a:ln/>
        </p:spPr>
        <p:txBody>
          <a:bodyPr wrap="square" lIns="0" tIns="0" rIns="0" bIns="0" rtlCol="0" anchor="ctr"/>
          <a:lstStyle/>
          <a:p>
            <a:pPr algn="ctr" indent="0" marL="0">
              <a:buNone/>
            </a:pPr>
            <a:r>
              <a:rPr lang="en-US" sz="2800" b="1" dirty="0">
                <a:solidFill>
                  <a:srgbClr val="1F4E9A"/>
                </a:solidFill>
                <a:latin typeface="Calibri" pitchFamily="34" charset="0"/>
                <a:ea typeface="Calibri" pitchFamily="34" charset="-122"/>
                <a:cs typeface="Calibri" pitchFamily="34" charset="-120"/>
              </a:rPr>
              <a:t>897</a:t>
            </a:r>
            <a:endParaRPr lang="en-US" sz="2800" dirty="0"/>
          </a:p>
        </p:txBody>
      </p:sp>
      <p:sp>
        <p:nvSpPr>
          <p:cNvPr id="14" name="Text 12"/>
          <p:cNvSpPr txBox="1"/>
          <p:nvPr/>
        </p:nvSpPr>
        <p:spPr>
          <a:xfrm>
            <a:off x="6313932" y="2249424"/>
            <a:ext cx="2448306" cy="402336"/>
          </a:xfrm>
          <a:prstGeom prst="rect">
            <a:avLst/>
          </a:prstGeom>
          <a:noFill/>
          <a:ln/>
        </p:spPr>
        <p:txBody>
          <a:bodyPr wrap="square" lIns="0" tIns="0" rIns="0" bIns="0" rtlCol="0" anchor="t"/>
          <a:lstStyle/>
          <a:p>
            <a:pPr algn="ctr" indent="0" marL="0">
              <a:buNone/>
            </a:pPr>
            <a:r>
              <a:rPr lang="en-US" sz="1050" dirty="0">
                <a:solidFill>
                  <a:srgbClr val="1F2937"/>
                </a:solidFill>
                <a:latin typeface="Calibri" pitchFamily="34" charset="0"/>
                <a:ea typeface="Calibri" pitchFamily="34" charset="-122"/>
                <a:cs typeface="Calibri" pitchFamily="34" charset="-120"/>
              </a:rPr>
              <a:t>archetypes (attribute combinations) compared</a:t>
            </a:r>
            <a:endParaRPr lang="en-US" sz="1050" dirty="0"/>
          </a:p>
        </p:txBody>
      </p:sp>
      <p:sp>
        <p:nvSpPr>
          <p:cNvPr id="15" name="Shape 13"/>
          <p:cNvSpPr/>
          <p:nvPr/>
        </p:nvSpPr>
        <p:spPr>
          <a:xfrm>
            <a:off x="9073134" y="1755648"/>
            <a:ext cx="2704338" cy="950976"/>
          </a:xfrm>
          <a:prstGeom prst="roundRect">
            <a:avLst>
              <a:gd name="adj" fmla="val 9615"/>
            </a:avLst>
          </a:prstGeom>
          <a:solidFill>
            <a:srgbClr val="DDF3E7"/>
          </a:solidFill>
          <a:ln w="12700">
            <a:solidFill>
              <a:srgbClr val="7CCB9F"/>
            </a:solidFill>
            <a:prstDash val="solid"/>
          </a:ln>
        </p:spPr>
      </p:sp>
      <p:sp>
        <p:nvSpPr>
          <p:cNvPr id="16" name="Text 14"/>
          <p:cNvSpPr txBox="1"/>
          <p:nvPr/>
        </p:nvSpPr>
        <p:spPr>
          <a:xfrm>
            <a:off x="9146286" y="1810512"/>
            <a:ext cx="2558034" cy="420624"/>
          </a:xfrm>
          <a:prstGeom prst="rect">
            <a:avLst/>
          </a:prstGeom>
          <a:noFill/>
          <a:ln/>
        </p:spPr>
        <p:txBody>
          <a:bodyPr wrap="square" lIns="0" tIns="0" rIns="0" bIns="0" rtlCol="0" anchor="ctr"/>
          <a:lstStyle/>
          <a:p>
            <a:pPr algn="ctr" indent="0" marL="0">
              <a:buNone/>
            </a:pPr>
            <a:r>
              <a:rPr lang="en-US" sz="2800" b="1" dirty="0">
                <a:solidFill>
                  <a:srgbClr val="1E8E5A"/>
                </a:solidFill>
                <a:latin typeface="Calibri" pitchFamily="34" charset="0"/>
                <a:ea typeface="Calibri" pitchFamily="34" charset="-122"/>
                <a:cs typeface="Calibri" pitchFamily="34" charset="-120"/>
              </a:rPr>
              <a:t>74</a:t>
            </a:r>
            <a:endParaRPr lang="en-US" sz="2800" dirty="0"/>
          </a:p>
        </p:txBody>
      </p:sp>
      <p:sp>
        <p:nvSpPr>
          <p:cNvPr id="17" name="Text 15"/>
          <p:cNvSpPr txBox="1"/>
          <p:nvPr/>
        </p:nvSpPr>
        <p:spPr>
          <a:xfrm>
            <a:off x="9201150" y="2249424"/>
            <a:ext cx="2448306" cy="402336"/>
          </a:xfrm>
          <a:prstGeom prst="rect">
            <a:avLst/>
          </a:prstGeom>
          <a:noFill/>
          <a:ln/>
        </p:spPr>
        <p:txBody>
          <a:bodyPr wrap="square" lIns="0" tIns="0" rIns="0" bIns="0" rtlCol="0" anchor="t"/>
          <a:lstStyle/>
          <a:p>
            <a:pPr algn="ctr" indent="0" marL="0">
              <a:buNone/>
            </a:pPr>
            <a:r>
              <a:rPr lang="en-US" sz="1050" dirty="0">
                <a:solidFill>
                  <a:srgbClr val="1F2937"/>
                </a:solidFill>
                <a:latin typeface="Calibri" pitchFamily="34" charset="0"/>
                <a:ea typeface="Calibri" pitchFamily="34" charset="-122"/>
                <a:cs typeface="Calibri" pitchFamily="34" charset="-120"/>
              </a:rPr>
              <a:t>safe to add; 22 confirmed by both methods</a:t>
            </a:r>
            <a:endParaRPr lang="en-US" sz="1050" dirty="0"/>
          </a:p>
        </p:txBody>
      </p:sp>
      <p:sp>
        <p:nvSpPr>
          <p:cNvPr id="18" name="Text 16"/>
          <p:cNvSpPr txBox="1"/>
          <p:nvPr/>
        </p:nvSpPr>
        <p:spPr>
          <a:xfrm>
            <a:off x="411480" y="2926080"/>
            <a:ext cx="5486400" cy="256032"/>
          </a:xfrm>
          <a:prstGeom prst="rect">
            <a:avLst/>
          </a:prstGeom>
          <a:noFill/>
          <a:ln/>
        </p:spPr>
        <p:txBody>
          <a:bodyPr wrap="square" lIns="0" tIns="0" rIns="0" bIns="0" rtlCol="0" anchor="ctr"/>
          <a:lstStyle/>
          <a:p>
            <a:pPr indent="0" marL="0">
              <a:buNone/>
            </a:pPr>
            <a:r>
              <a:rPr lang="en-US" sz="1200" b="1" spc="100" kern="0" dirty="0">
                <a:solidFill>
                  <a:srgbClr val="1F4E9A"/>
                </a:solidFill>
                <a:latin typeface="Calibri" pitchFamily="34" charset="0"/>
                <a:ea typeface="Calibri" pitchFamily="34" charset="-122"/>
                <a:cs typeface="Calibri" pitchFamily="34" charset="-120"/>
              </a:rPr>
              <a:t>WHAT STAPLES SHOULD ADD FIRST</a:t>
            </a:r>
            <a:endParaRPr lang="en-US" sz="1200" dirty="0"/>
          </a:p>
        </p:txBody>
      </p:sp>
      <p:sp>
        <p:nvSpPr>
          <p:cNvPr id="19" name="Shape 17"/>
          <p:cNvSpPr/>
          <p:nvPr/>
        </p:nvSpPr>
        <p:spPr>
          <a:xfrm>
            <a:off x="411480" y="3236976"/>
            <a:ext cx="2738628" cy="1682496"/>
          </a:xfrm>
          <a:prstGeom prst="roundRect">
            <a:avLst>
              <a:gd name="adj" fmla="val 5435"/>
            </a:avLst>
          </a:prstGeom>
          <a:solidFill>
            <a:srgbClr val="FFFFFF"/>
          </a:solidFill>
          <a:ln w="9525">
            <a:solidFill>
              <a:srgbClr val="C9D3E3"/>
            </a:solidFill>
            <a:prstDash val="solid"/>
          </a:ln>
          <a:effectLst>
            <a:outerShdw sx="100000" sy="100000" kx="0" ky="0" algn="bl" rotWithShape="0" blurRad="50800" dist="19050" dir="5400000">
              <a:srgbClr val="9AA5B8">
                <a:alpha val="35000"/>
              </a:srgbClr>
            </a:outerShdw>
          </a:effectLst>
        </p:spPr>
      </p:sp>
      <p:sp>
        <p:nvSpPr>
          <p:cNvPr id="20" name="Shape 18"/>
          <p:cNvSpPr/>
          <p:nvPr/>
        </p:nvSpPr>
        <p:spPr>
          <a:xfrm>
            <a:off x="539496" y="3364992"/>
            <a:ext cx="438912" cy="438912"/>
          </a:xfrm>
          <a:prstGeom prst="ellipse">
            <a:avLst/>
          </a:prstGeom>
          <a:solidFill>
            <a:srgbClr val="1F4E9A"/>
          </a:solidFill>
          <a:ln w="12700">
            <a:solidFill>
              <a:srgbClr val="1F4E9A"/>
            </a:solidFill>
            <a:prstDash val="solid"/>
          </a:ln>
        </p:spPr>
      </p:sp>
      <p:pic>
        <p:nvPicPr>
          <p:cNvPr id="21" name="Image 0" descr="preencoded.png">    </p:cNvPr>
          <p:cNvPicPr>
            <a:picLocks noChangeAspect="1"/>
          </p:cNvPicPr>
          <p:nvPr/>
        </p:nvPicPr>
        <p:blipFill>
          <a:blip r:embed="rId1"/>
          <a:stretch>
            <a:fillRect/>
          </a:stretch>
        </p:blipFill>
        <p:spPr>
          <a:xfrm>
            <a:off x="636057" y="3461553"/>
            <a:ext cx="245791" cy="245791"/>
          </a:xfrm>
          <a:prstGeom prst="rect">
            <a:avLst/>
          </a:prstGeom>
        </p:spPr>
      </p:pic>
      <p:sp>
        <p:nvSpPr>
          <p:cNvPr id="22" name="Text 19"/>
          <p:cNvSpPr txBox="1"/>
          <p:nvPr/>
        </p:nvSpPr>
        <p:spPr>
          <a:xfrm>
            <a:off x="1069848" y="3328416"/>
            <a:ext cx="1988820" cy="512064"/>
          </a:xfrm>
          <a:prstGeom prst="rect">
            <a:avLst/>
          </a:prstGeom>
          <a:noFill/>
          <a:ln/>
        </p:spPr>
        <p:txBody>
          <a:bodyPr wrap="square" lIns="0" tIns="0" rIns="0" bIns="0" rtlCol="0" anchor="ctr"/>
          <a:lstStyle/>
          <a:p>
            <a:pPr indent="0" marL="0">
              <a:buNone/>
            </a:pPr>
            <a:r>
              <a:rPr lang="en-US" sz="1250" b="1" dirty="0">
                <a:solidFill>
                  <a:srgbClr val="13285B"/>
                </a:solidFill>
                <a:latin typeface="Calibri" pitchFamily="34" charset="0"/>
                <a:ea typeface="Calibri" pitchFamily="34" charset="-122"/>
                <a:cs typeface="Calibri" pitchFamily="34" charset="-120"/>
              </a:rPr>
              <a:t>Wooden K-Cup pod drawers</a:t>
            </a:r>
            <a:endParaRPr lang="en-US" sz="1250" dirty="0"/>
          </a:p>
        </p:txBody>
      </p:sp>
      <p:sp>
        <p:nvSpPr>
          <p:cNvPr id="23" name="Text 20"/>
          <p:cNvSpPr txBox="1"/>
          <p:nvPr/>
        </p:nvSpPr>
        <p:spPr>
          <a:xfrm>
            <a:off x="557784" y="3913632"/>
            <a:ext cx="2464308" cy="457200"/>
          </a:xfrm>
          <a:prstGeom prst="rect">
            <a:avLst/>
          </a:prstGeom>
          <a:noFill/>
          <a:ln/>
        </p:spPr>
        <p:txBody>
          <a:bodyPr wrap="square" lIns="0" tIns="0" rIns="0" bIns="0" rtlCol="0" anchor="t"/>
          <a:lstStyle/>
          <a:p>
            <a:pPr indent="0" marL="0">
              <a:buNone/>
            </a:pPr>
            <a:r>
              <a:rPr lang="en-US" sz="950" i="1" dirty="0">
                <a:solidFill>
                  <a:srgbClr val="1F2937"/>
                </a:solidFill>
                <a:latin typeface="Calibri" pitchFamily="34" charset="0"/>
                <a:ea typeface="Calibri" pitchFamily="34" charset="-122"/>
                <a:cs typeface="Calibri" pitchFamily="34" charset="-120"/>
              </a:rPr>
              <a:t>Staples sells 583 single-serve coffees &amp; 139 coffee makers; its organisers are 62% plastic</a:t>
            </a:r>
            <a:endParaRPr lang="en-US" sz="950" dirty="0"/>
          </a:p>
        </p:txBody>
      </p:sp>
      <p:sp>
        <p:nvSpPr>
          <p:cNvPr id="24" name="Text 21"/>
          <p:cNvSpPr txBox="1"/>
          <p:nvPr/>
        </p:nvSpPr>
        <p:spPr>
          <a:xfrm>
            <a:off x="557784" y="4389120"/>
            <a:ext cx="2464308" cy="219456"/>
          </a:xfrm>
          <a:prstGeom prst="rect">
            <a:avLst/>
          </a:prstGeom>
          <a:noFill/>
          <a:ln/>
        </p:spPr>
        <p:txBody>
          <a:bodyPr wrap="square" lIns="0" tIns="0" rIns="0" bIns="0" rtlCol="0" anchor="ctr"/>
          <a:lstStyle/>
          <a:p>
            <a:pPr indent="0" marL="0">
              <a:buNone/>
            </a:pPr>
            <a:r>
              <a:rPr lang="en-US" sz="1050" dirty="0">
                <a:solidFill>
                  <a:srgbClr val="5B6475"/>
                </a:solidFill>
                <a:latin typeface="Calibri" pitchFamily="34" charset="0"/>
                <a:ea typeface="Calibri" pitchFamily="34" charset="-122"/>
                <a:cs typeface="Calibri" pitchFamily="34" charset="-120"/>
              </a:rPr>
              <a:t>Staples: </a:t>
            </a:r>
            <a:pPr indent="0" marL="0">
              <a:buNone/>
            </a:pPr>
            <a:r>
              <a:rPr lang="en-US" sz="1050" b="1" dirty="0">
                <a:solidFill>
                  <a:srgbClr val="CC0000"/>
                </a:solidFill>
                <a:latin typeface="Calibri" pitchFamily="34" charset="0"/>
                <a:ea typeface="Calibri" pitchFamily="34" charset="-122"/>
                <a:cs typeface="Calibri" pitchFamily="34" charset="-120"/>
              </a:rPr>
              <a:t>0 of 50</a:t>
            </a:r>
            <a:pPr indent="0" marL="0">
              <a:buNone/>
            </a:pPr>
            <a:r>
              <a:rPr lang="en-US" sz="1050" dirty="0">
                <a:solidFill>
                  <a:srgbClr val="1F2937"/>
                </a:solidFill>
                <a:latin typeface="Calibri" pitchFamily="34" charset="0"/>
                <a:ea typeface="Calibri" pitchFamily="34" charset="-122"/>
                <a:cs typeface="Calibri" pitchFamily="34" charset="-120"/>
              </a:rPr>
              <a:t> · </a:t>
            </a:r>
            <a:pPr indent="0" marL="0">
              <a:buNone/>
            </a:pPr>
            <a:r>
              <a:rPr lang="en-US" sz="1050" dirty="0">
                <a:solidFill>
                  <a:srgbClr val="5B6475"/>
                </a:solidFill>
                <a:latin typeface="Calibri" pitchFamily="34" charset="0"/>
                <a:ea typeface="Calibri" pitchFamily="34" charset="-122"/>
                <a:cs typeface="Calibri" pitchFamily="34" charset="-120"/>
              </a:rPr>
              <a:t>Amazon: </a:t>
            </a:r>
            <a:pPr indent="0" marL="0">
              <a:buNone/>
            </a:pPr>
            <a:r>
              <a:rPr lang="en-US" sz="1050" b="1" dirty="0">
                <a:solidFill>
                  <a:srgbClr val="C45500"/>
                </a:solidFill>
                <a:latin typeface="Calibri" pitchFamily="34" charset="0"/>
                <a:ea typeface="Calibri" pitchFamily="34" charset="-122"/>
                <a:cs typeface="Calibri" pitchFamily="34" charset="-120"/>
              </a:rPr>
              <a:t>10%</a:t>
            </a:r>
            <a:pPr indent="0" marL="0">
              <a:buNone/>
            </a:pPr>
            <a:r>
              <a:rPr lang="en-US" sz="1050" dirty="0">
                <a:solidFill>
                  <a:srgbClr val="1F2937"/>
                </a:solidFill>
                <a:latin typeface="Calibri" pitchFamily="34" charset="0"/>
                <a:ea typeface="Calibri" pitchFamily="34" charset="-122"/>
                <a:cs typeface="Calibri" pitchFamily="34" charset="-120"/>
              </a:rPr>
              <a:t> of range</a:t>
            </a:r>
            <a:endParaRPr lang="en-US" sz="1050" dirty="0"/>
          </a:p>
        </p:txBody>
      </p:sp>
      <p:sp>
        <p:nvSpPr>
          <p:cNvPr id="25" name="Text 22"/>
          <p:cNvSpPr txBox="1"/>
          <p:nvPr/>
        </p:nvSpPr>
        <p:spPr>
          <a:xfrm>
            <a:off x="557784" y="4645152"/>
            <a:ext cx="2464308" cy="182880"/>
          </a:xfrm>
          <a:prstGeom prst="rect">
            <a:avLst/>
          </a:prstGeom>
          <a:noFill/>
          <a:ln/>
        </p:spPr>
        <p:txBody>
          <a:bodyPr wrap="square" lIns="0" tIns="0" rIns="0" bIns="0" rtlCol="0" anchor="t"/>
          <a:lstStyle/>
          <a:p>
            <a:pPr indent="0" marL="0">
              <a:buNone/>
            </a:pPr>
            <a:r>
              <a:rPr lang="en-US" sz="950" dirty="0">
                <a:solidFill>
                  <a:srgbClr val="5B6475"/>
                </a:solidFill>
                <a:latin typeface="Calibri" pitchFamily="34" charset="0"/>
                <a:ea typeface="Calibri" pitchFamily="34" charset="-122"/>
                <a:cs typeface="Calibri" pitchFamily="34" charset="-120"/>
              </a:rPr>
              <a:t>e.g. </a:t>
            </a:r>
            <a:pPr indent="0" marL="0">
              <a:buNone/>
            </a:pPr>
            <a:r>
              <a:rPr lang="en-US" sz="950" u="sng" dirty="0">
                <a:solidFill>
                  <a:srgbClr val="2F6FD0"/>
                </a:solidFill>
                <a:latin typeface="Calibri" pitchFamily="34" charset="0"/>
                <a:ea typeface="Calibri" pitchFamily="34" charset="-122"/>
                <a:cs typeface="Calibri" pitchFamily="34" charset="-120"/>
                <a:hlinkClick r:id="rId2" invalidUrl="" action="" tgtFrame="" tooltip="HTB K Cup Holder Compatible Coffee Pod Storage Drawer, Wood Brown" history="1" highlightClick="0" endSnd="0">
                  <a:extLst>
                    <a:ext uri="{A12FA001-AC4F-418D-AE19-62706E023703}">
                      <ahyp:hlinkClr xmlns:ahyp="http://schemas.microsoft.com/office/drawing/2018/hyperlinkcolor" val="tx"/>
                    </a:ext>
                  </a:extLst>
                </a:hlinkClick>
              </a:rPr>
              <a:t>HTB K Cup Holder Compatible… · $36 ↗</a:t>
            </a:r>
            <a:endParaRPr lang="en-US" sz="950" dirty="0"/>
          </a:p>
        </p:txBody>
      </p:sp>
      <p:sp>
        <p:nvSpPr>
          <p:cNvPr id="26" name="Shape 23"/>
          <p:cNvSpPr/>
          <p:nvPr/>
        </p:nvSpPr>
        <p:spPr>
          <a:xfrm>
            <a:off x="3287268" y="3236976"/>
            <a:ext cx="2738628" cy="1682496"/>
          </a:xfrm>
          <a:prstGeom prst="roundRect">
            <a:avLst>
              <a:gd name="adj" fmla="val 5435"/>
            </a:avLst>
          </a:prstGeom>
          <a:solidFill>
            <a:srgbClr val="FFFFFF"/>
          </a:solidFill>
          <a:ln w="9525">
            <a:solidFill>
              <a:srgbClr val="C9D3E3"/>
            </a:solidFill>
            <a:prstDash val="solid"/>
          </a:ln>
          <a:effectLst>
            <a:outerShdw sx="100000" sy="100000" kx="0" ky="0" algn="bl" rotWithShape="0" blurRad="50800" dist="19050" dir="5400000">
              <a:srgbClr val="9AA5B8">
                <a:alpha val="35000"/>
              </a:srgbClr>
            </a:outerShdw>
          </a:effectLst>
        </p:spPr>
      </p:sp>
      <p:sp>
        <p:nvSpPr>
          <p:cNvPr id="27" name="Shape 24"/>
          <p:cNvSpPr/>
          <p:nvPr/>
        </p:nvSpPr>
        <p:spPr>
          <a:xfrm>
            <a:off x="3415284" y="3364992"/>
            <a:ext cx="438912" cy="438912"/>
          </a:xfrm>
          <a:prstGeom prst="ellipse">
            <a:avLst/>
          </a:prstGeom>
          <a:solidFill>
            <a:srgbClr val="1F4E9A"/>
          </a:solidFill>
          <a:ln w="12700">
            <a:solidFill>
              <a:srgbClr val="1F4E9A"/>
            </a:solidFill>
            <a:prstDash val="solid"/>
          </a:ln>
        </p:spPr>
      </p:sp>
      <p:pic>
        <p:nvPicPr>
          <p:cNvPr id="28" name="Image 1" descr="preencoded.png">    </p:cNvPr>
          <p:cNvPicPr>
            <a:picLocks noChangeAspect="1"/>
          </p:cNvPicPr>
          <p:nvPr/>
        </p:nvPicPr>
        <p:blipFill>
          <a:blip r:embed="rId3"/>
          <a:stretch>
            <a:fillRect/>
          </a:stretch>
        </p:blipFill>
        <p:spPr>
          <a:xfrm>
            <a:off x="3511845" y="3461553"/>
            <a:ext cx="245791" cy="245791"/>
          </a:xfrm>
          <a:prstGeom prst="rect">
            <a:avLst/>
          </a:prstGeom>
        </p:spPr>
      </p:pic>
      <p:sp>
        <p:nvSpPr>
          <p:cNvPr id="29" name="Text 25"/>
          <p:cNvSpPr txBox="1"/>
          <p:nvPr/>
        </p:nvSpPr>
        <p:spPr>
          <a:xfrm>
            <a:off x="3945636" y="3328416"/>
            <a:ext cx="1988820" cy="512064"/>
          </a:xfrm>
          <a:prstGeom prst="rect">
            <a:avLst/>
          </a:prstGeom>
          <a:noFill/>
          <a:ln/>
        </p:spPr>
        <p:txBody>
          <a:bodyPr wrap="square" lIns="0" tIns="0" rIns="0" bIns="0" rtlCol="0" anchor="ctr"/>
          <a:lstStyle/>
          <a:p>
            <a:pPr indent="0" marL="0">
              <a:buNone/>
            </a:pPr>
            <a:r>
              <a:rPr lang="en-US" sz="1250" b="1" dirty="0">
                <a:solidFill>
                  <a:srgbClr val="13285B"/>
                </a:solidFill>
                <a:latin typeface="Calibri" pitchFamily="34" charset="0"/>
                <a:ea typeface="Calibri" pitchFamily="34" charset="-122"/>
                <a:cs typeface="Calibri" pitchFamily="34" charset="-120"/>
              </a:rPr>
              <a:t>Adult bento boxes for the commute</a:t>
            </a:r>
            <a:endParaRPr lang="en-US" sz="1250" dirty="0"/>
          </a:p>
        </p:txBody>
      </p:sp>
      <p:sp>
        <p:nvSpPr>
          <p:cNvPr id="30" name="Text 26"/>
          <p:cNvSpPr txBox="1"/>
          <p:nvPr/>
        </p:nvSpPr>
        <p:spPr>
          <a:xfrm>
            <a:off x="3433572" y="3913632"/>
            <a:ext cx="2464308" cy="457200"/>
          </a:xfrm>
          <a:prstGeom prst="rect">
            <a:avLst/>
          </a:prstGeom>
          <a:noFill/>
          <a:ln/>
        </p:spPr>
        <p:txBody>
          <a:bodyPr wrap="square" lIns="0" tIns="0" rIns="0" bIns="0" rtlCol="0" anchor="t"/>
          <a:lstStyle/>
          <a:p>
            <a:pPr indent="0" marL="0">
              <a:buNone/>
            </a:pPr>
            <a:r>
              <a:rPr lang="en-US" sz="950" i="1" dirty="0">
                <a:solidFill>
                  <a:srgbClr val="1F2937"/>
                </a:solidFill>
                <a:latin typeface="Calibri" pitchFamily="34" charset="0"/>
                <a:ea typeface="Calibri" pitchFamily="34" charset="-122"/>
                <a:cs typeface="Calibri" pitchFamily="34" charset="-120"/>
              </a:rPr>
              <a:t>Lunch range built for school (59% kids vs 27% at Amazon); office commuters under-served</a:t>
            </a:r>
            <a:endParaRPr lang="en-US" sz="950" dirty="0"/>
          </a:p>
        </p:txBody>
      </p:sp>
      <p:sp>
        <p:nvSpPr>
          <p:cNvPr id="31" name="Text 27"/>
          <p:cNvSpPr txBox="1"/>
          <p:nvPr/>
        </p:nvSpPr>
        <p:spPr>
          <a:xfrm>
            <a:off x="3433572" y="4389120"/>
            <a:ext cx="2464308" cy="219456"/>
          </a:xfrm>
          <a:prstGeom prst="rect">
            <a:avLst/>
          </a:prstGeom>
          <a:noFill/>
          <a:ln/>
        </p:spPr>
        <p:txBody>
          <a:bodyPr wrap="square" lIns="0" tIns="0" rIns="0" bIns="0" rtlCol="0" anchor="ctr"/>
          <a:lstStyle/>
          <a:p>
            <a:pPr indent="0" marL="0">
              <a:buNone/>
            </a:pPr>
            <a:r>
              <a:rPr lang="en-US" sz="1050" dirty="0">
                <a:solidFill>
                  <a:srgbClr val="5B6475"/>
                </a:solidFill>
                <a:latin typeface="Calibri" pitchFamily="34" charset="0"/>
                <a:ea typeface="Calibri" pitchFamily="34" charset="-122"/>
                <a:cs typeface="Calibri" pitchFamily="34" charset="-120"/>
              </a:rPr>
              <a:t>Staples: </a:t>
            </a:r>
            <a:pPr indent="0" marL="0">
              <a:buNone/>
            </a:pPr>
            <a:r>
              <a:rPr lang="en-US" sz="1050" b="1" dirty="0">
                <a:solidFill>
                  <a:srgbClr val="CC0000"/>
                </a:solidFill>
                <a:latin typeface="Calibri" pitchFamily="34" charset="0"/>
                <a:ea typeface="Calibri" pitchFamily="34" charset="-122"/>
                <a:cs typeface="Calibri" pitchFamily="34" charset="-120"/>
              </a:rPr>
              <a:t>1 of 318</a:t>
            </a:r>
            <a:pPr indent="0" marL="0">
              <a:buNone/>
            </a:pPr>
            <a:r>
              <a:rPr lang="en-US" sz="1050" dirty="0">
                <a:solidFill>
                  <a:srgbClr val="1F2937"/>
                </a:solidFill>
                <a:latin typeface="Calibri" pitchFamily="34" charset="0"/>
                <a:ea typeface="Calibri" pitchFamily="34" charset="-122"/>
                <a:cs typeface="Calibri" pitchFamily="34" charset="-120"/>
              </a:rPr>
              <a:t> · </a:t>
            </a:r>
            <a:pPr indent="0" marL="0">
              <a:buNone/>
            </a:pPr>
            <a:r>
              <a:rPr lang="en-US" sz="1050" dirty="0">
                <a:solidFill>
                  <a:srgbClr val="5B6475"/>
                </a:solidFill>
                <a:latin typeface="Calibri" pitchFamily="34" charset="0"/>
                <a:ea typeface="Calibri" pitchFamily="34" charset="-122"/>
                <a:cs typeface="Calibri" pitchFamily="34" charset="-120"/>
              </a:rPr>
              <a:t>Amazon: </a:t>
            </a:r>
            <a:pPr indent="0" marL="0">
              <a:buNone/>
            </a:pPr>
            <a:r>
              <a:rPr lang="en-US" sz="1050" b="1" dirty="0">
                <a:solidFill>
                  <a:srgbClr val="C45500"/>
                </a:solidFill>
                <a:latin typeface="Calibri" pitchFamily="34" charset="0"/>
                <a:ea typeface="Calibri" pitchFamily="34" charset="-122"/>
                <a:cs typeface="Calibri" pitchFamily="34" charset="-120"/>
              </a:rPr>
              <a:t>11%</a:t>
            </a:r>
            <a:pPr indent="0" marL="0">
              <a:buNone/>
            </a:pPr>
            <a:r>
              <a:rPr lang="en-US" sz="1050" dirty="0">
                <a:solidFill>
                  <a:srgbClr val="1F2937"/>
                </a:solidFill>
                <a:latin typeface="Calibri" pitchFamily="34" charset="0"/>
                <a:ea typeface="Calibri" pitchFamily="34" charset="-122"/>
                <a:cs typeface="Calibri" pitchFamily="34" charset="-120"/>
              </a:rPr>
              <a:t> of range</a:t>
            </a:r>
            <a:endParaRPr lang="en-US" sz="1050" dirty="0"/>
          </a:p>
        </p:txBody>
      </p:sp>
      <p:sp>
        <p:nvSpPr>
          <p:cNvPr id="32" name="Text 28"/>
          <p:cNvSpPr txBox="1"/>
          <p:nvPr/>
        </p:nvSpPr>
        <p:spPr>
          <a:xfrm>
            <a:off x="3433572" y="4645152"/>
            <a:ext cx="2464308" cy="182880"/>
          </a:xfrm>
          <a:prstGeom prst="rect">
            <a:avLst/>
          </a:prstGeom>
          <a:noFill/>
          <a:ln/>
        </p:spPr>
        <p:txBody>
          <a:bodyPr wrap="square" lIns="0" tIns="0" rIns="0" bIns="0" rtlCol="0" anchor="t"/>
          <a:lstStyle/>
          <a:p>
            <a:pPr indent="0" marL="0">
              <a:buNone/>
            </a:pPr>
            <a:r>
              <a:rPr lang="en-US" sz="950" dirty="0">
                <a:solidFill>
                  <a:srgbClr val="5B6475"/>
                </a:solidFill>
                <a:latin typeface="Calibri" pitchFamily="34" charset="0"/>
                <a:ea typeface="Calibri" pitchFamily="34" charset="-122"/>
                <a:cs typeface="Calibri" pitchFamily="34" charset="-120"/>
              </a:rPr>
              <a:t>e.g. </a:t>
            </a:r>
            <a:pPr indent="0" marL="0">
              <a:buNone/>
            </a:pPr>
            <a:r>
              <a:rPr lang="en-US" sz="950" u="sng" dirty="0">
                <a:solidFill>
                  <a:srgbClr val="2F6FD0"/>
                </a:solidFill>
                <a:latin typeface="Calibri" pitchFamily="34" charset="0"/>
                <a:ea typeface="Calibri" pitchFamily="34" charset="-122"/>
                <a:cs typeface="Calibri" pitchFamily="34" charset="-120"/>
                <a:hlinkClick r:id="rId4" invalidUrl="" action="" tgtFrame="" tooltip="Stackable Stainless Steel Bento Box for Adults, 6 Cup with Snack Pod" history="1" highlightClick="0" endSnd="0">
                  <a:extLst>
                    <a:ext uri="{A12FA001-AC4F-418D-AE19-62706E023703}">
                      <ahyp:hlinkClr xmlns:ahyp="http://schemas.microsoft.com/office/drawing/2018/hyperlinkcolor" val="tx"/>
                    </a:ext>
                  </a:extLst>
                </a:hlinkClick>
              </a:rPr>
              <a:t>Stackable Stainless Steel… · $39 ↗</a:t>
            </a:r>
            <a:endParaRPr lang="en-US" sz="950" dirty="0"/>
          </a:p>
        </p:txBody>
      </p:sp>
      <p:sp>
        <p:nvSpPr>
          <p:cNvPr id="33" name="Shape 29"/>
          <p:cNvSpPr/>
          <p:nvPr/>
        </p:nvSpPr>
        <p:spPr>
          <a:xfrm>
            <a:off x="6163056" y="3236976"/>
            <a:ext cx="2738628" cy="1682496"/>
          </a:xfrm>
          <a:prstGeom prst="roundRect">
            <a:avLst>
              <a:gd name="adj" fmla="val 5435"/>
            </a:avLst>
          </a:prstGeom>
          <a:solidFill>
            <a:srgbClr val="FFFFFF"/>
          </a:solidFill>
          <a:ln w="9525">
            <a:solidFill>
              <a:srgbClr val="C9D3E3"/>
            </a:solidFill>
            <a:prstDash val="solid"/>
          </a:ln>
          <a:effectLst>
            <a:outerShdw sx="100000" sy="100000" kx="0" ky="0" algn="bl" rotWithShape="0" blurRad="50800" dist="19050" dir="5400000">
              <a:srgbClr val="9AA5B8">
                <a:alpha val="35000"/>
              </a:srgbClr>
            </a:outerShdw>
          </a:effectLst>
        </p:spPr>
      </p:sp>
      <p:sp>
        <p:nvSpPr>
          <p:cNvPr id="34" name="Shape 30"/>
          <p:cNvSpPr/>
          <p:nvPr/>
        </p:nvSpPr>
        <p:spPr>
          <a:xfrm>
            <a:off x="6291072" y="3364992"/>
            <a:ext cx="438912" cy="438912"/>
          </a:xfrm>
          <a:prstGeom prst="ellipse">
            <a:avLst/>
          </a:prstGeom>
          <a:solidFill>
            <a:srgbClr val="1F4E9A"/>
          </a:solidFill>
          <a:ln w="12700">
            <a:solidFill>
              <a:srgbClr val="1F4E9A"/>
            </a:solidFill>
            <a:prstDash val="solid"/>
          </a:ln>
        </p:spPr>
      </p:sp>
      <p:pic>
        <p:nvPicPr>
          <p:cNvPr id="35" name="Image 2" descr="preencoded.png">    </p:cNvPr>
          <p:cNvPicPr>
            <a:picLocks noChangeAspect="1"/>
          </p:cNvPicPr>
          <p:nvPr/>
        </p:nvPicPr>
        <p:blipFill>
          <a:blip r:embed="rId5"/>
          <a:stretch>
            <a:fillRect/>
          </a:stretch>
        </p:blipFill>
        <p:spPr>
          <a:xfrm>
            <a:off x="6387633" y="3461553"/>
            <a:ext cx="245791" cy="245791"/>
          </a:xfrm>
          <a:prstGeom prst="rect">
            <a:avLst/>
          </a:prstGeom>
        </p:spPr>
      </p:pic>
      <p:sp>
        <p:nvSpPr>
          <p:cNvPr id="36" name="Text 31"/>
          <p:cNvSpPr txBox="1"/>
          <p:nvPr/>
        </p:nvSpPr>
        <p:spPr>
          <a:xfrm>
            <a:off x="6821424" y="3328416"/>
            <a:ext cx="1988820" cy="512064"/>
          </a:xfrm>
          <a:prstGeom prst="rect">
            <a:avLst/>
          </a:prstGeom>
          <a:noFill/>
          <a:ln/>
        </p:spPr>
        <p:txBody>
          <a:bodyPr wrap="square" lIns="0" tIns="0" rIns="0" bIns="0" rtlCol="0" anchor="ctr"/>
          <a:lstStyle/>
          <a:p>
            <a:pPr indent="0" marL="0">
              <a:buNone/>
            </a:pPr>
            <a:r>
              <a:rPr lang="en-US" sz="1250" b="1" dirty="0">
                <a:solidFill>
                  <a:srgbClr val="13285B"/>
                </a:solidFill>
                <a:latin typeface="Calibri" pitchFamily="34" charset="0"/>
                <a:ea typeface="Calibri" pitchFamily="34" charset="-122"/>
                <a:cs typeface="Calibri" pitchFamily="34" charset="-120"/>
              </a:rPr>
              <a:t>Statement &amp; oversized wall clocks</a:t>
            </a:r>
            <a:endParaRPr lang="en-US" sz="1250" dirty="0"/>
          </a:p>
        </p:txBody>
      </p:sp>
      <p:sp>
        <p:nvSpPr>
          <p:cNvPr id="37" name="Text 32"/>
          <p:cNvSpPr txBox="1"/>
          <p:nvPr/>
        </p:nvSpPr>
        <p:spPr>
          <a:xfrm>
            <a:off x="6309360" y="3913632"/>
            <a:ext cx="2464308" cy="457200"/>
          </a:xfrm>
          <a:prstGeom prst="rect">
            <a:avLst/>
          </a:prstGeom>
          <a:noFill/>
          <a:ln/>
        </p:spPr>
        <p:txBody>
          <a:bodyPr wrap="square" lIns="0" tIns="0" rIns="0" bIns="0" rtlCol="0" anchor="t"/>
          <a:lstStyle/>
          <a:p>
            <a:pPr indent="0" marL="0">
              <a:buNone/>
            </a:pPr>
            <a:r>
              <a:rPr lang="en-US" sz="950" i="1" dirty="0">
                <a:solidFill>
                  <a:srgbClr val="1F2937"/>
                </a:solidFill>
                <a:latin typeface="Calibri" pitchFamily="34" charset="0"/>
                <a:ea typeface="Calibri" pitchFamily="34" charset="-122"/>
                <a:cs typeface="Calibri" pitchFamily="34" charset="-120"/>
              </a:rPr>
              <a:t>Staples' clocks are utility pieces (60% plastic vs 5% at Wayfair); 9% statement vs 39%</a:t>
            </a:r>
            <a:endParaRPr lang="en-US" sz="950" dirty="0"/>
          </a:p>
        </p:txBody>
      </p:sp>
      <p:sp>
        <p:nvSpPr>
          <p:cNvPr id="38" name="Text 33"/>
          <p:cNvSpPr txBox="1"/>
          <p:nvPr/>
        </p:nvSpPr>
        <p:spPr>
          <a:xfrm>
            <a:off x="6309360" y="4389120"/>
            <a:ext cx="2464308" cy="219456"/>
          </a:xfrm>
          <a:prstGeom prst="rect">
            <a:avLst/>
          </a:prstGeom>
          <a:noFill/>
          <a:ln/>
        </p:spPr>
        <p:txBody>
          <a:bodyPr wrap="square" lIns="0" tIns="0" rIns="0" bIns="0" rtlCol="0" anchor="ctr"/>
          <a:lstStyle/>
          <a:p>
            <a:pPr indent="0" marL="0">
              <a:buNone/>
            </a:pPr>
            <a:r>
              <a:rPr lang="en-US" sz="1050" dirty="0">
                <a:solidFill>
                  <a:srgbClr val="5B6475"/>
                </a:solidFill>
                <a:latin typeface="Calibri" pitchFamily="34" charset="0"/>
                <a:ea typeface="Calibri" pitchFamily="34" charset="-122"/>
                <a:cs typeface="Calibri" pitchFamily="34" charset="-120"/>
              </a:rPr>
              <a:t>Staples: </a:t>
            </a:r>
            <a:pPr indent="0" marL="0">
              <a:buNone/>
            </a:pPr>
            <a:r>
              <a:rPr lang="en-US" sz="1050" b="1" dirty="0">
                <a:solidFill>
                  <a:srgbClr val="CC0000"/>
                </a:solidFill>
                <a:latin typeface="Calibri" pitchFamily="34" charset="0"/>
                <a:ea typeface="Calibri" pitchFamily="34" charset="-122"/>
                <a:cs typeface="Calibri" pitchFamily="34" charset="-120"/>
              </a:rPr>
              <a:t>13 of 174</a:t>
            </a:r>
            <a:pPr indent="0" marL="0">
              <a:buNone/>
            </a:pPr>
            <a:r>
              <a:rPr lang="en-US" sz="1050" dirty="0">
                <a:solidFill>
                  <a:srgbClr val="1F2937"/>
                </a:solidFill>
                <a:latin typeface="Calibri" pitchFamily="34" charset="0"/>
                <a:ea typeface="Calibri" pitchFamily="34" charset="-122"/>
                <a:cs typeface="Calibri" pitchFamily="34" charset="-120"/>
              </a:rPr>
              <a:t> · </a:t>
            </a:r>
            <a:pPr indent="0" marL="0">
              <a:buNone/>
            </a:pPr>
            <a:r>
              <a:rPr lang="en-US" sz="1050" dirty="0">
                <a:solidFill>
                  <a:srgbClr val="5B6475"/>
                </a:solidFill>
                <a:latin typeface="Calibri" pitchFamily="34" charset="0"/>
                <a:ea typeface="Calibri" pitchFamily="34" charset="-122"/>
                <a:cs typeface="Calibri" pitchFamily="34" charset="-120"/>
              </a:rPr>
              <a:t>Wayfair: </a:t>
            </a:r>
            <a:pPr indent="0" marL="0">
              <a:buNone/>
            </a:pPr>
            <a:r>
              <a:rPr lang="en-US" sz="1050" b="1" dirty="0">
                <a:solidFill>
                  <a:srgbClr val="7F187F"/>
                </a:solidFill>
                <a:latin typeface="Calibri" pitchFamily="34" charset="0"/>
                <a:ea typeface="Calibri" pitchFamily="34" charset="-122"/>
                <a:cs typeface="Calibri" pitchFamily="34" charset="-120"/>
              </a:rPr>
              <a:t>36%</a:t>
            </a:r>
            <a:pPr indent="0" marL="0">
              <a:buNone/>
            </a:pPr>
            <a:r>
              <a:rPr lang="en-US" sz="1050" dirty="0">
                <a:solidFill>
                  <a:srgbClr val="1F2937"/>
                </a:solidFill>
                <a:latin typeface="Calibri" pitchFamily="34" charset="0"/>
                <a:ea typeface="Calibri" pitchFamily="34" charset="-122"/>
                <a:cs typeface="Calibri" pitchFamily="34" charset="-120"/>
              </a:rPr>
              <a:t> of range</a:t>
            </a:r>
            <a:endParaRPr lang="en-US" sz="1050" dirty="0"/>
          </a:p>
        </p:txBody>
      </p:sp>
      <p:sp>
        <p:nvSpPr>
          <p:cNvPr id="39" name="Text 34"/>
          <p:cNvSpPr txBox="1"/>
          <p:nvPr/>
        </p:nvSpPr>
        <p:spPr>
          <a:xfrm>
            <a:off x="6309360" y="4645152"/>
            <a:ext cx="2464308" cy="182880"/>
          </a:xfrm>
          <a:prstGeom prst="rect">
            <a:avLst/>
          </a:prstGeom>
          <a:noFill/>
          <a:ln/>
        </p:spPr>
        <p:txBody>
          <a:bodyPr wrap="square" lIns="0" tIns="0" rIns="0" bIns="0" rtlCol="0" anchor="t"/>
          <a:lstStyle/>
          <a:p>
            <a:pPr indent="0" marL="0">
              <a:buNone/>
            </a:pPr>
            <a:r>
              <a:rPr lang="en-US" sz="950" dirty="0">
                <a:solidFill>
                  <a:srgbClr val="5B6475"/>
                </a:solidFill>
                <a:latin typeface="Calibri" pitchFamily="34" charset="0"/>
                <a:ea typeface="Calibri" pitchFamily="34" charset="-122"/>
                <a:cs typeface="Calibri" pitchFamily="34" charset="-120"/>
              </a:rPr>
              <a:t>e.g. </a:t>
            </a:r>
            <a:pPr indent="0" marL="0">
              <a:buNone/>
            </a:pPr>
            <a:r>
              <a:rPr lang="en-US" sz="950" u="sng" dirty="0">
                <a:solidFill>
                  <a:srgbClr val="2F6FD0"/>
                </a:solidFill>
                <a:latin typeface="Calibri" pitchFamily="34" charset="0"/>
                <a:ea typeface="Calibri" pitchFamily="34" charset="-122"/>
                <a:cs typeface="Calibri" pitchFamily="34" charset="-120"/>
                <a:hlinkClick r:id="rId6" invalidUrl="" action="" tgtFrame="" tooltip="Pink Liquid Gold Harmony Wave - Abstract Shapes Oversized Wood Wall Clock" history="1" highlightClick="0" endSnd="0">
                  <a:extLst>
                    <a:ext uri="{A12FA001-AC4F-418D-AE19-62706E023703}">
                      <ahyp:hlinkClr xmlns:ahyp="http://schemas.microsoft.com/office/drawing/2018/hyperlinkcolor" val="tx"/>
                    </a:ext>
                  </a:extLst>
                </a:hlinkClick>
              </a:rPr>
              <a:t>Pink Liquid Gold Harmony Wave… · $120 ↗</a:t>
            </a:r>
            <a:endParaRPr lang="en-US" sz="950" dirty="0"/>
          </a:p>
        </p:txBody>
      </p:sp>
      <p:sp>
        <p:nvSpPr>
          <p:cNvPr id="40" name="Shape 35"/>
          <p:cNvSpPr/>
          <p:nvPr/>
        </p:nvSpPr>
        <p:spPr>
          <a:xfrm>
            <a:off x="9038844" y="3236976"/>
            <a:ext cx="2738628" cy="1682496"/>
          </a:xfrm>
          <a:prstGeom prst="roundRect">
            <a:avLst>
              <a:gd name="adj" fmla="val 5435"/>
            </a:avLst>
          </a:prstGeom>
          <a:solidFill>
            <a:srgbClr val="FFFFFF"/>
          </a:solidFill>
          <a:ln w="9525">
            <a:solidFill>
              <a:srgbClr val="C9D3E3"/>
            </a:solidFill>
            <a:prstDash val="solid"/>
          </a:ln>
          <a:effectLst>
            <a:outerShdw sx="100000" sy="100000" kx="0" ky="0" algn="bl" rotWithShape="0" blurRad="50800" dist="19050" dir="5400000">
              <a:srgbClr val="9AA5B8">
                <a:alpha val="35000"/>
              </a:srgbClr>
            </a:outerShdw>
          </a:effectLst>
        </p:spPr>
      </p:sp>
      <p:sp>
        <p:nvSpPr>
          <p:cNvPr id="41" name="Shape 36"/>
          <p:cNvSpPr/>
          <p:nvPr/>
        </p:nvSpPr>
        <p:spPr>
          <a:xfrm>
            <a:off x="9166860" y="3364992"/>
            <a:ext cx="438912" cy="438912"/>
          </a:xfrm>
          <a:prstGeom prst="ellipse">
            <a:avLst/>
          </a:prstGeom>
          <a:solidFill>
            <a:srgbClr val="1F4E9A"/>
          </a:solidFill>
          <a:ln w="12700">
            <a:solidFill>
              <a:srgbClr val="1F4E9A"/>
            </a:solidFill>
            <a:prstDash val="solid"/>
          </a:ln>
        </p:spPr>
      </p:sp>
      <p:pic>
        <p:nvPicPr>
          <p:cNvPr id="42" name="Image 3" descr="preencoded.png">    </p:cNvPr>
          <p:cNvPicPr>
            <a:picLocks noChangeAspect="1"/>
          </p:cNvPicPr>
          <p:nvPr/>
        </p:nvPicPr>
        <p:blipFill>
          <a:blip r:embed="rId7"/>
          <a:stretch>
            <a:fillRect/>
          </a:stretch>
        </p:blipFill>
        <p:spPr>
          <a:xfrm>
            <a:off x="9263421" y="3461553"/>
            <a:ext cx="245791" cy="245791"/>
          </a:xfrm>
          <a:prstGeom prst="rect">
            <a:avLst/>
          </a:prstGeom>
        </p:spPr>
      </p:pic>
      <p:sp>
        <p:nvSpPr>
          <p:cNvPr id="43" name="Text 37"/>
          <p:cNvSpPr txBox="1"/>
          <p:nvPr/>
        </p:nvSpPr>
        <p:spPr>
          <a:xfrm>
            <a:off x="9697212" y="3328416"/>
            <a:ext cx="1988820" cy="512064"/>
          </a:xfrm>
          <a:prstGeom prst="rect">
            <a:avLst/>
          </a:prstGeom>
          <a:noFill/>
          <a:ln/>
        </p:spPr>
        <p:txBody>
          <a:bodyPr wrap="square" lIns="0" tIns="0" rIns="0" bIns="0" rtlCol="0" anchor="ctr"/>
          <a:lstStyle/>
          <a:p>
            <a:pPr indent="0" marL="0">
              <a:buNone/>
            </a:pPr>
            <a:r>
              <a:rPr lang="en-US" sz="1250" b="1" dirty="0">
                <a:solidFill>
                  <a:srgbClr val="13285B"/>
                </a:solidFill>
                <a:latin typeface="Calibri" pitchFamily="34" charset="0"/>
                <a:ea typeface="Calibri" pitchFamily="34" charset="-122"/>
                <a:cs typeface="Calibri" pitchFamily="34" charset="-120"/>
              </a:rPr>
              <a:t>The "White Chair": swivel barrel chair</a:t>
            </a:r>
            <a:endParaRPr lang="en-US" sz="1250" dirty="0"/>
          </a:p>
        </p:txBody>
      </p:sp>
      <p:sp>
        <p:nvSpPr>
          <p:cNvPr id="44" name="Text 38"/>
          <p:cNvSpPr txBox="1"/>
          <p:nvPr/>
        </p:nvSpPr>
        <p:spPr>
          <a:xfrm>
            <a:off x="9185148" y="3913632"/>
            <a:ext cx="2464308" cy="457200"/>
          </a:xfrm>
          <a:prstGeom prst="rect">
            <a:avLst/>
          </a:prstGeom>
          <a:noFill/>
          <a:ln/>
        </p:spPr>
        <p:txBody>
          <a:bodyPr wrap="square" lIns="0" tIns="0" rIns="0" bIns="0" rtlCol="0" anchor="t"/>
          <a:lstStyle/>
          <a:p>
            <a:pPr indent="0" marL="0">
              <a:buNone/>
            </a:pPr>
            <a:r>
              <a:rPr lang="en-US" sz="950" i="1" dirty="0">
                <a:solidFill>
                  <a:srgbClr val="1F2937"/>
                </a:solidFill>
                <a:latin typeface="Calibri" pitchFamily="34" charset="0"/>
                <a:ea typeface="Calibri" pitchFamily="34" charset="-122"/>
                <a:cs typeface="Calibri" pitchFamily="34" charset="-120"/>
              </a:rPr>
              <a:t>Accent chairs built for lobbies (57% reception vs 1% at Wayfair); no home-office chair</a:t>
            </a:r>
            <a:endParaRPr lang="en-US" sz="950" dirty="0"/>
          </a:p>
        </p:txBody>
      </p:sp>
      <p:sp>
        <p:nvSpPr>
          <p:cNvPr id="45" name="Text 39"/>
          <p:cNvSpPr txBox="1"/>
          <p:nvPr/>
        </p:nvSpPr>
        <p:spPr>
          <a:xfrm>
            <a:off x="9185148" y="4389120"/>
            <a:ext cx="2464308" cy="219456"/>
          </a:xfrm>
          <a:prstGeom prst="rect">
            <a:avLst/>
          </a:prstGeom>
          <a:noFill/>
          <a:ln/>
        </p:spPr>
        <p:txBody>
          <a:bodyPr wrap="square" lIns="0" tIns="0" rIns="0" bIns="0" rtlCol="0" anchor="ctr"/>
          <a:lstStyle/>
          <a:p>
            <a:pPr indent="0" marL="0">
              <a:buNone/>
            </a:pPr>
            <a:r>
              <a:rPr lang="en-US" sz="1050" dirty="0">
                <a:solidFill>
                  <a:srgbClr val="5B6475"/>
                </a:solidFill>
                <a:latin typeface="Calibri" pitchFamily="34" charset="0"/>
                <a:ea typeface="Calibri" pitchFamily="34" charset="-122"/>
                <a:cs typeface="Calibri" pitchFamily="34" charset="-120"/>
              </a:rPr>
              <a:t>Staples: </a:t>
            </a:r>
            <a:pPr indent="0" marL="0">
              <a:buNone/>
            </a:pPr>
            <a:r>
              <a:rPr lang="en-US" sz="1050" b="1" dirty="0">
                <a:solidFill>
                  <a:srgbClr val="CC0000"/>
                </a:solidFill>
                <a:latin typeface="Calibri" pitchFamily="34" charset="0"/>
                <a:ea typeface="Calibri" pitchFamily="34" charset="-122"/>
                <a:cs typeface="Calibri" pitchFamily="34" charset="-120"/>
              </a:rPr>
              <a:t>0 of 116</a:t>
            </a:r>
            <a:pPr indent="0" marL="0">
              <a:buNone/>
            </a:pPr>
            <a:r>
              <a:rPr lang="en-US" sz="1050" dirty="0">
                <a:solidFill>
                  <a:srgbClr val="1F2937"/>
                </a:solidFill>
                <a:latin typeface="Calibri" pitchFamily="34" charset="0"/>
                <a:ea typeface="Calibri" pitchFamily="34" charset="-122"/>
                <a:cs typeface="Calibri" pitchFamily="34" charset="-120"/>
              </a:rPr>
              <a:t> · </a:t>
            </a:r>
            <a:pPr indent="0" marL="0">
              <a:buNone/>
            </a:pPr>
            <a:r>
              <a:rPr lang="en-US" sz="1050" dirty="0">
                <a:solidFill>
                  <a:srgbClr val="5B6475"/>
                </a:solidFill>
                <a:latin typeface="Calibri" pitchFamily="34" charset="0"/>
                <a:ea typeface="Calibri" pitchFamily="34" charset="-122"/>
                <a:cs typeface="Calibri" pitchFamily="34" charset="-120"/>
              </a:rPr>
              <a:t>Wayfair: </a:t>
            </a:r>
            <a:pPr indent="0" marL="0">
              <a:buNone/>
            </a:pPr>
            <a:r>
              <a:rPr lang="en-US" sz="1050" b="1" dirty="0">
                <a:solidFill>
                  <a:srgbClr val="7F187F"/>
                </a:solidFill>
                <a:latin typeface="Calibri" pitchFamily="34" charset="0"/>
                <a:ea typeface="Calibri" pitchFamily="34" charset="-122"/>
                <a:cs typeface="Calibri" pitchFamily="34" charset="-120"/>
              </a:rPr>
              <a:t>13%</a:t>
            </a:r>
            <a:pPr indent="0" marL="0">
              <a:buNone/>
            </a:pPr>
            <a:r>
              <a:rPr lang="en-US" sz="1050" dirty="0">
                <a:solidFill>
                  <a:srgbClr val="1F2937"/>
                </a:solidFill>
                <a:latin typeface="Calibri" pitchFamily="34" charset="0"/>
                <a:ea typeface="Calibri" pitchFamily="34" charset="-122"/>
                <a:cs typeface="Calibri" pitchFamily="34" charset="-120"/>
              </a:rPr>
              <a:t> of range</a:t>
            </a:r>
            <a:endParaRPr lang="en-US" sz="1050" dirty="0"/>
          </a:p>
        </p:txBody>
      </p:sp>
      <p:sp>
        <p:nvSpPr>
          <p:cNvPr id="46" name="Text 40"/>
          <p:cNvSpPr txBox="1"/>
          <p:nvPr/>
        </p:nvSpPr>
        <p:spPr>
          <a:xfrm>
            <a:off x="9185148" y="4645152"/>
            <a:ext cx="2464308" cy="182880"/>
          </a:xfrm>
          <a:prstGeom prst="rect">
            <a:avLst/>
          </a:prstGeom>
          <a:noFill/>
          <a:ln/>
        </p:spPr>
        <p:txBody>
          <a:bodyPr wrap="square" lIns="0" tIns="0" rIns="0" bIns="0" rtlCol="0" anchor="t"/>
          <a:lstStyle/>
          <a:p>
            <a:pPr indent="0" marL="0">
              <a:buNone/>
            </a:pPr>
            <a:r>
              <a:rPr lang="en-US" sz="950" dirty="0">
                <a:solidFill>
                  <a:srgbClr val="5B6475"/>
                </a:solidFill>
                <a:latin typeface="Calibri" pitchFamily="34" charset="0"/>
                <a:ea typeface="Calibri" pitchFamily="34" charset="-122"/>
                <a:cs typeface="Calibri" pitchFamily="34" charset="-120"/>
              </a:rPr>
              <a:t>e.g. </a:t>
            </a:r>
            <a:pPr indent="0" marL="0">
              <a:buNone/>
            </a:pPr>
            <a:r>
              <a:rPr lang="en-US" sz="950" u="sng" dirty="0">
                <a:solidFill>
                  <a:srgbClr val="2F6FD0"/>
                </a:solidFill>
                <a:latin typeface="Calibri" pitchFamily="34" charset="0"/>
                <a:ea typeface="Calibri" pitchFamily="34" charset="-122"/>
                <a:cs typeface="Calibri" pitchFamily="34" charset="-120"/>
                <a:hlinkClick r:id="rId8" invalidUrl="" action="" tgtFrame="" tooltip="360° Swivel Accent Chair, Velvet Upholstered Open-Back Swivel Barrel Chair , Modern Swivel Lounge Chair for Living Room, Dining Room, Bedroom" history="1" highlightClick="0" endSnd="0">
                  <a:extLst>
                    <a:ext uri="{A12FA001-AC4F-418D-AE19-62706E023703}">
                      <ahyp:hlinkClr xmlns:ahyp="http://schemas.microsoft.com/office/drawing/2018/hyperlinkcolor" val="tx"/>
                    </a:ext>
                  </a:extLst>
                </a:hlinkClick>
              </a:rPr>
              <a:t>360° Swivel Accent Chair… · $260 ↗</a:t>
            </a:r>
            <a:endParaRPr lang="en-US" sz="950" dirty="0"/>
          </a:p>
        </p:txBody>
      </p:sp>
      <p:sp>
        <p:nvSpPr>
          <p:cNvPr id="47" name="Text 41"/>
          <p:cNvSpPr txBox="1"/>
          <p:nvPr/>
        </p:nvSpPr>
        <p:spPr>
          <a:xfrm>
            <a:off x="411480" y="5175504"/>
            <a:ext cx="5486400" cy="256032"/>
          </a:xfrm>
          <a:prstGeom prst="rect">
            <a:avLst/>
          </a:prstGeom>
          <a:noFill/>
          <a:ln/>
        </p:spPr>
        <p:txBody>
          <a:bodyPr wrap="square" lIns="0" tIns="0" rIns="0" bIns="0" rtlCol="0" anchor="ctr"/>
          <a:lstStyle/>
          <a:p>
            <a:pPr indent="0" marL="0">
              <a:buNone/>
            </a:pPr>
            <a:r>
              <a:rPr lang="en-US" sz="1200" b="1" spc="100" kern="0" dirty="0">
                <a:solidFill>
                  <a:srgbClr val="1F4E9A"/>
                </a:solidFill>
                <a:latin typeface="Calibri" pitchFamily="34" charset="0"/>
                <a:ea typeface="Calibri" pitchFamily="34" charset="-122"/>
                <a:cs typeface="Calibri" pitchFamily="34" charset="-120"/>
              </a:rPr>
              <a:t>NEXT STEPS</a:t>
            </a:r>
            <a:endParaRPr lang="en-US" sz="1200" dirty="0"/>
          </a:p>
        </p:txBody>
      </p:sp>
      <p:sp>
        <p:nvSpPr>
          <p:cNvPr id="48" name="Shape 42"/>
          <p:cNvSpPr/>
          <p:nvPr/>
        </p:nvSpPr>
        <p:spPr>
          <a:xfrm>
            <a:off x="411480" y="5486400"/>
            <a:ext cx="2163470" cy="804672"/>
          </a:xfrm>
          <a:prstGeom prst="roundRect">
            <a:avLst>
              <a:gd name="adj" fmla="val 9091"/>
            </a:avLst>
          </a:prstGeom>
          <a:solidFill>
            <a:srgbClr val="DCE7F8"/>
          </a:solidFill>
          <a:ln w="12700">
            <a:solidFill>
              <a:srgbClr val="DCE7F8"/>
            </a:solidFill>
            <a:prstDash val="solid"/>
          </a:ln>
        </p:spPr>
      </p:sp>
      <p:sp>
        <p:nvSpPr>
          <p:cNvPr id="49" name="Shape 43"/>
          <p:cNvSpPr/>
          <p:nvPr/>
        </p:nvSpPr>
        <p:spPr>
          <a:xfrm>
            <a:off x="411480" y="5486400"/>
            <a:ext cx="2163470" cy="347472"/>
          </a:xfrm>
          <a:prstGeom prst="roundRect">
            <a:avLst>
              <a:gd name="adj" fmla="val 21053"/>
            </a:avLst>
          </a:prstGeom>
          <a:solidFill>
            <a:srgbClr val="1F4E9A"/>
          </a:solidFill>
          <a:ln w="12700">
            <a:solidFill>
              <a:srgbClr val="1F4E9A"/>
            </a:solidFill>
            <a:prstDash val="solid"/>
          </a:ln>
        </p:spPr>
      </p:sp>
      <p:pic>
        <p:nvPicPr>
          <p:cNvPr id="50" name="Image 4" descr="preencoded.png">    </p:cNvPr>
          <p:cNvPicPr>
            <a:picLocks noChangeAspect="1"/>
          </p:cNvPicPr>
          <p:nvPr/>
        </p:nvPicPr>
        <p:blipFill>
          <a:blip r:embed="rId9"/>
          <a:stretch>
            <a:fillRect/>
          </a:stretch>
        </p:blipFill>
        <p:spPr>
          <a:xfrm>
            <a:off x="521208" y="5559552"/>
            <a:ext cx="201168" cy="201168"/>
          </a:xfrm>
          <a:prstGeom prst="rect">
            <a:avLst/>
          </a:prstGeom>
        </p:spPr>
      </p:pic>
      <p:sp>
        <p:nvSpPr>
          <p:cNvPr id="51" name="Text 44"/>
          <p:cNvSpPr txBox="1"/>
          <p:nvPr/>
        </p:nvSpPr>
        <p:spPr>
          <a:xfrm>
            <a:off x="813816" y="5486400"/>
            <a:ext cx="1687982" cy="347472"/>
          </a:xfrm>
          <a:prstGeom prst="rect">
            <a:avLst/>
          </a:prstGeom>
          <a:noFill/>
          <a:ln/>
        </p:spPr>
        <p:txBody>
          <a:bodyPr wrap="square" lIns="0" tIns="0" rIns="0" bIns="0" rtlCol="0" anchor="ctr"/>
          <a:lstStyle/>
          <a:p>
            <a:pPr indent="0" marL="0">
              <a:buNone/>
            </a:pPr>
            <a:r>
              <a:rPr lang="en-US" sz="1050" b="1" spc="100" kern="0" dirty="0">
                <a:solidFill>
                  <a:srgbClr val="F5A623"/>
                </a:solidFill>
                <a:latin typeface="Calibri" pitchFamily="34" charset="0"/>
                <a:ea typeface="Calibri" pitchFamily="34" charset="-122"/>
                <a:cs typeface="Calibri" pitchFamily="34" charset="-120"/>
              </a:rPr>
              <a:t>1 · PRIORITISE</a:t>
            </a:r>
            <a:endParaRPr lang="en-US" sz="1050" dirty="0"/>
          </a:p>
        </p:txBody>
      </p:sp>
      <p:sp>
        <p:nvSpPr>
          <p:cNvPr id="52" name="Text 45"/>
          <p:cNvSpPr txBox="1"/>
          <p:nvPr/>
        </p:nvSpPr>
        <p:spPr>
          <a:xfrm>
            <a:off x="521208" y="5870448"/>
            <a:ext cx="1980590" cy="384048"/>
          </a:xfrm>
          <a:prstGeom prst="rect">
            <a:avLst/>
          </a:prstGeom>
          <a:noFill/>
          <a:ln/>
        </p:spPr>
        <p:txBody>
          <a:bodyPr wrap="square" lIns="0" tIns="0" rIns="0" bIns="0" rtlCol="0" anchor="ctr"/>
          <a:lstStyle/>
          <a:p>
            <a:pPr indent="0" marL="0">
              <a:buNone/>
            </a:pPr>
            <a:r>
              <a:rPr lang="en-US" sz="1050" b="1" dirty="0">
                <a:solidFill>
                  <a:srgbClr val="13285B"/>
                </a:solidFill>
                <a:latin typeface="Calibri" pitchFamily="34" charset="0"/>
                <a:ea typeface="Calibri" pitchFamily="34" charset="-122"/>
                <a:cs typeface="Calibri" pitchFamily="34" charset="-120"/>
              </a:rPr>
              <a:t>Demand &amp; segment prioritisation</a:t>
            </a:r>
            <a:endParaRPr lang="en-US" sz="1050" dirty="0"/>
          </a:p>
        </p:txBody>
      </p:sp>
      <p:sp>
        <p:nvSpPr>
          <p:cNvPr id="53" name="Shape 46"/>
          <p:cNvSpPr/>
          <p:nvPr/>
        </p:nvSpPr>
        <p:spPr>
          <a:xfrm>
            <a:off x="2712110" y="5486400"/>
            <a:ext cx="2163470" cy="804672"/>
          </a:xfrm>
          <a:prstGeom prst="roundRect">
            <a:avLst>
              <a:gd name="adj" fmla="val 9091"/>
            </a:avLst>
          </a:prstGeom>
          <a:solidFill>
            <a:srgbClr val="DCE7F8"/>
          </a:solidFill>
          <a:ln w="12700">
            <a:solidFill>
              <a:srgbClr val="DCE7F8"/>
            </a:solidFill>
            <a:prstDash val="solid"/>
          </a:ln>
        </p:spPr>
      </p:sp>
      <p:sp>
        <p:nvSpPr>
          <p:cNvPr id="54" name="Shape 47"/>
          <p:cNvSpPr/>
          <p:nvPr/>
        </p:nvSpPr>
        <p:spPr>
          <a:xfrm>
            <a:off x="2712110" y="5486400"/>
            <a:ext cx="2163470" cy="347472"/>
          </a:xfrm>
          <a:prstGeom prst="roundRect">
            <a:avLst>
              <a:gd name="adj" fmla="val 21053"/>
            </a:avLst>
          </a:prstGeom>
          <a:solidFill>
            <a:srgbClr val="1F4E9A"/>
          </a:solidFill>
          <a:ln w="12700">
            <a:solidFill>
              <a:srgbClr val="1F4E9A"/>
            </a:solidFill>
            <a:prstDash val="solid"/>
          </a:ln>
        </p:spPr>
      </p:sp>
      <p:pic>
        <p:nvPicPr>
          <p:cNvPr id="55" name="Image 5" descr="preencoded.png">    </p:cNvPr>
          <p:cNvPicPr>
            <a:picLocks noChangeAspect="1"/>
          </p:cNvPicPr>
          <p:nvPr/>
        </p:nvPicPr>
        <p:blipFill>
          <a:blip r:embed="rId10"/>
          <a:stretch>
            <a:fillRect/>
          </a:stretch>
        </p:blipFill>
        <p:spPr>
          <a:xfrm>
            <a:off x="2821838" y="5559552"/>
            <a:ext cx="201168" cy="201168"/>
          </a:xfrm>
          <a:prstGeom prst="rect">
            <a:avLst/>
          </a:prstGeom>
        </p:spPr>
      </p:pic>
      <p:sp>
        <p:nvSpPr>
          <p:cNvPr id="56" name="Text 48"/>
          <p:cNvSpPr txBox="1"/>
          <p:nvPr/>
        </p:nvSpPr>
        <p:spPr>
          <a:xfrm>
            <a:off x="3114446" y="5486400"/>
            <a:ext cx="1687982" cy="347472"/>
          </a:xfrm>
          <a:prstGeom prst="rect">
            <a:avLst/>
          </a:prstGeom>
          <a:noFill/>
          <a:ln/>
        </p:spPr>
        <p:txBody>
          <a:bodyPr wrap="square" lIns="0" tIns="0" rIns="0" bIns="0" rtlCol="0" anchor="ctr"/>
          <a:lstStyle/>
          <a:p>
            <a:pPr indent="0" marL="0">
              <a:buNone/>
            </a:pPr>
            <a:r>
              <a:rPr lang="en-US" sz="1050" b="1" spc="100" kern="0" dirty="0">
                <a:solidFill>
                  <a:srgbClr val="F5A623"/>
                </a:solidFill>
                <a:latin typeface="Calibri" pitchFamily="34" charset="0"/>
                <a:ea typeface="Calibri" pitchFamily="34" charset="-122"/>
                <a:cs typeface="Calibri" pitchFamily="34" charset="-120"/>
              </a:rPr>
              <a:t>2 · PROTECT</a:t>
            </a:r>
            <a:endParaRPr lang="en-US" sz="1050" dirty="0"/>
          </a:p>
        </p:txBody>
      </p:sp>
      <p:sp>
        <p:nvSpPr>
          <p:cNvPr id="57" name="Text 49"/>
          <p:cNvSpPr txBox="1"/>
          <p:nvPr/>
        </p:nvSpPr>
        <p:spPr>
          <a:xfrm>
            <a:off x="2821838" y="5870448"/>
            <a:ext cx="1980590" cy="384048"/>
          </a:xfrm>
          <a:prstGeom prst="rect">
            <a:avLst/>
          </a:prstGeom>
          <a:noFill/>
          <a:ln/>
        </p:spPr>
        <p:txBody>
          <a:bodyPr wrap="square" lIns="0" tIns="0" rIns="0" bIns="0" rtlCol="0" anchor="ctr"/>
          <a:lstStyle/>
          <a:p>
            <a:pPr indent="0" marL="0">
              <a:buNone/>
            </a:pPr>
            <a:r>
              <a:rPr lang="en-US" sz="1050" b="1" dirty="0">
                <a:solidFill>
                  <a:srgbClr val="13285B"/>
                </a:solidFill>
                <a:latin typeface="Calibri" pitchFamily="34" charset="0"/>
                <a:ea typeface="Calibri" pitchFamily="34" charset="-122"/>
                <a:cs typeface="Calibri" pitchFamily="34" charset="-120"/>
              </a:rPr>
              <a:t>Cannibalisation &amp; threshold tuning</a:t>
            </a:r>
            <a:endParaRPr lang="en-US" sz="1050" dirty="0"/>
          </a:p>
        </p:txBody>
      </p:sp>
      <p:sp>
        <p:nvSpPr>
          <p:cNvPr id="58" name="Shape 50"/>
          <p:cNvSpPr/>
          <p:nvPr/>
        </p:nvSpPr>
        <p:spPr>
          <a:xfrm>
            <a:off x="5012741" y="5486400"/>
            <a:ext cx="2163470" cy="804672"/>
          </a:xfrm>
          <a:prstGeom prst="roundRect">
            <a:avLst>
              <a:gd name="adj" fmla="val 9091"/>
            </a:avLst>
          </a:prstGeom>
          <a:solidFill>
            <a:srgbClr val="DCE7F8"/>
          </a:solidFill>
          <a:ln w="12700">
            <a:solidFill>
              <a:srgbClr val="DCE7F8"/>
            </a:solidFill>
            <a:prstDash val="solid"/>
          </a:ln>
        </p:spPr>
      </p:sp>
      <p:sp>
        <p:nvSpPr>
          <p:cNvPr id="59" name="Shape 51"/>
          <p:cNvSpPr/>
          <p:nvPr/>
        </p:nvSpPr>
        <p:spPr>
          <a:xfrm>
            <a:off x="5012741" y="5486400"/>
            <a:ext cx="2163470" cy="347472"/>
          </a:xfrm>
          <a:prstGeom prst="roundRect">
            <a:avLst>
              <a:gd name="adj" fmla="val 21053"/>
            </a:avLst>
          </a:prstGeom>
          <a:solidFill>
            <a:srgbClr val="2F6FD0"/>
          </a:solidFill>
          <a:ln w="12700">
            <a:solidFill>
              <a:srgbClr val="2F6FD0"/>
            </a:solidFill>
            <a:prstDash val="solid"/>
          </a:ln>
        </p:spPr>
      </p:sp>
      <p:pic>
        <p:nvPicPr>
          <p:cNvPr id="60" name="Image 6" descr="preencoded.png">    </p:cNvPr>
          <p:cNvPicPr>
            <a:picLocks noChangeAspect="1"/>
          </p:cNvPicPr>
          <p:nvPr/>
        </p:nvPicPr>
        <p:blipFill>
          <a:blip r:embed="rId11"/>
          <a:stretch>
            <a:fillRect/>
          </a:stretch>
        </p:blipFill>
        <p:spPr>
          <a:xfrm>
            <a:off x="5122469" y="5559552"/>
            <a:ext cx="201168" cy="201168"/>
          </a:xfrm>
          <a:prstGeom prst="rect">
            <a:avLst/>
          </a:prstGeom>
        </p:spPr>
      </p:pic>
      <p:sp>
        <p:nvSpPr>
          <p:cNvPr id="61" name="Text 52"/>
          <p:cNvSpPr txBox="1"/>
          <p:nvPr/>
        </p:nvSpPr>
        <p:spPr>
          <a:xfrm>
            <a:off x="5415077" y="5486400"/>
            <a:ext cx="1687982" cy="347472"/>
          </a:xfrm>
          <a:prstGeom prst="rect">
            <a:avLst/>
          </a:prstGeom>
          <a:noFill/>
          <a:ln/>
        </p:spPr>
        <p:txBody>
          <a:bodyPr wrap="square" lIns="0" tIns="0" rIns="0" bIns="0" rtlCol="0" anchor="ctr"/>
          <a:lstStyle/>
          <a:p>
            <a:pPr indent="0" marL="0">
              <a:buNone/>
            </a:pPr>
            <a:r>
              <a:rPr lang="en-US" sz="1050" b="1" spc="100" kern="0" dirty="0">
                <a:solidFill>
                  <a:srgbClr val="F5A623"/>
                </a:solidFill>
                <a:latin typeface="Calibri" pitchFamily="34" charset="0"/>
                <a:ea typeface="Calibri" pitchFamily="34" charset="-122"/>
                <a:cs typeface="Calibri" pitchFamily="34" charset="-120"/>
              </a:rPr>
              <a:t>3 · EXPAND</a:t>
            </a:r>
            <a:endParaRPr lang="en-US" sz="1050" dirty="0"/>
          </a:p>
        </p:txBody>
      </p:sp>
      <p:sp>
        <p:nvSpPr>
          <p:cNvPr id="62" name="Text 53"/>
          <p:cNvSpPr txBox="1"/>
          <p:nvPr/>
        </p:nvSpPr>
        <p:spPr>
          <a:xfrm>
            <a:off x="5122469" y="5870448"/>
            <a:ext cx="1980590" cy="384048"/>
          </a:xfrm>
          <a:prstGeom prst="rect">
            <a:avLst/>
          </a:prstGeom>
          <a:noFill/>
          <a:ln/>
        </p:spPr>
        <p:txBody>
          <a:bodyPr wrap="square" lIns="0" tIns="0" rIns="0" bIns="0" rtlCol="0" anchor="ctr"/>
          <a:lstStyle/>
          <a:p>
            <a:pPr indent="0" marL="0">
              <a:buNone/>
            </a:pPr>
            <a:r>
              <a:rPr lang="en-US" sz="1050" b="1" dirty="0">
                <a:solidFill>
                  <a:srgbClr val="13285B"/>
                </a:solidFill>
                <a:latin typeface="Calibri" pitchFamily="34" charset="0"/>
                <a:ea typeface="Calibri" pitchFamily="34" charset="-122"/>
                <a:cs typeface="Calibri" pitchFamily="34" charset="-120"/>
              </a:rPr>
              <a:t>Any node, competitor or audience</a:t>
            </a:r>
            <a:endParaRPr lang="en-US" sz="1050" dirty="0"/>
          </a:p>
        </p:txBody>
      </p:sp>
      <p:sp>
        <p:nvSpPr>
          <p:cNvPr id="63" name="Shape 54"/>
          <p:cNvSpPr/>
          <p:nvPr/>
        </p:nvSpPr>
        <p:spPr>
          <a:xfrm>
            <a:off x="7313371" y="5486400"/>
            <a:ext cx="2163470" cy="804672"/>
          </a:xfrm>
          <a:prstGeom prst="roundRect">
            <a:avLst>
              <a:gd name="adj" fmla="val 9091"/>
            </a:avLst>
          </a:prstGeom>
          <a:solidFill>
            <a:srgbClr val="DCE7F8"/>
          </a:solidFill>
          <a:ln w="12700">
            <a:solidFill>
              <a:srgbClr val="DCE7F8"/>
            </a:solidFill>
            <a:prstDash val="solid"/>
          </a:ln>
        </p:spPr>
      </p:sp>
      <p:sp>
        <p:nvSpPr>
          <p:cNvPr id="64" name="Shape 55"/>
          <p:cNvSpPr/>
          <p:nvPr/>
        </p:nvSpPr>
        <p:spPr>
          <a:xfrm>
            <a:off x="7313371" y="5486400"/>
            <a:ext cx="2163470" cy="347472"/>
          </a:xfrm>
          <a:prstGeom prst="roundRect">
            <a:avLst>
              <a:gd name="adj" fmla="val 21053"/>
            </a:avLst>
          </a:prstGeom>
          <a:solidFill>
            <a:srgbClr val="13285B"/>
          </a:solidFill>
          <a:ln w="12700">
            <a:solidFill>
              <a:srgbClr val="13285B"/>
            </a:solidFill>
            <a:prstDash val="solid"/>
          </a:ln>
        </p:spPr>
      </p:sp>
      <p:pic>
        <p:nvPicPr>
          <p:cNvPr id="65" name="Image 7" descr="preencoded.png">    </p:cNvPr>
          <p:cNvPicPr>
            <a:picLocks noChangeAspect="1"/>
          </p:cNvPicPr>
          <p:nvPr/>
        </p:nvPicPr>
        <p:blipFill>
          <a:blip r:embed="rId12"/>
          <a:stretch>
            <a:fillRect/>
          </a:stretch>
        </p:blipFill>
        <p:spPr>
          <a:xfrm>
            <a:off x="7423099" y="5559552"/>
            <a:ext cx="201168" cy="201168"/>
          </a:xfrm>
          <a:prstGeom prst="rect">
            <a:avLst/>
          </a:prstGeom>
        </p:spPr>
      </p:pic>
      <p:sp>
        <p:nvSpPr>
          <p:cNvPr id="66" name="Text 56"/>
          <p:cNvSpPr txBox="1"/>
          <p:nvPr/>
        </p:nvSpPr>
        <p:spPr>
          <a:xfrm>
            <a:off x="7715707" y="5486400"/>
            <a:ext cx="1687982" cy="347472"/>
          </a:xfrm>
          <a:prstGeom prst="rect">
            <a:avLst/>
          </a:prstGeom>
          <a:noFill/>
          <a:ln/>
        </p:spPr>
        <p:txBody>
          <a:bodyPr wrap="square" lIns="0" tIns="0" rIns="0" bIns="0" rtlCol="0" anchor="ctr"/>
          <a:lstStyle/>
          <a:p>
            <a:pPr indent="0" marL="0">
              <a:buNone/>
            </a:pPr>
            <a:r>
              <a:rPr lang="en-US" sz="1050" b="1" spc="100" kern="0" dirty="0">
                <a:solidFill>
                  <a:srgbClr val="F5A623"/>
                </a:solidFill>
                <a:latin typeface="Calibri" pitchFamily="34" charset="0"/>
                <a:ea typeface="Calibri" pitchFamily="34" charset="-122"/>
                <a:cs typeface="Calibri" pitchFamily="34" charset="-120"/>
              </a:rPr>
              <a:t>4 · CURATE</a:t>
            </a:r>
            <a:endParaRPr lang="en-US" sz="1050" dirty="0"/>
          </a:p>
        </p:txBody>
      </p:sp>
      <p:sp>
        <p:nvSpPr>
          <p:cNvPr id="67" name="Text 57"/>
          <p:cNvSpPr txBox="1"/>
          <p:nvPr/>
        </p:nvSpPr>
        <p:spPr>
          <a:xfrm>
            <a:off x="7423099" y="5870448"/>
            <a:ext cx="1980590" cy="384048"/>
          </a:xfrm>
          <a:prstGeom prst="rect">
            <a:avLst/>
          </a:prstGeom>
          <a:noFill/>
          <a:ln/>
        </p:spPr>
        <p:txBody>
          <a:bodyPr wrap="square" lIns="0" tIns="0" rIns="0" bIns="0" rtlCol="0" anchor="ctr"/>
          <a:lstStyle/>
          <a:p>
            <a:pPr indent="0" marL="0">
              <a:buNone/>
            </a:pPr>
            <a:r>
              <a:rPr lang="en-US" sz="1050" b="1" dirty="0">
                <a:solidFill>
                  <a:srgbClr val="13285B"/>
                </a:solidFill>
                <a:latin typeface="Calibri" pitchFamily="34" charset="0"/>
                <a:ea typeface="Calibri" pitchFamily="34" charset="-122"/>
                <a:cs typeface="Calibri" pitchFamily="34" charset="-120"/>
              </a:rPr>
              <a:t>Automated seller-listing vetting</a:t>
            </a:r>
            <a:endParaRPr lang="en-US" sz="1050" dirty="0"/>
          </a:p>
        </p:txBody>
      </p:sp>
      <p:sp>
        <p:nvSpPr>
          <p:cNvPr id="68" name="Shape 58"/>
          <p:cNvSpPr/>
          <p:nvPr/>
        </p:nvSpPr>
        <p:spPr>
          <a:xfrm>
            <a:off x="9614002" y="5486400"/>
            <a:ext cx="2163470" cy="804672"/>
          </a:xfrm>
          <a:prstGeom prst="roundRect">
            <a:avLst>
              <a:gd name="adj" fmla="val 9091"/>
            </a:avLst>
          </a:prstGeom>
          <a:solidFill>
            <a:srgbClr val="DCE7F8"/>
          </a:solidFill>
          <a:ln w="12700">
            <a:solidFill>
              <a:srgbClr val="DCE7F8"/>
            </a:solidFill>
            <a:prstDash val="solid"/>
          </a:ln>
        </p:spPr>
      </p:sp>
      <p:sp>
        <p:nvSpPr>
          <p:cNvPr id="69" name="Shape 59"/>
          <p:cNvSpPr/>
          <p:nvPr/>
        </p:nvSpPr>
        <p:spPr>
          <a:xfrm>
            <a:off x="9614002" y="5486400"/>
            <a:ext cx="2163470" cy="347472"/>
          </a:xfrm>
          <a:prstGeom prst="roundRect">
            <a:avLst>
              <a:gd name="adj" fmla="val 21053"/>
            </a:avLst>
          </a:prstGeom>
          <a:solidFill>
            <a:srgbClr val="13285B"/>
          </a:solidFill>
          <a:ln w="12700">
            <a:solidFill>
              <a:srgbClr val="13285B"/>
            </a:solidFill>
            <a:prstDash val="solid"/>
          </a:ln>
        </p:spPr>
      </p:sp>
      <p:pic>
        <p:nvPicPr>
          <p:cNvPr id="70" name="Image 8" descr="preencoded.png">    </p:cNvPr>
          <p:cNvPicPr>
            <a:picLocks noChangeAspect="1"/>
          </p:cNvPicPr>
          <p:nvPr/>
        </p:nvPicPr>
        <p:blipFill>
          <a:blip r:embed="rId13"/>
          <a:stretch>
            <a:fillRect/>
          </a:stretch>
        </p:blipFill>
        <p:spPr>
          <a:xfrm>
            <a:off x="9723730" y="5559552"/>
            <a:ext cx="201168" cy="201168"/>
          </a:xfrm>
          <a:prstGeom prst="rect">
            <a:avLst/>
          </a:prstGeom>
        </p:spPr>
      </p:pic>
      <p:sp>
        <p:nvSpPr>
          <p:cNvPr id="71" name="Text 60"/>
          <p:cNvSpPr txBox="1"/>
          <p:nvPr/>
        </p:nvSpPr>
        <p:spPr>
          <a:xfrm>
            <a:off x="10016338" y="5486400"/>
            <a:ext cx="1687982" cy="347472"/>
          </a:xfrm>
          <a:prstGeom prst="rect">
            <a:avLst/>
          </a:prstGeom>
          <a:noFill/>
          <a:ln/>
        </p:spPr>
        <p:txBody>
          <a:bodyPr wrap="square" lIns="0" tIns="0" rIns="0" bIns="0" rtlCol="0" anchor="ctr"/>
          <a:lstStyle/>
          <a:p>
            <a:pPr indent="0" marL="0">
              <a:buNone/>
            </a:pPr>
            <a:r>
              <a:rPr lang="en-US" sz="1050" b="1" spc="100" kern="0" dirty="0">
                <a:solidFill>
                  <a:srgbClr val="F5A623"/>
                </a:solidFill>
                <a:latin typeface="Calibri" pitchFamily="34" charset="0"/>
                <a:ea typeface="Calibri" pitchFamily="34" charset="-122"/>
                <a:cs typeface="Calibri" pitchFamily="34" charset="-120"/>
              </a:rPr>
              <a:t>5 · MONITOR</a:t>
            </a:r>
            <a:endParaRPr lang="en-US" sz="1050" dirty="0"/>
          </a:p>
        </p:txBody>
      </p:sp>
      <p:sp>
        <p:nvSpPr>
          <p:cNvPr id="72" name="Text 61"/>
          <p:cNvSpPr txBox="1"/>
          <p:nvPr/>
        </p:nvSpPr>
        <p:spPr>
          <a:xfrm>
            <a:off x="9723730" y="5870448"/>
            <a:ext cx="1980590" cy="384048"/>
          </a:xfrm>
          <a:prstGeom prst="rect">
            <a:avLst/>
          </a:prstGeom>
          <a:noFill/>
          <a:ln/>
        </p:spPr>
        <p:txBody>
          <a:bodyPr wrap="square" lIns="0" tIns="0" rIns="0" bIns="0" rtlCol="0" anchor="ctr"/>
          <a:lstStyle/>
          <a:p>
            <a:pPr indent="0" marL="0">
              <a:buNone/>
            </a:pPr>
            <a:r>
              <a:rPr lang="en-US" sz="1050" b="1" dirty="0">
                <a:solidFill>
                  <a:srgbClr val="13285B"/>
                </a:solidFill>
                <a:latin typeface="Calibri" pitchFamily="34" charset="0"/>
                <a:ea typeface="Calibri" pitchFamily="34" charset="-122"/>
                <a:cs typeface="Calibri" pitchFamily="34" charset="-120"/>
              </a:rPr>
              <a:t>Market radar &amp; pilot tracking</a:t>
            </a:r>
            <a:endParaRPr lang="en-US" sz="1050" dirty="0"/>
          </a:p>
        </p:txBody>
      </p:sp>
      <p:sp>
        <p:nvSpPr>
          <p:cNvPr id="25" name="Slide Number Placeholder 0"/>
          <p:cNvSpPr>
            <a:spLocks noGrp="1"/>
          </p:cNvSpPr>
          <p:nvPr>
            <p:ph type="sldNum" sz="quarter" idx="4294967295"/>
          </p:nvPr>
        </p:nvSpPr>
        <p:spPr>
          <a:xfrm>
            <a:off x="11320272" y="6510528"/>
            <a:ext cx="457200" cy="237744"/>
          </a:xfrm>
          <a:prstGeom prst="rect">
            <a:avLst/>
          </a:prstGeom>
          <a:extLst>
            <a:ext uri="{C572A759-6A51-4108-AA02-DFA0A04FC94B}">
              <ma14:wrappingTextBoxFlag xmlns:ma14="http://schemas.microsoft.com/office/mac/drawingml/2011/main" val="0"/>
            </a:ext>
          </a:extLst>
        </p:spPr>
        <p:txBody>
          <a:bodyPr/>
          <a:lstStyle>
            <a:lvl1pPr>
              <a:defRPr sz="900">
                <a:solidFill>
                  <a:srgbClr val="7A8599"/>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3"/>
          <p:cNvSpPr/>
          <p:nvPr>
            <p:ph idx="103" type="title" hasCustomPrompt="1"/>
          </p:nvPr>
        </p:nvSpPr>
        <p:spPr>
          <a:xfrm>
            <a:off x="411480" y="219456"/>
            <a:ext cx="11365992" cy="658368"/>
          </a:xfrm>
          <a:prstGeom prst="rect">
            <a:avLst/>
          </a:prstGeom>
          <a:noFill/>
          <a:ln/>
        </p:spPr>
        <p:txBody>
          <a:bodyPr wrap="square" lIns="0" tIns="0" rIns="0" bIns="0" rtlCol="0" anchor="ctr"/>
          <a:lstStyle/>
          <a:p>
            <a:pPr algn="l" indent="0" marL="0">
              <a:buNone/>
            </a:pPr>
            <a:r>
              <a:rPr lang="en-US" sz="2800" b="1" dirty="0">
                <a:solidFill>
                  <a:srgbClr val="1F4E9A"/>
                </a:solidFill>
                <a:latin typeface="Calibri" pitchFamily="34" charset="0"/>
                <a:ea typeface="Calibri" pitchFamily="34" charset="-122"/>
                <a:cs typeface="Calibri" pitchFamily="34" charset="-120"/>
              </a:rPr>
              <a:t>PoC Scope at a Glance: 12 Nodes · 3 Segments · 2 Competitors</a:t>
            </a:r>
            <a:endParaRPr lang="en-US" sz="28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11480" y="1143000"/>
          <a:ext cx="11365992" cy="914400"/>
        </p:xfrm>
        <a:graphic>
          <a:graphicData uri="http://schemas.openxmlformats.org/drawingml/2006/table">
            <a:tbl>
              <a:tblPr/>
              <a:tblGrid>
                <a:gridCol w="1737360"/>
                <a:gridCol w="3017520"/>
                <a:gridCol w="3657600"/>
                <a:gridCol w="1417320"/>
                <a:gridCol w="1536192"/>
              </a:tblGrid>
              <a:tr h="384048">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Segment · Play</a:t>
                      </a:r>
                      <a:endParaRPr lang="en-US" sz="12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1F4E9A"/>
                    </a:solidFill>
                  </a:tcPr>
                </a:tc>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Staples node</a:t>
                      </a:r>
                      <a:endParaRPr lang="en-US" sz="12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1F4E9A"/>
                    </a:solidFill>
                  </a:tcPr>
                </a:tc>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Category path</a:t>
                      </a:r>
                      <a:endParaRPr lang="en-US" sz="12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1F4E9A"/>
                    </a:solidFill>
                  </a:tcPr>
                </a:tc>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Primary competitor</a:t>
                      </a:r>
                      <a:endParaRPr lang="en-US" sz="12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1F4E9A"/>
                    </a:solidFill>
                  </a:tcPr>
                </a:tc>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Archetypes recommended</a:t>
                      </a:r>
                      <a:endParaRPr lang="en-US" sz="12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1F4E9A"/>
                    </a:solidFill>
                  </a:tcPr>
                </a:tc>
              </a:tr>
              <a:tr h="356616">
                <a:tc rowSpan="4">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Hero</a:t>
                      </a:r>
                      <a:endParaRPr lang="en-US" sz="1300" dirty="0">
                        <a:latin typeface="Calibri" charset="0"/>
                        <a:ea typeface="Calibri" charset="0"/>
                        <a:cs typeface="Calibri" charset="0"/>
                      </a:endParaRPr>
                    </a:p>
                    <a:p>
                      <a:pPr algn="ctr" indent="0" marL="0">
                        <a:buNone/>
                      </a:pPr>
                      <a:r>
                        <a:rPr lang="en-US" sz="1300" b="1" dirty="0">
                          <a:solidFill>
                            <a:srgbClr val="FFFFFF"/>
                          </a:solidFill>
                          <a:latin typeface="Calibri" pitchFamily="34" charset="0"/>
                          <a:ea typeface="Calibri" pitchFamily="34" charset="-122"/>
                          <a:cs typeface="Calibri" pitchFamily="34" charset="-120"/>
                        </a:rPr>
                        <a:t>EXTEND</a:t>
                      </a:r>
                      <a:endParaRPr lang="en-US" sz="13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13285B"/>
                    </a:solidFill>
                  </a:tcPr>
                </a:tc>
                <a:tc>
                  <a:txBody>
                    <a:bodyPr/>
                    <a:lstStyle/>
                    <a:p>
                      <a:pPr indent="0" marL="0">
                        <a:buNone/>
                      </a:pPr>
                      <a:r>
                        <a:rPr lang="en-US" sz="1200" b="1" dirty="0">
                          <a:solidFill>
                            <a:srgbClr val="13285B"/>
                          </a:solidFill>
                          <a:latin typeface="Calibri" pitchFamily="34" charset="0"/>
                          <a:ea typeface="Calibri" pitchFamily="34" charset="-122"/>
                          <a:cs typeface="Calibri" pitchFamily="34" charset="-120"/>
                        </a:rPr>
                        <a:t>Planners &amp; Personal Organizers</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indent="0" marL="0">
                        <a:buNone/>
                      </a:pPr>
                      <a:r>
                        <a:rPr lang="en-US" sz="1050" dirty="0">
                          <a:solidFill>
                            <a:srgbClr val="5B6475"/>
                          </a:solidFill>
                          <a:latin typeface="Calibri" pitchFamily="34" charset="0"/>
                          <a:ea typeface="Calibri" pitchFamily="34" charset="-122"/>
                          <a:cs typeface="Calibri" pitchFamily="34" charset="-120"/>
                        </a:rPr>
                        <a:t>Office Supplies &gt; Calendars &amp; Planners</a:t>
                      </a:r>
                      <a:endParaRPr lang="en-US" sz="10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C45500"/>
                          </a:solidFill>
                          <a:latin typeface="Calibri" pitchFamily="34" charset="0"/>
                          <a:ea typeface="Calibri" pitchFamily="34" charset="-122"/>
                          <a:cs typeface="Calibri" pitchFamily="34" charset="-120"/>
                        </a:rPr>
                        <a:t>Amazon</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3285B"/>
                          </a:solidFill>
                          <a:latin typeface="Calibri" pitchFamily="34" charset="0"/>
                          <a:ea typeface="Calibri" pitchFamily="34" charset="-122"/>
                          <a:cs typeface="Calibri" pitchFamily="34" charset="-120"/>
                        </a:rPr>
                        <a:t>7</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r>
              <a:tr h="356616">
                <a:tc vMerge="1">
                  <a:tcPr/>
                </a:tc>
                <a:tc>
                  <a:txBody>
                    <a:bodyPr/>
                    <a:lstStyle/>
                    <a:p>
                      <a:pPr indent="0" marL="0">
                        <a:buNone/>
                      </a:pPr>
                      <a:r>
                        <a:rPr lang="en-US" sz="1200" b="1" dirty="0">
                          <a:solidFill>
                            <a:srgbClr val="13285B"/>
                          </a:solidFill>
                          <a:latin typeface="Calibri" pitchFamily="34" charset="0"/>
                          <a:ea typeface="Calibri" pitchFamily="34" charset="-122"/>
                          <a:cs typeface="Calibri" pitchFamily="34" charset="-120"/>
                        </a:rPr>
                        <a:t>Desk Organizers</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indent="0" marL="0">
                        <a:buNone/>
                      </a:pPr>
                      <a:r>
                        <a:rPr lang="en-US" sz="1050" dirty="0">
                          <a:solidFill>
                            <a:srgbClr val="5B6475"/>
                          </a:solidFill>
                          <a:latin typeface="Calibri" pitchFamily="34" charset="0"/>
                          <a:ea typeface="Calibri" pitchFamily="34" charset="-122"/>
                          <a:cs typeface="Calibri" pitchFamily="34" charset="-120"/>
                        </a:rPr>
                        <a:t>Office Supplies &gt; Desk Organizers &amp; Accessories</a:t>
                      </a:r>
                      <a:endParaRPr lang="en-US" sz="10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algn="ctr" indent="0" marL="0">
                        <a:buNone/>
                      </a:pPr>
                      <a:r>
                        <a:rPr lang="en-US" sz="1200" b="1" dirty="0">
                          <a:solidFill>
                            <a:srgbClr val="C45500"/>
                          </a:solidFill>
                          <a:latin typeface="Calibri" pitchFamily="34" charset="0"/>
                          <a:ea typeface="Calibri" pitchFamily="34" charset="-122"/>
                          <a:cs typeface="Calibri" pitchFamily="34" charset="-120"/>
                        </a:rPr>
                        <a:t>Amazon</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algn="ctr" indent="0" marL="0">
                        <a:buNone/>
                      </a:pPr>
                      <a:r>
                        <a:rPr lang="en-US" sz="1200" b="1" dirty="0">
                          <a:solidFill>
                            <a:srgbClr val="13285B"/>
                          </a:solidFill>
                          <a:latin typeface="Calibri" pitchFamily="34" charset="0"/>
                          <a:ea typeface="Calibri" pitchFamily="34" charset="-122"/>
                          <a:cs typeface="Calibri" pitchFamily="34" charset="-120"/>
                        </a:rPr>
                        <a:t>4</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r>
              <a:tr h="356616">
                <a:tc vMerge="1">
                  <a:tcPr/>
                </a:tc>
                <a:tc>
                  <a:txBody>
                    <a:bodyPr/>
                    <a:lstStyle/>
                    <a:p>
                      <a:pPr indent="0" marL="0">
                        <a:buNone/>
                      </a:pPr>
                      <a:r>
                        <a:rPr lang="en-US" sz="1200" b="1" dirty="0">
                          <a:solidFill>
                            <a:srgbClr val="13285B"/>
                          </a:solidFill>
                          <a:latin typeface="Calibri" pitchFamily="34" charset="0"/>
                          <a:ea typeface="Calibri" pitchFamily="34" charset="-122"/>
                          <a:cs typeface="Calibri" pitchFamily="34" charset="-120"/>
                        </a:rPr>
                        <a:t>Backpacks</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indent="0" marL="0">
                        <a:buNone/>
                      </a:pPr>
                      <a:r>
                        <a:rPr lang="en-US" sz="1050" dirty="0">
                          <a:solidFill>
                            <a:srgbClr val="5B6475"/>
                          </a:solidFill>
                          <a:latin typeface="Calibri" pitchFamily="34" charset="0"/>
                          <a:ea typeface="Calibri" pitchFamily="34" charset="-122"/>
                          <a:cs typeface="Calibri" pitchFamily="34" charset="-120"/>
                        </a:rPr>
                        <a:t>Bags, Backpacks &amp; Luggage &gt; Backpacks &amp; Laptop Bags</a:t>
                      </a:r>
                      <a:endParaRPr lang="en-US" sz="10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C45500"/>
                          </a:solidFill>
                          <a:latin typeface="Calibri" pitchFamily="34" charset="0"/>
                          <a:ea typeface="Calibri" pitchFamily="34" charset="-122"/>
                          <a:cs typeface="Calibri" pitchFamily="34" charset="-120"/>
                        </a:rPr>
                        <a:t>Amazon</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3285B"/>
                          </a:solidFill>
                          <a:latin typeface="Calibri" pitchFamily="34" charset="0"/>
                          <a:ea typeface="Calibri" pitchFamily="34" charset="-122"/>
                          <a:cs typeface="Calibri" pitchFamily="34" charset="-120"/>
                        </a:rPr>
                        <a:t>5</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r>
              <a:tr h="356616">
                <a:tc vMerge="1">
                  <a:tcPr/>
                </a:tc>
                <a:tc>
                  <a:txBody>
                    <a:bodyPr/>
                    <a:lstStyle/>
                    <a:p>
                      <a:pPr indent="0" marL="0">
                        <a:buNone/>
                      </a:pPr>
                      <a:r>
                        <a:rPr lang="en-US" sz="1200" b="1" dirty="0">
                          <a:solidFill>
                            <a:srgbClr val="13285B"/>
                          </a:solidFill>
                          <a:latin typeface="Calibri" pitchFamily="34" charset="0"/>
                          <a:ea typeface="Calibri" pitchFamily="34" charset="-122"/>
                          <a:cs typeface="Calibri" pitchFamily="34" charset="-120"/>
                        </a:rPr>
                        <a:t>Office Desks</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indent="0" marL="0">
                        <a:buNone/>
                      </a:pPr>
                      <a:r>
                        <a:rPr lang="en-US" sz="1050" dirty="0">
                          <a:solidFill>
                            <a:srgbClr val="5B6475"/>
                          </a:solidFill>
                          <a:latin typeface="Calibri" pitchFamily="34" charset="0"/>
                          <a:ea typeface="Calibri" pitchFamily="34" charset="-122"/>
                          <a:cs typeface="Calibri" pitchFamily="34" charset="-120"/>
                        </a:rPr>
                        <a:t>Furniture &gt; Desks</a:t>
                      </a:r>
                      <a:endParaRPr lang="en-US" sz="10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algn="ctr" indent="0" marL="0">
                        <a:buNone/>
                      </a:pPr>
                      <a:r>
                        <a:rPr lang="en-US" sz="1200" b="1" dirty="0">
                          <a:solidFill>
                            <a:srgbClr val="7F187F"/>
                          </a:solidFill>
                          <a:latin typeface="Calibri" pitchFamily="34" charset="0"/>
                          <a:ea typeface="Calibri" pitchFamily="34" charset="-122"/>
                          <a:cs typeface="Calibri" pitchFamily="34" charset="-120"/>
                        </a:rPr>
                        <a:t>Wayfair</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algn="ctr" indent="0" marL="0">
                        <a:buNone/>
                      </a:pPr>
                      <a:r>
                        <a:rPr lang="en-US" sz="1200" b="1" dirty="0">
                          <a:solidFill>
                            <a:srgbClr val="13285B"/>
                          </a:solidFill>
                          <a:latin typeface="Calibri" pitchFamily="34" charset="0"/>
                          <a:ea typeface="Calibri" pitchFamily="34" charset="-122"/>
                          <a:cs typeface="Calibri" pitchFamily="34" charset="-120"/>
                        </a:rPr>
                        <a:t>7</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r>
              <a:tr h="356616">
                <a:tc rowSpan="4">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Probable Hero</a:t>
                      </a:r>
                      <a:endParaRPr lang="en-US" sz="1300" dirty="0">
                        <a:latin typeface="Calibri" charset="0"/>
                        <a:ea typeface="Calibri" charset="0"/>
                        <a:cs typeface="Calibri" charset="0"/>
                      </a:endParaRPr>
                    </a:p>
                    <a:p>
                      <a:pPr algn="ctr" indent="0" marL="0">
                        <a:buNone/>
                      </a:pPr>
                      <a:r>
                        <a:rPr lang="en-US" sz="1300" b="1" dirty="0">
                          <a:solidFill>
                            <a:srgbClr val="FFFFFF"/>
                          </a:solidFill>
                          <a:latin typeface="Calibri" pitchFamily="34" charset="0"/>
                          <a:ea typeface="Calibri" pitchFamily="34" charset="-122"/>
                          <a:cs typeface="Calibri" pitchFamily="34" charset="-120"/>
                        </a:rPr>
                        <a:t>BUILD</a:t>
                      </a:r>
                      <a:endParaRPr lang="en-US" sz="13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2F6FD0"/>
                    </a:solidFill>
                  </a:tcPr>
                </a:tc>
                <a:tc>
                  <a:txBody>
                    <a:bodyPr/>
                    <a:lstStyle/>
                    <a:p>
                      <a:pPr indent="0" marL="0">
                        <a:buNone/>
                      </a:pPr>
                      <a:r>
                        <a:rPr lang="en-US" sz="1200" b="1" dirty="0">
                          <a:solidFill>
                            <a:srgbClr val="13285B"/>
                          </a:solidFill>
                          <a:latin typeface="Calibri" pitchFamily="34" charset="0"/>
                          <a:ea typeface="Calibri" pitchFamily="34" charset="-122"/>
                          <a:cs typeface="Calibri" pitchFamily="34" charset="-120"/>
                        </a:rPr>
                        <a:t>Water Bottles, Tumblers &amp; Travel Mugs</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indent="0" marL="0">
                        <a:buNone/>
                      </a:pPr>
                      <a:r>
                        <a:rPr lang="en-US" sz="1050" dirty="0">
                          <a:solidFill>
                            <a:srgbClr val="5B6475"/>
                          </a:solidFill>
                          <a:latin typeface="Calibri" pitchFamily="34" charset="0"/>
                          <a:ea typeface="Calibri" pitchFamily="34" charset="-122"/>
                          <a:cs typeface="Calibri" pitchFamily="34" charset="-120"/>
                        </a:rPr>
                        <a:t>Coffee, Water &amp; Snacks &gt; Water &amp; Beverages</a:t>
                      </a:r>
                      <a:endParaRPr lang="en-US" sz="10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C45500"/>
                          </a:solidFill>
                          <a:latin typeface="Calibri" pitchFamily="34" charset="0"/>
                          <a:ea typeface="Calibri" pitchFamily="34" charset="-122"/>
                          <a:cs typeface="Calibri" pitchFamily="34" charset="-120"/>
                        </a:rPr>
                        <a:t>Amazon</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3285B"/>
                          </a:solidFill>
                          <a:latin typeface="Calibri" pitchFamily="34" charset="0"/>
                          <a:ea typeface="Calibri" pitchFamily="34" charset="-122"/>
                          <a:cs typeface="Calibri" pitchFamily="34" charset="-120"/>
                        </a:rPr>
                        <a:t>7</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r>
              <a:tr h="356616">
                <a:tc vMerge="1">
                  <a:tcPr/>
                </a:tc>
                <a:tc>
                  <a:txBody>
                    <a:bodyPr/>
                    <a:lstStyle/>
                    <a:p>
                      <a:pPr indent="0" marL="0">
                        <a:buNone/>
                      </a:pPr>
                      <a:r>
                        <a:rPr lang="en-US" sz="1200" b="1" dirty="0">
                          <a:solidFill>
                            <a:srgbClr val="13285B"/>
                          </a:solidFill>
                          <a:latin typeface="Calibri" pitchFamily="34" charset="0"/>
                          <a:ea typeface="Calibri" pitchFamily="34" charset="-122"/>
                          <a:cs typeface="Calibri" pitchFamily="34" charset="-120"/>
                        </a:rPr>
                        <a:t>Accent &amp; Waiting Room Chairs</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indent="0" marL="0">
                        <a:buNone/>
                      </a:pPr>
                      <a:r>
                        <a:rPr lang="en-US" sz="1050" dirty="0">
                          <a:solidFill>
                            <a:srgbClr val="5B6475"/>
                          </a:solidFill>
                          <a:latin typeface="Calibri" pitchFamily="34" charset="0"/>
                          <a:ea typeface="Calibri" pitchFamily="34" charset="-122"/>
                          <a:cs typeface="Calibri" pitchFamily="34" charset="-120"/>
                        </a:rPr>
                        <a:t>Furniture &gt; Chairs &amp; Seating</a:t>
                      </a:r>
                      <a:endParaRPr lang="en-US" sz="10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algn="ctr" indent="0" marL="0">
                        <a:buNone/>
                      </a:pPr>
                      <a:r>
                        <a:rPr lang="en-US" sz="1200" b="1" dirty="0">
                          <a:solidFill>
                            <a:srgbClr val="7F187F"/>
                          </a:solidFill>
                          <a:latin typeface="Calibri" pitchFamily="34" charset="0"/>
                          <a:ea typeface="Calibri" pitchFamily="34" charset="-122"/>
                          <a:cs typeface="Calibri" pitchFamily="34" charset="-120"/>
                        </a:rPr>
                        <a:t>Wayfair</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algn="ctr" indent="0" marL="0">
                        <a:buNone/>
                      </a:pPr>
                      <a:r>
                        <a:rPr lang="en-US" sz="1200" b="1" dirty="0">
                          <a:solidFill>
                            <a:srgbClr val="13285B"/>
                          </a:solidFill>
                          <a:latin typeface="Calibri" pitchFamily="34" charset="0"/>
                          <a:ea typeface="Calibri" pitchFamily="34" charset="-122"/>
                          <a:cs typeface="Calibri" pitchFamily="34" charset="-120"/>
                        </a:rPr>
                        <a:t>7</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r>
              <a:tr h="356616">
                <a:tc vMerge="1">
                  <a:tcPr/>
                </a:tc>
                <a:tc>
                  <a:txBody>
                    <a:bodyPr/>
                    <a:lstStyle/>
                    <a:p>
                      <a:pPr indent="0" marL="0">
                        <a:buNone/>
                      </a:pPr>
                      <a:r>
                        <a:rPr lang="en-US" sz="1200" b="1" dirty="0">
                          <a:solidFill>
                            <a:srgbClr val="13285B"/>
                          </a:solidFill>
                          <a:latin typeface="Calibri" pitchFamily="34" charset="0"/>
                          <a:ea typeface="Calibri" pitchFamily="34" charset="-122"/>
                          <a:cs typeface="Calibri" pitchFamily="34" charset="-120"/>
                        </a:rPr>
                        <a:t>Desk Lamps</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indent="0" marL="0">
                        <a:buNone/>
                      </a:pPr>
                      <a:r>
                        <a:rPr lang="en-US" sz="1050" dirty="0">
                          <a:solidFill>
                            <a:srgbClr val="5B6475"/>
                          </a:solidFill>
                          <a:latin typeface="Calibri" pitchFamily="34" charset="0"/>
                          <a:ea typeface="Calibri" pitchFamily="34" charset="-122"/>
                          <a:cs typeface="Calibri" pitchFamily="34" charset="-120"/>
                        </a:rPr>
                        <a:t>Furniture &gt; Lamps &amp; Lighting</a:t>
                      </a:r>
                      <a:endParaRPr lang="en-US" sz="10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7F187F"/>
                          </a:solidFill>
                          <a:latin typeface="Calibri" pitchFamily="34" charset="0"/>
                          <a:ea typeface="Calibri" pitchFamily="34" charset="-122"/>
                          <a:cs typeface="Calibri" pitchFamily="34" charset="-120"/>
                        </a:rPr>
                        <a:t>Wayfair</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3285B"/>
                          </a:solidFill>
                          <a:latin typeface="Calibri" pitchFamily="34" charset="0"/>
                          <a:ea typeface="Calibri" pitchFamily="34" charset="-122"/>
                          <a:cs typeface="Calibri" pitchFamily="34" charset="-120"/>
                        </a:rPr>
                        <a:t>8</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r>
              <a:tr h="356616">
                <a:tc vMerge="1">
                  <a:tcPr/>
                </a:tc>
                <a:tc>
                  <a:txBody>
                    <a:bodyPr/>
                    <a:lstStyle/>
                    <a:p>
                      <a:pPr indent="0" marL="0">
                        <a:buNone/>
                      </a:pPr>
                      <a:r>
                        <a:rPr lang="en-US" sz="1200" b="1" dirty="0">
                          <a:solidFill>
                            <a:srgbClr val="13285B"/>
                          </a:solidFill>
                          <a:latin typeface="Calibri" pitchFamily="34" charset="0"/>
                          <a:ea typeface="Calibri" pitchFamily="34" charset="-122"/>
                          <a:cs typeface="Calibri" pitchFamily="34" charset="-120"/>
                        </a:rPr>
                        <a:t>Lunch Bags &amp; Boxes</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indent="0" marL="0">
                        <a:buNone/>
                      </a:pPr>
                      <a:r>
                        <a:rPr lang="en-US" sz="1050" dirty="0">
                          <a:solidFill>
                            <a:srgbClr val="5B6475"/>
                          </a:solidFill>
                          <a:latin typeface="Calibri" pitchFamily="34" charset="0"/>
                          <a:ea typeface="Calibri" pitchFamily="34" charset="-122"/>
                          <a:cs typeface="Calibri" pitchFamily="34" charset="-120"/>
                        </a:rPr>
                        <a:t>Bags, Backpacks &amp; Luggage &gt; Totes &amp; Handbags</a:t>
                      </a:r>
                      <a:endParaRPr lang="en-US" sz="10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algn="ctr" indent="0" marL="0">
                        <a:buNone/>
                      </a:pPr>
                      <a:r>
                        <a:rPr lang="en-US" sz="1200" b="1" dirty="0">
                          <a:solidFill>
                            <a:srgbClr val="C45500"/>
                          </a:solidFill>
                          <a:latin typeface="Calibri" pitchFamily="34" charset="0"/>
                          <a:ea typeface="Calibri" pitchFamily="34" charset="-122"/>
                          <a:cs typeface="Calibri" pitchFamily="34" charset="-120"/>
                        </a:rPr>
                        <a:t>Amazon</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algn="ctr" indent="0" marL="0">
                        <a:buNone/>
                      </a:pPr>
                      <a:r>
                        <a:rPr lang="en-US" sz="1200" b="1" dirty="0">
                          <a:solidFill>
                            <a:srgbClr val="13285B"/>
                          </a:solidFill>
                          <a:latin typeface="Calibri" pitchFamily="34" charset="0"/>
                          <a:ea typeface="Calibri" pitchFamily="34" charset="-122"/>
                          <a:cs typeface="Calibri" pitchFamily="34" charset="-120"/>
                        </a:rPr>
                        <a:t>7</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r>
              <a:tr h="356616">
                <a:tc rowSpan="4">
                  <a:txBody>
                    <a:bodyPr/>
                    <a:lstStyle/>
                    <a:p>
                      <a:pPr algn="ctr" indent="0" marL="0">
                        <a:buNone/>
                      </a:pPr>
                      <a:r>
                        <a:rPr lang="en-US" sz="1300" b="1" dirty="0">
                          <a:solidFill>
                            <a:srgbClr val="13285B"/>
                          </a:solidFill>
                          <a:latin typeface="Calibri" pitchFamily="34" charset="0"/>
                          <a:ea typeface="Calibri" pitchFamily="34" charset="-122"/>
                          <a:cs typeface="Calibri" pitchFamily="34" charset="-120"/>
                        </a:rPr>
                        <a:t>Non-Hero</a:t>
                      </a:r>
                      <a:endParaRPr lang="en-US" sz="1300" dirty="0">
                        <a:latin typeface="Calibri" charset="0"/>
                        <a:ea typeface="Calibri" charset="0"/>
                        <a:cs typeface="Calibri" charset="0"/>
                      </a:endParaRPr>
                    </a:p>
                    <a:p>
                      <a:pPr algn="ctr" indent="0" marL="0">
                        <a:buNone/>
                      </a:pPr>
                      <a:r>
                        <a:rPr lang="en-US" sz="1300" b="1" dirty="0">
                          <a:solidFill>
                            <a:srgbClr val="13285B"/>
                          </a:solidFill>
                          <a:latin typeface="Calibri" pitchFamily="34" charset="0"/>
                          <a:ea typeface="Calibri" pitchFamily="34" charset="-122"/>
                          <a:cs typeface="Calibri" pitchFamily="34" charset="-120"/>
                        </a:rPr>
                        <a:t>EXPLORE</a:t>
                      </a:r>
                      <a:endParaRPr lang="en-US" sz="13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8FB0E8"/>
                    </a:solidFill>
                  </a:tcPr>
                </a:tc>
                <a:tc>
                  <a:txBody>
                    <a:bodyPr/>
                    <a:lstStyle/>
                    <a:p>
                      <a:pPr indent="0" marL="0">
                        <a:buNone/>
                      </a:pPr>
                      <a:r>
                        <a:rPr lang="en-US" sz="1200" b="1" dirty="0">
                          <a:solidFill>
                            <a:srgbClr val="13285B"/>
                          </a:solidFill>
                          <a:latin typeface="Calibri" pitchFamily="34" charset="0"/>
                          <a:ea typeface="Calibri" pitchFamily="34" charset="-122"/>
                          <a:cs typeface="Calibri" pitchFamily="34" charset="-120"/>
                        </a:rPr>
                        <a:t>Clocks &amp; Timers</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indent="0" marL="0">
                        <a:buNone/>
                      </a:pPr>
                      <a:r>
                        <a:rPr lang="en-US" sz="1050" dirty="0">
                          <a:solidFill>
                            <a:srgbClr val="5B6475"/>
                          </a:solidFill>
                          <a:latin typeface="Calibri" pitchFamily="34" charset="0"/>
                          <a:ea typeface="Calibri" pitchFamily="34" charset="-122"/>
                          <a:cs typeface="Calibri" pitchFamily="34" charset="-120"/>
                        </a:rPr>
                        <a:t>Furniture &gt; Decor</a:t>
                      </a:r>
                      <a:endParaRPr lang="en-US" sz="10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7F187F"/>
                          </a:solidFill>
                          <a:latin typeface="Calibri" pitchFamily="34" charset="0"/>
                          <a:ea typeface="Calibri" pitchFamily="34" charset="-122"/>
                          <a:cs typeface="Calibri" pitchFamily="34" charset="-120"/>
                        </a:rPr>
                        <a:t>Wayfair</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3285B"/>
                          </a:solidFill>
                          <a:latin typeface="Calibri" pitchFamily="34" charset="0"/>
                          <a:ea typeface="Calibri" pitchFamily="34" charset="-122"/>
                          <a:cs typeface="Calibri" pitchFamily="34" charset="-120"/>
                        </a:rPr>
                        <a:t>8</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r>
              <a:tr h="356616">
                <a:tc vMerge="1">
                  <a:tcPr/>
                </a:tc>
                <a:tc>
                  <a:txBody>
                    <a:bodyPr/>
                    <a:lstStyle/>
                    <a:p>
                      <a:pPr indent="0" marL="0">
                        <a:buNone/>
                      </a:pPr>
                      <a:r>
                        <a:rPr lang="en-US" sz="1200" b="1" dirty="0">
                          <a:solidFill>
                            <a:srgbClr val="13285B"/>
                          </a:solidFill>
                          <a:latin typeface="Calibri" pitchFamily="34" charset="0"/>
                          <a:ea typeface="Calibri" pitchFamily="34" charset="-122"/>
                          <a:cs typeface="Calibri" pitchFamily="34" charset="-120"/>
                        </a:rPr>
                        <a:t>Desk Pads</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indent="0" marL="0">
                        <a:buNone/>
                      </a:pPr>
                      <a:r>
                        <a:rPr lang="en-US" sz="1050" dirty="0">
                          <a:solidFill>
                            <a:srgbClr val="5B6475"/>
                          </a:solidFill>
                          <a:latin typeface="Calibri" pitchFamily="34" charset="0"/>
                          <a:ea typeface="Calibri" pitchFamily="34" charset="-122"/>
                          <a:cs typeface="Calibri" pitchFamily="34" charset="-120"/>
                        </a:rPr>
                        <a:t>Office Supplies &gt; Desk Organizers &amp; Accessories</a:t>
                      </a:r>
                      <a:endParaRPr lang="en-US" sz="10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algn="ctr" indent="0" marL="0">
                        <a:buNone/>
                      </a:pPr>
                      <a:r>
                        <a:rPr lang="en-US" sz="1200" b="1" dirty="0">
                          <a:solidFill>
                            <a:srgbClr val="C45500"/>
                          </a:solidFill>
                          <a:latin typeface="Calibri" pitchFamily="34" charset="0"/>
                          <a:ea typeface="Calibri" pitchFamily="34" charset="-122"/>
                          <a:cs typeface="Calibri" pitchFamily="34" charset="-120"/>
                        </a:rPr>
                        <a:t>Amazon</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algn="ctr" indent="0" marL="0">
                        <a:buNone/>
                      </a:pPr>
                      <a:r>
                        <a:rPr lang="en-US" sz="1200" b="1" dirty="0">
                          <a:solidFill>
                            <a:srgbClr val="13285B"/>
                          </a:solidFill>
                          <a:latin typeface="Calibri" pitchFamily="34" charset="0"/>
                          <a:ea typeface="Calibri" pitchFamily="34" charset="-122"/>
                          <a:cs typeface="Calibri" pitchFamily="34" charset="-120"/>
                        </a:rPr>
                        <a:t>3</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r>
              <a:tr h="356616">
                <a:tc vMerge="1">
                  <a:tcPr/>
                </a:tc>
                <a:tc>
                  <a:txBody>
                    <a:bodyPr/>
                    <a:lstStyle/>
                    <a:p>
                      <a:pPr indent="0" marL="0">
                        <a:buNone/>
                      </a:pPr>
                      <a:r>
                        <a:rPr lang="en-US" sz="1200" b="1" dirty="0">
                          <a:solidFill>
                            <a:srgbClr val="13285B"/>
                          </a:solidFill>
                          <a:latin typeface="Calibri" pitchFamily="34" charset="0"/>
                          <a:ea typeface="Calibri" pitchFamily="34" charset="-122"/>
                          <a:cs typeface="Calibri" pitchFamily="34" charset="-120"/>
                        </a:rPr>
                        <a:t>Coffee Organizers &amp; Dispensers</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indent="0" marL="0">
                        <a:buNone/>
                      </a:pPr>
                      <a:r>
                        <a:rPr lang="en-US" sz="1050" dirty="0">
                          <a:solidFill>
                            <a:srgbClr val="5B6475"/>
                          </a:solidFill>
                          <a:latin typeface="Calibri" pitchFamily="34" charset="0"/>
                          <a:ea typeface="Calibri" pitchFamily="34" charset="-122"/>
                          <a:cs typeface="Calibri" pitchFamily="34" charset="-120"/>
                        </a:rPr>
                        <a:t>Coffee, Water &amp; Snacks &gt; Coffee, Coffee Makers &amp; Supplies</a:t>
                      </a:r>
                      <a:endParaRPr lang="en-US" sz="10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C45500"/>
                          </a:solidFill>
                          <a:latin typeface="Calibri" pitchFamily="34" charset="0"/>
                          <a:ea typeface="Calibri" pitchFamily="34" charset="-122"/>
                          <a:cs typeface="Calibri" pitchFamily="34" charset="-120"/>
                        </a:rPr>
                        <a:t>Amazon</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3285B"/>
                          </a:solidFill>
                          <a:latin typeface="Calibri" pitchFamily="34" charset="0"/>
                          <a:ea typeface="Calibri" pitchFamily="34" charset="-122"/>
                          <a:cs typeface="Calibri" pitchFamily="34" charset="-120"/>
                        </a:rPr>
                        <a:t>4</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r>
              <a:tr h="356616">
                <a:tc vMerge="1">
                  <a:tcPr/>
                </a:tc>
                <a:tc>
                  <a:txBody>
                    <a:bodyPr/>
                    <a:lstStyle/>
                    <a:p>
                      <a:pPr indent="0" marL="0">
                        <a:buNone/>
                      </a:pPr>
                      <a:r>
                        <a:rPr lang="en-US" sz="1200" b="1" dirty="0">
                          <a:solidFill>
                            <a:srgbClr val="13285B"/>
                          </a:solidFill>
                          <a:latin typeface="Calibri" pitchFamily="34" charset="0"/>
                          <a:ea typeface="Calibri" pitchFamily="34" charset="-122"/>
                          <a:cs typeface="Calibri" pitchFamily="34" charset="-120"/>
                        </a:rPr>
                        <a:t>Office Partitions &amp; Dividers</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indent="0" marL="0">
                        <a:buNone/>
                      </a:pPr>
                      <a:r>
                        <a:rPr lang="en-US" sz="1050" dirty="0">
                          <a:solidFill>
                            <a:srgbClr val="5B6475"/>
                          </a:solidFill>
                          <a:latin typeface="Calibri" pitchFamily="34" charset="0"/>
                          <a:ea typeface="Calibri" pitchFamily="34" charset="-122"/>
                          <a:cs typeface="Calibri" pitchFamily="34" charset="-120"/>
                        </a:rPr>
                        <a:t>Furniture &gt; Cubicle &amp; Panel Systems</a:t>
                      </a:r>
                      <a:endParaRPr lang="en-US" sz="10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algn="ctr" indent="0" marL="0">
                        <a:buNone/>
                      </a:pPr>
                      <a:r>
                        <a:rPr lang="en-US" sz="1200" b="1" dirty="0">
                          <a:solidFill>
                            <a:srgbClr val="7F187F"/>
                          </a:solidFill>
                          <a:latin typeface="Calibri" pitchFamily="34" charset="0"/>
                          <a:ea typeface="Calibri" pitchFamily="34" charset="-122"/>
                          <a:cs typeface="Calibri" pitchFamily="34" charset="-120"/>
                        </a:rPr>
                        <a:t>Wayfair</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algn="ctr" indent="0" marL="0">
                        <a:buNone/>
                      </a:pPr>
                      <a:r>
                        <a:rPr lang="en-US" sz="1200" b="1" dirty="0">
                          <a:solidFill>
                            <a:srgbClr val="13285B"/>
                          </a:solidFill>
                          <a:latin typeface="Calibri" pitchFamily="34" charset="0"/>
                          <a:ea typeface="Calibri" pitchFamily="34" charset="-122"/>
                          <a:cs typeface="Calibri" pitchFamily="34" charset="-120"/>
                        </a:rPr>
                        <a:t>7</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r>
            </a:tbl>
          </a:graphicData>
        </a:graphic>
      </p:graphicFrame>
      <p:sp>
        <p:nvSpPr>
          <p:cNvPr id="4" name="Shape 1"/>
          <p:cNvSpPr/>
          <p:nvPr/>
        </p:nvSpPr>
        <p:spPr>
          <a:xfrm>
            <a:off x="411480" y="5943600"/>
            <a:ext cx="11365992" cy="384048"/>
          </a:xfrm>
          <a:prstGeom prst="roundRect">
            <a:avLst>
              <a:gd name="adj" fmla="val 19048"/>
            </a:avLst>
          </a:prstGeom>
          <a:solidFill>
            <a:srgbClr val="FFF4E0"/>
          </a:solidFill>
          <a:ln w="12700">
            <a:solidFill>
              <a:srgbClr val="F5A623"/>
            </a:solidFill>
            <a:prstDash val="solid"/>
          </a:ln>
        </p:spPr>
      </p:sp>
      <p:pic>
        <p:nvPicPr>
          <p:cNvPr id="5" name="Image 0" descr="preencoded.png">    </p:cNvPr>
          <p:cNvPicPr>
            <a:picLocks noChangeAspect="1"/>
          </p:cNvPicPr>
          <p:nvPr/>
        </p:nvPicPr>
        <p:blipFill>
          <a:blip r:embed="rId1"/>
          <a:stretch>
            <a:fillRect/>
          </a:stretch>
        </p:blipFill>
        <p:spPr>
          <a:xfrm>
            <a:off x="566928" y="6025896"/>
            <a:ext cx="219456" cy="219456"/>
          </a:xfrm>
          <a:prstGeom prst="rect">
            <a:avLst/>
          </a:prstGeom>
        </p:spPr>
      </p:pic>
      <p:sp>
        <p:nvSpPr>
          <p:cNvPr id="6" name="Text 2"/>
          <p:cNvSpPr txBox="1"/>
          <p:nvPr/>
        </p:nvSpPr>
        <p:spPr>
          <a:xfrm>
            <a:off x="914400" y="5943600"/>
            <a:ext cx="10698480" cy="384048"/>
          </a:xfrm>
          <a:prstGeom prst="rect">
            <a:avLst/>
          </a:prstGeom>
          <a:noFill/>
          <a:ln/>
        </p:spPr>
        <p:txBody>
          <a:bodyPr wrap="square" lIns="0" tIns="0" rIns="0" bIns="0" rtlCol="0" anchor="ctr"/>
          <a:lstStyle/>
          <a:p>
            <a:pPr indent="0" marL="0">
              <a:buNone/>
            </a:pPr>
            <a:r>
              <a:rPr lang="en-US" sz="1100" b="1" dirty="0">
                <a:solidFill>
                  <a:srgbClr val="8A5A00"/>
                </a:solidFill>
                <a:latin typeface="Calibri" pitchFamily="34" charset="0"/>
                <a:ea typeface="Calibri" pitchFamily="34" charset="-122"/>
                <a:cs typeface="Calibri" pitchFamily="34" charset="-120"/>
              </a:rPr>
              <a:t>Data disclaimer:  </a:t>
            </a:r>
            <a:pPr indent="0" marL="0">
              <a:buNone/>
            </a:pPr>
            <a:r>
              <a:rPr lang="en-US" sz="1100" dirty="0">
                <a:solidFill>
                  <a:srgbClr val="1F2937"/>
                </a:solidFill>
                <a:latin typeface="Calibri" pitchFamily="34" charset="0"/>
                <a:ea typeface="Calibri" pitchFamily="34" charset="-122"/>
                <a:cs typeface="Calibri" pitchFamily="34" charset="-120"/>
              </a:rPr>
              <a:t>competitor data are scraped listing samples, not full catalogs; Staples data are close to complete.</a:t>
            </a:r>
            <a:endParaRPr lang="en-US" sz="1100" dirty="0"/>
          </a:p>
        </p:txBody>
      </p:sp>
      <p:sp>
        <p:nvSpPr>
          <p:cNvPr id="25" name="Slide Number Placeholder 0"/>
          <p:cNvSpPr>
            <a:spLocks noGrp="1"/>
          </p:cNvSpPr>
          <p:nvPr>
            <p:ph type="sldNum" sz="quarter" idx="4294967295"/>
          </p:nvPr>
        </p:nvSpPr>
        <p:spPr>
          <a:xfrm>
            <a:off x="11320272" y="6510528"/>
            <a:ext cx="457200" cy="237744"/>
          </a:xfrm>
          <a:prstGeom prst="rect">
            <a:avLst/>
          </a:prstGeom>
          <a:extLst>
            <a:ext uri="{C572A759-6A51-4108-AA02-DFA0A04FC94B}">
              <ma14:wrappingTextBoxFlag xmlns:ma14="http://schemas.microsoft.com/office/mac/drawingml/2011/main" val="0"/>
            </a:ext>
          </a:extLst>
        </p:spPr>
        <p:txBody>
          <a:bodyPr/>
          <a:lstStyle>
            <a:lvl1pPr>
              <a:defRPr sz="900">
                <a:solidFill>
                  <a:srgbClr val="7A8599"/>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3"/>
          <p:cNvSpPr/>
          <p:nvPr>
            <p:ph idx="103" type="title" hasCustomPrompt="1"/>
          </p:nvPr>
        </p:nvSpPr>
        <p:spPr>
          <a:xfrm>
            <a:off x="411480" y="219456"/>
            <a:ext cx="11365992" cy="658368"/>
          </a:xfrm>
          <a:prstGeom prst="rect">
            <a:avLst/>
          </a:prstGeom>
          <a:noFill/>
          <a:ln/>
        </p:spPr>
        <p:txBody>
          <a:bodyPr wrap="square" lIns="0" tIns="0" rIns="0" bIns="0" rtlCol="0" anchor="ctr"/>
          <a:lstStyle/>
          <a:p>
            <a:pPr algn="l" indent="0" marL="0">
              <a:buNone/>
            </a:pPr>
            <a:r>
              <a:rPr lang="en-US" sz="2800" b="1" dirty="0">
                <a:solidFill>
                  <a:srgbClr val="1F4E9A"/>
                </a:solidFill>
                <a:latin typeface="Calibri" pitchFamily="34" charset="0"/>
                <a:ea typeface="Calibri" pitchFamily="34" charset="-122"/>
                <a:cs typeface="Calibri" pitchFamily="34" charset="-120"/>
              </a:rPr>
              <a:t>Demo</a:t>
            </a:r>
            <a:endParaRPr lang="en-US" sz="2800" dirty="0"/>
          </a:p>
        </p:txBody>
      </p:sp>
      <p:pic>
        <p:nvPicPr>
          <p:cNvPr id="3" name="Image 0" descr="preencoded.png">    </p:cNvPr>
          <p:cNvPicPr>
            <a:picLocks noChangeAspect="1"/>
          </p:cNvPicPr>
          <p:nvPr/>
        </p:nvPicPr>
        <p:blipFill>
          <a:blip r:embed="rId1"/>
          <a:stretch>
            <a:fillRect/>
          </a:stretch>
        </p:blipFill>
        <p:spPr>
          <a:xfrm>
            <a:off x="5641848" y="1828800"/>
            <a:ext cx="914400" cy="914400"/>
          </a:xfrm>
          <a:prstGeom prst="rect">
            <a:avLst/>
          </a:prstGeom>
        </p:spPr>
      </p:pic>
      <p:sp>
        <p:nvSpPr>
          <p:cNvPr id="4" name="Text 1"/>
          <p:cNvSpPr txBox="1"/>
          <p:nvPr/>
        </p:nvSpPr>
        <p:spPr>
          <a:xfrm>
            <a:off x="411480" y="2880360"/>
            <a:ext cx="11365992" cy="731520"/>
          </a:xfrm>
          <a:prstGeom prst="rect">
            <a:avLst/>
          </a:prstGeom>
          <a:noFill/>
          <a:ln/>
        </p:spPr>
        <p:txBody>
          <a:bodyPr wrap="square" lIns="0" tIns="0" rIns="0" bIns="0" rtlCol="0" anchor="ctr"/>
          <a:lstStyle/>
          <a:p>
            <a:pPr algn="ctr" indent="0" marL="0">
              <a:buNone/>
            </a:pPr>
            <a:r>
              <a:rPr lang="en-US" sz="4000" b="1" dirty="0">
                <a:solidFill>
                  <a:srgbClr val="13285B"/>
                </a:solidFill>
                <a:latin typeface="Calibri" pitchFamily="34" charset="0"/>
                <a:ea typeface="Calibri" pitchFamily="34" charset="-122"/>
                <a:cs typeface="Calibri" pitchFamily="34" charset="-120"/>
              </a:rPr>
              <a:t>Live Demo</a:t>
            </a:r>
            <a:endParaRPr lang="en-US" sz="4000" dirty="0"/>
          </a:p>
        </p:txBody>
      </p:sp>
      <p:sp>
        <p:nvSpPr>
          <p:cNvPr id="5" name="Shape 2"/>
          <p:cNvSpPr/>
          <p:nvPr/>
        </p:nvSpPr>
        <p:spPr>
          <a:xfrm>
            <a:off x="3355848" y="3886200"/>
            <a:ext cx="5486400" cy="640080"/>
          </a:xfrm>
          <a:prstGeom prst="roundRect">
            <a:avLst>
              <a:gd name="adj" fmla="val 14286"/>
            </a:avLst>
          </a:prstGeom>
          <a:solidFill>
            <a:srgbClr val="EEF3FB"/>
          </a:solidFill>
          <a:ln w="9525">
            <a:solidFill>
              <a:srgbClr val="8FB0E8"/>
            </a:solidFill>
            <a:prstDash val="dash"/>
          </a:ln>
        </p:spPr>
      </p:sp>
      <p:pic>
        <p:nvPicPr>
          <p:cNvPr id="6" name="Image 1" descr="preencoded.png">    </p:cNvPr>
          <p:cNvPicPr>
            <a:picLocks noChangeAspect="1"/>
          </p:cNvPicPr>
          <p:nvPr/>
        </p:nvPicPr>
        <p:blipFill>
          <a:blip r:embed="rId2"/>
          <a:stretch>
            <a:fillRect/>
          </a:stretch>
        </p:blipFill>
        <p:spPr>
          <a:xfrm>
            <a:off x="3611880" y="4059936"/>
            <a:ext cx="292608" cy="292608"/>
          </a:xfrm>
          <a:prstGeom prst="rect">
            <a:avLst/>
          </a:prstGeom>
        </p:spPr>
      </p:pic>
      <p:sp>
        <p:nvSpPr>
          <p:cNvPr id="7" name="Text 3"/>
          <p:cNvSpPr txBox="1"/>
          <p:nvPr/>
        </p:nvSpPr>
        <p:spPr>
          <a:xfrm>
            <a:off x="4069080" y="3886200"/>
            <a:ext cx="4572000" cy="640080"/>
          </a:xfrm>
          <a:prstGeom prst="rect">
            <a:avLst/>
          </a:prstGeom>
          <a:noFill/>
          <a:ln/>
        </p:spPr>
        <p:txBody>
          <a:bodyPr wrap="square" lIns="0" tIns="0" rIns="0" bIns="0" rtlCol="0" anchor="ctr"/>
          <a:lstStyle/>
          <a:p>
            <a:pPr indent="0" marL="0">
              <a:buNone/>
            </a:pPr>
            <a:r>
              <a:rPr lang="en-US" sz="1800" dirty="0">
                <a:solidFill>
                  <a:srgbClr val="2F6FD0"/>
                </a:solidFill>
                <a:latin typeface="Calibri" pitchFamily="34" charset="0"/>
                <a:ea typeface="Calibri" pitchFamily="34" charset="-122"/>
                <a:cs typeface="Calibri" pitchFamily="34" charset="-120"/>
              </a:rPr>
              <a:t>Link: [to be added]</a:t>
            </a:r>
            <a:endParaRPr lang="en-US" sz="1800" dirty="0"/>
          </a:p>
        </p:txBody>
      </p:sp>
      <p:sp>
        <p:nvSpPr>
          <p:cNvPr id="25" name="Slide Number Placeholder 0"/>
          <p:cNvSpPr>
            <a:spLocks noGrp="1"/>
          </p:cNvSpPr>
          <p:nvPr>
            <p:ph type="sldNum" sz="quarter" idx="4294967295"/>
          </p:nvPr>
        </p:nvSpPr>
        <p:spPr>
          <a:xfrm>
            <a:off x="11320272" y="6510528"/>
            <a:ext cx="457200" cy="237744"/>
          </a:xfrm>
          <a:prstGeom prst="rect">
            <a:avLst/>
          </a:prstGeom>
          <a:extLst>
            <a:ext uri="{C572A759-6A51-4108-AA02-DFA0A04FC94B}">
              <ma14:wrappingTextBoxFlag xmlns:ma14="http://schemas.microsoft.com/office/mac/drawingml/2011/main" val="0"/>
            </a:ext>
          </a:extLst>
        </p:spPr>
        <p:txBody>
          <a:bodyPr/>
          <a:lstStyle>
            <a:lvl1pPr>
              <a:defRPr sz="900">
                <a:solidFill>
                  <a:srgbClr val="7A8599"/>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3"/>
          <p:cNvSpPr/>
          <p:nvPr>
            <p:ph idx="103" type="title" hasCustomPrompt="1"/>
          </p:nvPr>
        </p:nvSpPr>
        <p:spPr>
          <a:xfrm>
            <a:off x="411480" y="219456"/>
            <a:ext cx="11365992" cy="658368"/>
          </a:xfrm>
          <a:prstGeom prst="rect">
            <a:avLst/>
          </a:prstGeom>
          <a:noFill/>
          <a:ln/>
        </p:spPr>
        <p:txBody>
          <a:bodyPr wrap="square" lIns="0" tIns="0" rIns="0" bIns="0" rtlCol="0" anchor="ctr"/>
          <a:lstStyle/>
          <a:p>
            <a:pPr algn="l" indent="0" marL="0">
              <a:buNone/>
            </a:pPr>
            <a:r>
              <a:rPr lang="en-US" sz="2800" b="1" dirty="0">
                <a:solidFill>
                  <a:srgbClr val="1F4E9A"/>
                </a:solidFill>
                <a:latin typeface="Calibri" pitchFamily="34" charset="0"/>
                <a:ea typeface="Calibri" pitchFamily="34" charset="-122"/>
                <a:cs typeface="Calibri" pitchFamily="34" charset="-120"/>
              </a:rPr>
              <a:t>The PoC Engine on Staples Data</a:t>
            </a:r>
            <a:endParaRPr lang="en-US" sz="2800" dirty="0"/>
          </a:p>
        </p:txBody>
      </p:sp>
      <p:sp>
        <p:nvSpPr>
          <p:cNvPr id="3" name="Shape 1"/>
          <p:cNvSpPr/>
          <p:nvPr/>
        </p:nvSpPr>
        <p:spPr>
          <a:xfrm>
            <a:off x="411480" y="1078992"/>
            <a:ext cx="11365992" cy="347472"/>
          </a:xfrm>
          <a:prstGeom prst="roundRect">
            <a:avLst>
              <a:gd name="adj" fmla="val 21053"/>
            </a:avLst>
          </a:prstGeom>
          <a:solidFill>
            <a:srgbClr val="EEF3FB"/>
          </a:solidFill>
          <a:ln w="12700">
            <a:solidFill>
              <a:srgbClr val="EEF3FB"/>
            </a:solidFill>
            <a:prstDash val="solid"/>
          </a:ln>
        </p:spPr>
      </p:sp>
      <p:sp>
        <p:nvSpPr>
          <p:cNvPr id="4" name="Text 2"/>
          <p:cNvSpPr txBox="1"/>
          <p:nvPr/>
        </p:nvSpPr>
        <p:spPr>
          <a:xfrm>
            <a:off x="548640" y="1078992"/>
            <a:ext cx="11091672" cy="347472"/>
          </a:xfrm>
          <a:prstGeom prst="rect">
            <a:avLst/>
          </a:prstGeom>
          <a:noFill/>
          <a:ln/>
        </p:spPr>
        <p:txBody>
          <a:bodyPr wrap="square" lIns="0" tIns="0" rIns="0" bIns="0" rtlCol="0" anchor="ctr"/>
          <a:lstStyle/>
          <a:p>
            <a:pPr algn="ctr" indent="0" marL="0">
              <a:buNone/>
            </a:pPr>
            <a:r>
              <a:rPr lang="en-US" sz="1150" dirty="0">
                <a:solidFill>
                  <a:srgbClr val="1F2937"/>
                </a:solidFill>
                <a:latin typeface="Calibri" pitchFamily="34" charset="0"/>
                <a:ea typeface="Calibri" pitchFamily="34" charset="-122"/>
                <a:cs typeface="Calibri" pitchFamily="34" charset="-120"/>
              </a:rPr>
              <a:t>The same Assortment Gap &amp; Recommendation analysis, powered by </a:t>
            </a:r>
            <a:pPr algn="ctr" indent="0" marL="0">
              <a:buNone/>
            </a:pPr>
            <a:r>
              <a:rPr lang="en-US" sz="1150" b="1" dirty="0">
                <a:solidFill>
                  <a:srgbClr val="13285B"/>
                </a:solidFill>
                <a:latin typeface="Calibri" pitchFamily="34" charset="0"/>
                <a:ea typeface="Calibri" pitchFamily="34" charset="-122"/>
                <a:cs typeface="Calibri" pitchFamily="34" charset="-120"/>
              </a:rPr>
              <a:t>real demand</a:t>
            </a:r>
            <a:pPr algn="ctr" indent="0" marL="0">
              <a:buNone/>
            </a:pPr>
            <a:r>
              <a:rPr lang="en-US" sz="1150" dirty="0">
                <a:solidFill>
                  <a:srgbClr val="1F2937"/>
                </a:solidFill>
                <a:latin typeface="Calibri" pitchFamily="34" charset="0"/>
                <a:ea typeface="Calibri" pitchFamily="34" charset="-122"/>
                <a:cs typeface="Calibri" pitchFamily="34" charset="-120"/>
              </a:rPr>
              <a:t>, </a:t>
            </a:r>
            <a:pPr algn="ctr" indent="0" marL="0">
              <a:buNone/>
            </a:pPr>
            <a:r>
              <a:rPr lang="en-US" sz="1150" b="1" dirty="0">
                <a:solidFill>
                  <a:srgbClr val="13285B"/>
                </a:solidFill>
                <a:latin typeface="Calibri" pitchFamily="34" charset="0"/>
                <a:ea typeface="Calibri" pitchFamily="34" charset="-122"/>
                <a:cs typeface="Calibri" pitchFamily="34" charset="-120"/>
              </a:rPr>
              <a:t>Staples' own data</a:t>
            </a:r>
            <a:pPr algn="ctr" indent="0" marL="0">
              <a:buNone/>
            </a:pPr>
            <a:r>
              <a:rPr lang="en-US" sz="1150" dirty="0">
                <a:solidFill>
                  <a:srgbClr val="1F2937"/>
                </a:solidFill>
                <a:latin typeface="Calibri" pitchFamily="34" charset="0"/>
                <a:ea typeface="Calibri" pitchFamily="34" charset="-122"/>
                <a:cs typeface="Calibri" pitchFamily="34" charset="-120"/>
              </a:rPr>
              <a:t> and </a:t>
            </a:r>
            <a:pPr algn="ctr" indent="0" marL="0">
              <a:buNone/>
            </a:pPr>
            <a:r>
              <a:rPr lang="en-US" sz="1150" b="1" dirty="0">
                <a:solidFill>
                  <a:srgbClr val="13285B"/>
                </a:solidFill>
                <a:latin typeface="Calibri" pitchFamily="34" charset="0"/>
                <a:ea typeface="Calibri" pitchFamily="34" charset="-122"/>
                <a:cs typeface="Calibri" pitchFamily="34" charset="-120"/>
              </a:rPr>
              <a:t>merchant-set thresholds</a:t>
            </a:r>
            <a:pPr algn="ctr" indent="0" marL="0">
              <a:buNone/>
            </a:pPr>
            <a:r>
              <a:rPr lang="en-US" sz="1150" dirty="0">
                <a:solidFill>
                  <a:srgbClr val="1F2937"/>
                </a:solidFill>
                <a:latin typeface="Calibri" pitchFamily="34" charset="0"/>
                <a:ea typeface="Calibri" pitchFamily="34" charset="-122"/>
                <a:cs typeface="Calibri" pitchFamily="34" charset="-120"/>
              </a:rPr>
              <a:t>.</a:t>
            </a:r>
            <a:endParaRPr lang="en-US" sz="1200" dirty="0"/>
          </a:p>
        </p:txBody>
      </p:sp>
      <p:sp>
        <p:nvSpPr>
          <p:cNvPr id="5" name="Shape 3"/>
          <p:cNvSpPr/>
          <p:nvPr/>
        </p:nvSpPr>
        <p:spPr>
          <a:xfrm>
            <a:off x="411480" y="1737360"/>
            <a:ext cx="2083003" cy="713232"/>
          </a:xfrm>
          <a:prstGeom prst="roundRect">
            <a:avLst>
              <a:gd name="adj" fmla="val 10256"/>
            </a:avLst>
          </a:prstGeom>
          <a:solidFill>
            <a:srgbClr val="1F4E9A"/>
          </a:solidFill>
          <a:ln w="12700">
            <a:solidFill>
              <a:srgbClr val="1F4E9A"/>
            </a:solidFill>
            <a:prstDash val="solid"/>
          </a:ln>
        </p:spPr>
      </p:sp>
      <p:pic>
        <p:nvPicPr>
          <p:cNvPr id="6" name="Image 0" descr="preencoded.png">    </p:cNvPr>
          <p:cNvPicPr>
            <a:picLocks noChangeAspect="1"/>
          </p:cNvPicPr>
          <p:nvPr/>
        </p:nvPicPr>
        <p:blipFill>
          <a:blip r:embed="rId1"/>
          <a:stretch>
            <a:fillRect/>
          </a:stretch>
        </p:blipFill>
        <p:spPr>
          <a:xfrm>
            <a:off x="521208" y="1920240"/>
            <a:ext cx="347472" cy="347472"/>
          </a:xfrm>
          <a:prstGeom prst="rect">
            <a:avLst/>
          </a:prstGeom>
        </p:spPr>
      </p:pic>
      <p:sp>
        <p:nvSpPr>
          <p:cNvPr id="7" name="Text 4"/>
          <p:cNvSpPr txBox="1"/>
          <p:nvPr/>
        </p:nvSpPr>
        <p:spPr>
          <a:xfrm>
            <a:off x="960120" y="1792224"/>
            <a:ext cx="1461211" cy="219456"/>
          </a:xfrm>
          <a:prstGeom prst="rect">
            <a:avLst/>
          </a:prstGeom>
          <a:noFill/>
          <a:ln/>
        </p:spPr>
        <p:txBody>
          <a:bodyPr wrap="square" lIns="0" tIns="0" rIns="0" bIns="0" rtlCol="0" anchor="t"/>
          <a:lstStyle/>
          <a:p>
            <a:pPr indent="0" marL="0">
              <a:buNone/>
            </a:pPr>
            <a:r>
              <a:rPr lang="en-US" sz="1050" b="1" spc="100" kern="0" dirty="0">
                <a:solidFill>
                  <a:srgbClr val="F5A623"/>
                </a:solidFill>
                <a:latin typeface="Calibri" pitchFamily="34" charset="0"/>
                <a:ea typeface="Calibri" pitchFamily="34" charset="-122"/>
                <a:cs typeface="Calibri" pitchFamily="34" charset="-120"/>
              </a:rPr>
              <a:t>1 · PRIORITISE</a:t>
            </a:r>
            <a:endParaRPr lang="en-US" sz="1050" dirty="0"/>
          </a:p>
        </p:txBody>
      </p:sp>
      <p:sp>
        <p:nvSpPr>
          <p:cNvPr id="8" name="Text 5"/>
          <p:cNvSpPr txBox="1"/>
          <p:nvPr/>
        </p:nvSpPr>
        <p:spPr>
          <a:xfrm>
            <a:off x="960120" y="2011680"/>
            <a:ext cx="1461211" cy="402336"/>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Demand &amp; segment prioritisation</a:t>
            </a:r>
            <a:endParaRPr lang="en-US" sz="1100" dirty="0"/>
          </a:p>
        </p:txBody>
      </p:sp>
      <p:sp>
        <p:nvSpPr>
          <p:cNvPr id="9" name="Shape 6"/>
          <p:cNvSpPr/>
          <p:nvPr/>
        </p:nvSpPr>
        <p:spPr>
          <a:xfrm>
            <a:off x="411480" y="2505456"/>
            <a:ext cx="2083003" cy="3401568"/>
          </a:xfrm>
          <a:prstGeom prst="roundRect">
            <a:avLst>
              <a:gd name="adj" fmla="val 3512"/>
            </a:avLst>
          </a:prstGeom>
          <a:solidFill>
            <a:srgbClr val="FFFFFF"/>
          </a:solidFill>
          <a:ln w="9525">
            <a:solidFill>
              <a:srgbClr val="C9D3E3"/>
            </a:solidFill>
            <a:prstDash val="solid"/>
          </a:ln>
        </p:spPr>
      </p:sp>
      <p:sp>
        <p:nvSpPr>
          <p:cNvPr id="10" name="Text 7"/>
          <p:cNvSpPr txBox="1"/>
          <p:nvPr/>
        </p:nvSpPr>
        <p:spPr>
          <a:xfrm>
            <a:off x="521208" y="2578608"/>
            <a:ext cx="1863547" cy="384048"/>
          </a:xfrm>
          <a:prstGeom prst="rect">
            <a:avLst/>
          </a:prstGeom>
          <a:noFill/>
          <a:ln/>
        </p:spPr>
        <p:txBody>
          <a:bodyPr wrap="square" lIns="0" tIns="0" rIns="0" bIns="0" rtlCol="0" anchor="ctr"/>
          <a:lstStyle/>
          <a:p>
            <a:pPr indent="0" marL="0">
              <a:buNone/>
            </a:pPr>
            <a:r>
              <a:rPr lang="en-US" sz="1000" b="1" i="1" dirty="0">
                <a:solidFill>
                  <a:srgbClr val="2F6FD0"/>
                </a:solidFill>
                <a:latin typeface="Calibri" pitchFamily="34" charset="0"/>
                <a:ea typeface="Calibri" pitchFamily="34" charset="-122"/>
                <a:cs typeface="Calibri" pitchFamily="34" charset="-120"/>
              </a:rPr>
              <a:t>Which gaps will sell, and to whom?</a:t>
            </a:r>
            <a:endParaRPr lang="en-US" sz="1000" dirty="0"/>
          </a:p>
        </p:txBody>
      </p:sp>
      <p:sp>
        <p:nvSpPr>
          <p:cNvPr id="11" name="Text 8"/>
          <p:cNvSpPr txBox="1"/>
          <p:nvPr/>
        </p:nvSpPr>
        <p:spPr>
          <a:xfrm>
            <a:off x="502920" y="3017520"/>
            <a:ext cx="1918411" cy="1463040"/>
          </a:xfrm>
          <a:prstGeom prst="rect">
            <a:avLst/>
          </a:prstGeom>
          <a:noFill/>
          <a:ln/>
        </p:spPr>
        <p:txBody>
          <a:bodyPr wrap="square" lIns="0" tIns="0" rIns="0" bIns="0" rtlCol="0" anchor="t"/>
          <a:lstStyle/>
          <a:p>
            <a:pPr marL="114300" indent="-1143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Link sales, traffic &amp; search to each archetype</a:t>
            </a:r>
            <a:endParaRPr lang="en-US" sz="950" dirty="0"/>
          </a:p>
          <a:p>
            <a:pPr marL="114300" indent="-1143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Profile buyers: B2B vs B2C, RFM, basket mix</a:t>
            </a:r>
            <a:endParaRPr lang="en-US" sz="950" dirty="0"/>
          </a:p>
          <a:p>
            <a:pPr marL="114300" indent="-1143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Re-rank add-lists by expected GMV &amp; commission</a:t>
            </a:r>
            <a:endParaRPr lang="en-US" sz="950" dirty="0"/>
          </a:p>
        </p:txBody>
      </p:sp>
      <p:sp>
        <p:nvSpPr>
          <p:cNvPr id="12" name="Shape 9"/>
          <p:cNvSpPr/>
          <p:nvPr/>
        </p:nvSpPr>
        <p:spPr>
          <a:xfrm>
            <a:off x="484632" y="4517136"/>
            <a:ext cx="1936699" cy="566928"/>
          </a:xfrm>
          <a:prstGeom prst="roundRect">
            <a:avLst>
              <a:gd name="adj" fmla="val 9677"/>
            </a:avLst>
          </a:prstGeom>
          <a:solidFill>
            <a:srgbClr val="EEF3FB"/>
          </a:solidFill>
          <a:ln w="12700">
            <a:solidFill>
              <a:srgbClr val="EEF3FB"/>
            </a:solidFill>
            <a:prstDash val="solid"/>
          </a:ln>
        </p:spPr>
      </p:sp>
      <p:sp>
        <p:nvSpPr>
          <p:cNvPr id="13" name="Text 10"/>
          <p:cNvSpPr txBox="1"/>
          <p:nvPr/>
        </p:nvSpPr>
        <p:spPr>
          <a:xfrm>
            <a:off x="557784" y="4562856"/>
            <a:ext cx="1808683" cy="164592"/>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STAPLES DATA</a:t>
            </a:r>
            <a:endParaRPr lang="en-US" sz="750" dirty="0"/>
          </a:p>
        </p:txBody>
      </p:sp>
      <p:sp>
        <p:nvSpPr>
          <p:cNvPr id="14" name="Text 11"/>
          <p:cNvSpPr txBox="1"/>
          <p:nvPr/>
        </p:nvSpPr>
        <p:spPr>
          <a:xfrm>
            <a:off x="557784" y="4718304"/>
            <a:ext cx="1808683" cy="347472"/>
          </a:xfrm>
          <a:prstGeom prst="rect">
            <a:avLst/>
          </a:prstGeom>
          <a:noFill/>
          <a:ln/>
        </p:spPr>
        <p:txBody>
          <a:bodyPr wrap="square" lIns="0" tIns="0" rIns="0" bIns="0" rtlCol="0" anchor="t"/>
          <a:lstStyle/>
          <a:p>
            <a:pPr indent="0" marL="0">
              <a:buNone/>
            </a:pPr>
            <a:r>
              <a:rPr lang="en-US" sz="950" b="1" dirty="0">
                <a:solidFill>
                  <a:srgbClr val="2F6FD0"/>
                </a:solidFill>
                <a:latin typeface="Calibri" pitchFamily="34" charset="0"/>
                <a:ea typeface="Calibri" pitchFamily="34" charset="-122"/>
                <a:cs typeface="Calibri" pitchFamily="34" charset="-120"/>
              </a:rPr>
              <a:t>Sales · traffic · customers</a:t>
            </a:r>
            <a:endParaRPr lang="en-US" sz="950" dirty="0"/>
          </a:p>
        </p:txBody>
      </p:sp>
      <p:sp>
        <p:nvSpPr>
          <p:cNvPr id="15" name="Shape 12"/>
          <p:cNvSpPr/>
          <p:nvPr/>
        </p:nvSpPr>
        <p:spPr>
          <a:xfrm>
            <a:off x="484632" y="5157216"/>
            <a:ext cx="1936699" cy="676656"/>
          </a:xfrm>
          <a:prstGeom prst="roundRect">
            <a:avLst>
              <a:gd name="adj" fmla="val 8108"/>
            </a:avLst>
          </a:prstGeom>
          <a:solidFill>
            <a:srgbClr val="DCE7F8"/>
          </a:solidFill>
          <a:ln w="12700">
            <a:solidFill>
              <a:srgbClr val="DCE7F8"/>
            </a:solidFill>
            <a:prstDash val="solid"/>
          </a:ln>
        </p:spPr>
      </p:sp>
      <p:sp>
        <p:nvSpPr>
          <p:cNvPr id="16" name="Text 13"/>
          <p:cNvSpPr txBox="1"/>
          <p:nvPr/>
        </p:nvSpPr>
        <p:spPr>
          <a:xfrm>
            <a:off x="557784" y="5202936"/>
            <a:ext cx="1808683" cy="164592"/>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OUTCOME</a:t>
            </a:r>
            <a:endParaRPr lang="en-US" sz="750" dirty="0"/>
          </a:p>
        </p:txBody>
      </p:sp>
      <p:sp>
        <p:nvSpPr>
          <p:cNvPr id="17" name="Text 14"/>
          <p:cNvSpPr txBox="1"/>
          <p:nvPr/>
        </p:nvSpPr>
        <p:spPr>
          <a:xfrm>
            <a:off x="557784" y="5358384"/>
            <a:ext cx="1808683" cy="438912"/>
          </a:xfrm>
          <a:prstGeom prst="rect">
            <a:avLst/>
          </a:prstGeom>
          <a:noFill/>
          <a:ln/>
        </p:spPr>
        <p:txBody>
          <a:bodyPr wrap="square" lIns="0" tIns="0" rIns="0" bIns="0" rtlCol="0" anchor="t"/>
          <a:lstStyle/>
          <a:p>
            <a:pPr indent="0" marL="0">
              <a:buNone/>
            </a:pPr>
            <a:r>
              <a:rPr lang="en-US" sz="1050" b="1" dirty="0">
                <a:solidFill>
                  <a:srgbClr val="13285B"/>
                </a:solidFill>
                <a:latin typeface="Calibri" pitchFamily="34" charset="0"/>
                <a:ea typeface="Calibri" pitchFamily="34" charset="-122"/>
                <a:cs typeface="Calibri" pitchFamily="34" charset="-120"/>
              </a:rPr>
              <a:t>Revenue-ranked add-list per segment</a:t>
            </a:r>
            <a:endParaRPr lang="en-US" sz="1050" dirty="0"/>
          </a:p>
        </p:txBody>
      </p:sp>
      <p:sp>
        <p:nvSpPr>
          <p:cNvPr id="18" name="Shape 15"/>
          <p:cNvSpPr/>
          <p:nvPr/>
        </p:nvSpPr>
        <p:spPr>
          <a:xfrm>
            <a:off x="2732227" y="1737360"/>
            <a:ext cx="2083003" cy="713232"/>
          </a:xfrm>
          <a:prstGeom prst="roundRect">
            <a:avLst>
              <a:gd name="adj" fmla="val 10256"/>
            </a:avLst>
          </a:prstGeom>
          <a:solidFill>
            <a:srgbClr val="1F4E9A"/>
          </a:solidFill>
          <a:ln w="12700">
            <a:solidFill>
              <a:srgbClr val="1F4E9A"/>
            </a:solidFill>
            <a:prstDash val="solid"/>
          </a:ln>
        </p:spPr>
      </p:sp>
      <p:pic>
        <p:nvPicPr>
          <p:cNvPr id="19" name="Image 1" descr="preencoded.png">    </p:cNvPr>
          <p:cNvPicPr>
            <a:picLocks noChangeAspect="1"/>
          </p:cNvPicPr>
          <p:nvPr/>
        </p:nvPicPr>
        <p:blipFill>
          <a:blip r:embed="rId2"/>
          <a:stretch>
            <a:fillRect/>
          </a:stretch>
        </p:blipFill>
        <p:spPr>
          <a:xfrm>
            <a:off x="2841955" y="1920240"/>
            <a:ext cx="347472" cy="347472"/>
          </a:xfrm>
          <a:prstGeom prst="rect">
            <a:avLst/>
          </a:prstGeom>
        </p:spPr>
      </p:pic>
      <p:sp>
        <p:nvSpPr>
          <p:cNvPr id="20" name="Text 16"/>
          <p:cNvSpPr txBox="1"/>
          <p:nvPr/>
        </p:nvSpPr>
        <p:spPr>
          <a:xfrm>
            <a:off x="3280867" y="1792224"/>
            <a:ext cx="1461211" cy="219456"/>
          </a:xfrm>
          <a:prstGeom prst="rect">
            <a:avLst/>
          </a:prstGeom>
          <a:noFill/>
          <a:ln/>
        </p:spPr>
        <p:txBody>
          <a:bodyPr wrap="square" lIns="0" tIns="0" rIns="0" bIns="0" rtlCol="0" anchor="t"/>
          <a:lstStyle/>
          <a:p>
            <a:pPr indent="0" marL="0">
              <a:buNone/>
            </a:pPr>
            <a:r>
              <a:rPr lang="en-US" sz="1050" b="1" spc="100" kern="0" dirty="0">
                <a:solidFill>
                  <a:srgbClr val="F5A623"/>
                </a:solidFill>
                <a:latin typeface="Calibri" pitchFamily="34" charset="0"/>
                <a:ea typeface="Calibri" pitchFamily="34" charset="-122"/>
                <a:cs typeface="Calibri" pitchFamily="34" charset="-120"/>
              </a:rPr>
              <a:t>2 · PROTECT</a:t>
            </a:r>
            <a:endParaRPr lang="en-US" sz="1050" dirty="0"/>
          </a:p>
        </p:txBody>
      </p:sp>
      <p:sp>
        <p:nvSpPr>
          <p:cNvPr id="21" name="Text 17"/>
          <p:cNvSpPr txBox="1"/>
          <p:nvPr/>
        </p:nvSpPr>
        <p:spPr>
          <a:xfrm>
            <a:off x="3280867" y="2011680"/>
            <a:ext cx="1461211" cy="402336"/>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Cannibalisation &amp; threshold tuning</a:t>
            </a:r>
            <a:endParaRPr lang="en-US" sz="1100" dirty="0"/>
          </a:p>
        </p:txBody>
      </p:sp>
      <p:sp>
        <p:nvSpPr>
          <p:cNvPr id="22" name="Shape 18"/>
          <p:cNvSpPr/>
          <p:nvPr/>
        </p:nvSpPr>
        <p:spPr>
          <a:xfrm>
            <a:off x="2732227" y="2505456"/>
            <a:ext cx="2083003" cy="3401568"/>
          </a:xfrm>
          <a:prstGeom prst="roundRect">
            <a:avLst>
              <a:gd name="adj" fmla="val 3512"/>
            </a:avLst>
          </a:prstGeom>
          <a:solidFill>
            <a:srgbClr val="FFFFFF"/>
          </a:solidFill>
          <a:ln w="9525">
            <a:solidFill>
              <a:srgbClr val="C9D3E3"/>
            </a:solidFill>
            <a:prstDash val="solid"/>
          </a:ln>
        </p:spPr>
      </p:sp>
      <p:sp>
        <p:nvSpPr>
          <p:cNvPr id="23" name="Text 19"/>
          <p:cNvSpPr txBox="1"/>
          <p:nvPr/>
        </p:nvSpPr>
        <p:spPr>
          <a:xfrm>
            <a:off x="2841955" y="2578608"/>
            <a:ext cx="1863547" cy="384048"/>
          </a:xfrm>
          <a:prstGeom prst="rect">
            <a:avLst/>
          </a:prstGeom>
          <a:noFill/>
          <a:ln/>
        </p:spPr>
        <p:txBody>
          <a:bodyPr wrap="square" lIns="0" tIns="0" rIns="0" bIns="0" rtlCol="0" anchor="ctr"/>
          <a:lstStyle/>
          <a:p>
            <a:pPr indent="0" marL="0">
              <a:buNone/>
            </a:pPr>
            <a:r>
              <a:rPr lang="en-US" sz="1000" b="1" i="1" dirty="0">
                <a:solidFill>
                  <a:srgbClr val="2F6FD0"/>
                </a:solidFill>
                <a:latin typeface="Calibri" pitchFamily="34" charset="0"/>
                <a:ea typeface="Calibri" pitchFamily="34" charset="-122"/>
                <a:cs typeface="Calibri" pitchFamily="34" charset="-120"/>
              </a:rPr>
              <a:t>Will this listing take sales from 1P?</a:t>
            </a:r>
            <a:endParaRPr lang="en-US" sz="1000" dirty="0"/>
          </a:p>
        </p:txBody>
      </p:sp>
      <p:sp>
        <p:nvSpPr>
          <p:cNvPr id="24" name="Text 20"/>
          <p:cNvSpPr txBox="1"/>
          <p:nvPr/>
        </p:nvSpPr>
        <p:spPr>
          <a:xfrm>
            <a:off x="2823667" y="3017520"/>
            <a:ext cx="1918411" cy="1463040"/>
          </a:xfrm>
          <a:prstGeom prst="rect">
            <a:avLst/>
          </a:prstGeom>
          <a:noFill/>
          <a:ln/>
        </p:spPr>
        <p:txBody>
          <a:bodyPr wrap="square" lIns="0" tIns="0" rIns="0" bIns="0" rtlCol="0" anchor="t"/>
          <a:lstStyle/>
          <a:p>
            <a:pPr marL="114300" indent="-1143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Tune safety-gate thresholds with merchants: cannibalisation, price, fit, picks per node</a:t>
            </a:r>
            <a:endParaRPr lang="en-US" sz="950" dirty="0"/>
          </a:p>
          <a:p>
            <a:pPr marL="114300" indent="-1143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Swap today's supply proxy for real 1P sales overlap</a:t>
            </a:r>
            <a:endParaRPr lang="en-US" sz="950" dirty="0"/>
          </a:p>
          <a:p>
            <a:pPr marL="114300" indent="-1143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Set price &amp; margin floors per node</a:t>
            </a:r>
            <a:endParaRPr lang="en-US" sz="950" dirty="0"/>
          </a:p>
        </p:txBody>
      </p:sp>
      <p:sp>
        <p:nvSpPr>
          <p:cNvPr id="25" name="Shape 21"/>
          <p:cNvSpPr/>
          <p:nvPr/>
        </p:nvSpPr>
        <p:spPr>
          <a:xfrm>
            <a:off x="2805379" y="4517136"/>
            <a:ext cx="1936699" cy="566928"/>
          </a:xfrm>
          <a:prstGeom prst="roundRect">
            <a:avLst>
              <a:gd name="adj" fmla="val 9677"/>
            </a:avLst>
          </a:prstGeom>
          <a:solidFill>
            <a:srgbClr val="EEF3FB"/>
          </a:solidFill>
          <a:ln w="12700">
            <a:solidFill>
              <a:srgbClr val="EEF3FB"/>
            </a:solidFill>
            <a:prstDash val="solid"/>
          </a:ln>
        </p:spPr>
      </p:sp>
      <p:sp>
        <p:nvSpPr>
          <p:cNvPr id="26" name="Text 22"/>
          <p:cNvSpPr txBox="1"/>
          <p:nvPr/>
        </p:nvSpPr>
        <p:spPr>
          <a:xfrm>
            <a:off x="2878531" y="4562856"/>
            <a:ext cx="1808683" cy="164592"/>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STAPLES DATA</a:t>
            </a:r>
            <a:endParaRPr lang="en-US" sz="750" dirty="0"/>
          </a:p>
        </p:txBody>
      </p:sp>
      <p:sp>
        <p:nvSpPr>
          <p:cNvPr id="27" name="Text 23"/>
          <p:cNvSpPr txBox="1"/>
          <p:nvPr/>
        </p:nvSpPr>
        <p:spPr>
          <a:xfrm>
            <a:off x="2878531" y="4718304"/>
            <a:ext cx="1808683" cy="347472"/>
          </a:xfrm>
          <a:prstGeom prst="rect">
            <a:avLst/>
          </a:prstGeom>
          <a:noFill/>
          <a:ln/>
        </p:spPr>
        <p:txBody>
          <a:bodyPr wrap="square" lIns="0" tIns="0" rIns="0" bIns="0" rtlCol="0" anchor="t"/>
          <a:lstStyle/>
          <a:p>
            <a:pPr indent="0" marL="0">
              <a:buNone/>
            </a:pPr>
            <a:r>
              <a:rPr lang="en-US" sz="950" b="1" dirty="0">
                <a:solidFill>
                  <a:srgbClr val="2F6FD0"/>
                </a:solidFill>
                <a:latin typeface="Calibri" pitchFamily="34" charset="0"/>
                <a:ea typeface="Calibri" pitchFamily="34" charset="-122"/>
                <a:cs typeface="Calibri" pitchFamily="34" charset="-120"/>
              </a:rPr>
              <a:t>1P sales · margin · price history</a:t>
            </a:r>
            <a:endParaRPr lang="en-US" sz="950" dirty="0"/>
          </a:p>
        </p:txBody>
      </p:sp>
      <p:sp>
        <p:nvSpPr>
          <p:cNvPr id="28" name="Shape 24"/>
          <p:cNvSpPr/>
          <p:nvPr/>
        </p:nvSpPr>
        <p:spPr>
          <a:xfrm>
            <a:off x="2805379" y="5157216"/>
            <a:ext cx="1936699" cy="676656"/>
          </a:xfrm>
          <a:prstGeom prst="roundRect">
            <a:avLst>
              <a:gd name="adj" fmla="val 8108"/>
            </a:avLst>
          </a:prstGeom>
          <a:solidFill>
            <a:srgbClr val="DCE7F8"/>
          </a:solidFill>
          <a:ln w="12700">
            <a:solidFill>
              <a:srgbClr val="DCE7F8"/>
            </a:solidFill>
            <a:prstDash val="solid"/>
          </a:ln>
        </p:spPr>
      </p:sp>
      <p:sp>
        <p:nvSpPr>
          <p:cNvPr id="29" name="Text 25"/>
          <p:cNvSpPr txBox="1"/>
          <p:nvPr/>
        </p:nvSpPr>
        <p:spPr>
          <a:xfrm>
            <a:off x="2878531" y="5202936"/>
            <a:ext cx="1808683" cy="164592"/>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OUTCOME</a:t>
            </a:r>
            <a:endParaRPr lang="en-US" sz="750" dirty="0"/>
          </a:p>
        </p:txBody>
      </p:sp>
      <p:sp>
        <p:nvSpPr>
          <p:cNvPr id="30" name="Text 26"/>
          <p:cNvSpPr txBox="1"/>
          <p:nvPr/>
        </p:nvSpPr>
        <p:spPr>
          <a:xfrm>
            <a:off x="2878531" y="5358384"/>
            <a:ext cx="1808683" cy="438912"/>
          </a:xfrm>
          <a:prstGeom prst="rect">
            <a:avLst/>
          </a:prstGeom>
          <a:noFill/>
          <a:ln/>
        </p:spPr>
        <p:txBody>
          <a:bodyPr wrap="square" lIns="0" tIns="0" rIns="0" bIns="0" rtlCol="0" anchor="t"/>
          <a:lstStyle/>
          <a:p>
            <a:pPr indent="0" marL="0">
              <a:buNone/>
            </a:pPr>
            <a:r>
              <a:rPr lang="en-US" sz="1050" b="1" dirty="0">
                <a:solidFill>
                  <a:srgbClr val="13285B"/>
                </a:solidFill>
                <a:latin typeface="Calibri" pitchFamily="34" charset="0"/>
                <a:ea typeface="Calibri" pitchFamily="34" charset="-122"/>
                <a:cs typeface="Calibri" pitchFamily="34" charset="-120"/>
              </a:rPr>
              <a:t>1P protected in revenue terms</a:t>
            </a:r>
            <a:endParaRPr lang="en-US" sz="1050" dirty="0"/>
          </a:p>
        </p:txBody>
      </p:sp>
      <p:sp>
        <p:nvSpPr>
          <p:cNvPr id="31" name="Shape 27"/>
          <p:cNvSpPr/>
          <p:nvPr/>
        </p:nvSpPr>
        <p:spPr>
          <a:xfrm>
            <a:off x="5052974" y="1737360"/>
            <a:ext cx="2083003" cy="713232"/>
          </a:xfrm>
          <a:prstGeom prst="roundRect">
            <a:avLst>
              <a:gd name="adj" fmla="val 10256"/>
            </a:avLst>
          </a:prstGeom>
          <a:solidFill>
            <a:srgbClr val="2F6FD0"/>
          </a:solidFill>
          <a:ln w="12700">
            <a:solidFill>
              <a:srgbClr val="2F6FD0"/>
            </a:solidFill>
            <a:prstDash val="solid"/>
          </a:ln>
        </p:spPr>
      </p:sp>
      <p:pic>
        <p:nvPicPr>
          <p:cNvPr id="32" name="Image 2" descr="preencoded.png">    </p:cNvPr>
          <p:cNvPicPr>
            <a:picLocks noChangeAspect="1"/>
          </p:cNvPicPr>
          <p:nvPr/>
        </p:nvPicPr>
        <p:blipFill>
          <a:blip r:embed="rId3"/>
          <a:stretch>
            <a:fillRect/>
          </a:stretch>
        </p:blipFill>
        <p:spPr>
          <a:xfrm>
            <a:off x="5162702" y="1920240"/>
            <a:ext cx="347472" cy="347472"/>
          </a:xfrm>
          <a:prstGeom prst="rect">
            <a:avLst/>
          </a:prstGeom>
        </p:spPr>
      </p:pic>
      <p:sp>
        <p:nvSpPr>
          <p:cNvPr id="33" name="Text 28"/>
          <p:cNvSpPr txBox="1"/>
          <p:nvPr/>
        </p:nvSpPr>
        <p:spPr>
          <a:xfrm>
            <a:off x="5601614" y="1792224"/>
            <a:ext cx="1461211" cy="219456"/>
          </a:xfrm>
          <a:prstGeom prst="rect">
            <a:avLst/>
          </a:prstGeom>
          <a:noFill/>
          <a:ln/>
        </p:spPr>
        <p:txBody>
          <a:bodyPr wrap="square" lIns="0" tIns="0" rIns="0" bIns="0" rtlCol="0" anchor="t"/>
          <a:lstStyle/>
          <a:p>
            <a:pPr indent="0" marL="0">
              <a:buNone/>
            </a:pPr>
            <a:r>
              <a:rPr lang="en-US" sz="1050" b="1" spc="100" kern="0" dirty="0">
                <a:solidFill>
                  <a:srgbClr val="F5A623"/>
                </a:solidFill>
                <a:latin typeface="Calibri" pitchFamily="34" charset="0"/>
                <a:ea typeface="Calibri" pitchFamily="34" charset="-122"/>
                <a:cs typeface="Calibri" pitchFamily="34" charset="-120"/>
              </a:rPr>
              <a:t>3 · EXPAND</a:t>
            </a:r>
            <a:endParaRPr lang="en-US" sz="1050" dirty="0"/>
          </a:p>
        </p:txBody>
      </p:sp>
      <p:sp>
        <p:nvSpPr>
          <p:cNvPr id="34" name="Text 29"/>
          <p:cNvSpPr txBox="1"/>
          <p:nvPr/>
        </p:nvSpPr>
        <p:spPr>
          <a:xfrm>
            <a:off x="5601614" y="2011680"/>
            <a:ext cx="1461211" cy="402336"/>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Any node, competitor or audience</a:t>
            </a:r>
            <a:endParaRPr lang="en-US" sz="1100" dirty="0"/>
          </a:p>
        </p:txBody>
      </p:sp>
      <p:sp>
        <p:nvSpPr>
          <p:cNvPr id="35" name="Shape 30"/>
          <p:cNvSpPr/>
          <p:nvPr/>
        </p:nvSpPr>
        <p:spPr>
          <a:xfrm>
            <a:off x="5052974" y="2505456"/>
            <a:ext cx="2083003" cy="3401568"/>
          </a:xfrm>
          <a:prstGeom prst="roundRect">
            <a:avLst>
              <a:gd name="adj" fmla="val 3512"/>
            </a:avLst>
          </a:prstGeom>
          <a:solidFill>
            <a:srgbClr val="FFFFFF"/>
          </a:solidFill>
          <a:ln w="9525">
            <a:solidFill>
              <a:srgbClr val="C9D3E3"/>
            </a:solidFill>
            <a:prstDash val="solid"/>
          </a:ln>
        </p:spPr>
      </p:sp>
      <p:sp>
        <p:nvSpPr>
          <p:cNvPr id="36" name="Text 31"/>
          <p:cNvSpPr txBox="1"/>
          <p:nvPr/>
        </p:nvSpPr>
        <p:spPr>
          <a:xfrm>
            <a:off x="5162702" y="2578608"/>
            <a:ext cx="1863547" cy="384048"/>
          </a:xfrm>
          <a:prstGeom prst="rect">
            <a:avLst/>
          </a:prstGeom>
          <a:noFill/>
          <a:ln/>
        </p:spPr>
        <p:txBody>
          <a:bodyPr wrap="square" lIns="0" tIns="0" rIns="0" bIns="0" rtlCol="0" anchor="ctr"/>
          <a:lstStyle/>
          <a:p>
            <a:pPr indent="0" marL="0">
              <a:buNone/>
            </a:pPr>
            <a:r>
              <a:rPr lang="en-US" sz="1000" b="1" i="1" dirty="0">
                <a:solidFill>
                  <a:srgbClr val="2F6FD0"/>
                </a:solidFill>
                <a:latin typeface="Calibri" pitchFamily="34" charset="0"/>
                <a:ea typeface="Calibri" pitchFamily="34" charset="-122"/>
                <a:cs typeface="Calibri" pitchFamily="34" charset="-120"/>
              </a:rPr>
              <a:t>Where should Staples grow next?</a:t>
            </a:r>
            <a:endParaRPr lang="en-US" sz="1000" dirty="0"/>
          </a:p>
        </p:txBody>
      </p:sp>
      <p:sp>
        <p:nvSpPr>
          <p:cNvPr id="37" name="Text 32"/>
          <p:cNvSpPr txBox="1"/>
          <p:nvPr/>
        </p:nvSpPr>
        <p:spPr>
          <a:xfrm>
            <a:off x="5144414" y="3017520"/>
            <a:ext cx="1918411" cy="1463040"/>
          </a:xfrm>
          <a:prstGeom prst="rect">
            <a:avLst/>
          </a:prstGeom>
          <a:noFill/>
          <a:ln/>
        </p:spPr>
        <p:txBody>
          <a:bodyPr wrap="square" lIns="0" tIns="0" rIns="0" bIns="0" rtlCol="0" anchor="t"/>
          <a:lstStyle/>
          <a:p>
            <a:pPr marL="114300" indent="-1143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Pick the category and the competitor to benchmark</a:t>
            </a:r>
            <a:endParaRPr lang="en-US" sz="950" dirty="0"/>
          </a:p>
          <a:p>
            <a:pPr marL="114300" indent="-1143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e.g. IKEA for small-space home offices, Target for Back-to-School, Etsy for gifting</a:t>
            </a:r>
            <a:endParaRPr lang="en-US" sz="950" dirty="0"/>
          </a:p>
          <a:p>
            <a:pPr marL="114300" indent="-1143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From 12 nodes to every category: config only, no new code</a:t>
            </a:r>
            <a:endParaRPr lang="en-US" sz="950" dirty="0"/>
          </a:p>
        </p:txBody>
      </p:sp>
      <p:sp>
        <p:nvSpPr>
          <p:cNvPr id="38" name="Shape 33"/>
          <p:cNvSpPr/>
          <p:nvPr/>
        </p:nvSpPr>
        <p:spPr>
          <a:xfrm>
            <a:off x="5126126" y="4517136"/>
            <a:ext cx="1936699" cy="566928"/>
          </a:xfrm>
          <a:prstGeom prst="roundRect">
            <a:avLst>
              <a:gd name="adj" fmla="val 9677"/>
            </a:avLst>
          </a:prstGeom>
          <a:solidFill>
            <a:srgbClr val="EEF3FB"/>
          </a:solidFill>
          <a:ln w="12700">
            <a:solidFill>
              <a:srgbClr val="EEF3FB"/>
            </a:solidFill>
            <a:prstDash val="solid"/>
          </a:ln>
        </p:spPr>
      </p:sp>
      <p:sp>
        <p:nvSpPr>
          <p:cNvPr id="39" name="Text 34"/>
          <p:cNvSpPr txBox="1"/>
          <p:nvPr/>
        </p:nvSpPr>
        <p:spPr>
          <a:xfrm>
            <a:off x="5199278" y="4562856"/>
            <a:ext cx="1808683" cy="164592"/>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STAPLES DATA</a:t>
            </a:r>
            <a:endParaRPr lang="en-US" sz="750" dirty="0"/>
          </a:p>
        </p:txBody>
      </p:sp>
      <p:sp>
        <p:nvSpPr>
          <p:cNvPr id="40" name="Text 35"/>
          <p:cNvSpPr txBox="1"/>
          <p:nvPr/>
        </p:nvSpPr>
        <p:spPr>
          <a:xfrm>
            <a:off x="5199278" y="4718304"/>
            <a:ext cx="1808683" cy="347472"/>
          </a:xfrm>
          <a:prstGeom prst="rect">
            <a:avLst/>
          </a:prstGeom>
          <a:noFill/>
          <a:ln/>
        </p:spPr>
        <p:txBody>
          <a:bodyPr wrap="square" lIns="0" tIns="0" rIns="0" bIns="0" rtlCol="0" anchor="t"/>
          <a:lstStyle/>
          <a:p>
            <a:pPr indent="0" marL="0">
              <a:buNone/>
            </a:pPr>
            <a:r>
              <a:rPr lang="en-US" sz="950" b="1" dirty="0">
                <a:solidFill>
                  <a:srgbClr val="2F6FD0"/>
                </a:solidFill>
                <a:latin typeface="Calibri" pitchFamily="34" charset="0"/>
                <a:ea typeface="Calibri" pitchFamily="34" charset="-122"/>
                <a:cs typeface="Calibri" pitchFamily="34" charset="-120"/>
              </a:rPr>
              <a:t>Staples catalog + new competitor crawls</a:t>
            </a:r>
            <a:endParaRPr lang="en-US" sz="950" dirty="0"/>
          </a:p>
        </p:txBody>
      </p:sp>
      <p:sp>
        <p:nvSpPr>
          <p:cNvPr id="41" name="Shape 36"/>
          <p:cNvSpPr/>
          <p:nvPr/>
        </p:nvSpPr>
        <p:spPr>
          <a:xfrm>
            <a:off x="5126126" y="5157216"/>
            <a:ext cx="1936699" cy="676656"/>
          </a:xfrm>
          <a:prstGeom prst="roundRect">
            <a:avLst>
              <a:gd name="adj" fmla="val 8108"/>
            </a:avLst>
          </a:prstGeom>
          <a:solidFill>
            <a:srgbClr val="DCE7F8"/>
          </a:solidFill>
          <a:ln w="12700">
            <a:solidFill>
              <a:srgbClr val="DCE7F8"/>
            </a:solidFill>
            <a:prstDash val="solid"/>
          </a:ln>
        </p:spPr>
      </p:sp>
      <p:sp>
        <p:nvSpPr>
          <p:cNvPr id="42" name="Text 37"/>
          <p:cNvSpPr txBox="1"/>
          <p:nvPr/>
        </p:nvSpPr>
        <p:spPr>
          <a:xfrm>
            <a:off x="5199278" y="5202936"/>
            <a:ext cx="1808683" cy="164592"/>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OUTCOME</a:t>
            </a:r>
            <a:endParaRPr lang="en-US" sz="750" dirty="0"/>
          </a:p>
        </p:txBody>
      </p:sp>
      <p:sp>
        <p:nvSpPr>
          <p:cNvPr id="43" name="Text 38"/>
          <p:cNvSpPr txBox="1"/>
          <p:nvPr/>
        </p:nvSpPr>
        <p:spPr>
          <a:xfrm>
            <a:off x="5199278" y="5358384"/>
            <a:ext cx="1808683" cy="438912"/>
          </a:xfrm>
          <a:prstGeom prst="rect">
            <a:avLst/>
          </a:prstGeom>
          <a:noFill/>
          <a:ln/>
        </p:spPr>
        <p:txBody>
          <a:bodyPr wrap="square" lIns="0" tIns="0" rIns="0" bIns="0" rtlCol="0" anchor="t"/>
          <a:lstStyle/>
          <a:p>
            <a:pPr indent="0" marL="0">
              <a:buNone/>
            </a:pPr>
            <a:r>
              <a:rPr lang="en-US" sz="1050" b="1" dirty="0">
                <a:solidFill>
                  <a:srgbClr val="13285B"/>
                </a:solidFill>
                <a:latin typeface="Calibri" pitchFamily="34" charset="0"/>
                <a:ea typeface="Calibri" pitchFamily="34" charset="-122"/>
                <a:cs typeface="Calibri" pitchFamily="34" charset="-120"/>
              </a:rPr>
              <a:t>The engine aimed at the audience Staples wants</a:t>
            </a:r>
            <a:endParaRPr lang="en-US" sz="1050" dirty="0"/>
          </a:p>
        </p:txBody>
      </p:sp>
      <p:sp>
        <p:nvSpPr>
          <p:cNvPr id="44" name="Shape 39"/>
          <p:cNvSpPr/>
          <p:nvPr/>
        </p:nvSpPr>
        <p:spPr>
          <a:xfrm>
            <a:off x="7373722" y="1737360"/>
            <a:ext cx="2083003" cy="713232"/>
          </a:xfrm>
          <a:prstGeom prst="roundRect">
            <a:avLst>
              <a:gd name="adj" fmla="val 10256"/>
            </a:avLst>
          </a:prstGeom>
          <a:solidFill>
            <a:srgbClr val="13285B"/>
          </a:solidFill>
          <a:ln w="12700">
            <a:solidFill>
              <a:srgbClr val="13285B"/>
            </a:solidFill>
            <a:prstDash val="solid"/>
          </a:ln>
        </p:spPr>
      </p:sp>
      <p:pic>
        <p:nvPicPr>
          <p:cNvPr id="45" name="Image 3" descr="preencoded.png">    </p:cNvPr>
          <p:cNvPicPr>
            <a:picLocks noChangeAspect="1"/>
          </p:cNvPicPr>
          <p:nvPr/>
        </p:nvPicPr>
        <p:blipFill>
          <a:blip r:embed="rId4"/>
          <a:stretch>
            <a:fillRect/>
          </a:stretch>
        </p:blipFill>
        <p:spPr>
          <a:xfrm>
            <a:off x="7483450" y="1920240"/>
            <a:ext cx="347472" cy="347472"/>
          </a:xfrm>
          <a:prstGeom prst="rect">
            <a:avLst/>
          </a:prstGeom>
        </p:spPr>
      </p:pic>
      <p:sp>
        <p:nvSpPr>
          <p:cNvPr id="46" name="Text 40"/>
          <p:cNvSpPr txBox="1"/>
          <p:nvPr/>
        </p:nvSpPr>
        <p:spPr>
          <a:xfrm>
            <a:off x="7922362" y="1792224"/>
            <a:ext cx="1461211" cy="219456"/>
          </a:xfrm>
          <a:prstGeom prst="rect">
            <a:avLst/>
          </a:prstGeom>
          <a:noFill/>
          <a:ln/>
        </p:spPr>
        <p:txBody>
          <a:bodyPr wrap="square" lIns="0" tIns="0" rIns="0" bIns="0" rtlCol="0" anchor="t"/>
          <a:lstStyle/>
          <a:p>
            <a:pPr indent="0" marL="0">
              <a:buNone/>
            </a:pPr>
            <a:r>
              <a:rPr lang="en-US" sz="1050" b="1" spc="100" kern="0" dirty="0">
                <a:solidFill>
                  <a:srgbClr val="F5A623"/>
                </a:solidFill>
                <a:latin typeface="Calibri" pitchFamily="34" charset="0"/>
                <a:ea typeface="Calibri" pitchFamily="34" charset="-122"/>
                <a:cs typeface="Calibri" pitchFamily="34" charset="-120"/>
              </a:rPr>
              <a:t>4 · CURATE</a:t>
            </a:r>
            <a:endParaRPr lang="en-US" sz="1050" dirty="0"/>
          </a:p>
        </p:txBody>
      </p:sp>
      <p:sp>
        <p:nvSpPr>
          <p:cNvPr id="47" name="Text 41"/>
          <p:cNvSpPr txBox="1"/>
          <p:nvPr/>
        </p:nvSpPr>
        <p:spPr>
          <a:xfrm>
            <a:off x="7922362" y="2011680"/>
            <a:ext cx="1461211" cy="402336"/>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Automated seller-listing vetting</a:t>
            </a:r>
            <a:endParaRPr lang="en-US" sz="1100" dirty="0"/>
          </a:p>
        </p:txBody>
      </p:sp>
      <p:sp>
        <p:nvSpPr>
          <p:cNvPr id="48" name="Shape 42"/>
          <p:cNvSpPr/>
          <p:nvPr/>
        </p:nvSpPr>
        <p:spPr>
          <a:xfrm>
            <a:off x="7373722" y="2505456"/>
            <a:ext cx="2083003" cy="3401568"/>
          </a:xfrm>
          <a:prstGeom prst="roundRect">
            <a:avLst>
              <a:gd name="adj" fmla="val 3512"/>
            </a:avLst>
          </a:prstGeom>
          <a:solidFill>
            <a:srgbClr val="FFFFFF"/>
          </a:solidFill>
          <a:ln w="9525">
            <a:solidFill>
              <a:srgbClr val="C9D3E3"/>
            </a:solidFill>
            <a:prstDash val="solid"/>
          </a:ln>
        </p:spPr>
      </p:sp>
      <p:sp>
        <p:nvSpPr>
          <p:cNvPr id="49" name="Text 43"/>
          <p:cNvSpPr txBox="1"/>
          <p:nvPr/>
        </p:nvSpPr>
        <p:spPr>
          <a:xfrm>
            <a:off x="7483450" y="2578608"/>
            <a:ext cx="1863547" cy="384048"/>
          </a:xfrm>
          <a:prstGeom prst="rect">
            <a:avLst/>
          </a:prstGeom>
          <a:noFill/>
          <a:ln/>
        </p:spPr>
        <p:txBody>
          <a:bodyPr wrap="square" lIns="0" tIns="0" rIns="0" bIns="0" rtlCol="0" anchor="ctr"/>
          <a:lstStyle/>
          <a:p>
            <a:pPr indent="0" marL="0">
              <a:buNone/>
            </a:pPr>
            <a:r>
              <a:rPr lang="en-US" sz="1000" b="1" i="1" dirty="0">
                <a:solidFill>
                  <a:srgbClr val="2F6FD0"/>
                </a:solidFill>
                <a:latin typeface="Calibri" pitchFamily="34" charset="0"/>
                <a:ea typeface="Calibri" pitchFamily="34" charset="-122"/>
                <a:cs typeface="Calibri" pitchFamily="34" charset="-120"/>
              </a:rPr>
              <a:t>Should this listing go live?</a:t>
            </a:r>
            <a:endParaRPr lang="en-US" sz="1000" dirty="0"/>
          </a:p>
        </p:txBody>
      </p:sp>
      <p:sp>
        <p:nvSpPr>
          <p:cNvPr id="50" name="Text 44"/>
          <p:cNvSpPr txBox="1"/>
          <p:nvPr/>
        </p:nvSpPr>
        <p:spPr>
          <a:xfrm>
            <a:off x="7465162" y="3017520"/>
            <a:ext cx="1918411" cy="1463040"/>
          </a:xfrm>
          <a:prstGeom prst="rect">
            <a:avLst/>
          </a:prstGeom>
          <a:noFill/>
          <a:ln/>
        </p:spPr>
        <p:txBody>
          <a:bodyPr wrap="square" lIns="0" tIns="0" rIns="0" bIns="0" rtlCol="0" anchor="t"/>
          <a:lstStyle/>
          <a:p>
            <a:pPr marL="114300" indent="-1143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Score every seller submission with the same engine</a:t>
            </a:r>
            <a:endParaRPr lang="en-US" sz="950" dirty="0"/>
          </a:p>
          <a:p>
            <a:pPr marL="114300" indent="-1143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Check fit, 1P overlap &amp; price automatically</a:t>
            </a:r>
            <a:endParaRPr lang="en-US" sz="950" dirty="0"/>
          </a:p>
          <a:p>
            <a:pPr marL="114300" indent="-1143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Approve / review / reject queue that learns from curators</a:t>
            </a:r>
            <a:endParaRPr lang="en-US" sz="950" dirty="0"/>
          </a:p>
        </p:txBody>
      </p:sp>
      <p:sp>
        <p:nvSpPr>
          <p:cNvPr id="51" name="Shape 45"/>
          <p:cNvSpPr/>
          <p:nvPr/>
        </p:nvSpPr>
        <p:spPr>
          <a:xfrm>
            <a:off x="7446874" y="4517136"/>
            <a:ext cx="1936699" cy="566928"/>
          </a:xfrm>
          <a:prstGeom prst="roundRect">
            <a:avLst>
              <a:gd name="adj" fmla="val 9677"/>
            </a:avLst>
          </a:prstGeom>
          <a:solidFill>
            <a:srgbClr val="EEF3FB"/>
          </a:solidFill>
          <a:ln w="12700">
            <a:solidFill>
              <a:srgbClr val="EEF3FB"/>
            </a:solidFill>
            <a:prstDash val="solid"/>
          </a:ln>
        </p:spPr>
      </p:sp>
      <p:sp>
        <p:nvSpPr>
          <p:cNvPr id="52" name="Text 46"/>
          <p:cNvSpPr txBox="1"/>
          <p:nvPr/>
        </p:nvSpPr>
        <p:spPr>
          <a:xfrm>
            <a:off x="7520026" y="4562856"/>
            <a:ext cx="1808683" cy="164592"/>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STAPLES DATA</a:t>
            </a:r>
            <a:endParaRPr lang="en-US" sz="750" dirty="0"/>
          </a:p>
        </p:txBody>
      </p:sp>
      <p:sp>
        <p:nvSpPr>
          <p:cNvPr id="53" name="Text 47"/>
          <p:cNvSpPr txBox="1"/>
          <p:nvPr/>
        </p:nvSpPr>
        <p:spPr>
          <a:xfrm>
            <a:off x="7520026" y="4718304"/>
            <a:ext cx="1808683" cy="347472"/>
          </a:xfrm>
          <a:prstGeom prst="rect">
            <a:avLst/>
          </a:prstGeom>
          <a:noFill/>
          <a:ln/>
        </p:spPr>
        <p:txBody>
          <a:bodyPr wrap="square" lIns="0" tIns="0" rIns="0" bIns="0" rtlCol="0" anchor="t"/>
          <a:lstStyle/>
          <a:p>
            <a:pPr indent="0" marL="0">
              <a:buNone/>
            </a:pPr>
            <a:r>
              <a:rPr lang="en-US" sz="950" b="1" dirty="0">
                <a:solidFill>
                  <a:srgbClr val="2F6FD0"/>
                </a:solidFill>
                <a:latin typeface="Calibri" pitchFamily="34" charset="0"/>
                <a:ea typeface="Calibri" pitchFamily="34" charset="-122"/>
                <a:cs typeface="Calibri" pitchFamily="34" charset="-120"/>
              </a:rPr>
              <a:t>Seller submissions · curator decisions</a:t>
            </a:r>
            <a:endParaRPr lang="en-US" sz="950" dirty="0"/>
          </a:p>
        </p:txBody>
      </p:sp>
      <p:sp>
        <p:nvSpPr>
          <p:cNvPr id="54" name="Shape 48"/>
          <p:cNvSpPr/>
          <p:nvPr/>
        </p:nvSpPr>
        <p:spPr>
          <a:xfrm>
            <a:off x="7446874" y="5157216"/>
            <a:ext cx="1936699" cy="676656"/>
          </a:xfrm>
          <a:prstGeom prst="roundRect">
            <a:avLst>
              <a:gd name="adj" fmla="val 8108"/>
            </a:avLst>
          </a:prstGeom>
          <a:solidFill>
            <a:srgbClr val="DCE7F8"/>
          </a:solidFill>
          <a:ln w="12700">
            <a:solidFill>
              <a:srgbClr val="DCE7F8"/>
            </a:solidFill>
            <a:prstDash val="solid"/>
          </a:ln>
        </p:spPr>
      </p:sp>
      <p:sp>
        <p:nvSpPr>
          <p:cNvPr id="55" name="Text 49"/>
          <p:cNvSpPr txBox="1"/>
          <p:nvPr/>
        </p:nvSpPr>
        <p:spPr>
          <a:xfrm>
            <a:off x="7520026" y="5202936"/>
            <a:ext cx="1808683" cy="164592"/>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OUTCOME</a:t>
            </a:r>
            <a:endParaRPr lang="en-US" sz="750" dirty="0"/>
          </a:p>
        </p:txBody>
      </p:sp>
      <p:sp>
        <p:nvSpPr>
          <p:cNvPr id="56" name="Text 50"/>
          <p:cNvSpPr txBox="1"/>
          <p:nvPr/>
        </p:nvSpPr>
        <p:spPr>
          <a:xfrm>
            <a:off x="7520026" y="5358384"/>
            <a:ext cx="1808683" cy="438912"/>
          </a:xfrm>
          <a:prstGeom prst="rect">
            <a:avLst/>
          </a:prstGeom>
          <a:noFill/>
          <a:ln/>
        </p:spPr>
        <p:txBody>
          <a:bodyPr wrap="square" lIns="0" tIns="0" rIns="0" bIns="0" rtlCol="0" anchor="t"/>
          <a:lstStyle/>
          <a:p>
            <a:pPr indent="0" marL="0">
              <a:buNone/>
            </a:pPr>
            <a:r>
              <a:rPr lang="en-US" sz="1050" b="1" dirty="0">
                <a:solidFill>
                  <a:srgbClr val="13285B"/>
                </a:solidFill>
                <a:latin typeface="Calibri" pitchFamily="34" charset="0"/>
                <a:ea typeface="Calibri" pitchFamily="34" charset="-122"/>
                <a:cs typeface="Calibri" pitchFamily="34" charset="-120"/>
              </a:rPr>
              <a:t>Curation that scales beyond manual review</a:t>
            </a:r>
            <a:endParaRPr lang="en-US" sz="1050" dirty="0"/>
          </a:p>
        </p:txBody>
      </p:sp>
      <p:sp>
        <p:nvSpPr>
          <p:cNvPr id="57" name="Shape 51"/>
          <p:cNvSpPr/>
          <p:nvPr/>
        </p:nvSpPr>
        <p:spPr>
          <a:xfrm>
            <a:off x="9694469" y="1737360"/>
            <a:ext cx="2083003" cy="713232"/>
          </a:xfrm>
          <a:prstGeom prst="roundRect">
            <a:avLst>
              <a:gd name="adj" fmla="val 10256"/>
            </a:avLst>
          </a:prstGeom>
          <a:solidFill>
            <a:srgbClr val="13285B"/>
          </a:solidFill>
          <a:ln w="12700">
            <a:solidFill>
              <a:srgbClr val="13285B"/>
            </a:solidFill>
            <a:prstDash val="solid"/>
          </a:ln>
        </p:spPr>
      </p:sp>
      <p:pic>
        <p:nvPicPr>
          <p:cNvPr id="58" name="Image 4" descr="preencoded.png">    </p:cNvPr>
          <p:cNvPicPr>
            <a:picLocks noChangeAspect="1"/>
          </p:cNvPicPr>
          <p:nvPr/>
        </p:nvPicPr>
        <p:blipFill>
          <a:blip r:embed="rId5"/>
          <a:stretch>
            <a:fillRect/>
          </a:stretch>
        </p:blipFill>
        <p:spPr>
          <a:xfrm>
            <a:off x="9804197" y="1920240"/>
            <a:ext cx="347472" cy="347472"/>
          </a:xfrm>
          <a:prstGeom prst="rect">
            <a:avLst/>
          </a:prstGeom>
        </p:spPr>
      </p:pic>
      <p:sp>
        <p:nvSpPr>
          <p:cNvPr id="59" name="Text 52"/>
          <p:cNvSpPr txBox="1"/>
          <p:nvPr/>
        </p:nvSpPr>
        <p:spPr>
          <a:xfrm>
            <a:off x="10243109" y="1792224"/>
            <a:ext cx="1461211" cy="219456"/>
          </a:xfrm>
          <a:prstGeom prst="rect">
            <a:avLst/>
          </a:prstGeom>
          <a:noFill/>
          <a:ln/>
        </p:spPr>
        <p:txBody>
          <a:bodyPr wrap="square" lIns="0" tIns="0" rIns="0" bIns="0" rtlCol="0" anchor="t"/>
          <a:lstStyle/>
          <a:p>
            <a:pPr indent="0" marL="0">
              <a:buNone/>
            </a:pPr>
            <a:r>
              <a:rPr lang="en-US" sz="1050" b="1" spc="100" kern="0" dirty="0">
                <a:solidFill>
                  <a:srgbClr val="F5A623"/>
                </a:solidFill>
                <a:latin typeface="Calibri" pitchFamily="34" charset="0"/>
                <a:ea typeface="Calibri" pitchFamily="34" charset="-122"/>
                <a:cs typeface="Calibri" pitchFamily="34" charset="-120"/>
              </a:rPr>
              <a:t>5 · MONITOR</a:t>
            </a:r>
            <a:endParaRPr lang="en-US" sz="1050" dirty="0"/>
          </a:p>
        </p:txBody>
      </p:sp>
      <p:sp>
        <p:nvSpPr>
          <p:cNvPr id="60" name="Text 53"/>
          <p:cNvSpPr txBox="1"/>
          <p:nvPr/>
        </p:nvSpPr>
        <p:spPr>
          <a:xfrm>
            <a:off x="10243109" y="2011680"/>
            <a:ext cx="1461211" cy="402336"/>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Market radar &amp; pilot tracking</a:t>
            </a:r>
            <a:endParaRPr lang="en-US" sz="1100" dirty="0"/>
          </a:p>
        </p:txBody>
      </p:sp>
      <p:sp>
        <p:nvSpPr>
          <p:cNvPr id="61" name="Shape 54"/>
          <p:cNvSpPr/>
          <p:nvPr/>
        </p:nvSpPr>
        <p:spPr>
          <a:xfrm>
            <a:off x="9694469" y="2505456"/>
            <a:ext cx="2083003" cy="3401568"/>
          </a:xfrm>
          <a:prstGeom prst="roundRect">
            <a:avLst>
              <a:gd name="adj" fmla="val 3512"/>
            </a:avLst>
          </a:prstGeom>
          <a:solidFill>
            <a:srgbClr val="FFFFFF"/>
          </a:solidFill>
          <a:ln w="9525">
            <a:solidFill>
              <a:srgbClr val="C9D3E3"/>
            </a:solidFill>
            <a:prstDash val="solid"/>
          </a:ln>
        </p:spPr>
      </p:sp>
      <p:sp>
        <p:nvSpPr>
          <p:cNvPr id="62" name="Text 55"/>
          <p:cNvSpPr txBox="1"/>
          <p:nvPr/>
        </p:nvSpPr>
        <p:spPr>
          <a:xfrm>
            <a:off x="9804197" y="2578608"/>
            <a:ext cx="1863547" cy="384048"/>
          </a:xfrm>
          <a:prstGeom prst="rect">
            <a:avLst/>
          </a:prstGeom>
          <a:noFill/>
          <a:ln/>
        </p:spPr>
        <p:txBody>
          <a:bodyPr wrap="square" lIns="0" tIns="0" rIns="0" bIns="0" rtlCol="0" anchor="ctr"/>
          <a:lstStyle/>
          <a:p>
            <a:pPr indent="0" marL="0">
              <a:buNone/>
            </a:pPr>
            <a:r>
              <a:rPr lang="en-US" sz="1000" b="1" i="1" dirty="0">
                <a:solidFill>
                  <a:srgbClr val="2F6FD0"/>
                </a:solidFill>
                <a:latin typeface="Calibri" pitchFamily="34" charset="0"/>
                <a:ea typeface="Calibri" pitchFamily="34" charset="-122"/>
                <a:cs typeface="Calibri" pitchFamily="34" charset="-120"/>
              </a:rPr>
              <a:t>What changed, and what worked?</a:t>
            </a:r>
            <a:endParaRPr lang="en-US" sz="1000" dirty="0"/>
          </a:p>
        </p:txBody>
      </p:sp>
      <p:sp>
        <p:nvSpPr>
          <p:cNvPr id="63" name="Text 56"/>
          <p:cNvSpPr txBox="1"/>
          <p:nvPr/>
        </p:nvSpPr>
        <p:spPr>
          <a:xfrm>
            <a:off x="9785909" y="3017520"/>
            <a:ext cx="1918411" cy="1463040"/>
          </a:xfrm>
          <a:prstGeom prst="rect">
            <a:avLst/>
          </a:prstGeom>
          <a:noFill/>
          <a:ln/>
        </p:spPr>
        <p:txBody>
          <a:bodyPr wrap="square" lIns="0" tIns="0" rIns="0" bIns="0" rtlCol="0" anchor="t"/>
          <a:lstStyle/>
          <a:p>
            <a:pPr marL="114300" indent="-1143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Monthly re-crawls flag new &amp; closing gaps</a:t>
            </a:r>
            <a:endParaRPr lang="en-US" sz="950" dirty="0"/>
          </a:p>
          <a:p>
            <a:pPr marL="114300" indent="-1143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Track listed picks' GMV, attach &amp; commission</a:t>
            </a:r>
            <a:endParaRPr lang="en-US" sz="950" dirty="0"/>
          </a:p>
          <a:p>
            <a:pPr marL="114300" indent="-1143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Compare with forecast; feed back into step 1</a:t>
            </a:r>
            <a:endParaRPr lang="en-US" sz="950" dirty="0"/>
          </a:p>
        </p:txBody>
      </p:sp>
      <p:sp>
        <p:nvSpPr>
          <p:cNvPr id="64" name="Shape 57"/>
          <p:cNvSpPr/>
          <p:nvPr/>
        </p:nvSpPr>
        <p:spPr>
          <a:xfrm>
            <a:off x="9767621" y="4517136"/>
            <a:ext cx="1936699" cy="566928"/>
          </a:xfrm>
          <a:prstGeom prst="roundRect">
            <a:avLst>
              <a:gd name="adj" fmla="val 9677"/>
            </a:avLst>
          </a:prstGeom>
          <a:solidFill>
            <a:srgbClr val="EEF3FB"/>
          </a:solidFill>
          <a:ln w="12700">
            <a:solidFill>
              <a:srgbClr val="EEF3FB"/>
            </a:solidFill>
            <a:prstDash val="solid"/>
          </a:ln>
        </p:spPr>
      </p:sp>
      <p:sp>
        <p:nvSpPr>
          <p:cNvPr id="65" name="Text 58"/>
          <p:cNvSpPr txBox="1"/>
          <p:nvPr/>
        </p:nvSpPr>
        <p:spPr>
          <a:xfrm>
            <a:off x="9840773" y="4562856"/>
            <a:ext cx="1808683" cy="164592"/>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STAPLES DATA</a:t>
            </a:r>
            <a:endParaRPr lang="en-US" sz="750" dirty="0"/>
          </a:p>
        </p:txBody>
      </p:sp>
      <p:sp>
        <p:nvSpPr>
          <p:cNvPr id="66" name="Text 59"/>
          <p:cNvSpPr txBox="1"/>
          <p:nvPr/>
        </p:nvSpPr>
        <p:spPr>
          <a:xfrm>
            <a:off x="9840773" y="4718304"/>
            <a:ext cx="1808683" cy="347472"/>
          </a:xfrm>
          <a:prstGeom prst="rect">
            <a:avLst/>
          </a:prstGeom>
          <a:noFill/>
          <a:ln/>
        </p:spPr>
        <p:txBody>
          <a:bodyPr wrap="square" lIns="0" tIns="0" rIns="0" bIns="0" rtlCol="0" anchor="t"/>
          <a:lstStyle/>
          <a:p>
            <a:pPr indent="0" marL="0">
              <a:buNone/>
            </a:pPr>
            <a:r>
              <a:rPr lang="en-US" sz="950" b="1" dirty="0">
                <a:solidFill>
                  <a:srgbClr val="2F6FD0"/>
                </a:solidFill>
                <a:latin typeface="Calibri" pitchFamily="34" charset="0"/>
                <a:ea typeface="Calibri" pitchFamily="34" charset="-122"/>
                <a:cs typeface="Calibri" pitchFamily="34" charset="-120"/>
              </a:rPr>
              <a:t>Sales · pilot results (+ competitor crawls)</a:t>
            </a:r>
            <a:endParaRPr lang="en-US" sz="950" dirty="0"/>
          </a:p>
        </p:txBody>
      </p:sp>
      <p:sp>
        <p:nvSpPr>
          <p:cNvPr id="67" name="Shape 60"/>
          <p:cNvSpPr/>
          <p:nvPr/>
        </p:nvSpPr>
        <p:spPr>
          <a:xfrm>
            <a:off x="9767621" y="5157216"/>
            <a:ext cx="1936699" cy="676656"/>
          </a:xfrm>
          <a:prstGeom prst="roundRect">
            <a:avLst>
              <a:gd name="adj" fmla="val 8108"/>
            </a:avLst>
          </a:prstGeom>
          <a:solidFill>
            <a:srgbClr val="DCE7F8"/>
          </a:solidFill>
          <a:ln w="12700">
            <a:solidFill>
              <a:srgbClr val="DCE7F8"/>
            </a:solidFill>
            <a:prstDash val="solid"/>
          </a:ln>
        </p:spPr>
      </p:sp>
      <p:sp>
        <p:nvSpPr>
          <p:cNvPr id="68" name="Text 61"/>
          <p:cNvSpPr txBox="1"/>
          <p:nvPr/>
        </p:nvSpPr>
        <p:spPr>
          <a:xfrm>
            <a:off x="9840773" y="5202936"/>
            <a:ext cx="1808683" cy="164592"/>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OUTCOME</a:t>
            </a:r>
            <a:endParaRPr lang="en-US" sz="750" dirty="0"/>
          </a:p>
        </p:txBody>
      </p:sp>
      <p:sp>
        <p:nvSpPr>
          <p:cNvPr id="69" name="Text 62"/>
          <p:cNvSpPr txBox="1"/>
          <p:nvPr/>
        </p:nvSpPr>
        <p:spPr>
          <a:xfrm>
            <a:off x="9840773" y="5358384"/>
            <a:ext cx="1808683" cy="438912"/>
          </a:xfrm>
          <a:prstGeom prst="rect">
            <a:avLst/>
          </a:prstGeom>
          <a:noFill/>
          <a:ln/>
        </p:spPr>
        <p:txBody>
          <a:bodyPr wrap="square" lIns="0" tIns="0" rIns="0" bIns="0" rtlCol="0" anchor="t"/>
          <a:lstStyle/>
          <a:p>
            <a:pPr indent="0" marL="0">
              <a:buNone/>
            </a:pPr>
            <a:r>
              <a:rPr lang="en-US" sz="1050" b="1" dirty="0">
                <a:solidFill>
                  <a:srgbClr val="13285B"/>
                </a:solidFill>
                <a:latin typeface="Calibri" pitchFamily="34" charset="0"/>
                <a:ea typeface="Calibri" pitchFamily="34" charset="-122"/>
                <a:cs typeface="Calibri" pitchFamily="34" charset="-120"/>
              </a:rPr>
              <a:t>Live gap list &amp; proven ROI</a:t>
            </a:r>
            <a:endParaRPr lang="en-US" sz="1050" dirty="0"/>
          </a:p>
        </p:txBody>
      </p:sp>
      <p:sp>
        <p:nvSpPr>
          <p:cNvPr id="25" name="Slide Number Placeholder 0"/>
          <p:cNvSpPr>
            <a:spLocks noGrp="1"/>
          </p:cNvSpPr>
          <p:nvPr>
            <p:ph type="sldNum" sz="quarter" idx="4294967295"/>
          </p:nvPr>
        </p:nvSpPr>
        <p:spPr>
          <a:xfrm>
            <a:off x="11320272" y="6510528"/>
            <a:ext cx="457200" cy="237744"/>
          </a:xfrm>
          <a:prstGeom prst="rect">
            <a:avLst/>
          </a:prstGeom>
          <a:extLst>
            <a:ext uri="{C572A759-6A51-4108-AA02-DFA0A04FC94B}">
              <ma14:wrappingTextBoxFlag xmlns:ma14="http://schemas.microsoft.com/office/mac/drawingml/2011/main" val="0"/>
            </a:ext>
          </a:extLst>
        </p:spPr>
        <p:txBody>
          <a:bodyPr/>
          <a:lstStyle>
            <a:lvl1pPr>
              <a:defRPr sz="900">
                <a:solidFill>
                  <a:srgbClr val="7A8599"/>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3"/>
          <p:cNvSpPr/>
          <p:nvPr>
            <p:ph idx="103" type="title" hasCustomPrompt="1"/>
          </p:nvPr>
        </p:nvSpPr>
        <p:spPr>
          <a:xfrm>
            <a:off x="411480" y="219456"/>
            <a:ext cx="11365992" cy="658368"/>
          </a:xfrm>
          <a:prstGeom prst="rect">
            <a:avLst/>
          </a:prstGeom>
          <a:noFill/>
          <a:ln/>
        </p:spPr>
        <p:txBody>
          <a:bodyPr wrap="square" lIns="0" tIns="0" rIns="0" bIns="0" rtlCol="0" anchor="ctr"/>
          <a:lstStyle/>
          <a:p>
            <a:pPr algn="l" indent="0" marL="0">
              <a:buNone/>
            </a:pPr>
            <a:r>
              <a:rPr lang="en-US" sz="2800" b="1" dirty="0">
                <a:solidFill>
                  <a:srgbClr val="1F4E9A"/>
                </a:solidFill>
                <a:latin typeface="Calibri" pitchFamily="34" charset="0"/>
                <a:ea typeface="Calibri" pitchFamily="34" charset="-122"/>
                <a:cs typeface="Calibri" pitchFamily="34" charset="-120"/>
              </a:rPr>
              <a:t>Growth Paths for the Marketplace</a:t>
            </a:r>
            <a:endParaRPr lang="en-US" sz="2800" dirty="0"/>
          </a:p>
        </p:txBody>
      </p:sp>
      <p:sp>
        <p:nvSpPr>
          <p:cNvPr id="3" name="Shape 1"/>
          <p:cNvSpPr/>
          <p:nvPr/>
        </p:nvSpPr>
        <p:spPr>
          <a:xfrm>
            <a:off x="411480" y="1078992"/>
            <a:ext cx="11365992" cy="347472"/>
          </a:xfrm>
          <a:prstGeom prst="roundRect">
            <a:avLst>
              <a:gd name="adj" fmla="val 21053"/>
            </a:avLst>
          </a:prstGeom>
          <a:solidFill>
            <a:srgbClr val="EEF3FB"/>
          </a:solidFill>
          <a:ln w="12700">
            <a:solidFill>
              <a:srgbClr val="EEF3FB"/>
            </a:solidFill>
            <a:prstDash val="solid"/>
          </a:ln>
        </p:spPr>
      </p:sp>
      <p:sp>
        <p:nvSpPr>
          <p:cNvPr id="4" name="Text 2"/>
          <p:cNvSpPr txBox="1"/>
          <p:nvPr/>
        </p:nvSpPr>
        <p:spPr>
          <a:xfrm>
            <a:off x="548640" y="1078992"/>
            <a:ext cx="11091672" cy="347472"/>
          </a:xfrm>
          <a:prstGeom prst="rect">
            <a:avLst/>
          </a:prstGeom>
          <a:noFill/>
          <a:ln/>
        </p:spPr>
        <p:txBody>
          <a:bodyPr wrap="square" lIns="0" tIns="0" rIns="0" bIns="0" rtlCol="0" anchor="ctr"/>
          <a:lstStyle/>
          <a:p>
            <a:pPr algn="ctr" indent="0" marL="0">
              <a:buNone/>
            </a:pPr>
            <a:r>
              <a:rPr lang="en-US" sz="1150" dirty="0">
                <a:solidFill>
                  <a:srgbClr val="1F2937"/>
                </a:solidFill>
                <a:latin typeface="Calibri" pitchFamily="34" charset="0"/>
                <a:ea typeface="Calibri" pitchFamily="34" charset="-122"/>
                <a:cs typeface="Calibri" pitchFamily="34" charset="-120"/>
              </a:rPr>
              <a:t>Beyond assortment gaps: </a:t>
            </a:r>
            <a:pPr algn="ctr" indent="0" marL="0">
              <a:buNone/>
            </a:pPr>
            <a:r>
              <a:rPr lang="en-US" sz="1150" b="1" dirty="0">
                <a:solidFill>
                  <a:srgbClr val="13285B"/>
                </a:solidFill>
                <a:latin typeface="Calibri" pitchFamily="34" charset="0"/>
                <a:ea typeface="Calibri" pitchFamily="34" charset="-122"/>
                <a:cs typeface="Calibri" pitchFamily="34" charset="-120"/>
              </a:rPr>
              <a:t>six more ways to grow</a:t>
            </a:r>
            <a:pPr algn="ctr" indent="0" marL="0">
              <a:buNone/>
            </a:pPr>
            <a:r>
              <a:rPr lang="en-US" sz="1150" dirty="0">
                <a:solidFill>
                  <a:srgbClr val="1F2937"/>
                </a:solidFill>
                <a:latin typeface="Calibri" pitchFamily="34" charset="0"/>
                <a:ea typeface="Calibri" pitchFamily="34" charset="-122"/>
                <a:cs typeface="Calibri" pitchFamily="34" charset="-120"/>
              </a:rPr>
              <a:t>, combining external signals with Staples data.</a:t>
            </a:r>
            <a:endParaRPr lang="en-US" sz="1200" dirty="0"/>
          </a:p>
        </p:txBody>
      </p:sp>
      <p:sp>
        <p:nvSpPr>
          <p:cNvPr id="5" name="Shape 3"/>
          <p:cNvSpPr/>
          <p:nvPr/>
        </p:nvSpPr>
        <p:spPr>
          <a:xfrm>
            <a:off x="411480" y="1554480"/>
            <a:ext cx="3630168" cy="384048"/>
          </a:xfrm>
          <a:prstGeom prst="roundRect">
            <a:avLst>
              <a:gd name="adj" fmla="val 19048"/>
            </a:avLst>
          </a:prstGeom>
          <a:solidFill>
            <a:srgbClr val="1F4E9A"/>
          </a:solidFill>
          <a:ln w="12700">
            <a:solidFill>
              <a:srgbClr val="1F4E9A"/>
            </a:solidFill>
            <a:prstDash val="solid"/>
          </a:ln>
        </p:spPr>
      </p:sp>
      <p:sp>
        <p:nvSpPr>
          <p:cNvPr id="6" name="Text 4"/>
          <p:cNvSpPr txBox="1"/>
          <p:nvPr/>
        </p:nvSpPr>
        <p:spPr>
          <a:xfrm>
            <a:off x="411480" y="1554480"/>
            <a:ext cx="3630168" cy="384048"/>
          </a:xfrm>
          <a:prstGeom prst="rect">
            <a:avLst/>
          </a:prstGeom>
          <a:noFill/>
          <a:ln/>
        </p:spPr>
        <p:txBody>
          <a:bodyPr wrap="square" lIns="0" tIns="0" rIns="0" bIns="0" rtlCol="0" anchor="ctr"/>
          <a:lstStyle/>
          <a:p>
            <a:pPr algn="ctr" indent="0" marL="0">
              <a:buNone/>
            </a:pPr>
            <a:r>
              <a:rPr lang="en-US" sz="1300" b="1" spc="100" kern="0" dirty="0">
                <a:solidFill>
                  <a:srgbClr val="FFFFFF"/>
                </a:solidFill>
                <a:latin typeface="Calibri" pitchFamily="34" charset="0"/>
                <a:ea typeface="Calibri" pitchFamily="34" charset="-122"/>
                <a:cs typeface="Calibri" pitchFamily="34" charset="-120"/>
              </a:rPr>
              <a:t>1 · SENSE demand early</a:t>
            </a:r>
            <a:endParaRPr lang="en-US" sz="1300" dirty="0"/>
          </a:p>
        </p:txBody>
      </p:sp>
      <p:sp>
        <p:nvSpPr>
          <p:cNvPr id="7" name="Shape 5"/>
          <p:cNvSpPr/>
          <p:nvPr/>
        </p:nvSpPr>
        <p:spPr>
          <a:xfrm>
            <a:off x="4078224" y="1618488"/>
            <a:ext cx="164592" cy="256032"/>
          </a:xfrm>
          <a:prstGeom prst="rightArrow">
            <a:avLst/>
          </a:prstGeom>
          <a:solidFill>
            <a:srgbClr val="A9C3EE"/>
          </a:solidFill>
          <a:ln w="12700">
            <a:solidFill>
              <a:srgbClr val="A9C3EE"/>
            </a:solidFill>
            <a:prstDash val="solid"/>
          </a:ln>
        </p:spPr>
      </p:sp>
      <p:sp>
        <p:nvSpPr>
          <p:cNvPr id="8" name="Shape 6"/>
          <p:cNvSpPr/>
          <p:nvPr/>
        </p:nvSpPr>
        <p:spPr>
          <a:xfrm>
            <a:off x="411480" y="2048256"/>
            <a:ext cx="3630168" cy="2066544"/>
          </a:xfrm>
          <a:prstGeom prst="roundRect">
            <a:avLst>
              <a:gd name="adj" fmla="val 4425"/>
            </a:avLst>
          </a:prstGeom>
          <a:solidFill>
            <a:srgbClr val="FFFFFF"/>
          </a:solidFill>
          <a:ln w="9525">
            <a:solidFill>
              <a:srgbClr val="C9D3E3"/>
            </a:solidFill>
            <a:prstDash val="solid"/>
          </a:ln>
          <a:effectLst>
            <a:outerShdw sx="100000" sy="100000" kx="0" ky="0" algn="bl" rotWithShape="0" blurRad="50800" dist="19050" dir="5400000">
              <a:srgbClr val="9AA5B8">
                <a:alpha val="35000"/>
              </a:srgbClr>
            </a:outerShdw>
          </a:effectLst>
        </p:spPr>
      </p:sp>
      <p:sp>
        <p:nvSpPr>
          <p:cNvPr id="9" name="Shape 7"/>
          <p:cNvSpPr/>
          <p:nvPr/>
        </p:nvSpPr>
        <p:spPr>
          <a:xfrm>
            <a:off x="539496" y="2176272"/>
            <a:ext cx="438912" cy="438912"/>
          </a:xfrm>
          <a:prstGeom prst="ellipse">
            <a:avLst/>
          </a:prstGeom>
          <a:solidFill>
            <a:srgbClr val="1F4E9A"/>
          </a:solidFill>
          <a:ln w="12700">
            <a:solidFill>
              <a:srgbClr val="1F4E9A"/>
            </a:solidFill>
            <a:prstDash val="solid"/>
          </a:ln>
        </p:spPr>
      </p:sp>
      <p:pic>
        <p:nvPicPr>
          <p:cNvPr id="10" name="Image 0" descr="preencoded.png">    </p:cNvPr>
          <p:cNvPicPr>
            <a:picLocks noChangeAspect="1"/>
          </p:cNvPicPr>
          <p:nvPr/>
        </p:nvPicPr>
        <p:blipFill>
          <a:blip r:embed="rId1"/>
          <a:stretch>
            <a:fillRect/>
          </a:stretch>
        </p:blipFill>
        <p:spPr>
          <a:xfrm>
            <a:off x="636057" y="2272833"/>
            <a:ext cx="245791" cy="245791"/>
          </a:xfrm>
          <a:prstGeom prst="rect">
            <a:avLst/>
          </a:prstGeom>
        </p:spPr>
      </p:pic>
      <p:sp>
        <p:nvSpPr>
          <p:cNvPr id="11" name="Text 8"/>
          <p:cNvSpPr txBox="1"/>
          <p:nvPr/>
        </p:nvSpPr>
        <p:spPr>
          <a:xfrm>
            <a:off x="1088136" y="2139696"/>
            <a:ext cx="2843784" cy="274320"/>
          </a:xfrm>
          <a:prstGeom prst="rect">
            <a:avLst/>
          </a:prstGeom>
          <a:noFill/>
          <a:ln/>
        </p:spPr>
        <p:txBody>
          <a:bodyPr wrap="square" lIns="0" tIns="0" rIns="0" bIns="0" rtlCol="0" anchor="ctr"/>
          <a:lstStyle/>
          <a:p>
            <a:pPr indent="0" marL="0">
              <a:buNone/>
            </a:pPr>
            <a:r>
              <a:rPr lang="en-US" sz="1250" b="1" dirty="0">
                <a:solidFill>
                  <a:srgbClr val="13285B"/>
                </a:solidFill>
                <a:latin typeface="Calibri" pitchFamily="34" charset="0"/>
                <a:ea typeface="Calibri" pitchFamily="34" charset="-122"/>
                <a:cs typeface="Calibri" pitchFamily="34" charset="-120"/>
              </a:rPr>
              <a:t>SEO &amp; search-intent gaps</a:t>
            </a:r>
            <a:endParaRPr lang="en-US" sz="1250" dirty="0"/>
          </a:p>
        </p:txBody>
      </p:sp>
      <p:sp>
        <p:nvSpPr>
          <p:cNvPr id="12" name="Text 9"/>
          <p:cNvSpPr txBox="1"/>
          <p:nvPr/>
        </p:nvSpPr>
        <p:spPr>
          <a:xfrm>
            <a:off x="1088136" y="2414016"/>
            <a:ext cx="2843784" cy="219456"/>
          </a:xfrm>
          <a:prstGeom prst="rect">
            <a:avLst/>
          </a:prstGeom>
          <a:noFill/>
          <a:ln/>
        </p:spPr>
        <p:txBody>
          <a:bodyPr wrap="square" lIns="0" tIns="0" rIns="0" bIns="0" rtlCol="0" anchor="ctr"/>
          <a:lstStyle/>
          <a:p>
            <a:pPr indent="0" marL="0">
              <a:buNone/>
            </a:pPr>
            <a:r>
              <a:rPr lang="en-US" sz="1000" i="1" dirty="0">
                <a:solidFill>
                  <a:srgbClr val="2F6FD0"/>
                </a:solidFill>
                <a:latin typeface="Calibri" pitchFamily="34" charset="0"/>
                <a:ea typeface="Calibri" pitchFamily="34" charset="-122"/>
                <a:cs typeface="Calibri" pitchFamily="34" charset="-120"/>
              </a:rPr>
              <a:t>What do shoppers search for but not find?</a:t>
            </a:r>
            <a:endParaRPr lang="en-US" sz="1000" dirty="0"/>
          </a:p>
        </p:txBody>
      </p:sp>
      <p:sp>
        <p:nvSpPr>
          <p:cNvPr id="13" name="Text 10"/>
          <p:cNvSpPr txBox="1"/>
          <p:nvPr/>
        </p:nvSpPr>
        <p:spPr>
          <a:xfrm>
            <a:off x="594360" y="2724912"/>
            <a:ext cx="3337560" cy="749808"/>
          </a:xfrm>
          <a:prstGeom prst="rect">
            <a:avLst/>
          </a:prstGeom>
          <a:noFill/>
          <a:ln/>
        </p:spPr>
        <p:txBody>
          <a:bodyPr wrap="square" lIns="0" tIns="0" rIns="0" bIns="0" rtlCol="0" anchor="t"/>
          <a:lstStyle/>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Map on-site searches &amp; SEO keywords to archetypes</a:t>
            </a:r>
            <a:endParaRPr lang="en-US" sz="1000" dirty="0"/>
          </a:p>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Flag zero-result searches &amp; keywords rivals win</a:t>
            </a:r>
            <a:endParaRPr lang="en-US" sz="1000" dirty="0"/>
          </a:p>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Feed seller recruiting &amp; product pages</a:t>
            </a:r>
            <a:endParaRPr lang="en-US" sz="1000" dirty="0"/>
          </a:p>
        </p:txBody>
      </p:sp>
      <p:sp>
        <p:nvSpPr>
          <p:cNvPr id="14" name="Shape 11"/>
          <p:cNvSpPr/>
          <p:nvPr/>
        </p:nvSpPr>
        <p:spPr>
          <a:xfrm>
            <a:off x="502920" y="3529584"/>
            <a:ext cx="3447288" cy="493776"/>
          </a:xfrm>
          <a:prstGeom prst="roundRect">
            <a:avLst>
              <a:gd name="adj" fmla="val 11111"/>
            </a:avLst>
          </a:prstGeom>
          <a:solidFill>
            <a:srgbClr val="EEF3FB"/>
          </a:solidFill>
          <a:ln w="12700">
            <a:solidFill>
              <a:srgbClr val="EEF3FB"/>
            </a:solidFill>
            <a:prstDash val="solid"/>
          </a:ln>
        </p:spPr>
      </p:sp>
      <p:sp>
        <p:nvSpPr>
          <p:cNvPr id="15" name="Text 12"/>
          <p:cNvSpPr txBox="1"/>
          <p:nvPr/>
        </p:nvSpPr>
        <p:spPr>
          <a:xfrm>
            <a:off x="594360" y="3566160"/>
            <a:ext cx="1586484" cy="146304"/>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DATA</a:t>
            </a:r>
            <a:endParaRPr lang="en-US" sz="750" dirty="0"/>
          </a:p>
        </p:txBody>
      </p:sp>
      <p:sp>
        <p:nvSpPr>
          <p:cNvPr id="16" name="Text 13"/>
          <p:cNvSpPr txBox="1"/>
          <p:nvPr/>
        </p:nvSpPr>
        <p:spPr>
          <a:xfrm>
            <a:off x="594360" y="3712464"/>
            <a:ext cx="1586484" cy="292608"/>
          </a:xfrm>
          <a:prstGeom prst="rect">
            <a:avLst/>
          </a:prstGeom>
          <a:noFill/>
          <a:ln/>
        </p:spPr>
        <p:txBody>
          <a:bodyPr wrap="square" lIns="0" tIns="0" rIns="0" bIns="0" rtlCol="0" anchor="t"/>
          <a:lstStyle/>
          <a:p>
            <a:pPr indent="0" marL="0">
              <a:buNone/>
            </a:pPr>
            <a:r>
              <a:rPr lang="en-US" sz="900" b="1" dirty="0">
                <a:solidFill>
                  <a:srgbClr val="2F6FD0"/>
                </a:solidFill>
                <a:latin typeface="Calibri" pitchFamily="34" charset="0"/>
                <a:ea typeface="Calibri" pitchFamily="34" charset="-122"/>
                <a:cs typeface="Calibri" pitchFamily="34" charset="-120"/>
              </a:rPr>
              <a:t>On-site search logs · SEO keywords</a:t>
            </a:r>
            <a:endParaRPr lang="en-US" sz="900" dirty="0"/>
          </a:p>
        </p:txBody>
      </p:sp>
      <p:sp>
        <p:nvSpPr>
          <p:cNvPr id="17" name="Text 14"/>
          <p:cNvSpPr txBox="1"/>
          <p:nvPr/>
        </p:nvSpPr>
        <p:spPr>
          <a:xfrm>
            <a:off x="2272284" y="3566160"/>
            <a:ext cx="1632204" cy="146304"/>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OUTCOME</a:t>
            </a:r>
            <a:endParaRPr lang="en-US" sz="750" dirty="0"/>
          </a:p>
        </p:txBody>
      </p:sp>
      <p:sp>
        <p:nvSpPr>
          <p:cNvPr id="18" name="Text 15"/>
          <p:cNvSpPr txBox="1"/>
          <p:nvPr/>
        </p:nvSpPr>
        <p:spPr>
          <a:xfrm>
            <a:off x="2272284" y="3712464"/>
            <a:ext cx="1632204" cy="292608"/>
          </a:xfrm>
          <a:prstGeom prst="rect">
            <a:avLst/>
          </a:prstGeom>
          <a:noFill/>
          <a:ln/>
        </p:spPr>
        <p:txBody>
          <a:bodyPr wrap="square" lIns="0" tIns="0" rIns="0" bIns="0" rtlCol="0" anchor="t"/>
          <a:lstStyle/>
          <a:p>
            <a:pPr indent="0" marL="0">
              <a:buNone/>
            </a:pPr>
            <a:r>
              <a:rPr lang="en-US" sz="900" b="1" dirty="0">
                <a:solidFill>
                  <a:srgbClr val="13285B"/>
                </a:solidFill>
                <a:latin typeface="Calibri" pitchFamily="34" charset="0"/>
                <a:ea typeface="Calibri" pitchFamily="34" charset="-122"/>
                <a:cs typeface="Calibri" pitchFamily="34" charset="-120"/>
              </a:rPr>
              <a:t>Existing traffic, converted</a:t>
            </a:r>
            <a:endParaRPr lang="en-US" sz="900" dirty="0"/>
          </a:p>
        </p:txBody>
      </p:sp>
      <p:sp>
        <p:nvSpPr>
          <p:cNvPr id="19" name="Shape 16"/>
          <p:cNvSpPr/>
          <p:nvPr/>
        </p:nvSpPr>
        <p:spPr>
          <a:xfrm>
            <a:off x="411480" y="4206240"/>
            <a:ext cx="3630168" cy="2066544"/>
          </a:xfrm>
          <a:prstGeom prst="roundRect">
            <a:avLst>
              <a:gd name="adj" fmla="val 4425"/>
            </a:avLst>
          </a:prstGeom>
          <a:solidFill>
            <a:srgbClr val="FFFFFF"/>
          </a:solidFill>
          <a:ln w="9525">
            <a:solidFill>
              <a:srgbClr val="C9D3E3"/>
            </a:solidFill>
            <a:prstDash val="solid"/>
          </a:ln>
          <a:effectLst>
            <a:outerShdw sx="100000" sy="100000" kx="0" ky="0" algn="bl" rotWithShape="0" blurRad="50800" dist="19050" dir="5400000">
              <a:srgbClr val="9AA5B8">
                <a:alpha val="35000"/>
              </a:srgbClr>
            </a:outerShdw>
          </a:effectLst>
        </p:spPr>
      </p:sp>
      <p:sp>
        <p:nvSpPr>
          <p:cNvPr id="20" name="Shape 17"/>
          <p:cNvSpPr/>
          <p:nvPr/>
        </p:nvSpPr>
        <p:spPr>
          <a:xfrm>
            <a:off x="539496" y="4334256"/>
            <a:ext cx="438912" cy="438912"/>
          </a:xfrm>
          <a:prstGeom prst="ellipse">
            <a:avLst/>
          </a:prstGeom>
          <a:solidFill>
            <a:srgbClr val="1F4E9A"/>
          </a:solidFill>
          <a:ln w="12700">
            <a:solidFill>
              <a:srgbClr val="1F4E9A"/>
            </a:solidFill>
            <a:prstDash val="solid"/>
          </a:ln>
        </p:spPr>
      </p:sp>
      <p:pic>
        <p:nvPicPr>
          <p:cNvPr id="21" name="Image 1" descr="preencoded.png">    </p:cNvPr>
          <p:cNvPicPr>
            <a:picLocks noChangeAspect="1"/>
          </p:cNvPicPr>
          <p:nvPr/>
        </p:nvPicPr>
        <p:blipFill>
          <a:blip r:embed="rId2"/>
          <a:stretch>
            <a:fillRect/>
          </a:stretch>
        </p:blipFill>
        <p:spPr>
          <a:xfrm>
            <a:off x="636057" y="4430817"/>
            <a:ext cx="245791" cy="245791"/>
          </a:xfrm>
          <a:prstGeom prst="rect">
            <a:avLst/>
          </a:prstGeom>
        </p:spPr>
      </p:pic>
      <p:sp>
        <p:nvSpPr>
          <p:cNvPr id="22" name="Text 18"/>
          <p:cNvSpPr txBox="1"/>
          <p:nvPr/>
        </p:nvSpPr>
        <p:spPr>
          <a:xfrm>
            <a:off x="1088136" y="4297680"/>
            <a:ext cx="2843784" cy="274320"/>
          </a:xfrm>
          <a:prstGeom prst="rect">
            <a:avLst/>
          </a:prstGeom>
          <a:noFill/>
          <a:ln/>
        </p:spPr>
        <p:txBody>
          <a:bodyPr wrap="square" lIns="0" tIns="0" rIns="0" bIns="0" rtlCol="0" anchor="ctr"/>
          <a:lstStyle/>
          <a:p>
            <a:pPr indent="0" marL="0">
              <a:buNone/>
            </a:pPr>
            <a:r>
              <a:rPr lang="en-US" sz="1250" b="1" dirty="0">
                <a:solidFill>
                  <a:srgbClr val="13285B"/>
                </a:solidFill>
                <a:latin typeface="Calibri" pitchFamily="34" charset="0"/>
                <a:ea typeface="Calibri" pitchFamily="34" charset="-122"/>
                <a:cs typeface="Calibri" pitchFamily="34" charset="-120"/>
              </a:rPr>
              <a:t>Social media &amp; trend listening</a:t>
            </a:r>
            <a:endParaRPr lang="en-US" sz="1250" dirty="0"/>
          </a:p>
        </p:txBody>
      </p:sp>
      <p:sp>
        <p:nvSpPr>
          <p:cNvPr id="23" name="Text 19"/>
          <p:cNvSpPr txBox="1"/>
          <p:nvPr/>
        </p:nvSpPr>
        <p:spPr>
          <a:xfrm>
            <a:off x="1088136" y="4572000"/>
            <a:ext cx="2843784" cy="219456"/>
          </a:xfrm>
          <a:prstGeom prst="rect">
            <a:avLst/>
          </a:prstGeom>
          <a:noFill/>
          <a:ln/>
        </p:spPr>
        <p:txBody>
          <a:bodyPr wrap="square" lIns="0" tIns="0" rIns="0" bIns="0" rtlCol="0" anchor="ctr"/>
          <a:lstStyle/>
          <a:p>
            <a:pPr indent="0" marL="0">
              <a:buNone/>
            </a:pPr>
            <a:r>
              <a:rPr lang="en-US" sz="1000" i="1" dirty="0">
                <a:solidFill>
                  <a:srgbClr val="2F6FD0"/>
                </a:solidFill>
                <a:latin typeface="Calibri" pitchFamily="34" charset="0"/>
                <a:ea typeface="Calibri" pitchFamily="34" charset="-122"/>
                <a:cs typeface="Calibri" pitchFamily="34" charset="-120"/>
              </a:rPr>
              <a:t>Which styles are taking off?</a:t>
            </a:r>
            <a:endParaRPr lang="en-US" sz="1000" dirty="0"/>
          </a:p>
        </p:txBody>
      </p:sp>
      <p:sp>
        <p:nvSpPr>
          <p:cNvPr id="24" name="Text 20"/>
          <p:cNvSpPr txBox="1"/>
          <p:nvPr/>
        </p:nvSpPr>
        <p:spPr>
          <a:xfrm>
            <a:off x="594360" y="4882896"/>
            <a:ext cx="3337560" cy="749808"/>
          </a:xfrm>
          <a:prstGeom prst="rect">
            <a:avLst/>
          </a:prstGeom>
          <a:noFill/>
          <a:ln/>
        </p:spPr>
        <p:txBody>
          <a:bodyPr wrap="square" lIns="0" tIns="0" rIns="0" bIns="0" rtlCol="0" anchor="t"/>
          <a:lstStyle/>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Track archetype mentions &amp; saves on TikTok, Pinterest, Reddit</a:t>
            </a:r>
            <a:endParaRPr lang="en-US" sz="1000" dirty="0"/>
          </a:p>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Add Google Trends; score growth &amp; sentiment</a:t>
            </a:r>
            <a:endParaRPr lang="en-US" sz="1000" dirty="0"/>
          </a:p>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Flag rising styles for Explore nodes</a:t>
            </a:r>
            <a:endParaRPr lang="en-US" sz="1000" dirty="0"/>
          </a:p>
        </p:txBody>
      </p:sp>
      <p:sp>
        <p:nvSpPr>
          <p:cNvPr id="25" name="Shape 21"/>
          <p:cNvSpPr/>
          <p:nvPr/>
        </p:nvSpPr>
        <p:spPr>
          <a:xfrm>
            <a:off x="502920" y="5687568"/>
            <a:ext cx="3447288" cy="493776"/>
          </a:xfrm>
          <a:prstGeom prst="roundRect">
            <a:avLst>
              <a:gd name="adj" fmla="val 11111"/>
            </a:avLst>
          </a:prstGeom>
          <a:solidFill>
            <a:srgbClr val="EEF3FB"/>
          </a:solidFill>
          <a:ln w="12700">
            <a:solidFill>
              <a:srgbClr val="EEF3FB"/>
            </a:solidFill>
            <a:prstDash val="solid"/>
          </a:ln>
        </p:spPr>
      </p:sp>
      <p:sp>
        <p:nvSpPr>
          <p:cNvPr id="26" name="Text 22"/>
          <p:cNvSpPr txBox="1"/>
          <p:nvPr/>
        </p:nvSpPr>
        <p:spPr>
          <a:xfrm>
            <a:off x="594360" y="5724144"/>
            <a:ext cx="1586484" cy="146304"/>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DATA</a:t>
            </a:r>
            <a:endParaRPr lang="en-US" sz="750" dirty="0"/>
          </a:p>
        </p:txBody>
      </p:sp>
      <p:sp>
        <p:nvSpPr>
          <p:cNvPr id="27" name="Text 23"/>
          <p:cNvSpPr txBox="1"/>
          <p:nvPr/>
        </p:nvSpPr>
        <p:spPr>
          <a:xfrm>
            <a:off x="594360" y="5870448"/>
            <a:ext cx="1586484" cy="292608"/>
          </a:xfrm>
          <a:prstGeom prst="rect">
            <a:avLst/>
          </a:prstGeom>
          <a:noFill/>
          <a:ln/>
        </p:spPr>
        <p:txBody>
          <a:bodyPr wrap="square" lIns="0" tIns="0" rIns="0" bIns="0" rtlCol="0" anchor="t"/>
          <a:lstStyle/>
          <a:p>
            <a:pPr indent="0" marL="0">
              <a:buNone/>
            </a:pPr>
            <a:r>
              <a:rPr lang="en-US" sz="900" b="1" dirty="0">
                <a:solidFill>
                  <a:srgbClr val="2F6FD0"/>
                </a:solidFill>
                <a:latin typeface="Calibri" pitchFamily="34" charset="0"/>
                <a:ea typeface="Calibri" pitchFamily="34" charset="-122"/>
                <a:cs typeface="Calibri" pitchFamily="34" charset="-120"/>
              </a:rPr>
              <a:t>Social &amp; trend data + Staples sales</a:t>
            </a:r>
            <a:endParaRPr lang="en-US" sz="900" dirty="0"/>
          </a:p>
        </p:txBody>
      </p:sp>
      <p:sp>
        <p:nvSpPr>
          <p:cNvPr id="28" name="Text 24"/>
          <p:cNvSpPr txBox="1"/>
          <p:nvPr/>
        </p:nvSpPr>
        <p:spPr>
          <a:xfrm>
            <a:off x="2272284" y="5724144"/>
            <a:ext cx="1632204" cy="146304"/>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OUTCOME</a:t>
            </a:r>
            <a:endParaRPr lang="en-US" sz="750" dirty="0"/>
          </a:p>
        </p:txBody>
      </p:sp>
      <p:sp>
        <p:nvSpPr>
          <p:cNvPr id="29" name="Text 25"/>
          <p:cNvSpPr txBox="1"/>
          <p:nvPr/>
        </p:nvSpPr>
        <p:spPr>
          <a:xfrm>
            <a:off x="2272284" y="5870448"/>
            <a:ext cx="1632204" cy="292608"/>
          </a:xfrm>
          <a:prstGeom prst="rect">
            <a:avLst/>
          </a:prstGeom>
          <a:noFill/>
          <a:ln/>
        </p:spPr>
        <p:txBody>
          <a:bodyPr wrap="square" lIns="0" tIns="0" rIns="0" bIns="0" rtlCol="0" anchor="t"/>
          <a:lstStyle/>
          <a:p>
            <a:pPr indent="0" marL="0">
              <a:buNone/>
            </a:pPr>
            <a:r>
              <a:rPr lang="en-US" sz="900" b="1" dirty="0">
                <a:solidFill>
                  <a:srgbClr val="13285B"/>
                </a:solidFill>
                <a:latin typeface="Calibri" pitchFamily="34" charset="0"/>
                <a:ea typeface="Calibri" pitchFamily="34" charset="-122"/>
                <a:cs typeface="Calibri" pitchFamily="34" charset="-120"/>
              </a:rPr>
              <a:t>Spot the next "White Chair" early</a:t>
            </a:r>
            <a:endParaRPr lang="en-US" sz="900" dirty="0"/>
          </a:p>
        </p:txBody>
      </p:sp>
      <p:sp>
        <p:nvSpPr>
          <p:cNvPr id="30" name="Shape 26"/>
          <p:cNvSpPr/>
          <p:nvPr/>
        </p:nvSpPr>
        <p:spPr>
          <a:xfrm>
            <a:off x="4279392" y="1554480"/>
            <a:ext cx="3630168" cy="384048"/>
          </a:xfrm>
          <a:prstGeom prst="roundRect">
            <a:avLst>
              <a:gd name="adj" fmla="val 19048"/>
            </a:avLst>
          </a:prstGeom>
          <a:solidFill>
            <a:srgbClr val="2F6FD0"/>
          </a:solidFill>
          <a:ln w="12700">
            <a:solidFill>
              <a:srgbClr val="2F6FD0"/>
            </a:solidFill>
            <a:prstDash val="solid"/>
          </a:ln>
        </p:spPr>
      </p:sp>
      <p:sp>
        <p:nvSpPr>
          <p:cNvPr id="31" name="Text 27"/>
          <p:cNvSpPr txBox="1"/>
          <p:nvPr/>
        </p:nvSpPr>
        <p:spPr>
          <a:xfrm>
            <a:off x="4279392" y="1554480"/>
            <a:ext cx="3630168" cy="384048"/>
          </a:xfrm>
          <a:prstGeom prst="rect">
            <a:avLst/>
          </a:prstGeom>
          <a:noFill/>
          <a:ln/>
        </p:spPr>
        <p:txBody>
          <a:bodyPr wrap="square" lIns="0" tIns="0" rIns="0" bIns="0" rtlCol="0" anchor="ctr"/>
          <a:lstStyle/>
          <a:p>
            <a:pPr algn="ctr" indent="0" marL="0">
              <a:buNone/>
            </a:pPr>
            <a:r>
              <a:rPr lang="en-US" sz="1300" b="1" spc="100" kern="0" dirty="0">
                <a:solidFill>
                  <a:srgbClr val="FFFFFF"/>
                </a:solidFill>
                <a:latin typeface="Calibri" pitchFamily="34" charset="0"/>
                <a:ea typeface="Calibri" pitchFamily="34" charset="-122"/>
                <a:cs typeface="Calibri" pitchFamily="34" charset="-120"/>
              </a:rPr>
              <a:t>2 · SIZE &amp; VALIDATE</a:t>
            </a:r>
            <a:endParaRPr lang="en-US" sz="1300" dirty="0"/>
          </a:p>
        </p:txBody>
      </p:sp>
      <p:sp>
        <p:nvSpPr>
          <p:cNvPr id="32" name="Shape 28"/>
          <p:cNvSpPr/>
          <p:nvPr/>
        </p:nvSpPr>
        <p:spPr>
          <a:xfrm>
            <a:off x="7946136" y="1618488"/>
            <a:ext cx="164592" cy="256032"/>
          </a:xfrm>
          <a:prstGeom prst="rightArrow">
            <a:avLst/>
          </a:prstGeom>
          <a:solidFill>
            <a:srgbClr val="A9C3EE"/>
          </a:solidFill>
          <a:ln w="12700">
            <a:solidFill>
              <a:srgbClr val="A9C3EE"/>
            </a:solidFill>
            <a:prstDash val="solid"/>
          </a:ln>
        </p:spPr>
      </p:sp>
      <p:sp>
        <p:nvSpPr>
          <p:cNvPr id="33" name="Shape 29"/>
          <p:cNvSpPr/>
          <p:nvPr/>
        </p:nvSpPr>
        <p:spPr>
          <a:xfrm>
            <a:off x="4279392" y="2048256"/>
            <a:ext cx="3630168" cy="2066544"/>
          </a:xfrm>
          <a:prstGeom prst="roundRect">
            <a:avLst>
              <a:gd name="adj" fmla="val 4425"/>
            </a:avLst>
          </a:prstGeom>
          <a:solidFill>
            <a:srgbClr val="FFFFFF"/>
          </a:solidFill>
          <a:ln w="9525">
            <a:solidFill>
              <a:srgbClr val="C9D3E3"/>
            </a:solidFill>
            <a:prstDash val="solid"/>
          </a:ln>
          <a:effectLst>
            <a:outerShdw sx="100000" sy="100000" kx="0" ky="0" algn="bl" rotWithShape="0" blurRad="50800" dist="19050" dir="5400000">
              <a:srgbClr val="9AA5B8">
                <a:alpha val="35000"/>
              </a:srgbClr>
            </a:outerShdw>
          </a:effectLst>
        </p:spPr>
      </p:sp>
      <p:sp>
        <p:nvSpPr>
          <p:cNvPr id="34" name="Shape 30"/>
          <p:cNvSpPr/>
          <p:nvPr/>
        </p:nvSpPr>
        <p:spPr>
          <a:xfrm>
            <a:off x="4407408" y="2176272"/>
            <a:ext cx="438912" cy="438912"/>
          </a:xfrm>
          <a:prstGeom prst="ellipse">
            <a:avLst/>
          </a:prstGeom>
          <a:solidFill>
            <a:srgbClr val="2F6FD0"/>
          </a:solidFill>
          <a:ln w="12700">
            <a:solidFill>
              <a:srgbClr val="2F6FD0"/>
            </a:solidFill>
            <a:prstDash val="solid"/>
          </a:ln>
        </p:spPr>
      </p:sp>
      <p:pic>
        <p:nvPicPr>
          <p:cNvPr id="35" name="Image 2" descr="preencoded.png">    </p:cNvPr>
          <p:cNvPicPr>
            <a:picLocks noChangeAspect="1"/>
          </p:cNvPicPr>
          <p:nvPr/>
        </p:nvPicPr>
        <p:blipFill>
          <a:blip r:embed="rId3"/>
          <a:stretch>
            <a:fillRect/>
          </a:stretch>
        </p:blipFill>
        <p:spPr>
          <a:xfrm>
            <a:off x="4503969" y="2272833"/>
            <a:ext cx="245791" cy="245791"/>
          </a:xfrm>
          <a:prstGeom prst="rect">
            <a:avLst/>
          </a:prstGeom>
        </p:spPr>
      </p:pic>
      <p:sp>
        <p:nvSpPr>
          <p:cNvPr id="36" name="Text 31"/>
          <p:cNvSpPr txBox="1"/>
          <p:nvPr/>
        </p:nvSpPr>
        <p:spPr>
          <a:xfrm>
            <a:off x="4956048" y="2139696"/>
            <a:ext cx="2843784" cy="274320"/>
          </a:xfrm>
          <a:prstGeom prst="rect">
            <a:avLst/>
          </a:prstGeom>
          <a:noFill/>
          <a:ln/>
        </p:spPr>
        <p:txBody>
          <a:bodyPr wrap="square" lIns="0" tIns="0" rIns="0" bIns="0" rtlCol="0" anchor="ctr"/>
          <a:lstStyle/>
          <a:p>
            <a:pPr indent="0" marL="0">
              <a:buNone/>
            </a:pPr>
            <a:r>
              <a:rPr lang="en-US" sz="1250" b="1" dirty="0">
                <a:solidFill>
                  <a:srgbClr val="13285B"/>
                </a:solidFill>
                <a:latin typeface="Calibri" pitchFamily="34" charset="0"/>
                <a:ea typeface="Calibri" pitchFamily="34" charset="-122"/>
                <a:cs typeface="Calibri" pitchFamily="34" charset="-120"/>
              </a:rPr>
              <a:t>Market research &amp; customer surveys</a:t>
            </a:r>
            <a:endParaRPr lang="en-US" sz="1250" dirty="0"/>
          </a:p>
        </p:txBody>
      </p:sp>
      <p:sp>
        <p:nvSpPr>
          <p:cNvPr id="37" name="Text 32"/>
          <p:cNvSpPr txBox="1"/>
          <p:nvPr/>
        </p:nvSpPr>
        <p:spPr>
          <a:xfrm>
            <a:off x="4956048" y="2414016"/>
            <a:ext cx="2843784" cy="219456"/>
          </a:xfrm>
          <a:prstGeom prst="rect">
            <a:avLst/>
          </a:prstGeom>
          <a:noFill/>
          <a:ln/>
        </p:spPr>
        <p:txBody>
          <a:bodyPr wrap="square" lIns="0" tIns="0" rIns="0" bIns="0" rtlCol="0" anchor="ctr"/>
          <a:lstStyle/>
          <a:p>
            <a:pPr indent="0" marL="0">
              <a:buNone/>
            </a:pPr>
            <a:r>
              <a:rPr lang="en-US" sz="1000" i="1" dirty="0">
                <a:solidFill>
                  <a:srgbClr val="2F6FD0"/>
                </a:solidFill>
                <a:latin typeface="Calibri" pitchFamily="34" charset="0"/>
                <a:ea typeface="Calibri" pitchFamily="34" charset="-122"/>
                <a:cs typeface="Calibri" pitchFamily="34" charset="-120"/>
              </a:rPr>
              <a:t>What do Staples customers actually want?</a:t>
            </a:r>
            <a:endParaRPr lang="en-US" sz="1000" dirty="0"/>
          </a:p>
        </p:txBody>
      </p:sp>
      <p:sp>
        <p:nvSpPr>
          <p:cNvPr id="38" name="Text 33"/>
          <p:cNvSpPr txBox="1"/>
          <p:nvPr/>
        </p:nvSpPr>
        <p:spPr>
          <a:xfrm>
            <a:off x="4462272" y="2724912"/>
            <a:ext cx="3337560" cy="749808"/>
          </a:xfrm>
          <a:prstGeom prst="rect">
            <a:avLst/>
          </a:prstGeom>
          <a:noFill/>
          <a:ln/>
        </p:spPr>
        <p:txBody>
          <a:bodyPr wrap="square" lIns="0" tIns="0" rIns="0" bIns="0" rtlCol="0" anchor="t"/>
          <a:lstStyle/>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Survey B2B &amp; B2C customers on needs, style &amp; price</a:t>
            </a:r>
            <a:endParaRPr lang="en-US" sz="1000" dirty="0"/>
          </a:p>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Concept-test the top archetypes with images</a:t>
            </a:r>
            <a:endParaRPr lang="en-US" sz="1000" dirty="0"/>
          </a:p>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Feed results into the prioritisation weights</a:t>
            </a:r>
            <a:endParaRPr lang="en-US" sz="1000" dirty="0"/>
          </a:p>
        </p:txBody>
      </p:sp>
      <p:sp>
        <p:nvSpPr>
          <p:cNvPr id="39" name="Shape 34"/>
          <p:cNvSpPr/>
          <p:nvPr/>
        </p:nvSpPr>
        <p:spPr>
          <a:xfrm>
            <a:off x="4370832" y="3529584"/>
            <a:ext cx="3447288" cy="493776"/>
          </a:xfrm>
          <a:prstGeom prst="roundRect">
            <a:avLst>
              <a:gd name="adj" fmla="val 11111"/>
            </a:avLst>
          </a:prstGeom>
          <a:solidFill>
            <a:srgbClr val="EEF3FB"/>
          </a:solidFill>
          <a:ln w="12700">
            <a:solidFill>
              <a:srgbClr val="EEF3FB"/>
            </a:solidFill>
            <a:prstDash val="solid"/>
          </a:ln>
        </p:spPr>
      </p:sp>
      <p:sp>
        <p:nvSpPr>
          <p:cNvPr id="40" name="Text 35"/>
          <p:cNvSpPr txBox="1"/>
          <p:nvPr/>
        </p:nvSpPr>
        <p:spPr>
          <a:xfrm>
            <a:off x="4462272" y="3566160"/>
            <a:ext cx="1586484" cy="146304"/>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DATA</a:t>
            </a:r>
            <a:endParaRPr lang="en-US" sz="750" dirty="0"/>
          </a:p>
        </p:txBody>
      </p:sp>
      <p:sp>
        <p:nvSpPr>
          <p:cNvPr id="41" name="Text 36"/>
          <p:cNvSpPr txBox="1"/>
          <p:nvPr/>
        </p:nvSpPr>
        <p:spPr>
          <a:xfrm>
            <a:off x="4462272" y="3712464"/>
            <a:ext cx="1586484" cy="292608"/>
          </a:xfrm>
          <a:prstGeom prst="rect">
            <a:avLst/>
          </a:prstGeom>
          <a:noFill/>
          <a:ln/>
        </p:spPr>
        <p:txBody>
          <a:bodyPr wrap="square" lIns="0" tIns="0" rIns="0" bIns="0" rtlCol="0" anchor="t"/>
          <a:lstStyle/>
          <a:p>
            <a:pPr indent="0" marL="0">
              <a:buNone/>
            </a:pPr>
            <a:r>
              <a:rPr lang="en-US" sz="900" b="1" dirty="0">
                <a:solidFill>
                  <a:srgbClr val="2F6FD0"/>
                </a:solidFill>
                <a:latin typeface="Calibri" pitchFamily="34" charset="0"/>
                <a:ea typeface="Calibri" pitchFamily="34" charset="-122"/>
                <a:cs typeface="Calibri" pitchFamily="34" charset="-120"/>
              </a:rPr>
              <a:t>Customer panel · email base</a:t>
            </a:r>
            <a:endParaRPr lang="en-US" sz="900" dirty="0"/>
          </a:p>
        </p:txBody>
      </p:sp>
      <p:sp>
        <p:nvSpPr>
          <p:cNvPr id="42" name="Text 37"/>
          <p:cNvSpPr txBox="1"/>
          <p:nvPr/>
        </p:nvSpPr>
        <p:spPr>
          <a:xfrm>
            <a:off x="6140196" y="3566160"/>
            <a:ext cx="1632204" cy="146304"/>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OUTCOME</a:t>
            </a:r>
            <a:endParaRPr lang="en-US" sz="750" dirty="0"/>
          </a:p>
        </p:txBody>
      </p:sp>
      <p:sp>
        <p:nvSpPr>
          <p:cNvPr id="43" name="Text 38"/>
          <p:cNvSpPr txBox="1"/>
          <p:nvPr/>
        </p:nvSpPr>
        <p:spPr>
          <a:xfrm>
            <a:off x="6140196" y="3712464"/>
            <a:ext cx="1632204" cy="292608"/>
          </a:xfrm>
          <a:prstGeom prst="rect">
            <a:avLst/>
          </a:prstGeom>
          <a:noFill/>
          <a:ln/>
        </p:spPr>
        <p:txBody>
          <a:bodyPr wrap="square" lIns="0" tIns="0" rIns="0" bIns="0" rtlCol="0" anchor="t"/>
          <a:lstStyle/>
          <a:p>
            <a:pPr indent="0" marL="0">
              <a:buNone/>
            </a:pPr>
            <a:r>
              <a:rPr lang="en-US" sz="900" b="1" dirty="0">
                <a:solidFill>
                  <a:srgbClr val="13285B"/>
                </a:solidFill>
                <a:latin typeface="Calibri" pitchFamily="34" charset="0"/>
                <a:ea typeface="Calibri" pitchFamily="34" charset="-122"/>
                <a:cs typeface="Calibri" pitchFamily="34" charset="-120"/>
              </a:rPr>
              <a:t>Picks validated by Staples' own customers</a:t>
            </a:r>
            <a:endParaRPr lang="en-US" sz="900" dirty="0"/>
          </a:p>
        </p:txBody>
      </p:sp>
      <p:sp>
        <p:nvSpPr>
          <p:cNvPr id="44" name="Shape 39"/>
          <p:cNvSpPr/>
          <p:nvPr/>
        </p:nvSpPr>
        <p:spPr>
          <a:xfrm>
            <a:off x="4279392" y="4206240"/>
            <a:ext cx="3630168" cy="2066544"/>
          </a:xfrm>
          <a:prstGeom prst="roundRect">
            <a:avLst>
              <a:gd name="adj" fmla="val 4425"/>
            </a:avLst>
          </a:prstGeom>
          <a:solidFill>
            <a:srgbClr val="FFFFFF"/>
          </a:solidFill>
          <a:ln w="9525">
            <a:solidFill>
              <a:srgbClr val="C9D3E3"/>
            </a:solidFill>
            <a:prstDash val="solid"/>
          </a:ln>
          <a:effectLst>
            <a:outerShdw sx="100000" sy="100000" kx="0" ky="0" algn="bl" rotWithShape="0" blurRad="50800" dist="19050" dir="5400000">
              <a:srgbClr val="9AA5B8">
                <a:alpha val="35000"/>
              </a:srgbClr>
            </a:outerShdw>
          </a:effectLst>
        </p:spPr>
      </p:sp>
      <p:sp>
        <p:nvSpPr>
          <p:cNvPr id="45" name="Shape 40"/>
          <p:cNvSpPr/>
          <p:nvPr/>
        </p:nvSpPr>
        <p:spPr>
          <a:xfrm>
            <a:off x="4407408" y="4334256"/>
            <a:ext cx="438912" cy="438912"/>
          </a:xfrm>
          <a:prstGeom prst="ellipse">
            <a:avLst/>
          </a:prstGeom>
          <a:solidFill>
            <a:srgbClr val="2F6FD0"/>
          </a:solidFill>
          <a:ln w="12700">
            <a:solidFill>
              <a:srgbClr val="2F6FD0"/>
            </a:solidFill>
            <a:prstDash val="solid"/>
          </a:ln>
        </p:spPr>
      </p:sp>
      <p:pic>
        <p:nvPicPr>
          <p:cNvPr id="46" name="Image 3" descr="preencoded.png">    </p:cNvPr>
          <p:cNvPicPr>
            <a:picLocks noChangeAspect="1"/>
          </p:cNvPicPr>
          <p:nvPr/>
        </p:nvPicPr>
        <p:blipFill>
          <a:blip r:embed="rId4"/>
          <a:stretch>
            <a:fillRect/>
          </a:stretch>
        </p:blipFill>
        <p:spPr>
          <a:xfrm>
            <a:off x="4503969" y="4430817"/>
            <a:ext cx="245791" cy="245791"/>
          </a:xfrm>
          <a:prstGeom prst="rect">
            <a:avLst/>
          </a:prstGeom>
        </p:spPr>
      </p:pic>
      <p:sp>
        <p:nvSpPr>
          <p:cNvPr id="47" name="Text 41"/>
          <p:cNvSpPr txBox="1"/>
          <p:nvPr/>
        </p:nvSpPr>
        <p:spPr>
          <a:xfrm>
            <a:off x="4956048" y="4297680"/>
            <a:ext cx="2843784" cy="274320"/>
          </a:xfrm>
          <a:prstGeom prst="rect">
            <a:avLst/>
          </a:prstGeom>
          <a:noFill/>
          <a:ln/>
        </p:spPr>
        <p:txBody>
          <a:bodyPr wrap="square" lIns="0" tIns="0" rIns="0" bIns="0" rtlCol="0" anchor="ctr"/>
          <a:lstStyle/>
          <a:p>
            <a:pPr indent="0" marL="0">
              <a:buNone/>
            </a:pPr>
            <a:r>
              <a:rPr lang="en-US" sz="1250" b="1" dirty="0">
                <a:solidFill>
                  <a:srgbClr val="13285B"/>
                </a:solidFill>
                <a:latin typeface="Calibri" pitchFamily="34" charset="0"/>
                <a:ea typeface="Calibri" pitchFamily="34" charset="-122"/>
                <a:cs typeface="Calibri" pitchFamily="34" charset="-120"/>
              </a:rPr>
              <a:t>Demand forecasting</a:t>
            </a:r>
            <a:endParaRPr lang="en-US" sz="1250" dirty="0"/>
          </a:p>
        </p:txBody>
      </p:sp>
      <p:sp>
        <p:nvSpPr>
          <p:cNvPr id="48" name="Text 42"/>
          <p:cNvSpPr txBox="1"/>
          <p:nvPr/>
        </p:nvSpPr>
        <p:spPr>
          <a:xfrm>
            <a:off x="4956048" y="4572000"/>
            <a:ext cx="2843784" cy="219456"/>
          </a:xfrm>
          <a:prstGeom prst="rect">
            <a:avLst/>
          </a:prstGeom>
          <a:noFill/>
          <a:ln/>
        </p:spPr>
        <p:txBody>
          <a:bodyPr wrap="square" lIns="0" tIns="0" rIns="0" bIns="0" rtlCol="0" anchor="ctr"/>
          <a:lstStyle/>
          <a:p>
            <a:pPr indent="0" marL="0">
              <a:buNone/>
            </a:pPr>
            <a:r>
              <a:rPr lang="en-US" sz="1000" i="1" dirty="0">
                <a:solidFill>
                  <a:srgbClr val="2F6FD0"/>
                </a:solidFill>
                <a:latin typeface="Calibri" pitchFamily="34" charset="0"/>
                <a:ea typeface="Calibri" pitchFamily="34" charset="-122"/>
                <a:cs typeface="Calibri" pitchFamily="34" charset="-120"/>
              </a:rPr>
              <a:t>How much will each archetype sell?</a:t>
            </a:r>
            <a:endParaRPr lang="en-US" sz="1000" dirty="0"/>
          </a:p>
        </p:txBody>
      </p:sp>
      <p:sp>
        <p:nvSpPr>
          <p:cNvPr id="49" name="Text 43"/>
          <p:cNvSpPr txBox="1"/>
          <p:nvPr/>
        </p:nvSpPr>
        <p:spPr>
          <a:xfrm>
            <a:off x="4462272" y="4882896"/>
            <a:ext cx="3337560" cy="749808"/>
          </a:xfrm>
          <a:prstGeom prst="rect">
            <a:avLst/>
          </a:prstGeom>
          <a:noFill/>
          <a:ln/>
        </p:spPr>
        <p:txBody>
          <a:bodyPr wrap="square" lIns="0" tIns="0" rIns="0" bIns="0" rtlCol="0" anchor="t"/>
          <a:lstStyle/>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Forecast demand per node &amp; archetype</a:t>
            </a:r>
            <a:endParaRPr lang="en-US" sz="1000" dirty="0"/>
          </a:p>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Add seasonality (Back-to-School) &amp; trend signals</a:t>
            </a:r>
            <a:endParaRPr lang="en-US" sz="1000" dirty="0"/>
          </a:p>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Size GMV &amp; commission before listing</a:t>
            </a:r>
            <a:endParaRPr lang="en-US" sz="1000" dirty="0"/>
          </a:p>
        </p:txBody>
      </p:sp>
      <p:sp>
        <p:nvSpPr>
          <p:cNvPr id="50" name="Shape 44"/>
          <p:cNvSpPr/>
          <p:nvPr/>
        </p:nvSpPr>
        <p:spPr>
          <a:xfrm>
            <a:off x="4370832" y="5687568"/>
            <a:ext cx="3447288" cy="493776"/>
          </a:xfrm>
          <a:prstGeom prst="roundRect">
            <a:avLst>
              <a:gd name="adj" fmla="val 11111"/>
            </a:avLst>
          </a:prstGeom>
          <a:solidFill>
            <a:srgbClr val="EEF3FB"/>
          </a:solidFill>
          <a:ln w="12700">
            <a:solidFill>
              <a:srgbClr val="EEF3FB"/>
            </a:solidFill>
            <a:prstDash val="solid"/>
          </a:ln>
        </p:spPr>
      </p:sp>
      <p:sp>
        <p:nvSpPr>
          <p:cNvPr id="51" name="Text 45"/>
          <p:cNvSpPr txBox="1"/>
          <p:nvPr/>
        </p:nvSpPr>
        <p:spPr>
          <a:xfrm>
            <a:off x="4462272" y="5724144"/>
            <a:ext cx="1586484" cy="146304"/>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DATA</a:t>
            </a:r>
            <a:endParaRPr lang="en-US" sz="750" dirty="0"/>
          </a:p>
        </p:txBody>
      </p:sp>
      <p:sp>
        <p:nvSpPr>
          <p:cNvPr id="52" name="Text 46"/>
          <p:cNvSpPr txBox="1"/>
          <p:nvPr/>
        </p:nvSpPr>
        <p:spPr>
          <a:xfrm>
            <a:off x="4462272" y="5870448"/>
            <a:ext cx="1586484" cy="292608"/>
          </a:xfrm>
          <a:prstGeom prst="rect">
            <a:avLst/>
          </a:prstGeom>
          <a:noFill/>
          <a:ln/>
        </p:spPr>
        <p:txBody>
          <a:bodyPr wrap="square" lIns="0" tIns="0" rIns="0" bIns="0" rtlCol="0" anchor="t"/>
          <a:lstStyle/>
          <a:p>
            <a:pPr indent="0" marL="0">
              <a:buNone/>
            </a:pPr>
            <a:r>
              <a:rPr lang="en-US" sz="900" b="1" dirty="0">
                <a:solidFill>
                  <a:srgbClr val="2F6FD0"/>
                </a:solidFill>
                <a:latin typeface="Calibri" pitchFamily="34" charset="0"/>
                <a:ea typeface="Calibri" pitchFamily="34" charset="-122"/>
                <a:cs typeface="Calibri" pitchFamily="34" charset="-120"/>
              </a:rPr>
              <a:t>Sales history + trend signals</a:t>
            </a:r>
            <a:endParaRPr lang="en-US" sz="900" dirty="0"/>
          </a:p>
        </p:txBody>
      </p:sp>
      <p:sp>
        <p:nvSpPr>
          <p:cNvPr id="53" name="Text 47"/>
          <p:cNvSpPr txBox="1"/>
          <p:nvPr/>
        </p:nvSpPr>
        <p:spPr>
          <a:xfrm>
            <a:off x="6140196" y="5724144"/>
            <a:ext cx="1632204" cy="146304"/>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OUTCOME</a:t>
            </a:r>
            <a:endParaRPr lang="en-US" sz="750" dirty="0"/>
          </a:p>
        </p:txBody>
      </p:sp>
      <p:sp>
        <p:nvSpPr>
          <p:cNvPr id="54" name="Text 48"/>
          <p:cNvSpPr txBox="1"/>
          <p:nvPr/>
        </p:nvSpPr>
        <p:spPr>
          <a:xfrm>
            <a:off x="6140196" y="5870448"/>
            <a:ext cx="1632204" cy="292608"/>
          </a:xfrm>
          <a:prstGeom prst="rect">
            <a:avLst/>
          </a:prstGeom>
          <a:noFill/>
          <a:ln/>
        </p:spPr>
        <p:txBody>
          <a:bodyPr wrap="square" lIns="0" tIns="0" rIns="0" bIns="0" rtlCol="0" anchor="t"/>
          <a:lstStyle/>
          <a:p>
            <a:pPr indent="0" marL="0">
              <a:buNone/>
            </a:pPr>
            <a:r>
              <a:rPr lang="en-US" sz="900" b="1" dirty="0">
                <a:solidFill>
                  <a:srgbClr val="13285B"/>
                </a:solidFill>
                <a:latin typeface="Calibri" pitchFamily="34" charset="0"/>
                <a:ea typeface="Calibri" pitchFamily="34" charset="-122"/>
                <a:cs typeface="Calibri" pitchFamily="34" charset="-120"/>
              </a:rPr>
              <a:t>Supply in place before the season</a:t>
            </a:r>
            <a:endParaRPr lang="en-US" sz="900" dirty="0"/>
          </a:p>
        </p:txBody>
      </p:sp>
      <p:sp>
        <p:nvSpPr>
          <p:cNvPr id="55" name="Shape 49"/>
          <p:cNvSpPr/>
          <p:nvPr/>
        </p:nvSpPr>
        <p:spPr>
          <a:xfrm>
            <a:off x="8147304" y="1554480"/>
            <a:ext cx="3630168" cy="384048"/>
          </a:xfrm>
          <a:prstGeom prst="roundRect">
            <a:avLst>
              <a:gd name="adj" fmla="val 19048"/>
            </a:avLst>
          </a:prstGeom>
          <a:solidFill>
            <a:srgbClr val="13285B"/>
          </a:solidFill>
          <a:ln w="12700">
            <a:solidFill>
              <a:srgbClr val="13285B"/>
            </a:solidFill>
            <a:prstDash val="solid"/>
          </a:ln>
        </p:spPr>
      </p:sp>
      <p:sp>
        <p:nvSpPr>
          <p:cNvPr id="56" name="Text 50"/>
          <p:cNvSpPr txBox="1"/>
          <p:nvPr/>
        </p:nvSpPr>
        <p:spPr>
          <a:xfrm>
            <a:off x="8147304" y="1554480"/>
            <a:ext cx="3630168" cy="384048"/>
          </a:xfrm>
          <a:prstGeom prst="rect">
            <a:avLst/>
          </a:prstGeom>
          <a:noFill/>
          <a:ln/>
        </p:spPr>
        <p:txBody>
          <a:bodyPr wrap="square" lIns="0" tIns="0" rIns="0" bIns="0" rtlCol="0" anchor="ctr"/>
          <a:lstStyle/>
          <a:p>
            <a:pPr algn="ctr" indent="0" marL="0">
              <a:buNone/>
            </a:pPr>
            <a:r>
              <a:rPr lang="en-US" sz="1300" b="1" spc="100" kern="0" dirty="0">
                <a:solidFill>
                  <a:srgbClr val="FFFFFF"/>
                </a:solidFill>
                <a:latin typeface="Calibri" pitchFamily="34" charset="0"/>
                <a:ea typeface="Calibri" pitchFamily="34" charset="-122"/>
                <a:cs typeface="Calibri" pitchFamily="34" charset="-120"/>
              </a:rPr>
              <a:t>3 · ACT on basket &amp; catalog</a:t>
            </a:r>
            <a:endParaRPr lang="en-US" sz="1300" dirty="0"/>
          </a:p>
        </p:txBody>
      </p:sp>
      <p:sp>
        <p:nvSpPr>
          <p:cNvPr id="57" name="Shape 51"/>
          <p:cNvSpPr/>
          <p:nvPr/>
        </p:nvSpPr>
        <p:spPr>
          <a:xfrm>
            <a:off x="8147304" y="2048256"/>
            <a:ext cx="3630168" cy="2066544"/>
          </a:xfrm>
          <a:prstGeom prst="roundRect">
            <a:avLst>
              <a:gd name="adj" fmla="val 4425"/>
            </a:avLst>
          </a:prstGeom>
          <a:solidFill>
            <a:srgbClr val="FFFFFF"/>
          </a:solidFill>
          <a:ln w="9525">
            <a:solidFill>
              <a:srgbClr val="C9D3E3"/>
            </a:solidFill>
            <a:prstDash val="solid"/>
          </a:ln>
          <a:effectLst>
            <a:outerShdw sx="100000" sy="100000" kx="0" ky="0" algn="bl" rotWithShape="0" blurRad="50800" dist="19050" dir="5400000">
              <a:srgbClr val="9AA5B8">
                <a:alpha val="35000"/>
              </a:srgbClr>
            </a:outerShdw>
          </a:effectLst>
        </p:spPr>
      </p:sp>
      <p:sp>
        <p:nvSpPr>
          <p:cNvPr id="58" name="Shape 52"/>
          <p:cNvSpPr/>
          <p:nvPr/>
        </p:nvSpPr>
        <p:spPr>
          <a:xfrm>
            <a:off x="8275320" y="2176272"/>
            <a:ext cx="438912" cy="438912"/>
          </a:xfrm>
          <a:prstGeom prst="ellipse">
            <a:avLst/>
          </a:prstGeom>
          <a:solidFill>
            <a:srgbClr val="13285B"/>
          </a:solidFill>
          <a:ln w="12700">
            <a:solidFill>
              <a:srgbClr val="13285B"/>
            </a:solidFill>
            <a:prstDash val="solid"/>
          </a:ln>
        </p:spPr>
      </p:sp>
      <p:pic>
        <p:nvPicPr>
          <p:cNvPr id="59" name="Image 4" descr="preencoded.png">    </p:cNvPr>
          <p:cNvPicPr>
            <a:picLocks noChangeAspect="1"/>
          </p:cNvPicPr>
          <p:nvPr/>
        </p:nvPicPr>
        <p:blipFill>
          <a:blip r:embed="rId5"/>
          <a:stretch>
            <a:fillRect/>
          </a:stretch>
        </p:blipFill>
        <p:spPr>
          <a:xfrm>
            <a:off x="8371881" y="2272833"/>
            <a:ext cx="245791" cy="245791"/>
          </a:xfrm>
          <a:prstGeom prst="rect">
            <a:avLst/>
          </a:prstGeom>
        </p:spPr>
      </p:pic>
      <p:sp>
        <p:nvSpPr>
          <p:cNvPr id="60" name="Text 53"/>
          <p:cNvSpPr txBox="1"/>
          <p:nvPr/>
        </p:nvSpPr>
        <p:spPr>
          <a:xfrm>
            <a:off x="8823960" y="2139696"/>
            <a:ext cx="2843784" cy="274320"/>
          </a:xfrm>
          <a:prstGeom prst="rect">
            <a:avLst/>
          </a:prstGeom>
          <a:noFill/>
          <a:ln/>
        </p:spPr>
        <p:txBody>
          <a:bodyPr wrap="square" lIns="0" tIns="0" rIns="0" bIns="0" rtlCol="0" anchor="ctr"/>
          <a:lstStyle/>
          <a:p>
            <a:pPr indent="0" marL="0">
              <a:buNone/>
            </a:pPr>
            <a:r>
              <a:rPr lang="en-US" sz="1250" b="1" dirty="0">
                <a:solidFill>
                  <a:srgbClr val="13285B"/>
                </a:solidFill>
                <a:latin typeface="Calibri" pitchFamily="34" charset="0"/>
                <a:ea typeface="Calibri" pitchFamily="34" charset="-122"/>
                <a:cs typeface="Calibri" pitchFamily="34" charset="-120"/>
              </a:rPr>
              <a:t>New-category whitespace</a:t>
            </a:r>
            <a:endParaRPr lang="en-US" sz="1250" dirty="0"/>
          </a:p>
        </p:txBody>
      </p:sp>
      <p:sp>
        <p:nvSpPr>
          <p:cNvPr id="61" name="Text 54"/>
          <p:cNvSpPr txBox="1"/>
          <p:nvPr/>
        </p:nvSpPr>
        <p:spPr>
          <a:xfrm>
            <a:off x="8823960" y="2414016"/>
            <a:ext cx="2843784" cy="219456"/>
          </a:xfrm>
          <a:prstGeom prst="rect">
            <a:avLst/>
          </a:prstGeom>
          <a:noFill/>
          <a:ln/>
        </p:spPr>
        <p:txBody>
          <a:bodyPr wrap="square" lIns="0" tIns="0" rIns="0" bIns="0" rtlCol="0" anchor="ctr"/>
          <a:lstStyle/>
          <a:p>
            <a:pPr indent="0" marL="0">
              <a:buNone/>
            </a:pPr>
            <a:r>
              <a:rPr lang="en-US" sz="1000" i="1" dirty="0">
                <a:solidFill>
                  <a:srgbClr val="2F6FD0"/>
                </a:solidFill>
                <a:latin typeface="Calibri" pitchFamily="34" charset="0"/>
                <a:ea typeface="Calibri" pitchFamily="34" charset="-122"/>
                <a:cs typeface="Calibri" pitchFamily="34" charset="-120"/>
              </a:rPr>
              <a:t>Which new categories are worth opening?</a:t>
            </a:r>
            <a:endParaRPr lang="en-US" sz="1000" dirty="0"/>
          </a:p>
        </p:txBody>
      </p:sp>
      <p:sp>
        <p:nvSpPr>
          <p:cNvPr id="62" name="Text 55"/>
          <p:cNvSpPr txBox="1"/>
          <p:nvPr/>
        </p:nvSpPr>
        <p:spPr>
          <a:xfrm>
            <a:off x="8330184" y="2724912"/>
            <a:ext cx="3337560" cy="749808"/>
          </a:xfrm>
          <a:prstGeom prst="rect">
            <a:avLst/>
          </a:prstGeom>
          <a:noFill/>
          <a:ln/>
        </p:spPr>
        <p:txBody>
          <a:bodyPr wrap="square" lIns="0" tIns="0" rIns="0" bIns="0" rtlCol="0" anchor="t"/>
          <a:lstStyle/>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Start from the 8.4K competitor products outside the 12 nodes</a:t>
            </a:r>
            <a:endParaRPr lang="en-US" sz="1000" dirty="0"/>
          </a:p>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Add adjacent verticals, e.g. facility supplies</a:t>
            </a:r>
            <a:endParaRPr lang="en-US" sz="1000" dirty="0"/>
          </a:p>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Size with forecasting &amp; research; open the best</a:t>
            </a:r>
            <a:endParaRPr lang="en-US" sz="1000" dirty="0"/>
          </a:p>
        </p:txBody>
      </p:sp>
      <p:sp>
        <p:nvSpPr>
          <p:cNvPr id="63" name="Shape 56"/>
          <p:cNvSpPr/>
          <p:nvPr/>
        </p:nvSpPr>
        <p:spPr>
          <a:xfrm>
            <a:off x="8238744" y="3529584"/>
            <a:ext cx="3447288" cy="493776"/>
          </a:xfrm>
          <a:prstGeom prst="roundRect">
            <a:avLst>
              <a:gd name="adj" fmla="val 11111"/>
            </a:avLst>
          </a:prstGeom>
          <a:solidFill>
            <a:srgbClr val="EEF3FB"/>
          </a:solidFill>
          <a:ln w="12700">
            <a:solidFill>
              <a:srgbClr val="EEF3FB"/>
            </a:solidFill>
            <a:prstDash val="solid"/>
          </a:ln>
        </p:spPr>
      </p:sp>
      <p:sp>
        <p:nvSpPr>
          <p:cNvPr id="64" name="Text 57"/>
          <p:cNvSpPr txBox="1"/>
          <p:nvPr/>
        </p:nvSpPr>
        <p:spPr>
          <a:xfrm>
            <a:off x="8330184" y="3566160"/>
            <a:ext cx="1586484" cy="146304"/>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DATA</a:t>
            </a:r>
            <a:endParaRPr lang="en-US" sz="750" dirty="0"/>
          </a:p>
        </p:txBody>
      </p:sp>
      <p:sp>
        <p:nvSpPr>
          <p:cNvPr id="65" name="Text 58"/>
          <p:cNvSpPr txBox="1"/>
          <p:nvPr/>
        </p:nvSpPr>
        <p:spPr>
          <a:xfrm>
            <a:off x="8330184" y="3712464"/>
            <a:ext cx="1586484" cy="292608"/>
          </a:xfrm>
          <a:prstGeom prst="rect">
            <a:avLst/>
          </a:prstGeom>
          <a:noFill/>
          <a:ln/>
        </p:spPr>
        <p:txBody>
          <a:bodyPr wrap="square" lIns="0" tIns="0" rIns="0" bIns="0" rtlCol="0" anchor="t"/>
          <a:lstStyle/>
          <a:p>
            <a:pPr indent="0" marL="0">
              <a:buNone/>
            </a:pPr>
            <a:r>
              <a:rPr lang="en-US" sz="900" b="1" dirty="0">
                <a:solidFill>
                  <a:srgbClr val="2F6FD0"/>
                </a:solidFill>
                <a:latin typeface="Calibri" pitchFamily="34" charset="0"/>
                <a:ea typeface="Calibri" pitchFamily="34" charset="-122"/>
                <a:cs typeface="Calibri" pitchFamily="34" charset="-120"/>
              </a:rPr>
              <a:t>PoC backlog + sales &amp; search</a:t>
            </a:r>
            <a:endParaRPr lang="en-US" sz="900" dirty="0"/>
          </a:p>
        </p:txBody>
      </p:sp>
      <p:sp>
        <p:nvSpPr>
          <p:cNvPr id="66" name="Text 59"/>
          <p:cNvSpPr txBox="1"/>
          <p:nvPr/>
        </p:nvSpPr>
        <p:spPr>
          <a:xfrm>
            <a:off x="10008108" y="3566160"/>
            <a:ext cx="1632204" cy="146304"/>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OUTCOME</a:t>
            </a:r>
            <a:endParaRPr lang="en-US" sz="750" dirty="0"/>
          </a:p>
        </p:txBody>
      </p:sp>
      <p:sp>
        <p:nvSpPr>
          <p:cNvPr id="67" name="Text 60"/>
          <p:cNvSpPr txBox="1"/>
          <p:nvPr/>
        </p:nvSpPr>
        <p:spPr>
          <a:xfrm>
            <a:off x="10008108" y="3712464"/>
            <a:ext cx="1632204" cy="292608"/>
          </a:xfrm>
          <a:prstGeom prst="rect">
            <a:avLst/>
          </a:prstGeom>
          <a:noFill/>
          <a:ln/>
        </p:spPr>
        <p:txBody>
          <a:bodyPr wrap="square" lIns="0" tIns="0" rIns="0" bIns="0" rtlCol="0" anchor="t"/>
          <a:lstStyle/>
          <a:p>
            <a:pPr indent="0" marL="0">
              <a:buNone/>
            </a:pPr>
            <a:r>
              <a:rPr lang="en-US" sz="900" b="1" dirty="0">
                <a:solidFill>
                  <a:srgbClr val="13285B"/>
                </a:solidFill>
                <a:latin typeface="Calibri" pitchFamily="34" charset="0"/>
                <a:ea typeface="Calibri" pitchFamily="34" charset="-122"/>
                <a:cs typeface="Calibri" pitchFamily="34" charset="-120"/>
              </a:rPr>
              <a:t>Evidence-backed new categories</a:t>
            </a:r>
            <a:endParaRPr lang="en-US" sz="900" dirty="0"/>
          </a:p>
        </p:txBody>
      </p:sp>
      <p:sp>
        <p:nvSpPr>
          <p:cNvPr id="68" name="Shape 61"/>
          <p:cNvSpPr/>
          <p:nvPr/>
        </p:nvSpPr>
        <p:spPr>
          <a:xfrm>
            <a:off x="8147304" y="4206240"/>
            <a:ext cx="3630168" cy="2066544"/>
          </a:xfrm>
          <a:prstGeom prst="roundRect">
            <a:avLst>
              <a:gd name="adj" fmla="val 4425"/>
            </a:avLst>
          </a:prstGeom>
          <a:solidFill>
            <a:srgbClr val="FFFFFF"/>
          </a:solidFill>
          <a:ln w="9525">
            <a:solidFill>
              <a:srgbClr val="C9D3E3"/>
            </a:solidFill>
            <a:prstDash val="solid"/>
          </a:ln>
          <a:effectLst>
            <a:outerShdw sx="100000" sy="100000" kx="0" ky="0" algn="bl" rotWithShape="0" blurRad="50800" dist="19050" dir="5400000">
              <a:srgbClr val="9AA5B8">
                <a:alpha val="35000"/>
              </a:srgbClr>
            </a:outerShdw>
          </a:effectLst>
        </p:spPr>
      </p:sp>
      <p:sp>
        <p:nvSpPr>
          <p:cNvPr id="69" name="Shape 62"/>
          <p:cNvSpPr/>
          <p:nvPr/>
        </p:nvSpPr>
        <p:spPr>
          <a:xfrm>
            <a:off x="8275320" y="4334256"/>
            <a:ext cx="438912" cy="438912"/>
          </a:xfrm>
          <a:prstGeom prst="ellipse">
            <a:avLst/>
          </a:prstGeom>
          <a:solidFill>
            <a:srgbClr val="13285B"/>
          </a:solidFill>
          <a:ln w="12700">
            <a:solidFill>
              <a:srgbClr val="13285B"/>
            </a:solidFill>
            <a:prstDash val="solid"/>
          </a:ln>
        </p:spPr>
      </p:sp>
      <p:pic>
        <p:nvPicPr>
          <p:cNvPr id="70" name="Image 5" descr="preencoded.png">    </p:cNvPr>
          <p:cNvPicPr>
            <a:picLocks noChangeAspect="1"/>
          </p:cNvPicPr>
          <p:nvPr/>
        </p:nvPicPr>
        <p:blipFill>
          <a:blip r:embed="rId6"/>
          <a:stretch>
            <a:fillRect/>
          </a:stretch>
        </p:blipFill>
        <p:spPr>
          <a:xfrm>
            <a:off x="8371881" y="4430817"/>
            <a:ext cx="245791" cy="245791"/>
          </a:xfrm>
          <a:prstGeom prst="rect">
            <a:avLst/>
          </a:prstGeom>
        </p:spPr>
      </p:pic>
      <p:sp>
        <p:nvSpPr>
          <p:cNvPr id="71" name="Text 63"/>
          <p:cNvSpPr txBox="1"/>
          <p:nvPr/>
        </p:nvSpPr>
        <p:spPr>
          <a:xfrm>
            <a:off x="8823960" y="4297680"/>
            <a:ext cx="2843784" cy="274320"/>
          </a:xfrm>
          <a:prstGeom prst="rect">
            <a:avLst/>
          </a:prstGeom>
          <a:noFill/>
          <a:ln/>
        </p:spPr>
        <p:txBody>
          <a:bodyPr wrap="square" lIns="0" tIns="0" rIns="0" bIns="0" rtlCol="0" anchor="ctr"/>
          <a:lstStyle/>
          <a:p>
            <a:pPr indent="0" marL="0">
              <a:buNone/>
            </a:pPr>
            <a:r>
              <a:rPr lang="en-US" sz="1250" b="1" dirty="0">
                <a:solidFill>
                  <a:srgbClr val="13285B"/>
                </a:solidFill>
                <a:latin typeface="Calibri" pitchFamily="34" charset="0"/>
                <a:ea typeface="Calibri" pitchFamily="34" charset="-122"/>
                <a:cs typeface="Calibri" pitchFamily="34" charset="-120"/>
              </a:rPr>
              <a:t>Basket completion &amp; Back-to-School kits</a:t>
            </a:r>
            <a:endParaRPr lang="en-US" sz="1250" dirty="0"/>
          </a:p>
        </p:txBody>
      </p:sp>
      <p:sp>
        <p:nvSpPr>
          <p:cNvPr id="72" name="Text 64"/>
          <p:cNvSpPr txBox="1"/>
          <p:nvPr/>
        </p:nvSpPr>
        <p:spPr>
          <a:xfrm>
            <a:off x="8823960" y="4572000"/>
            <a:ext cx="2843784" cy="219456"/>
          </a:xfrm>
          <a:prstGeom prst="rect">
            <a:avLst/>
          </a:prstGeom>
          <a:noFill/>
          <a:ln/>
        </p:spPr>
        <p:txBody>
          <a:bodyPr wrap="square" lIns="0" tIns="0" rIns="0" bIns="0" rtlCol="0" anchor="ctr"/>
          <a:lstStyle/>
          <a:p>
            <a:pPr indent="0" marL="0">
              <a:buNone/>
            </a:pPr>
            <a:r>
              <a:rPr lang="en-US" sz="1000" i="1" dirty="0">
                <a:solidFill>
                  <a:srgbClr val="2F6FD0"/>
                </a:solidFill>
                <a:latin typeface="Calibri" pitchFamily="34" charset="0"/>
                <a:ea typeface="Calibri" pitchFamily="34" charset="-122"/>
                <a:cs typeface="Calibri" pitchFamily="34" charset="-120"/>
              </a:rPr>
              <a:t>Which item would complete the basket?</a:t>
            </a:r>
            <a:endParaRPr lang="en-US" sz="1000" dirty="0"/>
          </a:p>
        </p:txBody>
      </p:sp>
      <p:sp>
        <p:nvSpPr>
          <p:cNvPr id="73" name="Text 65"/>
          <p:cNvSpPr txBox="1"/>
          <p:nvPr/>
        </p:nvSpPr>
        <p:spPr>
          <a:xfrm>
            <a:off x="8330184" y="4882896"/>
            <a:ext cx="3337560" cy="749808"/>
          </a:xfrm>
          <a:prstGeom prst="rect">
            <a:avLst/>
          </a:prstGeom>
          <a:noFill/>
          <a:ln/>
        </p:spPr>
        <p:txBody>
          <a:bodyPr wrap="square" lIns="0" tIns="0" rIns="0" bIns="0" rtlCol="0" anchor="t"/>
          <a:lstStyle/>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Market-basket analysis on transactions</a:t>
            </a:r>
            <a:endParaRPr lang="en-US" sz="1000" dirty="0"/>
          </a:p>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Find missing complements &amp; seasonal kits</a:t>
            </a:r>
            <a:endParaRPr lang="en-US" sz="1000" dirty="0"/>
          </a:p>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Recruit sellers for 1–2 attach items per order</a:t>
            </a:r>
            <a:endParaRPr lang="en-US" sz="1000" dirty="0"/>
          </a:p>
        </p:txBody>
      </p:sp>
      <p:sp>
        <p:nvSpPr>
          <p:cNvPr id="74" name="Shape 66"/>
          <p:cNvSpPr/>
          <p:nvPr/>
        </p:nvSpPr>
        <p:spPr>
          <a:xfrm>
            <a:off x="8238744" y="5687568"/>
            <a:ext cx="3447288" cy="493776"/>
          </a:xfrm>
          <a:prstGeom prst="roundRect">
            <a:avLst>
              <a:gd name="adj" fmla="val 11111"/>
            </a:avLst>
          </a:prstGeom>
          <a:solidFill>
            <a:srgbClr val="EEF3FB"/>
          </a:solidFill>
          <a:ln w="12700">
            <a:solidFill>
              <a:srgbClr val="EEF3FB"/>
            </a:solidFill>
            <a:prstDash val="solid"/>
          </a:ln>
        </p:spPr>
      </p:sp>
      <p:sp>
        <p:nvSpPr>
          <p:cNvPr id="75" name="Text 67"/>
          <p:cNvSpPr txBox="1"/>
          <p:nvPr/>
        </p:nvSpPr>
        <p:spPr>
          <a:xfrm>
            <a:off x="8330184" y="5724144"/>
            <a:ext cx="1586484" cy="146304"/>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DATA</a:t>
            </a:r>
            <a:endParaRPr lang="en-US" sz="750" dirty="0"/>
          </a:p>
        </p:txBody>
      </p:sp>
      <p:sp>
        <p:nvSpPr>
          <p:cNvPr id="76" name="Text 68"/>
          <p:cNvSpPr txBox="1"/>
          <p:nvPr/>
        </p:nvSpPr>
        <p:spPr>
          <a:xfrm>
            <a:off x="8330184" y="5870448"/>
            <a:ext cx="1586484" cy="292608"/>
          </a:xfrm>
          <a:prstGeom prst="rect">
            <a:avLst/>
          </a:prstGeom>
          <a:noFill/>
          <a:ln/>
        </p:spPr>
        <p:txBody>
          <a:bodyPr wrap="square" lIns="0" tIns="0" rIns="0" bIns="0" rtlCol="0" anchor="t"/>
          <a:lstStyle/>
          <a:p>
            <a:pPr indent="0" marL="0">
              <a:buNone/>
            </a:pPr>
            <a:r>
              <a:rPr lang="en-US" sz="900" b="1" dirty="0">
                <a:solidFill>
                  <a:srgbClr val="2F6FD0"/>
                </a:solidFill>
                <a:latin typeface="Calibri" pitchFamily="34" charset="0"/>
                <a:ea typeface="Calibri" pitchFamily="34" charset="-122"/>
                <a:cs typeface="Calibri" pitchFamily="34" charset="-120"/>
              </a:rPr>
              <a:t>Transactions</a:t>
            </a:r>
            <a:endParaRPr lang="en-US" sz="900" dirty="0"/>
          </a:p>
        </p:txBody>
      </p:sp>
      <p:sp>
        <p:nvSpPr>
          <p:cNvPr id="77" name="Text 69"/>
          <p:cNvSpPr txBox="1"/>
          <p:nvPr/>
        </p:nvSpPr>
        <p:spPr>
          <a:xfrm>
            <a:off x="10008108" y="5724144"/>
            <a:ext cx="1632204" cy="146304"/>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OUTCOME</a:t>
            </a:r>
            <a:endParaRPr lang="en-US" sz="750" dirty="0"/>
          </a:p>
        </p:txBody>
      </p:sp>
      <p:sp>
        <p:nvSpPr>
          <p:cNvPr id="78" name="Text 70"/>
          <p:cNvSpPr txBox="1"/>
          <p:nvPr/>
        </p:nvSpPr>
        <p:spPr>
          <a:xfrm>
            <a:off x="10008108" y="5870448"/>
            <a:ext cx="1632204" cy="292608"/>
          </a:xfrm>
          <a:prstGeom prst="rect">
            <a:avLst/>
          </a:prstGeom>
          <a:noFill/>
          <a:ln/>
        </p:spPr>
        <p:txBody>
          <a:bodyPr wrap="square" lIns="0" tIns="0" rIns="0" bIns="0" rtlCol="0" anchor="t"/>
          <a:lstStyle/>
          <a:p>
            <a:pPr indent="0" marL="0">
              <a:buNone/>
            </a:pPr>
            <a:r>
              <a:rPr lang="en-US" sz="900" b="1" dirty="0">
                <a:solidFill>
                  <a:srgbClr val="13285B"/>
                </a:solidFill>
                <a:latin typeface="Calibri" pitchFamily="34" charset="0"/>
                <a:ea typeface="Calibri" pitchFamily="34" charset="-122"/>
                <a:cs typeface="Calibri" pitchFamily="34" charset="-120"/>
              </a:rPr>
              <a:t>Bigger baskets, new commission</a:t>
            </a:r>
            <a:endParaRPr lang="en-US" sz="900" dirty="0"/>
          </a:p>
        </p:txBody>
      </p:sp>
      <p:sp>
        <p:nvSpPr>
          <p:cNvPr id="25" name="Slide Number Placeholder 0"/>
          <p:cNvSpPr>
            <a:spLocks noGrp="1"/>
          </p:cNvSpPr>
          <p:nvPr>
            <p:ph type="sldNum" sz="quarter" idx="4294967295"/>
          </p:nvPr>
        </p:nvSpPr>
        <p:spPr>
          <a:xfrm>
            <a:off x="11320272" y="6510528"/>
            <a:ext cx="457200" cy="237744"/>
          </a:xfrm>
          <a:prstGeom prst="rect">
            <a:avLst/>
          </a:prstGeom>
          <a:extLst>
            <a:ext uri="{C572A759-6A51-4108-AA02-DFA0A04FC94B}">
              <ma14:wrappingTextBoxFlag xmlns:ma14="http://schemas.microsoft.com/office/mac/drawingml/2011/main" val="0"/>
            </a:ext>
          </a:extLst>
        </p:spPr>
        <p:txBody>
          <a:bodyPr/>
          <a:lstStyle>
            <a:lvl1pPr>
              <a:defRPr sz="900">
                <a:solidFill>
                  <a:srgbClr val="7A8599"/>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3"/>
          <p:cNvSpPr/>
          <p:nvPr>
            <p:ph idx="103" type="title" hasCustomPrompt="1"/>
          </p:nvPr>
        </p:nvSpPr>
        <p:spPr>
          <a:xfrm>
            <a:off x="411480" y="219456"/>
            <a:ext cx="11365992" cy="658368"/>
          </a:xfrm>
          <a:prstGeom prst="rect">
            <a:avLst/>
          </a:prstGeom>
          <a:noFill/>
          <a:ln/>
        </p:spPr>
        <p:txBody>
          <a:bodyPr wrap="square" lIns="0" tIns="0" rIns="0" bIns="0" rtlCol="0" anchor="ctr"/>
          <a:lstStyle/>
          <a:p>
            <a:pPr algn="l" indent="0" marL="0">
              <a:buNone/>
            </a:pPr>
            <a:r>
              <a:rPr lang="en-US" sz="2800" b="1" dirty="0">
                <a:solidFill>
                  <a:srgbClr val="1F4E9A"/>
                </a:solidFill>
                <a:latin typeface="Calibri" pitchFamily="34" charset="0"/>
                <a:ea typeface="Calibri" pitchFamily="34" charset="-122"/>
                <a:cs typeface="Calibri" pitchFamily="34" charset="-120"/>
              </a:rPr>
              <a:t>Solution Architecture: From Listings to Safe Recommendations</a:t>
            </a:r>
            <a:endParaRPr lang="en-US" sz="2800" dirty="0"/>
          </a:p>
        </p:txBody>
      </p:sp>
      <p:sp>
        <p:nvSpPr>
          <p:cNvPr id="3" name="Shape 1"/>
          <p:cNvSpPr/>
          <p:nvPr/>
        </p:nvSpPr>
        <p:spPr>
          <a:xfrm>
            <a:off x="411480" y="1170432"/>
            <a:ext cx="2066544" cy="548640"/>
          </a:xfrm>
          <a:prstGeom prst="homePlate">
            <a:avLst/>
          </a:prstGeom>
          <a:solidFill>
            <a:srgbClr val="DCE7F8"/>
          </a:solidFill>
          <a:ln w="12700">
            <a:solidFill>
              <a:srgbClr val="FFFFFF"/>
            </a:solidFill>
            <a:prstDash val="solid"/>
          </a:ln>
        </p:spPr>
      </p:sp>
      <p:sp>
        <p:nvSpPr>
          <p:cNvPr id="4" name="Text 2"/>
          <p:cNvSpPr txBox="1"/>
          <p:nvPr/>
        </p:nvSpPr>
        <p:spPr>
          <a:xfrm>
            <a:off x="502920" y="1170432"/>
            <a:ext cx="1700784" cy="548640"/>
          </a:xfrm>
          <a:prstGeom prst="rect">
            <a:avLst/>
          </a:prstGeom>
          <a:noFill/>
          <a:ln/>
        </p:spPr>
        <p:txBody>
          <a:bodyPr wrap="square" lIns="0" tIns="0" rIns="0" bIns="0" rtlCol="0" anchor="ctr"/>
          <a:lstStyle/>
          <a:p>
            <a:pPr algn="ctr" indent="0" marL="0">
              <a:buNone/>
            </a:pPr>
            <a:r>
              <a:rPr lang="en-US" sz="1250" b="1" dirty="0">
                <a:solidFill>
                  <a:srgbClr val="13285B"/>
                </a:solidFill>
                <a:latin typeface="Calibri" pitchFamily="34" charset="0"/>
                <a:ea typeface="Calibri" pitchFamily="34" charset="-122"/>
                <a:cs typeface="Calibri" pitchFamily="34" charset="-120"/>
              </a:rPr>
              <a:t>Data Acquisition</a:t>
            </a:r>
            <a:endParaRPr lang="en-US" sz="1250" dirty="0"/>
          </a:p>
        </p:txBody>
      </p:sp>
      <p:sp>
        <p:nvSpPr>
          <p:cNvPr id="5" name="Shape 3"/>
          <p:cNvSpPr/>
          <p:nvPr/>
        </p:nvSpPr>
        <p:spPr>
          <a:xfrm>
            <a:off x="411480" y="1874520"/>
            <a:ext cx="1737360" cy="4251960"/>
          </a:xfrm>
          <a:prstGeom prst="roundRect">
            <a:avLst>
              <a:gd name="adj" fmla="val 4211"/>
            </a:avLst>
          </a:prstGeom>
          <a:solidFill>
            <a:srgbClr val="FFFFFF"/>
          </a:solidFill>
          <a:ln w="6350">
            <a:solidFill>
              <a:srgbClr val="D3DDEE"/>
            </a:solidFill>
            <a:prstDash val="solid"/>
          </a:ln>
        </p:spPr>
      </p:sp>
      <p:pic>
        <p:nvPicPr>
          <p:cNvPr id="6" name="Image 0" descr="preencoded.png">    </p:cNvPr>
          <p:cNvPicPr>
            <a:picLocks noChangeAspect="1"/>
          </p:cNvPicPr>
          <p:nvPr/>
        </p:nvPicPr>
        <p:blipFill>
          <a:blip r:embed="rId1"/>
          <a:stretch>
            <a:fillRect/>
          </a:stretch>
        </p:blipFill>
        <p:spPr>
          <a:xfrm>
            <a:off x="1051560" y="2148840"/>
            <a:ext cx="457200" cy="457200"/>
          </a:xfrm>
          <a:prstGeom prst="rect">
            <a:avLst/>
          </a:prstGeom>
        </p:spPr>
      </p:pic>
      <p:sp>
        <p:nvSpPr>
          <p:cNvPr id="7" name="Text 4"/>
          <p:cNvSpPr txBox="1"/>
          <p:nvPr/>
        </p:nvSpPr>
        <p:spPr>
          <a:xfrm>
            <a:off x="484632" y="2660904"/>
            <a:ext cx="1591056" cy="219456"/>
          </a:xfrm>
          <a:prstGeom prst="rect">
            <a:avLst/>
          </a:prstGeom>
          <a:noFill/>
          <a:ln/>
        </p:spPr>
        <p:txBody>
          <a:bodyPr wrap="square" lIns="0" tIns="0" rIns="0" bIns="0" rtlCol="0" anchor="t"/>
          <a:lstStyle/>
          <a:p>
            <a:pPr algn="ctr" indent="0" marL="0">
              <a:buNone/>
            </a:pPr>
            <a:r>
              <a:rPr lang="en-US" sz="1150" b="1" dirty="0">
                <a:solidFill>
                  <a:srgbClr val="13285B"/>
                </a:solidFill>
                <a:latin typeface="Calibri" pitchFamily="34" charset="0"/>
                <a:ea typeface="Calibri" pitchFamily="34" charset="-122"/>
                <a:cs typeface="Calibri" pitchFamily="34" charset="-120"/>
              </a:rPr>
              <a:t>Staples.com</a:t>
            </a:r>
            <a:endParaRPr lang="en-US" sz="1150" dirty="0"/>
          </a:p>
        </p:txBody>
      </p:sp>
      <p:sp>
        <p:nvSpPr>
          <p:cNvPr id="8" name="Text 5"/>
          <p:cNvSpPr txBox="1"/>
          <p:nvPr/>
        </p:nvSpPr>
        <p:spPr>
          <a:xfrm>
            <a:off x="484632" y="2880360"/>
            <a:ext cx="1591056" cy="457200"/>
          </a:xfrm>
          <a:prstGeom prst="rect">
            <a:avLst/>
          </a:prstGeom>
          <a:noFill/>
          <a:ln/>
        </p:spPr>
        <p:txBody>
          <a:bodyPr wrap="square" lIns="0" tIns="0" rIns="0" bIns="0" rtlCol="0" anchor="t"/>
          <a:lstStyle/>
          <a:p>
            <a:pPr algn="ctr" indent="0" marL="0">
              <a:buNone/>
            </a:pPr>
            <a:r>
              <a:rPr lang="en-US" sz="950" dirty="0">
                <a:solidFill>
                  <a:srgbClr val="5B6475"/>
                </a:solidFill>
                <a:latin typeface="Calibri" pitchFamily="34" charset="0"/>
                <a:ea typeface="Calibri" pitchFamily="34" charset="-122"/>
                <a:cs typeface="Calibri" pitchFamily="34" charset="-120"/>
              </a:rPr>
              <a:t>4.9K SKUs · 12 nodes</a:t>
            </a:r>
            <a:endParaRPr lang="en-US" sz="950" dirty="0"/>
          </a:p>
        </p:txBody>
      </p:sp>
      <p:pic>
        <p:nvPicPr>
          <p:cNvPr id="9" name="Image 1" descr="preencoded.png">    </p:cNvPr>
          <p:cNvPicPr>
            <a:picLocks noChangeAspect="1"/>
          </p:cNvPicPr>
          <p:nvPr/>
        </p:nvPicPr>
        <p:blipFill>
          <a:blip r:embed="rId2"/>
          <a:stretch>
            <a:fillRect/>
          </a:stretch>
        </p:blipFill>
        <p:spPr>
          <a:xfrm>
            <a:off x="1051560" y="3502152"/>
            <a:ext cx="457200" cy="457200"/>
          </a:xfrm>
          <a:prstGeom prst="rect">
            <a:avLst/>
          </a:prstGeom>
        </p:spPr>
      </p:pic>
      <p:sp>
        <p:nvSpPr>
          <p:cNvPr id="10" name="Text 6"/>
          <p:cNvSpPr txBox="1"/>
          <p:nvPr/>
        </p:nvSpPr>
        <p:spPr>
          <a:xfrm>
            <a:off x="484632" y="4014216"/>
            <a:ext cx="1591056" cy="219456"/>
          </a:xfrm>
          <a:prstGeom prst="rect">
            <a:avLst/>
          </a:prstGeom>
          <a:noFill/>
          <a:ln/>
        </p:spPr>
        <p:txBody>
          <a:bodyPr wrap="square" lIns="0" tIns="0" rIns="0" bIns="0" rtlCol="0" anchor="t"/>
          <a:lstStyle/>
          <a:p>
            <a:pPr algn="ctr" indent="0" marL="0">
              <a:buNone/>
            </a:pPr>
            <a:r>
              <a:rPr lang="en-US" sz="1150" b="1" dirty="0">
                <a:solidFill>
                  <a:srgbClr val="13285B"/>
                </a:solidFill>
                <a:latin typeface="Calibri" pitchFamily="34" charset="0"/>
                <a:ea typeface="Calibri" pitchFamily="34" charset="-122"/>
                <a:cs typeface="Calibri" pitchFamily="34" charset="-120"/>
              </a:rPr>
              <a:t>Amazon</a:t>
            </a:r>
            <a:endParaRPr lang="en-US" sz="1150" dirty="0"/>
          </a:p>
        </p:txBody>
      </p:sp>
      <p:sp>
        <p:nvSpPr>
          <p:cNvPr id="11" name="Text 7"/>
          <p:cNvSpPr txBox="1"/>
          <p:nvPr/>
        </p:nvSpPr>
        <p:spPr>
          <a:xfrm>
            <a:off x="484632" y="4233672"/>
            <a:ext cx="1591056" cy="457200"/>
          </a:xfrm>
          <a:prstGeom prst="rect">
            <a:avLst/>
          </a:prstGeom>
          <a:noFill/>
          <a:ln/>
        </p:spPr>
        <p:txBody>
          <a:bodyPr wrap="square" lIns="0" tIns="0" rIns="0" bIns="0" rtlCol="0" anchor="t"/>
          <a:lstStyle/>
          <a:p>
            <a:pPr algn="ctr" indent="0" marL="0">
              <a:buNone/>
            </a:pPr>
            <a:r>
              <a:rPr lang="en-US" sz="950" dirty="0">
                <a:solidFill>
                  <a:srgbClr val="5B6475"/>
                </a:solidFill>
                <a:latin typeface="Calibri" pitchFamily="34" charset="0"/>
                <a:ea typeface="Calibri" pitchFamily="34" charset="-122"/>
                <a:cs typeface="Calibri" pitchFamily="34" charset="-120"/>
              </a:rPr>
              <a:t>14.6K SKUs · 7 nodes</a:t>
            </a:r>
            <a:endParaRPr lang="en-US" sz="950" dirty="0"/>
          </a:p>
        </p:txBody>
      </p:sp>
      <p:pic>
        <p:nvPicPr>
          <p:cNvPr id="12" name="Image 2" descr="preencoded.png">    </p:cNvPr>
          <p:cNvPicPr>
            <a:picLocks noChangeAspect="1"/>
          </p:cNvPicPr>
          <p:nvPr/>
        </p:nvPicPr>
        <p:blipFill>
          <a:blip r:embed="rId3"/>
          <a:stretch>
            <a:fillRect/>
          </a:stretch>
        </p:blipFill>
        <p:spPr>
          <a:xfrm>
            <a:off x="1051560" y="4855464"/>
            <a:ext cx="457200" cy="457200"/>
          </a:xfrm>
          <a:prstGeom prst="rect">
            <a:avLst/>
          </a:prstGeom>
        </p:spPr>
      </p:pic>
      <p:sp>
        <p:nvSpPr>
          <p:cNvPr id="13" name="Text 8"/>
          <p:cNvSpPr txBox="1"/>
          <p:nvPr/>
        </p:nvSpPr>
        <p:spPr>
          <a:xfrm>
            <a:off x="484632" y="5367528"/>
            <a:ext cx="1591056" cy="219456"/>
          </a:xfrm>
          <a:prstGeom prst="rect">
            <a:avLst/>
          </a:prstGeom>
          <a:noFill/>
          <a:ln/>
        </p:spPr>
        <p:txBody>
          <a:bodyPr wrap="square" lIns="0" tIns="0" rIns="0" bIns="0" rtlCol="0" anchor="t"/>
          <a:lstStyle/>
          <a:p>
            <a:pPr algn="ctr" indent="0" marL="0">
              <a:buNone/>
            </a:pPr>
            <a:r>
              <a:rPr lang="en-US" sz="1150" b="1" dirty="0">
                <a:solidFill>
                  <a:srgbClr val="13285B"/>
                </a:solidFill>
                <a:latin typeface="Calibri" pitchFamily="34" charset="0"/>
                <a:ea typeface="Calibri" pitchFamily="34" charset="-122"/>
                <a:cs typeface="Calibri" pitchFamily="34" charset="-120"/>
              </a:rPr>
              <a:t>Wayfair</a:t>
            </a:r>
            <a:endParaRPr lang="en-US" sz="1150" dirty="0"/>
          </a:p>
        </p:txBody>
      </p:sp>
      <p:sp>
        <p:nvSpPr>
          <p:cNvPr id="14" name="Text 9"/>
          <p:cNvSpPr txBox="1"/>
          <p:nvPr/>
        </p:nvSpPr>
        <p:spPr>
          <a:xfrm>
            <a:off x="484632" y="5586984"/>
            <a:ext cx="1591056" cy="457200"/>
          </a:xfrm>
          <a:prstGeom prst="rect">
            <a:avLst/>
          </a:prstGeom>
          <a:noFill/>
          <a:ln/>
        </p:spPr>
        <p:txBody>
          <a:bodyPr wrap="square" lIns="0" tIns="0" rIns="0" bIns="0" rtlCol="0" anchor="t"/>
          <a:lstStyle/>
          <a:p>
            <a:pPr algn="ctr" indent="0" marL="0">
              <a:buNone/>
            </a:pPr>
            <a:r>
              <a:rPr lang="en-US" sz="950" dirty="0">
                <a:solidFill>
                  <a:srgbClr val="5B6475"/>
                </a:solidFill>
                <a:latin typeface="Calibri" pitchFamily="34" charset="0"/>
                <a:ea typeface="Calibri" pitchFamily="34" charset="-122"/>
                <a:cs typeface="Calibri" pitchFamily="34" charset="-120"/>
              </a:rPr>
              <a:t>11.2K SKUs · 5 nodes</a:t>
            </a:r>
            <a:endParaRPr lang="en-US" sz="950" dirty="0"/>
          </a:p>
        </p:txBody>
      </p:sp>
      <p:sp>
        <p:nvSpPr>
          <p:cNvPr id="15" name="Shape 10"/>
          <p:cNvSpPr/>
          <p:nvPr/>
        </p:nvSpPr>
        <p:spPr>
          <a:xfrm>
            <a:off x="2221992" y="3863340"/>
            <a:ext cx="201168" cy="274320"/>
          </a:xfrm>
          <a:prstGeom prst="rightArrow">
            <a:avLst/>
          </a:prstGeom>
          <a:solidFill>
            <a:srgbClr val="A9C3EE"/>
          </a:solidFill>
          <a:ln w="12700">
            <a:solidFill>
              <a:srgbClr val="A9C3EE"/>
            </a:solidFill>
            <a:prstDash val="solid"/>
          </a:ln>
        </p:spPr>
      </p:sp>
      <p:sp>
        <p:nvSpPr>
          <p:cNvPr id="16" name="Shape 11"/>
          <p:cNvSpPr/>
          <p:nvPr/>
        </p:nvSpPr>
        <p:spPr>
          <a:xfrm>
            <a:off x="2404872" y="1170432"/>
            <a:ext cx="2295144" cy="548640"/>
          </a:xfrm>
          <a:prstGeom prst="chevron">
            <a:avLst/>
          </a:prstGeom>
          <a:solidFill>
            <a:srgbClr val="CFDDF5"/>
          </a:solidFill>
          <a:ln w="12700">
            <a:solidFill>
              <a:srgbClr val="FFFFFF"/>
            </a:solidFill>
            <a:prstDash val="solid"/>
          </a:ln>
        </p:spPr>
      </p:sp>
      <p:sp>
        <p:nvSpPr>
          <p:cNvPr id="17" name="Text 12"/>
          <p:cNvSpPr txBox="1"/>
          <p:nvPr/>
        </p:nvSpPr>
        <p:spPr>
          <a:xfrm>
            <a:off x="2724912" y="1170432"/>
            <a:ext cx="1792224" cy="548640"/>
          </a:xfrm>
          <a:prstGeom prst="rect">
            <a:avLst/>
          </a:prstGeom>
          <a:noFill/>
          <a:ln/>
        </p:spPr>
        <p:txBody>
          <a:bodyPr wrap="square" lIns="0" tIns="0" rIns="0" bIns="0" rtlCol="0" anchor="ctr"/>
          <a:lstStyle/>
          <a:p>
            <a:pPr algn="ctr" indent="0" marL="0">
              <a:buNone/>
            </a:pPr>
            <a:r>
              <a:rPr lang="en-US" sz="1250" b="1" dirty="0">
                <a:solidFill>
                  <a:srgbClr val="13285B"/>
                </a:solidFill>
                <a:latin typeface="Calibri" pitchFamily="34" charset="0"/>
                <a:ea typeface="Calibri" pitchFamily="34" charset="-122"/>
                <a:cs typeface="Calibri" pitchFamily="34" charset="-120"/>
              </a:rPr>
              <a:t>Prep &amp; Mapping</a:t>
            </a:r>
            <a:endParaRPr lang="en-US" sz="1250" dirty="0"/>
          </a:p>
          <a:p>
            <a:pPr algn="ctr" indent="0" marL="0">
              <a:buNone/>
            </a:pPr>
            <a:r>
              <a:rPr lang="en-US" sz="950" dirty="0">
                <a:solidFill>
                  <a:srgbClr val="5B6475"/>
                </a:solidFill>
                <a:latin typeface="Calibri" pitchFamily="34" charset="0"/>
                <a:ea typeface="Calibri" pitchFamily="34" charset="-122"/>
                <a:cs typeface="Calibri" pitchFamily="34" charset="-120"/>
              </a:rPr>
              <a:t>S0–S2</a:t>
            </a:r>
            <a:endParaRPr lang="en-US" sz="1250" dirty="0"/>
          </a:p>
        </p:txBody>
      </p:sp>
      <p:sp>
        <p:nvSpPr>
          <p:cNvPr id="18" name="Shape 13"/>
          <p:cNvSpPr/>
          <p:nvPr/>
        </p:nvSpPr>
        <p:spPr>
          <a:xfrm>
            <a:off x="2496312" y="1874520"/>
            <a:ext cx="1874520" cy="4251960"/>
          </a:xfrm>
          <a:prstGeom prst="roundRect">
            <a:avLst>
              <a:gd name="adj" fmla="val 3902"/>
            </a:avLst>
          </a:prstGeom>
          <a:solidFill>
            <a:srgbClr val="FFFFFF"/>
          </a:solidFill>
          <a:ln w="6350">
            <a:solidFill>
              <a:srgbClr val="D3DDEE"/>
            </a:solidFill>
            <a:prstDash val="solid"/>
          </a:ln>
        </p:spPr>
      </p:sp>
      <p:pic>
        <p:nvPicPr>
          <p:cNvPr id="19" name="Image 3" descr="preencoded.png">    </p:cNvPr>
          <p:cNvPicPr>
            <a:picLocks noChangeAspect="1"/>
          </p:cNvPicPr>
          <p:nvPr/>
        </p:nvPicPr>
        <p:blipFill>
          <a:blip r:embed="rId4"/>
          <a:stretch>
            <a:fillRect/>
          </a:stretch>
        </p:blipFill>
        <p:spPr>
          <a:xfrm>
            <a:off x="3204972" y="2148840"/>
            <a:ext cx="457200" cy="457200"/>
          </a:xfrm>
          <a:prstGeom prst="rect">
            <a:avLst/>
          </a:prstGeom>
        </p:spPr>
      </p:pic>
      <p:sp>
        <p:nvSpPr>
          <p:cNvPr id="20" name="Text 14"/>
          <p:cNvSpPr txBox="1"/>
          <p:nvPr/>
        </p:nvSpPr>
        <p:spPr>
          <a:xfrm>
            <a:off x="2569464" y="2660904"/>
            <a:ext cx="1728216" cy="219456"/>
          </a:xfrm>
          <a:prstGeom prst="rect">
            <a:avLst/>
          </a:prstGeom>
          <a:noFill/>
          <a:ln/>
        </p:spPr>
        <p:txBody>
          <a:bodyPr wrap="square" lIns="0" tIns="0" rIns="0" bIns="0" rtlCol="0" anchor="t"/>
          <a:lstStyle/>
          <a:p>
            <a:pPr algn="ctr" indent="0" marL="0">
              <a:buNone/>
            </a:pPr>
            <a:r>
              <a:rPr lang="en-US" sz="1150" b="1" dirty="0">
                <a:solidFill>
                  <a:srgbClr val="13285B"/>
                </a:solidFill>
                <a:latin typeface="Calibri" pitchFamily="34" charset="0"/>
                <a:ea typeface="Calibri" pitchFamily="34" charset="-122"/>
                <a:cs typeface="Calibri" pitchFamily="34" charset="-120"/>
              </a:rPr>
              <a:t>Clean &amp; de-identify</a:t>
            </a:r>
            <a:endParaRPr lang="en-US" sz="1150" dirty="0"/>
          </a:p>
        </p:txBody>
      </p:sp>
      <p:sp>
        <p:nvSpPr>
          <p:cNvPr id="21" name="Text 15"/>
          <p:cNvSpPr txBox="1"/>
          <p:nvPr/>
        </p:nvSpPr>
        <p:spPr>
          <a:xfrm>
            <a:off x="2569464" y="2880360"/>
            <a:ext cx="1728216" cy="457200"/>
          </a:xfrm>
          <a:prstGeom prst="rect">
            <a:avLst/>
          </a:prstGeom>
          <a:noFill/>
          <a:ln/>
        </p:spPr>
        <p:txBody>
          <a:bodyPr wrap="square" lIns="0" tIns="0" rIns="0" bIns="0" rtlCol="0" anchor="t"/>
          <a:lstStyle/>
          <a:p>
            <a:pPr algn="ctr" indent="0" marL="0">
              <a:buNone/>
            </a:pPr>
            <a:r>
              <a:rPr lang="en-US" sz="950" dirty="0">
                <a:solidFill>
                  <a:srgbClr val="5B6475"/>
                </a:solidFill>
                <a:latin typeface="Calibri" pitchFamily="34" charset="0"/>
                <a:ea typeface="Calibri" pitchFamily="34" charset="-122"/>
                <a:cs typeface="Calibri" pitchFamily="34" charset="-120"/>
              </a:rPr>
              <a:t>prices, text fixes, PII removed</a:t>
            </a:r>
            <a:endParaRPr lang="en-US" sz="950" dirty="0"/>
          </a:p>
        </p:txBody>
      </p:sp>
      <p:pic>
        <p:nvPicPr>
          <p:cNvPr id="22" name="Image 4" descr="preencoded.png">    </p:cNvPr>
          <p:cNvPicPr>
            <a:picLocks noChangeAspect="1"/>
          </p:cNvPicPr>
          <p:nvPr/>
        </p:nvPicPr>
        <p:blipFill>
          <a:blip r:embed="rId5"/>
          <a:stretch>
            <a:fillRect/>
          </a:stretch>
        </p:blipFill>
        <p:spPr>
          <a:xfrm>
            <a:off x="3204972" y="3502152"/>
            <a:ext cx="457200" cy="457200"/>
          </a:xfrm>
          <a:prstGeom prst="rect">
            <a:avLst/>
          </a:prstGeom>
        </p:spPr>
      </p:pic>
      <p:sp>
        <p:nvSpPr>
          <p:cNvPr id="23" name="Text 16"/>
          <p:cNvSpPr txBox="1"/>
          <p:nvPr/>
        </p:nvSpPr>
        <p:spPr>
          <a:xfrm>
            <a:off x="2569464" y="4014216"/>
            <a:ext cx="1728216" cy="219456"/>
          </a:xfrm>
          <a:prstGeom prst="rect">
            <a:avLst/>
          </a:prstGeom>
          <a:noFill/>
          <a:ln/>
        </p:spPr>
        <p:txBody>
          <a:bodyPr wrap="square" lIns="0" tIns="0" rIns="0" bIns="0" rtlCol="0" anchor="t"/>
          <a:lstStyle/>
          <a:p>
            <a:pPr algn="ctr" indent="0" marL="0">
              <a:buNone/>
            </a:pPr>
            <a:r>
              <a:rPr lang="en-US" sz="1150" b="1" dirty="0">
                <a:solidFill>
                  <a:srgbClr val="13285B"/>
                </a:solidFill>
                <a:latin typeface="Calibri" pitchFamily="34" charset="0"/>
                <a:ea typeface="Calibri" pitchFamily="34" charset="-122"/>
                <a:cs typeface="Calibri" pitchFamily="34" charset="-120"/>
              </a:rPr>
              <a:t>Product families</a:t>
            </a:r>
            <a:endParaRPr lang="en-US" sz="1150" dirty="0"/>
          </a:p>
        </p:txBody>
      </p:sp>
      <p:sp>
        <p:nvSpPr>
          <p:cNvPr id="24" name="Text 17"/>
          <p:cNvSpPr txBox="1"/>
          <p:nvPr/>
        </p:nvSpPr>
        <p:spPr>
          <a:xfrm>
            <a:off x="2569464" y="4233672"/>
            <a:ext cx="1728216" cy="457200"/>
          </a:xfrm>
          <a:prstGeom prst="rect">
            <a:avLst/>
          </a:prstGeom>
          <a:noFill/>
          <a:ln/>
        </p:spPr>
        <p:txBody>
          <a:bodyPr wrap="square" lIns="0" tIns="0" rIns="0" bIns="0" rtlCol="0" anchor="t"/>
          <a:lstStyle/>
          <a:p>
            <a:pPr algn="ctr" indent="0" marL="0">
              <a:buNone/>
            </a:pPr>
            <a:r>
              <a:rPr lang="en-US" sz="950" dirty="0">
                <a:solidFill>
                  <a:srgbClr val="5B6475"/>
                </a:solidFill>
                <a:latin typeface="Calibri" pitchFamily="34" charset="0"/>
                <a:ea typeface="Calibri" pitchFamily="34" charset="-122"/>
                <a:cs typeface="Calibri" pitchFamily="34" charset="-120"/>
              </a:rPr>
              <a:t>colour / size variants merged</a:t>
            </a:r>
            <a:endParaRPr lang="en-US" sz="950" dirty="0"/>
          </a:p>
        </p:txBody>
      </p:sp>
      <p:pic>
        <p:nvPicPr>
          <p:cNvPr id="25" name="Image 5" descr="preencoded.png">    </p:cNvPr>
          <p:cNvPicPr>
            <a:picLocks noChangeAspect="1"/>
          </p:cNvPicPr>
          <p:nvPr/>
        </p:nvPicPr>
        <p:blipFill>
          <a:blip r:embed="rId6"/>
          <a:stretch>
            <a:fillRect/>
          </a:stretch>
        </p:blipFill>
        <p:spPr>
          <a:xfrm>
            <a:off x="3204972" y="4855464"/>
            <a:ext cx="457200" cy="457200"/>
          </a:xfrm>
          <a:prstGeom prst="rect">
            <a:avLst/>
          </a:prstGeom>
        </p:spPr>
      </p:pic>
      <p:sp>
        <p:nvSpPr>
          <p:cNvPr id="26" name="Text 18"/>
          <p:cNvSpPr txBox="1"/>
          <p:nvPr/>
        </p:nvSpPr>
        <p:spPr>
          <a:xfrm>
            <a:off x="2569464" y="5367528"/>
            <a:ext cx="1728216" cy="219456"/>
          </a:xfrm>
          <a:prstGeom prst="rect">
            <a:avLst/>
          </a:prstGeom>
          <a:noFill/>
          <a:ln/>
        </p:spPr>
        <p:txBody>
          <a:bodyPr wrap="square" lIns="0" tIns="0" rIns="0" bIns="0" rtlCol="0" anchor="t"/>
          <a:lstStyle/>
          <a:p>
            <a:pPr algn="ctr" indent="0" marL="0">
              <a:buNone/>
            </a:pPr>
            <a:r>
              <a:rPr lang="en-US" sz="1150" b="1" dirty="0">
                <a:solidFill>
                  <a:srgbClr val="13285B"/>
                </a:solidFill>
                <a:latin typeface="Calibri" pitchFamily="34" charset="0"/>
                <a:ea typeface="Calibri" pitchFamily="34" charset="-122"/>
                <a:cs typeface="Calibri" pitchFamily="34" charset="-120"/>
              </a:rPr>
              <a:t>Node mapping</a:t>
            </a:r>
            <a:endParaRPr lang="en-US" sz="1150" dirty="0"/>
          </a:p>
        </p:txBody>
      </p:sp>
      <p:sp>
        <p:nvSpPr>
          <p:cNvPr id="27" name="Text 19"/>
          <p:cNvSpPr txBox="1"/>
          <p:nvPr/>
        </p:nvSpPr>
        <p:spPr>
          <a:xfrm>
            <a:off x="2569464" y="5586984"/>
            <a:ext cx="1728216" cy="457200"/>
          </a:xfrm>
          <a:prstGeom prst="rect">
            <a:avLst/>
          </a:prstGeom>
          <a:noFill/>
          <a:ln/>
        </p:spPr>
        <p:txBody>
          <a:bodyPr wrap="square" lIns="0" tIns="0" rIns="0" bIns="0" rtlCol="0" anchor="t"/>
          <a:lstStyle/>
          <a:p>
            <a:pPr algn="ctr" indent="0" marL="0">
              <a:buNone/>
            </a:pPr>
            <a:r>
              <a:rPr lang="en-US" sz="950" dirty="0">
                <a:solidFill>
                  <a:srgbClr val="5B6475"/>
                </a:solidFill>
                <a:latin typeface="Calibri" pitchFamily="34" charset="0"/>
                <a:ea typeface="Calibri" pitchFamily="34" charset="-122"/>
                <a:cs typeface="Calibri" pitchFamily="34" charset="-120"/>
              </a:rPr>
              <a:t>k-NN classifier</a:t>
            </a:r>
            <a:endParaRPr lang="en-US" sz="950" dirty="0"/>
          </a:p>
        </p:txBody>
      </p:sp>
      <p:sp>
        <p:nvSpPr>
          <p:cNvPr id="28" name="Shape 20"/>
          <p:cNvSpPr/>
          <p:nvPr/>
        </p:nvSpPr>
        <p:spPr>
          <a:xfrm>
            <a:off x="4443984" y="3863340"/>
            <a:ext cx="201168" cy="274320"/>
          </a:xfrm>
          <a:prstGeom prst="rightArrow">
            <a:avLst/>
          </a:prstGeom>
          <a:solidFill>
            <a:srgbClr val="A9C3EE"/>
          </a:solidFill>
          <a:ln w="12700">
            <a:solidFill>
              <a:srgbClr val="A9C3EE"/>
            </a:solidFill>
            <a:prstDash val="solid"/>
          </a:ln>
        </p:spPr>
      </p:sp>
      <p:sp>
        <p:nvSpPr>
          <p:cNvPr id="29" name="Shape 21"/>
          <p:cNvSpPr/>
          <p:nvPr/>
        </p:nvSpPr>
        <p:spPr>
          <a:xfrm>
            <a:off x="4626864" y="1170432"/>
            <a:ext cx="2523744" cy="548640"/>
          </a:xfrm>
          <a:prstGeom prst="chevron">
            <a:avLst/>
          </a:prstGeom>
          <a:solidFill>
            <a:srgbClr val="B9CEF2"/>
          </a:solidFill>
          <a:ln w="12700">
            <a:solidFill>
              <a:srgbClr val="FFFFFF"/>
            </a:solidFill>
            <a:prstDash val="solid"/>
          </a:ln>
        </p:spPr>
      </p:sp>
      <p:sp>
        <p:nvSpPr>
          <p:cNvPr id="30" name="Text 22"/>
          <p:cNvSpPr txBox="1"/>
          <p:nvPr/>
        </p:nvSpPr>
        <p:spPr>
          <a:xfrm>
            <a:off x="4946904" y="1170432"/>
            <a:ext cx="2020824" cy="548640"/>
          </a:xfrm>
          <a:prstGeom prst="rect">
            <a:avLst/>
          </a:prstGeom>
          <a:noFill/>
          <a:ln/>
        </p:spPr>
        <p:txBody>
          <a:bodyPr wrap="square" lIns="0" tIns="0" rIns="0" bIns="0" rtlCol="0" anchor="ctr"/>
          <a:lstStyle/>
          <a:p>
            <a:pPr algn="ctr" indent="0" marL="0">
              <a:buNone/>
            </a:pPr>
            <a:r>
              <a:rPr lang="en-US" sz="1250" b="1" dirty="0">
                <a:solidFill>
                  <a:srgbClr val="13285B"/>
                </a:solidFill>
                <a:latin typeface="Calibri" pitchFamily="34" charset="0"/>
                <a:ea typeface="Calibri" pitchFamily="34" charset="-122"/>
                <a:cs typeface="Calibri" pitchFamily="34" charset="-120"/>
              </a:rPr>
              <a:t>Attributes &amp; Archetypes</a:t>
            </a:r>
            <a:endParaRPr lang="en-US" sz="1250" dirty="0"/>
          </a:p>
          <a:p>
            <a:pPr algn="ctr" indent="0" marL="0">
              <a:buNone/>
            </a:pPr>
            <a:r>
              <a:rPr lang="en-US" sz="950" dirty="0">
                <a:solidFill>
                  <a:srgbClr val="5B6475"/>
                </a:solidFill>
                <a:latin typeface="Calibri" pitchFamily="34" charset="0"/>
                <a:ea typeface="Calibri" pitchFamily="34" charset="-122"/>
                <a:cs typeface="Calibri" pitchFamily="34" charset="-120"/>
              </a:rPr>
              <a:t>S3–S4</a:t>
            </a:r>
            <a:endParaRPr lang="en-US" sz="1250" dirty="0"/>
          </a:p>
        </p:txBody>
      </p:sp>
      <p:sp>
        <p:nvSpPr>
          <p:cNvPr id="31" name="Shape 23"/>
          <p:cNvSpPr/>
          <p:nvPr/>
        </p:nvSpPr>
        <p:spPr>
          <a:xfrm>
            <a:off x="4718304" y="1874520"/>
            <a:ext cx="2103120" cy="4251960"/>
          </a:xfrm>
          <a:prstGeom prst="roundRect">
            <a:avLst>
              <a:gd name="adj" fmla="val 3478"/>
            </a:avLst>
          </a:prstGeom>
          <a:solidFill>
            <a:srgbClr val="FFFFFF"/>
          </a:solidFill>
          <a:ln w="6350">
            <a:solidFill>
              <a:srgbClr val="D3DDEE"/>
            </a:solidFill>
            <a:prstDash val="solid"/>
          </a:ln>
        </p:spPr>
      </p:sp>
      <p:pic>
        <p:nvPicPr>
          <p:cNvPr id="32" name="Image 6" descr="preencoded.png">    </p:cNvPr>
          <p:cNvPicPr>
            <a:picLocks noChangeAspect="1"/>
          </p:cNvPicPr>
          <p:nvPr/>
        </p:nvPicPr>
        <p:blipFill>
          <a:blip r:embed="rId7"/>
          <a:stretch>
            <a:fillRect/>
          </a:stretch>
        </p:blipFill>
        <p:spPr>
          <a:xfrm>
            <a:off x="5541264" y="2148840"/>
            <a:ext cx="457200" cy="457200"/>
          </a:xfrm>
          <a:prstGeom prst="rect">
            <a:avLst/>
          </a:prstGeom>
        </p:spPr>
      </p:pic>
      <p:sp>
        <p:nvSpPr>
          <p:cNvPr id="33" name="Text 24"/>
          <p:cNvSpPr txBox="1"/>
          <p:nvPr/>
        </p:nvSpPr>
        <p:spPr>
          <a:xfrm>
            <a:off x="4791456" y="2660904"/>
            <a:ext cx="1956816" cy="219456"/>
          </a:xfrm>
          <a:prstGeom prst="rect">
            <a:avLst/>
          </a:prstGeom>
          <a:noFill/>
          <a:ln/>
        </p:spPr>
        <p:txBody>
          <a:bodyPr wrap="square" lIns="0" tIns="0" rIns="0" bIns="0" rtlCol="0" anchor="t"/>
          <a:lstStyle/>
          <a:p>
            <a:pPr algn="ctr" indent="0" marL="0">
              <a:buNone/>
            </a:pPr>
            <a:r>
              <a:rPr lang="en-US" sz="1150" b="1" dirty="0">
                <a:solidFill>
                  <a:srgbClr val="13285B"/>
                </a:solidFill>
                <a:latin typeface="Calibri" pitchFamily="34" charset="0"/>
                <a:ea typeface="Calibri" pitchFamily="34" charset="-122"/>
                <a:cs typeface="Calibri" pitchFamily="34" charset="-120"/>
              </a:rPr>
              <a:t>3-tier attributes</a:t>
            </a:r>
            <a:endParaRPr lang="en-US" sz="1150" dirty="0"/>
          </a:p>
        </p:txBody>
      </p:sp>
      <p:sp>
        <p:nvSpPr>
          <p:cNvPr id="34" name="Text 25"/>
          <p:cNvSpPr txBox="1"/>
          <p:nvPr/>
        </p:nvSpPr>
        <p:spPr>
          <a:xfrm>
            <a:off x="4791456" y="2880360"/>
            <a:ext cx="1956816" cy="457200"/>
          </a:xfrm>
          <a:prstGeom prst="rect">
            <a:avLst/>
          </a:prstGeom>
          <a:noFill/>
          <a:ln/>
        </p:spPr>
        <p:txBody>
          <a:bodyPr wrap="square" lIns="0" tIns="0" rIns="0" bIns="0" rtlCol="0" anchor="t"/>
          <a:lstStyle/>
          <a:p>
            <a:pPr algn="ctr" indent="0" marL="0">
              <a:buNone/>
            </a:pPr>
            <a:r>
              <a:rPr lang="en-US" sz="950" dirty="0">
                <a:solidFill>
                  <a:srgbClr val="5B6475"/>
                </a:solidFill>
                <a:latin typeface="Calibri" pitchFamily="34" charset="0"/>
                <a:ea typeface="Calibri" pitchFamily="34" charset="-122"/>
                <a:cs typeface="Calibri" pitchFamily="34" charset="-120"/>
              </a:rPr>
              <a:t>function · look · lifestyle, same extractor on both sides</a:t>
            </a:r>
            <a:endParaRPr lang="en-US" sz="950" dirty="0"/>
          </a:p>
        </p:txBody>
      </p:sp>
      <p:pic>
        <p:nvPicPr>
          <p:cNvPr id="35" name="Image 7" descr="preencoded.png">    </p:cNvPr>
          <p:cNvPicPr>
            <a:picLocks noChangeAspect="1"/>
          </p:cNvPicPr>
          <p:nvPr/>
        </p:nvPicPr>
        <p:blipFill>
          <a:blip r:embed="rId8"/>
          <a:stretch>
            <a:fillRect/>
          </a:stretch>
        </p:blipFill>
        <p:spPr>
          <a:xfrm>
            <a:off x="5541264" y="3502152"/>
            <a:ext cx="457200" cy="457200"/>
          </a:xfrm>
          <a:prstGeom prst="rect">
            <a:avLst/>
          </a:prstGeom>
        </p:spPr>
      </p:pic>
      <p:sp>
        <p:nvSpPr>
          <p:cNvPr id="36" name="Text 26"/>
          <p:cNvSpPr txBox="1"/>
          <p:nvPr/>
        </p:nvSpPr>
        <p:spPr>
          <a:xfrm>
            <a:off x="4791456" y="4014216"/>
            <a:ext cx="1956816" cy="219456"/>
          </a:xfrm>
          <a:prstGeom prst="rect">
            <a:avLst/>
          </a:prstGeom>
          <a:noFill/>
          <a:ln/>
        </p:spPr>
        <p:txBody>
          <a:bodyPr wrap="square" lIns="0" tIns="0" rIns="0" bIns="0" rtlCol="0" anchor="t"/>
          <a:lstStyle/>
          <a:p>
            <a:pPr algn="ctr" indent="0" marL="0">
              <a:buNone/>
            </a:pPr>
            <a:r>
              <a:rPr lang="en-US" sz="1150" b="1" dirty="0">
                <a:solidFill>
                  <a:srgbClr val="13285B"/>
                </a:solidFill>
                <a:latin typeface="Calibri" pitchFamily="34" charset="0"/>
                <a:ea typeface="Calibri" pitchFamily="34" charset="-122"/>
                <a:cs typeface="Calibri" pitchFamily="34" charset="-120"/>
              </a:rPr>
              <a:t>Neutral product embeddings</a:t>
            </a:r>
            <a:endParaRPr lang="en-US" sz="1150" dirty="0"/>
          </a:p>
        </p:txBody>
      </p:sp>
      <p:sp>
        <p:nvSpPr>
          <p:cNvPr id="37" name="Text 27"/>
          <p:cNvSpPr txBox="1"/>
          <p:nvPr/>
        </p:nvSpPr>
        <p:spPr>
          <a:xfrm>
            <a:off x="4791456" y="4233672"/>
            <a:ext cx="1956816" cy="457200"/>
          </a:xfrm>
          <a:prstGeom prst="rect">
            <a:avLst/>
          </a:prstGeom>
          <a:noFill/>
          <a:ln/>
        </p:spPr>
        <p:txBody>
          <a:bodyPr wrap="square" lIns="0" tIns="0" rIns="0" bIns="0" rtlCol="0" anchor="t"/>
          <a:lstStyle/>
          <a:p>
            <a:pPr algn="ctr" indent="0" marL="0">
              <a:buNone/>
            </a:pPr>
            <a:r>
              <a:rPr lang="en-US" sz="950" dirty="0">
                <a:solidFill>
                  <a:srgbClr val="5B6475"/>
                </a:solidFill>
                <a:latin typeface="Calibri" pitchFamily="34" charset="0"/>
                <a:ea typeface="Calibri" pitchFamily="34" charset="-122"/>
                <a:cs typeface="Calibri" pitchFamily="34" charset="-120"/>
              </a:rPr>
              <a:t>extracted attributes only (no title, price or brand), bge-base</a:t>
            </a:r>
            <a:endParaRPr lang="en-US" sz="950" dirty="0"/>
          </a:p>
        </p:txBody>
      </p:sp>
      <p:pic>
        <p:nvPicPr>
          <p:cNvPr id="38" name="Image 8" descr="preencoded.png">    </p:cNvPr>
          <p:cNvPicPr>
            <a:picLocks noChangeAspect="1"/>
          </p:cNvPicPr>
          <p:nvPr/>
        </p:nvPicPr>
        <p:blipFill>
          <a:blip r:embed="rId9"/>
          <a:stretch>
            <a:fillRect/>
          </a:stretch>
        </p:blipFill>
        <p:spPr>
          <a:xfrm>
            <a:off x="5541264" y="4855464"/>
            <a:ext cx="457200" cy="457200"/>
          </a:xfrm>
          <a:prstGeom prst="rect">
            <a:avLst/>
          </a:prstGeom>
        </p:spPr>
      </p:pic>
      <p:sp>
        <p:nvSpPr>
          <p:cNvPr id="39" name="Text 28"/>
          <p:cNvSpPr txBox="1"/>
          <p:nvPr/>
        </p:nvSpPr>
        <p:spPr>
          <a:xfrm>
            <a:off x="4791456" y="5367528"/>
            <a:ext cx="1956816" cy="219456"/>
          </a:xfrm>
          <a:prstGeom prst="rect">
            <a:avLst/>
          </a:prstGeom>
          <a:noFill/>
          <a:ln/>
        </p:spPr>
        <p:txBody>
          <a:bodyPr wrap="square" lIns="0" tIns="0" rIns="0" bIns="0" rtlCol="0" anchor="t"/>
          <a:lstStyle/>
          <a:p>
            <a:pPr algn="ctr" indent="0" marL="0">
              <a:buNone/>
            </a:pPr>
            <a:r>
              <a:rPr lang="en-US" sz="1150" b="1" dirty="0">
                <a:solidFill>
                  <a:srgbClr val="13285B"/>
                </a:solidFill>
                <a:latin typeface="Calibri" pitchFamily="34" charset="0"/>
                <a:ea typeface="Calibri" pitchFamily="34" charset="-122"/>
                <a:cs typeface="Calibri" pitchFamily="34" charset="-120"/>
              </a:rPr>
              <a:t>Archetypes</a:t>
            </a:r>
            <a:endParaRPr lang="en-US" sz="1150" dirty="0"/>
          </a:p>
        </p:txBody>
      </p:sp>
      <p:sp>
        <p:nvSpPr>
          <p:cNvPr id="40" name="Text 29"/>
          <p:cNvSpPr txBox="1"/>
          <p:nvPr/>
        </p:nvSpPr>
        <p:spPr>
          <a:xfrm>
            <a:off x="4791456" y="5586984"/>
            <a:ext cx="1956816" cy="457200"/>
          </a:xfrm>
          <a:prstGeom prst="rect">
            <a:avLst/>
          </a:prstGeom>
          <a:noFill/>
          <a:ln/>
        </p:spPr>
        <p:txBody>
          <a:bodyPr wrap="square" lIns="0" tIns="0" rIns="0" bIns="0" rtlCol="0" anchor="t"/>
          <a:lstStyle/>
          <a:p>
            <a:pPr algn="ctr" indent="0" marL="0">
              <a:buNone/>
            </a:pPr>
            <a:r>
              <a:rPr lang="en-US" sz="950" dirty="0">
                <a:solidFill>
                  <a:srgbClr val="5B6475"/>
                </a:solidFill>
                <a:latin typeface="Calibri" pitchFamily="34" charset="0"/>
                <a:ea typeface="Calibri" pitchFamily="34" charset="-122"/>
                <a:cs typeface="Calibri" pitchFamily="34" charset="-120"/>
              </a:rPr>
              <a:t>4–6-attribute combinations, up to 3 sets per node</a:t>
            </a:r>
            <a:endParaRPr lang="en-US" sz="950" dirty="0"/>
          </a:p>
        </p:txBody>
      </p:sp>
      <p:sp>
        <p:nvSpPr>
          <p:cNvPr id="41" name="Shape 30"/>
          <p:cNvSpPr/>
          <p:nvPr/>
        </p:nvSpPr>
        <p:spPr>
          <a:xfrm>
            <a:off x="6894576" y="3863340"/>
            <a:ext cx="201168" cy="274320"/>
          </a:xfrm>
          <a:prstGeom prst="rightArrow">
            <a:avLst/>
          </a:prstGeom>
          <a:solidFill>
            <a:srgbClr val="A9C3EE"/>
          </a:solidFill>
          <a:ln w="12700">
            <a:solidFill>
              <a:srgbClr val="A9C3EE"/>
            </a:solidFill>
            <a:prstDash val="solid"/>
          </a:ln>
        </p:spPr>
      </p:sp>
      <p:sp>
        <p:nvSpPr>
          <p:cNvPr id="42" name="Shape 31"/>
          <p:cNvSpPr/>
          <p:nvPr/>
        </p:nvSpPr>
        <p:spPr>
          <a:xfrm>
            <a:off x="7077456" y="1170432"/>
            <a:ext cx="2944368" cy="548640"/>
          </a:xfrm>
          <a:prstGeom prst="chevron">
            <a:avLst/>
          </a:prstGeom>
          <a:solidFill>
            <a:srgbClr val="A9C3EE"/>
          </a:solidFill>
          <a:ln w="12700">
            <a:solidFill>
              <a:srgbClr val="FFFFFF"/>
            </a:solidFill>
            <a:prstDash val="solid"/>
          </a:ln>
        </p:spPr>
      </p:sp>
      <p:sp>
        <p:nvSpPr>
          <p:cNvPr id="43" name="Text 32"/>
          <p:cNvSpPr txBox="1"/>
          <p:nvPr/>
        </p:nvSpPr>
        <p:spPr>
          <a:xfrm>
            <a:off x="7397496" y="1170432"/>
            <a:ext cx="2441448" cy="548640"/>
          </a:xfrm>
          <a:prstGeom prst="rect">
            <a:avLst/>
          </a:prstGeom>
          <a:noFill/>
          <a:ln/>
        </p:spPr>
        <p:txBody>
          <a:bodyPr wrap="square" lIns="0" tIns="0" rIns="0" bIns="0" rtlCol="0" anchor="ctr"/>
          <a:lstStyle/>
          <a:p>
            <a:pPr algn="ctr" indent="0" marL="0">
              <a:buNone/>
            </a:pPr>
            <a:r>
              <a:rPr lang="en-US" sz="1250" b="1" dirty="0">
                <a:solidFill>
                  <a:srgbClr val="13285B"/>
                </a:solidFill>
                <a:latin typeface="Calibri" pitchFamily="34" charset="0"/>
                <a:ea typeface="Calibri" pitchFamily="34" charset="-122"/>
                <a:cs typeface="Calibri" pitchFamily="34" charset="-120"/>
              </a:rPr>
              <a:t>Two Scoring Methods</a:t>
            </a:r>
            <a:endParaRPr lang="en-US" sz="1250" dirty="0"/>
          </a:p>
          <a:p>
            <a:pPr algn="ctr" indent="0" marL="0">
              <a:buNone/>
            </a:pPr>
            <a:r>
              <a:rPr lang="en-US" sz="950" dirty="0">
                <a:solidFill>
                  <a:srgbClr val="5B6475"/>
                </a:solidFill>
                <a:latin typeface="Calibri" pitchFamily="34" charset="0"/>
                <a:ea typeface="Calibri" pitchFamily="34" charset="-122"/>
                <a:cs typeface="Calibri" pitchFamily="34" charset="-120"/>
              </a:rPr>
              <a:t>S5–S6</a:t>
            </a:r>
            <a:endParaRPr lang="en-US" sz="1250" dirty="0"/>
          </a:p>
        </p:txBody>
      </p:sp>
      <p:sp>
        <p:nvSpPr>
          <p:cNvPr id="44" name="Shape 33"/>
          <p:cNvSpPr/>
          <p:nvPr/>
        </p:nvSpPr>
        <p:spPr>
          <a:xfrm>
            <a:off x="7168896" y="1874520"/>
            <a:ext cx="2523744" cy="4251960"/>
          </a:xfrm>
          <a:prstGeom prst="roundRect">
            <a:avLst>
              <a:gd name="adj" fmla="val 2899"/>
            </a:avLst>
          </a:prstGeom>
          <a:solidFill>
            <a:srgbClr val="FFFFFF"/>
          </a:solidFill>
          <a:ln w="6350">
            <a:solidFill>
              <a:srgbClr val="D3DDEE"/>
            </a:solidFill>
            <a:prstDash val="solid"/>
          </a:ln>
        </p:spPr>
      </p:sp>
      <p:sp>
        <p:nvSpPr>
          <p:cNvPr id="45" name="Shape 34"/>
          <p:cNvSpPr/>
          <p:nvPr/>
        </p:nvSpPr>
        <p:spPr>
          <a:xfrm>
            <a:off x="7260336" y="1965960"/>
            <a:ext cx="2340864" cy="1988820"/>
          </a:xfrm>
          <a:prstGeom prst="roundRect">
            <a:avLst>
              <a:gd name="adj" fmla="val 3678"/>
            </a:avLst>
          </a:prstGeom>
          <a:solidFill>
            <a:srgbClr val="EEF3FB"/>
          </a:solidFill>
          <a:ln w="12700">
            <a:solidFill>
              <a:srgbClr val="EEF3FB"/>
            </a:solidFill>
            <a:prstDash val="solid"/>
          </a:ln>
        </p:spPr>
      </p:sp>
      <p:sp>
        <p:nvSpPr>
          <p:cNvPr id="46" name="Text 35"/>
          <p:cNvSpPr txBox="1"/>
          <p:nvPr/>
        </p:nvSpPr>
        <p:spPr>
          <a:xfrm>
            <a:off x="7351776" y="2039112"/>
            <a:ext cx="2157984" cy="256032"/>
          </a:xfrm>
          <a:prstGeom prst="rect">
            <a:avLst/>
          </a:prstGeom>
          <a:noFill/>
          <a:ln/>
        </p:spPr>
        <p:txBody>
          <a:bodyPr wrap="square" lIns="0" tIns="0" rIns="0" bIns="0" rtlCol="0" anchor="t"/>
          <a:lstStyle/>
          <a:p>
            <a:pPr indent="0" marL="0">
              <a:buNone/>
            </a:pPr>
            <a:r>
              <a:rPr lang="en-US" sz="1200" b="1" dirty="0">
                <a:solidFill>
                  <a:srgbClr val="1F4E9A"/>
                </a:solidFill>
                <a:latin typeface="Calibri" pitchFamily="34" charset="0"/>
                <a:ea typeface="Calibri" pitchFamily="34" charset="-122"/>
                <a:cs typeface="Calibri" pitchFamily="34" charset="-120"/>
              </a:rPr>
              <a:t>Method 1 · Vector view</a:t>
            </a:r>
            <a:endParaRPr lang="en-US" sz="1200" dirty="0"/>
          </a:p>
        </p:txBody>
      </p:sp>
      <p:sp>
        <p:nvSpPr>
          <p:cNvPr id="47" name="Text 36"/>
          <p:cNvSpPr txBox="1"/>
          <p:nvPr/>
        </p:nvSpPr>
        <p:spPr>
          <a:xfrm>
            <a:off x="7351776" y="2377440"/>
            <a:ext cx="2203704" cy="1005840"/>
          </a:xfrm>
          <a:prstGeom prst="rect">
            <a:avLst/>
          </a:prstGeom>
          <a:noFill/>
          <a:ln/>
        </p:spPr>
        <p:txBody>
          <a:bodyPr wrap="square" lIns="0" tIns="0" rIns="0" bIns="0" rtlCol="0" anchor="t"/>
          <a:lstStyle/>
          <a:p>
            <a:pPr indent="0" marL="0">
              <a:spcAft>
                <a:spcPts val="200"/>
              </a:spcAft>
              <a:buNone/>
            </a:pPr>
            <a:r>
              <a:rPr lang="en-US" sz="950" dirty="0">
                <a:solidFill>
                  <a:srgbClr val="1F2937"/>
                </a:solidFill>
                <a:latin typeface="Calibri" pitchFamily="34" charset="0"/>
                <a:ea typeface="Calibri" pitchFamily="34" charset="-122"/>
                <a:cs typeface="Calibri" pitchFamily="34" charset="-120"/>
              </a:rPr>
              <a:t>VW (Vector Whitespace)</a:t>
            </a:r>
            <a:endParaRPr lang="en-US" sz="950" dirty="0"/>
          </a:p>
          <a:p>
            <a:pPr indent="0" marL="0">
              <a:spcAft>
                <a:spcPts val="200"/>
              </a:spcAft>
              <a:buNone/>
            </a:pPr>
            <a:r>
              <a:rPr lang="en-US" sz="950" dirty="0">
                <a:solidFill>
                  <a:srgbClr val="1F2937"/>
                </a:solidFill>
                <a:latin typeface="Calibri" pitchFamily="34" charset="0"/>
                <a:ea typeface="Calibri" pitchFamily="34" charset="-122"/>
                <a:cs typeface="Calibri" pitchFamily="34" charset="-120"/>
              </a:rPr>
              <a:t>AAS (Adjacency Affinity Score)</a:t>
            </a:r>
            <a:endParaRPr lang="en-US" sz="950" dirty="0"/>
          </a:p>
          <a:p>
            <a:pPr indent="0" marL="0">
              <a:spcAft>
                <a:spcPts val="200"/>
              </a:spcAft>
              <a:buNone/>
            </a:pPr>
            <a:r>
              <a:rPr lang="en-US" sz="950" dirty="0">
                <a:solidFill>
                  <a:srgbClr val="1F2937"/>
                </a:solidFill>
                <a:latin typeface="Calibri" pitchFamily="34" charset="0"/>
                <a:ea typeface="Calibri" pitchFamily="34" charset="-122"/>
                <a:cs typeface="Calibri" pitchFamily="34" charset="-120"/>
              </a:rPr>
              <a:t>CRS (Cannibalisation Risk Score)</a:t>
            </a:r>
            <a:endParaRPr lang="en-US" sz="950" dirty="0"/>
          </a:p>
          <a:p>
            <a:pPr indent="0" marL="0">
              <a:spcAft>
                <a:spcPts val="200"/>
              </a:spcAft>
              <a:buNone/>
            </a:pPr>
            <a:r>
              <a:rPr lang="en-US" sz="950" dirty="0">
                <a:solidFill>
                  <a:srgbClr val="1F2937"/>
                </a:solidFill>
                <a:latin typeface="Calibri" pitchFamily="34" charset="0"/>
                <a:ea typeface="Calibri" pitchFamily="34" charset="-122"/>
                <a:cs typeface="Calibri" pitchFamily="34" charset="-120"/>
              </a:rPr>
              <a:t>AD (Aesthetic Delta)</a:t>
            </a:r>
            <a:endParaRPr lang="en-US" sz="950" dirty="0"/>
          </a:p>
          <a:p>
            <a:pPr indent="0" marL="0">
              <a:spcAft>
                <a:spcPts val="200"/>
              </a:spcAft>
              <a:buNone/>
            </a:pPr>
            <a:r>
              <a:rPr lang="en-US" sz="950" dirty="0">
                <a:solidFill>
                  <a:srgbClr val="1F2937"/>
                </a:solidFill>
                <a:latin typeface="Calibri" pitchFamily="34" charset="0"/>
                <a:ea typeface="Calibri" pitchFamily="34" charset="-122"/>
                <a:cs typeface="Calibri" pitchFamily="34" charset="-120"/>
              </a:rPr>
              <a:t>PPR (Price Position Ratio)</a:t>
            </a:r>
            <a:endParaRPr lang="en-US" sz="950" dirty="0"/>
          </a:p>
        </p:txBody>
      </p:sp>
      <p:sp>
        <p:nvSpPr>
          <p:cNvPr id="48" name="Text 37"/>
          <p:cNvSpPr txBox="1"/>
          <p:nvPr/>
        </p:nvSpPr>
        <p:spPr>
          <a:xfrm>
            <a:off x="7351776" y="3589020"/>
            <a:ext cx="2157984" cy="274320"/>
          </a:xfrm>
          <a:prstGeom prst="rect">
            <a:avLst/>
          </a:prstGeom>
          <a:noFill/>
          <a:ln/>
        </p:spPr>
        <p:txBody>
          <a:bodyPr wrap="square" lIns="0" tIns="0" rIns="0" bIns="0" rtlCol="0" anchor="t"/>
          <a:lstStyle/>
          <a:p>
            <a:pPr indent="0" marL="0">
              <a:buNone/>
            </a:pPr>
            <a:r>
              <a:rPr lang="en-US" sz="1100" b="1" dirty="0">
                <a:solidFill>
                  <a:srgbClr val="13285B"/>
                </a:solidFill>
                <a:latin typeface="Calibri" pitchFamily="34" charset="0"/>
                <a:ea typeface="Calibri" pitchFamily="34" charset="-122"/>
                <a:cs typeface="Calibri" pitchFamily="34" charset="-120"/>
              </a:rPr>
              <a:t>→ VOS (Vector Opportunity Score)</a:t>
            </a:r>
            <a:endParaRPr lang="en-US" sz="1100" dirty="0"/>
          </a:p>
        </p:txBody>
      </p:sp>
      <p:sp>
        <p:nvSpPr>
          <p:cNvPr id="49" name="Shape 38"/>
          <p:cNvSpPr/>
          <p:nvPr/>
        </p:nvSpPr>
        <p:spPr>
          <a:xfrm>
            <a:off x="7260336" y="4046220"/>
            <a:ext cx="2340864" cy="1988820"/>
          </a:xfrm>
          <a:prstGeom prst="roundRect">
            <a:avLst>
              <a:gd name="adj" fmla="val 3678"/>
            </a:avLst>
          </a:prstGeom>
          <a:solidFill>
            <a:srgbClr val="F3F0FA"/>
          </a:solidFill>
          <a:ln w="12700">
            <a:solidFill>
              <a:srgbClr val="F3F0FA"/>
            </a:solidFill>
            <a:prstDash val="solid"/>
          </a:ln>
        </p:spPr>
      </p:sp>
      <p:sp>
        <p:nvSpPr>
          <p:cNvPr id="50" name="Text 39"/>
          <p:cNvSpPr txBox="1"/>
          <p:nvPr/>
        </p:nvSpPr>
        <p:spPr>
          <a:xfrm>
            <a:off x="7351776" y="4119372"/>
            <a:ext cx="2157984" cy="256032"/>
          </a:xfrm>
          <a:prstGeom prst="rect">
            <a:avLst/>
          </a:prstGeom>
          <a:noFill/>
          <a:ln/>
        </p:spPr>
        <p:txBody>
          <a:bodyPr wrap="square" lIns="0" tIns="0" rIns="0" bIns="0" rtlCol="0" anchor="t"/>
          <a:lstStyle/>
          <a:p>
            <a:pPr indent="0" marL="0">
              <a:buNone/>
            </a:pPr>
            <a:r>
              <a:rPr lang="en-US" sz="1200" b="1" dirty="0">
                <a:solidFill>
                  <a:srgbClr val="1F4E9A"/>
                </a:solidFill>
                <a:latin typeface="Calibri" pitchFamily="34" charset="0"/>
                <a:ea typeface="Calibri" pitchFamily="34" charset="-122"/>
                <a:cs typeface="Calibri" pitchFamily="34" charset="-120"/>
              </a:rPr>
              <a:t>Method 2 · Attribute view</a:t>
            </a:r>
            <a:endParaRPr lang="en-US" sz="1200" dirty="0"/>
          </a:p>
        </p:txBody>
      </p:sp>
      <p:sp>
        <p:nvSpPr>
          <p:cNvPr id="51" name="Text 40"/>
          <p:cNvSpPr txBox="1"/>
          <p:nvPr/>
        </p:nvSpPr>
        <p:spPr>
          <a:xfrm>
            <a:off x="7351776" y="4457700"/>
            <a:ext cx="2203704" cy="1005840"/>
          </a:xfrm>
          <a:prstGeom prst="rect">
            <a:avLst/>
          </a:prstGeom>
          <a:noFill/>
          <a:ln/>
        </p:spPr>
        <p:txBody>
          <a:bodyPr wrap="square" lIns="0" tIns="0" rIns="0" bIns="0" rtlCol="0" anchor="t"/>
          <a:lstStyle/>
          <a:p>
            <a:pPr indent="0" marL="0">
              <a:spcAft>
                <a:spcPts val="200"/>
              </a:spcAft>
              <a:buNone/>
            </a:pPr>
            <a:r>
              <a:rPr lang="en-US" sz="950" dirty="0">
                <a:solidFill>
                  <a:srgbClr val="1F2937"/>
                </a:solidFill>
                <a:latin typeface="Calibri" pitchFamily="34" charset="0"/>
                <a:ea typeface="Calibri" pitchFamily="34" charset="-122"/>
                <a:cs typeface="Calibri" pitchFamily="34" charset="-120"/>
              </a:rPr>
              <a:t>LSR (Log Share Ratio)</a:t>
            </a:r>
            <a:endParaRPr lang="en-US" sz="950" dirty="0"/>
          </a:p>
          <a:p>
            <a:pPr indent="0" marL="0">
              <a:spcAft>
                <a:spcPts val="200"/>
              </a:spcAft>
              <a:buNone/>
            </a:pPr>
            <a:r>
              <a:rPr lang="en-US" sz="950" dirty="0">
                <a:solidFill>
                  <a:srgbClr val="1F2937"/>
                </a:solidFill>
                <a:latin typeface="Calibri" pitchFamily="34" charset="0"/>
                <a:ea typeface="Calibri" pitchFamily="34" charset="-122"/>
                <a:cs typeface="Calibri" pitchFamily="34" charset="-120"/>
              </a:rPr>
              <a:t>PPG (Price Position Gap)</a:t>
            </a:r>
            <a:endParaRPr lang="en-US" sz="950" dirty="0"/>
          </a:p>
          <a:p>
            <a:pPr indent="0" marL="0">
              <a:spcAft>
                <a:spcPts val="200"/>
              </a:spcAft>
              <a:buNone/>
            </a:pPr>
            <a:r>
              <a:rPr lang="en-US" sz="950" dirty="0">
                <a:solidFill>
                  <a:srgbClr val="1F2937"/>
                </a:solidFill>
                <a:latin typeface="Calibri" pitchFamily="34" charset="0"/>
                <a:ea typeface="Calibri" pitchFamily="34" charset="-122"/>
                <a:cs typeface="Calibri" pitchFamily="34" charset="-120"/>
              </a:rPr>
              <a:t>CG (Colour Gap) · MSG (Material/Style Gap)</a:t>
            </a:r>
            <a:endParaRPr lang="en-US" sz="950" dirty="0"/>
          </a:p>
          <a:p>
            <a:pPr indent="0" marL="0">
              <a:spcAft>
                <a:spcPts val="200"/>
              </a:spcAft>
              <a:buNone/>
            </a:pPr>
            <a:r>
              <a:rPr lang="en-US" sz="950" dirty="0">
                <a:solidFill>
                  <a:srgbClr val="1F2937"/>
                </a:solidFill>
                <a:latin typeface="Calibri" pitchFamily="34" charset="0"/>
                <a:ea typeface="Calibri" pitchFamily="34" charset="-122"/>
                <a:cs typeface="Calibri" pitchFamily="34" charset="-120"/>
              </a:rPr>
              <a:t>DFG (Design-Forward Gap)</a:t>
            </a:r>
            <a:endParaRPr lang="en-US" sz="950" dirty="0"/>
          </a:p>
          <a:p>
            <a:pPr indent="0" marL="0">
              <a:spcAft>
                <a:spcPts val="200"/>
              </a:spcAft>
              <a:buNone/>
            </a:pPr>
            <a:r>
              <a:rPr lang="en-US" sz="950" dirty="0">
                <a:solidFill>
                  <a:srgbClr val="1F2937"/>
                </a:solidFill>
                <a:latin typeface="Calibri" pitchFamily="34" charset="0"/>
                <a:ea typeface="Calibri" pitchFamily="34" charset="-122"/>
                <a:cs typeface="Calibri" pitchFamily="34" charset="-120"/>
              </a:rPr>
              <a:t>ACR (Attribute Cannibalisation Risk)</a:t>
            </a:r>
            <a:endParaRPr lang="en-US" sz="950" dirty="0"/>
          </a:p>
        </p:txBody>
      </p:sp>
      <p:sp>
        <p:nvSpPr>
          <p:cNvPr id="52" name="Text 41"/>
          <p:cNvSpPr txBox="1"/>
          <p:nvPr/>
        </p:nvSpPr>
        <p:spPr>
          <a:xfrm>
            <a:off x="7351776" y="5669280"/>
            <a:ext cx="2157984" cy="274320"/>
          </a:xfrm>
          <a:prstGeom prst="rect">
            <a:avLst/>
          </a:prstGeom>
          <a:noFill/>
          <a:ln/>
        </p:spPr>
        <p:txBody>
          <a:bodyPr wrap="square" lIns="0" tIns="0" rIns="0" bIns="0" rtlCol="0" anchor="t"/>
          <a:lstStyle/>
          <a:p>
            <a:pPr indent="0" marL="0">
              <a:buNone/>
            </a:pPr>
            <a:r>
              <a:rPr lang="en-US" sz="1100" b="1" dirty="0">
                <a:solidFill>
                  <a:srgbClr val="13285B"/>
                </a:solidFill>
                <a:latin typeface="Calibri" pitchFamily="34" charset="0"/>
                <a:ea typeface="Calibri" pitchFamily="34" charset="-122"/>
                <a:cs typeface="Calibri" pitchFamily="34" charset="-120"/>
              </a:rPr>
              <a:t>→ TG (Total Gap)</a:t>
            </a:r>
            <a:endParaRPr lang="en-US" sz="1100" dirty="0"/>
          </a:p>
        </p:txBody>
      </p:sp>
      <p:sp>
        <p:nvSpPr>
          <p:cNvPr id="53" name="Shape 42"/>
          <p:cNvSpPr/>
          <p:nvPr/>
        </p:nvSpPr>
        <p:spPr>
          <a:xfrm>
            <a:off x="9765792" y="3863340"/>
            <a:ext cx="201168" cy="274320"/>
          </a:xfrm>
          <a:prstGeom prst="rightArrow">
            <a:avLst/>
          </a:prstGeom>
          <a:solidFill>
            <a:srgbClr val="A9C3EE"/>
          </a:solidFill>
          <a:ln w="12700">
            <a:solidFill>
              <a:srgbClr val="A9C3EE"/>
            </a:solidFill>
            <a:prstDash val="solid"/>
          </a:ln>
        </p:spPr>
      </p:sp>
      <p:sp>
        <p:nvSpPr>
          <p:cNvPr id="54" name="Shape 43"/>
          <p:cNvSpPr/>
          <p:nvPr/>
        </p:nvSpPr>
        <p:spPr>
          <a:xfrm>
            <a:off x="9948672" y="1170432"/>
            <a:ext cx="1828800" cy="548640"/>
          </a:xfrm>
          <a:prstGeom prst="chevron">
            <a:avLst/>
          </a:prstGeom>
          <a:solidFill>
            <a:srgbClr val="97B6EA"/>
          </a:solidFill>
          <a:ln w="12700">
            <a:solidFill>
              <a:srgbClr val="FFFFFF"/>
            </a:solidFill>
            <a:prstDash val="solid"/>
          </a:ln>
        </p:spPr>
      </p:sp>
      <p:sp>
        <p:nvSpPr>
          <p:cNvPr id="55" name="Text 44"/>
          <p:cNvSpPr txBox="1"/>
          <p:nvPr/>
        </p:nvSpPr>
        <p:spPr>
          <a:xfrm>
            <a:off x="10268712" y="1170432"/>
            <a:ext cx="1325880" cy="548640"/>
          </a:xfrm>
          <a:prstGeom prst="rect">
            <a:avLst/>
          </a:prstGeom>
          <a:noFill/>
          <a:ln/>
        </p:spPr>
        <p:txBody>
          <a:bodyPr wrap="square" lIns="0" tIns="0" rIns="0" bIns="0" rtlCol="0" anchor="ctr"/>
          <a:lstStyle/>
          <a:p>
            <a:pPr algn="ctr" indent="0" marL="0">
              <a:buNone/>
            </a:pPr>
            <a:r>
              <a:rPr lang="en-US" sz="1250" b="1" dirty="0">
                <a:solidFill>
                  <a:srgbClr val="13285B"/>
                </a:solidFill>
                <a:latin typeface="Calibri" pitchFamily="34" charset="0"/>
                <a:ea typeface="Calibri" pitchFamily="34" charset="-122"/>
                <a:cs typeface="Calibri" pitchFamily="34" charset="-120"/>
              </a:rPr>
              <a:t>Gates &amp; Picks</a:t>
            </a:r>
            <a:endParaRPr lang="en-US" sz="1250" dirty="0"/>
          </a:p>
          <a:p>
            <a:pPr algn="ctr" indent="0" marL="0">
              <a:buNone/>
            </a:pPr>
            <a:r>
              <a:rPr lang="en-US" sz="950" dirty="0">
                <a:solidFill>
                  <a:srgbClr val="5B6475"/>
                </a:solidFill>
                <a:latin typeface="Calibri" pitchFamily="34" charset="0"/>
                <a:ea typeface="Calibri" pitchFamily="34" charset="-122"/>
                <a:cs typeface="Calibri" pitchFamily="34" charset="-120"/>
              </a:rPr>
              <a:t>S7–S8</a:t>
            </a:r>
            <a:endParaRPr lang="en-US" sz="1250" dirty="0"/>
          </a:p>
        </p:txBody>
      </p:sp>
      <p:sp>
        <p:nvSpPr>
          <p:cNvPr id="56" name="Shape 45"/>
          <p:cNvSpPr/>
          <p:nvPr/>
        </p:nvSpPr>
        <p:spPr>
          <a:xfrm>
            <a:off x="10040112" y="1874520"/>
            <a:ext cx="1737360" cy="4251960"/>
          </a:xfrm>
          <a:prstGeom prst="roundRect">
            <a:avLst>
              <a:gd name="adj" fmla="val 4211"/>
            </a:avLst>
          </a:prstGeom>
          <a:solidFill>
            <a:srgbClr val="FFFFFF"/>
          </a:solidFill>
          <a:ln w="6350">
            <a:solidFill>
              <a:srgbClr val="D3DDEE"/>
            </a:solidFill>
            <a:prstDash val="solid"/>
          </a:ln>
        </p:spPr>
      </p:sp>
      <p:pic>
        <p:nvPicPr>
          <p:cNvPr id="57" name="Image 9" descr="preencoded.png">    </p:cNvPr>
          <p:cNvPicPr>
            <a:picLocks noChangeAspect="1"/>
          </p:cNvPicPr>
          <p:nvPr/>
        </p:nvPicPr>
        <p:blipFill>
          <a:blip r:embed="rId10"/>
          <a:stretch>
            <a:fillRect/>
          </a:stretch>
        </p:blipFill>
        <p:spPr>
          <a:xfrm>
            <a:off x="10680192" y="2148840"/>
            <a:ext cx="457200" cy="457200"/>
          </a:xfrm>
          <a:prstGeom prst="rect">
            <a:avLst/>
          </a:prstGeom>
        </p:spPr>
      </p:pic>
      <p:sp>
        <p:nvSpPr>
          <p:cNvPr id="58" name="Text 46"/>
          <p:cNvSpPr txBox="1"/>
          <p:nvPr/>
        </p:nvSpPr>
        <p:spPr>
          <a:xfrm>
            <a:off x="10113264" y="2660904"/>
            <a:ext cx="1591056" cy="219456"/>
          </a:xfrm>
          <a:prstGeom prst="rect">
            <a:avLst/>
          </a:prstGeom>
          <a:noFill/>
          <a:ln/>
        </p:spPr>
        <p:txBody>
          <a:bodyPr wrap="square" lIns="0" tIns="0" rIns="0" bIns="0" rtlCol="0" anchor="t"/>
          <a:lstStyle/>
          <a:p>
            <a:pPr algn="ctr" indent="0" marL="0">
              <a:buNone/>
            </a:pPr>
            <a:r>
              <a:rPr lang="en-US" sz="1150" b="1" dirty="0">
                <a:solidFill>
                  <a:srgbClr val="13285B"/>
                </a:solidFill>
                <a:latin typeface="Calibri" pitchFamily="34" charset="0"/>
                <a:ea typeface="Calibri" pitchFamily="34" charset="-122"/>
                <a:cs typeface="Calibri" pitchFamily="34" charset="-120"/>
              </a:rPr>
              <a:t>Safety gates</a:t>
            </a:r>
            <a:endParaRPr lang="en-US" sz="1150" dirty="0"/>
          </a:p>
        </p:txBody>
      </p:sp>
      <p:sp>
        <p:nvSpPr>
          <p:cNvPr id="59" name="Text 47"/>
          <p:cNvSpPr txBox="1"/>
          <p:nvPr/>
        </p:nvSpPr>
        <p:spPr>
          <a:xfrm>
            <a:off x="10113264" y="2880360"/>
            <a:ext cx="1591056" cy="457200"/>
          </a:xfrm>
          <a:prstGeom prst="rect">
            <a:avLst/>
          </a:prstGeom>
          <a:noFill/>
          <a:ln/>
        </p:spPr>
        <p:txBody>
          <a:bodyPr wrap="square" lIns="0" tIns="0" rIns="0" bIns="0" rtlCol="0" anchor="t"/>
          <a:lstStyle/>
          <a:p>
            <a:pPr algn="ctr" indent="0" marL="0">
              <a:buNone/>
            </a:pPr>
            <a:r>
              <a:rPr lang="en-US" sz="950" dirty="0">
                <a:solidFill>
                  <a:srgbClr val="5B6475"/>
                </a:solidFill>
                <a:latin typeface="Calibri" pitchFamily="34" charset="0"/>
                <a:ea typeface="Calibri" pitchFamily="34" charset="-122"/>
                <a:cs typeface="Calibri" pitchFamily="34" charset="-120"/>
              </a:rPr>
              <a:t>common → per method → final</a:t>
            </a:r>
            <a:endParaRPr lang="en-US" sz="950" dirty="0"/>
          </a:p>
        </p:txBody>
      </p:sp>
      <p:pic>
        <p:nvPicPr>
          <p:cNvPr id="60" name="Image 10" descr="preencoded.png">    </p:cNvPr>
          <p:cNvPicPr>
            <a:picLocks noChangeAspect="1"/>
          </p:cNvPicPr>
          <p:nvPr/>
        </p:nvPicPr>
        <p:blipFill>
          <a:blip r:embed="rId11"/>
          <a:stretch>
            <a:fillRect/>
          </a:stretch>
        </p:blipFill>
        <p:spPr>
          <a:xfrm>
            <a:off x="10680192" y="3502152"/>
            <a:ext cx="457200" cy="457200"/>
          </a:xfrm>
          <a:prstGeom prst="rect">
            <a:avLst/>
          </a:prstGeom>
        </p:spPr>
      </p:pic>
      <p:sp>
        <p:nvSpPr>
          <p:cNvPr id="61" name="Text 48"/>
          <p:cNvSpPr txBox="1"/>
          <p:nvPr/>
        </p:nvSpPr>
        <p:spPr>
          <a:xfrm>
            <a:off x="10113264" y="4014216"/>
            <a:ext cx="1591056" cy="219456"/>
          </a:xfrm>
          <a:prstGeom prst="rect">
            <a:avLst/>
          </a:prstGeom>
          <a:noFill/>
          <a:ln/>
        </p:spPr>
        <p:txBody>
          <a:bodyPr wrap="square" lIns="0" tIns="0" rIns="0" bIns="0" rtlCol="0" anchor="t"/>
          <a:lstStyle/>
          <a:p>
            <a:pPr algn="ctr" indent="0" marL="0">
              <a:buNone/>
            </a:pPr>
            <a:r>
              <a:rPr lang="en-US" sz="1150" b="1" dirty="0">
                <a:solidFill>
                  <a:srgbClr val="13285B"/>
                </a:solidFill>
                <a:latin typeface="Calibri" pitchFamily="34" charset="0"/>
                <a:ea typeface="Calibri" pitchFamily="34" charset="-122"/>
                <a:cs typeface="Calibri" pitchFamily="34" charset="-120"/>
              </a:rPr>
              <a:t>Final list</a:t>
            </a:r>
            <a:endParaRPr lang="en-US" sz="1150" dirty="0"/>
          </a:p>
        </p:txBody>
      </p:sp>
      <p:sp>
        <p:nvSpPr>
          <p:cNvPr id="62" name="Text 49"/>
          <p:cNvSpPr txBox="1"/>
          <p:nvPr/>
        </p:nvSpPr>
        <p:spPr>
          <a:xfrm>
            <a:off x="10113264" y="4233672"/>
            <a:ext cx="1591056" cy="457200"/>
          </a:xfrm>
          <a:prstGeom prst="rect">
            <a:avLst/>
          </a:prstGeom>
          <a:noFill/>
          <a:ln/>
        </p:spPr>
        <p:txBody>
          <a:bodyPr wrap="square" lIns="0" tIns="0" rIns="0" bIns="0" rtlCol="0" anchor="t"/>
          <a:lstStyle/>
          <a:p>
            <a:pPr algn="ctr" indent="0" marL="0">
              <a:buNone/>
            </a:pPr>
            <a:r>
              <a:rPr lang="en-US" sz="950" dirty="0">
                <a:solidFill>
                  <a:srgbClr val="5B6475"/>
                </a:solidFill>
                <a:latin typeface="Calibri" pitchFamily="34" charset="0"/>
                <a:ea typeface="Calibri" pitchFamily="34" charset="-122"/>
                <a:cs typeface="Calibri" pitchFamily="34" charset="-120"/>
              </a:rPr>
              <a:t>union of both methods, 3–10 per node</a:t>
            </a:r>
            <a:endParaRPr lang="en-US" sz="950" dirty="0"/>
          </a:p>
        </p:txBody>
      </p:sp>
      <p:pic>
        <p:nvPicPr>
          <p:cNvPr id="63" name="Image 11" descr="preencoded.png">    </p:cNvPr>
          <p:cNvPicPr>
            <a:picLocks noChangeAspect="1"/>
          </p:cNvPicPr>
          <p:nvPr/>
        </p:nvPicPr>
        <p:blipFill>
          <a:blip r:embed="rId12"/>
          <a:stretch>
            <a:fillRect/>
          </a:stretch>
        </p:blipFill>
        <p:spPr>
          <a:xfrm>
            <a:off x="10680192" y="4855464"/>
            <a:ext cx="457200" cy="457200"/>
          </a:xfrm>
          <a:prstGeom prst="rect">
            <a:avLst/>
          </a:prstGeom>
        </p:spPr>
      </p:pic>
      <p:sp>
        <p:nvSpPr>
          <p:cNvPr id="64" name="Text 50"/>
          <p:cNvSpPr txBox="1"/>
          <p:nvPr/>
        </p:nvSpPr>
        <p:spPr>
          <a:xfrm>
            <a:off x="10113264" y="5367528"/>
            <a:ext cx="1591056" cy="219456"/>
          </a:xfrm>
          <a:prstGeom prst="rect">
            <a:avLst/>
          </a:prstGeom>
          <a:noFill/>
          <a:ln/>
        </p:spPr>
        <p:txBody>
          <a:bodyPr wrap="square" lIns="0" tIns="0" rIns="0" bIns="0" rtlCol="0" anchor="t"/>
          <a:lstStyle/>
          <a:p>
            <a:pPr algn="ctr" indent="0" marL="0">
              <a:buNone/>
            </a:pPr>
            <a:r>
              <a:rPr lang="en-US" sz="1150" b="1" dirty="0">
                <a:solidFill>
                  <a:srgbClr val="13285B"/>
                </a:solidFill>
                <a:latin typeface="Calibri" pitchFamily="34" charset="0"/>
                <a:ea typeface="Calibri" pitchFamily="34" charset="-122"/>
                <a:cs typeface="Calibri" pitchFamily="34" charset="-120"/>
              </a:rPr>
              <a:t>Products &amp; sellers</a:t>
            </a:r>
            <a:endParaRPr lang="en-US" sz="1150" dirty="0"/>
          </a:p>
        </p:txBody>
      </p:sp>
      <p:sp>
        <p:nvSpPr>
          <p:cNvPr id="65" name="Text 51"/>
          <p:cNvSpPr txBox="1"/>
          <p:nvPr/>
        </p:nvSpPr>
        <p:spPr>
          <a:xfrm>
            <a:off x="10113264" y="5586984"/>
            <a:ext cx="1591056" cy="457200"/>
          </a:xfrm>
          <a:prstGeom prst="rect">
            <a:avLst/>
          </a:prstGeom>
          <a:noFill/>
          <a:ln/>
        </p:spPr>
        <p:txBody>
          <a:bodyPr wrap="square" lIns="0" tIns="0" rIns="0" bIns="0" rtlCol="0" anchor="t"/>
          <a:lstStyle/>
          <a:p>
            <a:pPr algn="ctr" indent="0" marL="0">
              <a:buNone/>
            </a:pPr>
            <a:r>
              <a:rPr lang="en-US" sz="950" dirty="0">
                <a:solidFill>
                  <a:srgbClr val="5B6475"/>
                </a:solidFill>
                <a:latin typeface="Calibri" pitchFamily="34" charset="0"/>
                <a:ea typeface="Calibri" pitchFamily="34" charset="-122"/>
                <a:cs typeface="Calibri" pitchFamily="34" charset="-120"/>
              </a:rPr>
              <a:t>each beside its nearest Staples item</a:t>
            </a:r>
            <a:endParaRPr lang="en-US" sz="950" dirty="0"/>
          </a:p>
        </p:txBody>
      </p:sp>
      <p:sp>
        <p:nvSpPr>
          <p:cNvPr id="25" name="Slide Number Placeholder 0"/>
          <p:cNvSpPr>
            <a:spLocks noGrp="1"/>
          </p:cNvSpPr>
          <p:nvPr>
            <p:ph type="sldNum" sz="quarter" idx="4294967295"/>
          </p:nvPr>
        </p:nvSpPr>
        <p:spPr>
          <a:xfrm>
            <a:off x="11320272" y="6510528"/>
            <a:ext cx="457200" cy="237744"/>
          </a:xfrm>
          <a:prstGeom prst="rect">
            <a:avLst/>
          </a:prstGeom>
          <a:extLst>
            <a:ext uri="{C572A759-6A51-4108-AA02-DFA0A04FC94B}">
              <ma14:wrappingTextBoxFlag xmlns:ma14="http://schemas.microsoft.com/office/mac/drawingml/2011/main" val="0"/>
            </a:ext>
          </a:extLst>
        </p:spPr>
        <p:txBody>
          <a:bodyPr/>
          <a:lstStyle>
            <a:lvl1pPr>
              <a:defRPr sz="900">
                <a:solidFill>
                  <a:srgbClr val="7A8599"/>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3"/>
          <p:cNvSpPr/>
          <p:nvPr>
            <p:ph idx="103" type="title" hasCustomPrompt="1"/>
          </p:nvPr>
        </p:nvSpPr>
        <p:spPr>
          <a:xfrm>
            <a:off x="411480" y="219456"/>
            <a:ext cx="11365992" cy="658368"/>
          </a:xfrm>
          <a:prstGeom prst="rect">
            <a:avLst/>
          </a:prstGeom>
          <a:noFill/>
          <a:ln/>
        </p:spPr>
        <p:txBody>
          <a:bodyPr wrap="square" lIns="0" tIns="0" rIns="0" bIns="0" rtlCol="0" anchor="ctr"/>
          <a:lstStyle/>
          <a:p>
            <a:pPr algn="l" indent="0" marL="0">
              <a:buNone/>
            </a:pPr>
            <a:r>
              <a:rPr lang="en-US" sz="2800" b="1" dirty="0">
                <a:solidFill>
                  <a:srgbClr val="1F4E9A"/>
                </a:solidFill>
                <a:latin typeface="Calibri" pitchFamily="34" charset="0"/>
                <a:ea typeface="Calibri" pitchFamily="34" charset="-122"/>
                <a:cs typeface="Calibri" pitchFamily="34" charset="-120"/>
              </a:rPr>
              <a:t>Method 1 (Vector View): Framework</a:t>
            </a:r>
            <a:endParaRPr lang="en-US" sz="2800" dirty="0"/>
          </a:p>
        </p:txBody>
      </p:sp>
      <p:sp>
        <p:nvSpPr>
          <p:cNvPr id="3" name="Text 1"/>
          <p:cNvSpPr txBox="1"/>
          <p:nvPr/>
        </p:nvSpPr>
        <p:spPr>
          <a:xfrm>
            <a:off x="1600200" y="1188720"/>
            <a:ext cx="2011680" cy="274320"/>
          </a:xfrm>
          <a:prstGeom prst="rect">
            <a:avLst/>
          </a:prstGeom>
          <a:noFill/>
          <a:ln/>
        </p:spPr>
        <p:txBody>
          <a:bodyPr wrap="square" lIns="0" tIns="0" rIns="0" bIns="0" rtlCol="0" anchor="ctr"/>
          <a:lstStyle/>
          <a:p>
            <a:pPr algn="ctr" indent="0" marL="0">
              <a:buNone/>
            </a:pPr>
            <a:r>
              <a:rPr lang="en-US" sz="1100" b="1" dirty="0">
                <a:solidFill>
                  <a:srgbClr val="2F6FD0"/>
                </a:solidFill>
                <a:latin typeface="Calibri" pitchFamily="34" charset="0"/>
                <a:ea typeface="Calibri" pitchFamily="34" charset="-122"/>
                <a:cs typeface="Calibri" pitchFamily="34" charset="-120"/>
              </a:rPr>
              <a:t>CRS &lt; 30</a:t>
            </a:r>
            <a:endParaRPr lang="en-US" sz="1100" dirty="0"/>
          </a:p>
        </p:txBody>
      </p:sp>
      <p:sp>
        <p:nvSpPr>
          <p:cNvPr id="4" name="Text 2"/>
          <p:cNvSpPr txBox="1"/>
          <p:nvPr/>
        </p:nvSpPr>
        <p:spPr>
          <a:xfrm>
            <a:off x="3666744" y="1188720"/>
            <a:ext cx="2377440" cy="274320"/>
          </a:xfrm>
          <a:prstGeom prst="rect">
            <a:avLst/>
          </a:prstGeom>
          <a:noFill/>
          <a:ln/>
        </p:spPr>
        <p:txBody>
          <a:bodyPr wrap="square" lIns="0" tIns="0" rIns="0" bIns="0" rtlCol="0" anchor="ctr"/>
          <a:lstStyle/>
          <a:p>
            <a:pPr algn="ctr" indent="0" marL="0">
              <a:buNone/>
            </a:pPr>
            <a:r>
              <a:rPr lang="en-US" sz="1100" b="1" dirty="0">
                <a:solidFill>
                  <a:srgbClr val="2F6FD0"/>
                </a:solidFill>
                <a:latin typeface="Calibri" pitchFamily="34" charset="0"/>
                <a:ea typeface="Calibri" pitchFamily="34" charset="-122"/>
                <a:cs typeface="Calibri" pitchFamily="34" charset="-120"/>
              </a:rPr>
              <a:t>30 ≤ CRS &lt; 70</a:t>
            </a:r>
            <a:endParaRPr lang="en-US" sz="1100" dirty="0"/>
          </a:p>
        </p:txBody>
      </p:sp>
      <p:sp>
        <p:nvSpPr>
          <p:cNvPr id="5" name="Text 3"/>
          <p:cNvSpPr txBox="1"/>
          <p:nvPr/>
        </p:nvSpPr>
        <p:spPr>
          <a:xfrm>
            <a:off x="6099048" y="1188720"/>
            <a:ext cx="2011680" cy="274320"/>
          </a:xfrm>
          <a:prstGeom prst="rect">
            <a:avLst/>
          </a:prstGeom>
          <a:noFill/>
          <a:ln/>
        </p:spPr>
        <p:txBody>
          <a:bodyPr wrap="square" lIns="0" tIns="0" rIns="0" bIns="0" rtlCol="0" anchor="ctr"/>
          <a:lstStyle/>
          <a:p>
            <a:pPr algn="ctr" indent="0" marL="0">
              <a:buNone/>
            </a:pPr>
            <a:r>
              <a:rPr lang="en-US" sz="1100" b="1" dirty="0">
                <a:solidFill>
                  <a:srgbClr val="2F6FD0"/>
                </a:solidFill>
                <a:latin typeface="Calibri" pitchFamily="34" charset="0"/>
                <a:ea typeface="Calibri" pitchFamily="34" charset="-122"/>
                <a:cs typeface="Calibri" pitchFamily="34" charset="-120"/>
              </a:rPr>
              <a:t>CRS ≥ 70</a:t>
            </a:r>
            <a:endParaRPr lang="en-US" sz="1100" dirty="0"/>
          </a:p>
        </p:txBody>
      </p:sp>
      <p:sp>
        <p:nvSpPr>
          <p:cNvPr id="6" name="Shape 4"/>
          <p:cNvSpPr/>
          <p:nvPr/>
        </p:nvSpPr>
        <p:spPr>
          <a:xfrm>
            <a:off x="1600200" y="1536192"/>
            <a:ext cx="2011680" cy="1408176"/>
          </a:xfrm>
          <a:prstGeom prst="roundRect">
            <a:avLst>
              <a:gd name="adj" fmla="val 5195"/>
            </a:avLst>
          </a:prstGeom>
          <a:solidFill>
            <a:srgbClr val="D5F0E6"/>
          </a:solidFill>
          <a:ln w="12700">
            <a:solidFill>
              <a:srgbClr val="5CC49A"/>
            </a:solidFill>
            <a:prstDash val="solid"/>
          </a:ln>
        </p:spPr>
      </p:sp>
      <p:sp>
        <p:nvSpPr>
          <p:cNvPr id="7" name="Text 5"/>
          <p:cNvSpPr txBox="1"/>
          <p:nvPr/>
        </p:nvSpPr>
        <p:spPr>
          <a:xfrm>
            <a:off x="1645920" y="1536192"/>
            <a:ext cx="1920240" cy="1408176"/>
          </a:xfrm>
          <a:prstGeom prst="rect">
            <a:avLst/>
          </a:prstGeom>
          <a:noFill/>
          <a:ln/>
        </p:spPr>
        <p:txBody>
          <a:bodyPr wrap="square" lIns="0" tIns="0" rIns="0" bIns="0" rtlCol="0" anchor="ctr"/>
          <a:lstStyle/>
          <a:p>
            <a:pPr algn="ctr" indent="0" marL="0">
              <a:buNone/>
            </a:pPr>
            <a:r>
              <a:rPr lang="en-US" sz="1200" b="1" dirty="0">
                <a:solidFill>
                  <a:srgbClr val="13285B"/>
                </a:solidFill>
                <a:latin typeface="Calibri" pitchFamily="34" charset="0"/>
                <a:ea typeface="Calibri" pitchFamily="34" charset="-122"/>
                <a:cs typeface="Calibri" pitchFamily="34" charset="-120"/>
              </a:rPr>
              <a:t>CURATE</a:t>
            </a:r>
            <a:endParaRPr lang="en-US" sz="1200" dirty="0"/>
          </a:p>
          <a:p>
            <a:pPr algn="ctr" indent="0" marL="0">
              <a:buNone/>
            </a:pPr>
            <a:r>
              <a:rPr lang="en-US" sz="900" dirty="0">
                <a:solidFill>
                  <a:srgbClr val="1F2937"/>
                </a:solidFill>
                <a:latin typeface="Calibri" pitchFamily="34" charset="0"/>
                <a:ea typeface="Calibri" pitchFamily="34" charset="-122"/>
                <a:cs typeface="Calibri" pitchFamily="34" charset="-120"/>
              </a:rPr>
              <a:t>true whitespace · approve</a:t>
            </a:r>
            <a:endParaRPr lang="en-US" sz="1200" dirty="0"/>
          </a:p>
        </p:txBody>
      </p:sp>
      <p:sp>
        <p:nvSpPr>
          <p:cNvPr id="8" name="Shape 6"/>
          <p:cNvSpPr/>
          <p:nvPr/>
        </p:nvSpPr>
        <p:spPr>
          <a:xfrm>
            <a:off x="1600200" y="2999232"/>
            <a:ext cx="2011680" cy="1408176"/>
          </a:xfrm>
          <a:prstGeom prst="roundRect">
            <a:avLst>
              <a:gd name="adj" fmla="val 5195"/>
            </a:avLst>
          </a:prstGeom>
          <a:solidFill>
            <a:srgbClr val="FCEBCB"/>
          </a:solidFill>
          <a:ln w="12700">
            <a:solidFill>
              <a:srgbClr val="E8B44A"/>
            </a:solidFill>
            <a:prstDash val="solid"/>
          </a:ln>
        </p:spPr>
      </p:sp>
      <p:sp>
        <p:nvSpPr>
          <p:cNvPr id="9" name="Text 7"/>
          <p:cNvSpPr txBox="1"/>
          <p:nvPr/>
        </p:nvSpPr>
        <p:spPr>
          <a:xfrm>
            <a:off x="1645920" y="2999232"/>
            <a:ext cx="1920240" cy="1408176"/>
          </a:xfrm>
          <a:prstGeom prst="rect">
            <a:avLst/>
          </a:prstGeom>
          <a:noFill/>
          <a:ln/>
        </p:spPr>
        <p:txBody>
          <a:bodyPr wrap="square" lIns="0" tIns="0" rIns="0" bIns="0" rtlCol="0" anchor="ctr"/>
          <a:lstStyle/>
          <a:p>
            <a:pPr algn="ctr" indent="0" marL="0">
              <a:buNone/>
            </a:pPr>
            <a:r>
              <a:rPr lang="en-US" sz="1200" b="1" dirty="0">
                <a:solidFill>
                  <a:srgbClr val="13285B"/>
                </a:solidFill>
                <a:latin typeface="Calibri" pitchFamily="34" charset="0"/>
                <a:ea typeface="Calibri" pitchFamily="34" charset="-122"/>
                <a:cs typeface="Calibri" pitchFamily="34" charset="-120"/>
              </a:rPr>
              <a:t>EDGE</a:t>
            </a:r>
            <a:endParaRPr lang="en-US" sz="1200" dirty="0"/>
          </a:p>
          <a:p>
            <a:pPr algn="ctr" indent="0" marL="0">
              <a:buNone/>
            </a:pPr>
            <a:r>
              <a:rPr lang="en-US" sz="900" dirty="0">
                <a:solidFill>
                  <a:srgbClr val="1F2937"/>
                </a:solidFill>
                <a:latin typeface="Calibri" pitchFamily="34" charset="0"/>
                <a:ea typeface="Calibri" pitchFamily="34" charset="-122"/>
                <a:cs typeface="Calibri" pitchFamily="34" charset="-120"/>
              </a:rPr>
              <a:t>weaker fit · hold for phase 2</a:t>
            </a:r>
            <a:endParaRPr lang="en-US" sz="1200" dirty="0"/>
          </a:p>
        </p:txBody>
      </p:sp>
      <p:sp>
        <p:nvSpPr>
          <p:cNvPr id="10" name="Shape 8"/>
          <p:cNvSpPr/>
          <p:nvPr/>
        </p:nvSpPr>
        <p:spPr>
          <a:xfrm>
            <a:off x="3666744" y="1536192"/>
            <a:ext cx="2377440" cy="676656"/>
          </a:xfrm>
          <a:prstGeom prst="roundRect">
            <a:avLst>
              <a:gd name="adj" fmla="val 10811"/>
            </a:avLst>
          </a:prstGeom>
          <a:solidFill>
            <a:srgbClr val="D5F0E6"/>
          </a:solidFill>
          <a:ln w="12700">
            <a:solidFill>
              <a:srgbClr val="5CC49A"/>
            </a:solidFill>
            <a:prstDash val="solid"/>
          </a:ln>
        </p:spPr>
      </p:sp>
      <p:sp>
        <p:nvSpPr>
          <p:cNvPr id="11" name="Text 9"/>
          <p:cNvSpPr txBox="1"/>
          <p:nvPr/>
        </p:nvSpPr>
        <p:spPr>
          <a:xfrm>
            <a:off x="3712464" y="1536192"/>
            <a:ext cx="2286000" cy="676656"/>
          </a:xfrm>
          <a:prstGeom prst="rect">
            <a:avLst/>
          </a:prstGeom>
          <a:noFill/>
          <a:ln/>
        </p:spPr>
        <p:txBody>
          <a:bodyPr wrap="square" lIns="0" tIns="0" rIns="0" bIns="0" rtlCol="0" anchor="ctr"/>
          <a:lstStyle/>
          <a:p>
            <a:pPr algn="ctr" indent="0" marL="0">
              <a:buNone/>
            </a:pPr>
            <a:r>
              <a:rPr lang="en-US" sz="1200" b="1" dirty="0">
                <a:solidFill>
                  <a:srgbClr val="13285B"/>
                </a:solidFill>
                <a:latin typeface="Calibri" pitchFamily="34" charset="0"/>
                <a:ea typeface="Calibri" pitchFamily="34" charset="-122"/>
                <a:cs typeface="Calibri" pitchFamily="34" charset="-120"/>
              </a:rPr>
              <a:t>LEAN-APPROVE</a:t>
            </a:r>
            <a:endParaRPr lang="en-US" sz="1200" dirty="0"/>
          </a:p>
          <a:p>
            <a:pPr algn="ctr" indent="0" marL="0">
              <a:buNone/>
            </a:pPr>
            <a:r>
              <a:rPr lang="en-US" sz="900" dirty="0">
                <a:solidFill>
                  <a:srgbClr val="1F2937"/>
                </a:solidFill>
                <a:latin typeface="Calibri" pitchFamily="34" charset="0"/>
                <a:ea typeface="Calibri" pitchFamily="34" charset="-122"/>
                <a:cs typeface="Calibri" pitchFamily="34" charset="-120"/>
              </a:rPr>
              <a:t>AD ≥ 0.5 (clearly different look) · approve, flag</a:t>
            </a:r>
            <a:endParaRPr lang="en-US" sz="1200" dirty="0"/>
          </a:p>
        </p:txBody>
      </p:sp>
      <p:sp>
        <p:nvSpPr>
          <p:cNvPr id="12" name="Shape 10"/>
          <p:cNvSpPr/>
          <p:nvPr/>
        </p:nvSpPr>
        <p:spPr>
          <a:xfrm>
            <a:off x="3666744" y="2267712"/>
            <a:ext cx="2377440" cy="2139696"/>
          </a:xfrm>
          <a:prstGeom prst="roundRect">
            <a:avLst>
              <a:gd name="adj" fmla="val 3419"/>
            </a:avLst>
          </a:prstGeom>
          <a:solidFill>
            <a:srgbClr val="FCEBCB"/>
          </a:solidFill>
          <a:ln w="12700">
            <a:solidFill>
              <a:srgbClr val="E8B44A"/>
            </a:solidFill>
            <a:prstDash val="solid"/>
          </a:ln>
        </p:spPr>
      </p:sp>
      <p:sp>
        <p:nvSpPr>
          <p:cNvPr id="13" name="Text 11"/>
          <p:cNvSpPr txBox="1"/>
          <p:nvPr/>
        </p:nvSpPr>
        <p:spPr>
          <a:xfrm>
            <a:off x="3712464" y="2267712"/>
            <a:ext cx="2286000" cy="2139696"/>
          </a:xfrm>
          <a:prstGeom prst="rect">
            <a:avLst/>
          </a:prstGeom>
          <a:noFill/>
          <a:ln/>
        </p:spPr>
        <p:txBody>
          <a:bodyPr wrap="square" lIns="0" tIns="0" rIns="0" bIns="0" rtlCol="0" anchor="ctr"/>
          <a:lstStyle/>
          <a:p>
            <a:pPr algn="ctr" indent="0" marL="0">
              <a:buNone/>
            </a:pPr>
            <a:r>
              <a:rPr lang="en-US" sz="1200" b="1" dirty="0">
                <a:solidFill>
                  <a:srgbClr val="13285B"/>
                </a:solidFill>
                <a:latin typeface="Calibri" pitchFamily="34" charset="0"/>
                <a:ea typeface="Calibri" pitchFamily="34" charset="-122"/>
                <a:cs typeface="Calibri" pitchFamily="34" charset="-120"/>
              </a:rPr>
              <a:t>REVIEW</a:t>
            </a:r>
            <a:endParaRPr lang="en-US" sz="1200" dirty="0"/>
          </a:p>
          <a:p>
            <a:pPr algn="ctr" indent="0" marL="0">
              <a:buNone/>
            </a:pPr>
            <a:r>
              <a:rPr lang="en-US" sz="900" dirty="0">
                <a:solidFill>
                  <a:srgbClr val="1F2937"/>
                </a:solidFill>
                <a:latin typeface="Calibri" pitchFamily="34" charset="0"/>
                <a:ea typeface="Calibri" pitchFamily="34" charset="-122"/>
                <a:cs typeface="Calibri" pitchFamily="34" charset="-120"/>
              </a:rPr>
              <a:t>undecided · calibration queue</a:t>
            </a:r>
            <a:endParaRPr lang="en-US" sz="1200" dirty="0"/>
          </a:p>
        </p:txBody>
      </p:sp>
      <p:sp>
        <p:nvSpPr>
          <p:cNvPr id="14" name="Shape 12"/>
          <p:cNvSpPr/>
          <p:nvPr/>
        </p:nvSpPr>
        <p:spPr>
          <a:xfrm>
            <a:off x="6099048" y="1536192"/>
            <a:ext cx="2011680" cy="676656"/>
          </a:xfrm>
          <a:prstGeom prst="roundRect">
            <a:avLst>
              <a:gd name="adj" fmla="val 10811"/>
            </a:avLst>
          </a:prstGeom>
          <a:solidFill>
            <a:srgbClr val="E6E3FA"/>
          </a:solidFill>
          <a:ln w="12700">
            <a:solidFill>
              <a:srgbClr val="A99BEA"/>
            </a:solidFill>
            <a:prstDash val="solid"/>
          </a:ln>
        </p:spPr>
      </p:sp>
      <p:sp>
        <p:nvSpPr>
          <p:cNvPr id="15" name="Text 13"/>
          <p:cNvSpPr txBox="1"/>
          <p:nvPr/>
        </p:nvSpPr>
        <p:spPr>
          <a:xfrm>
            <a:off x="6144768" y="1536192"/>
            <a:ext cx="1920240" cy="676656"/>
          </a:xfrm>
          <a:prstGeom prst="rect">
            <a:avLst/>
          </a:prstGeom>
          <a:noFill/>
          <a:ln/>
        </p:spPr>
        <p:txBody>
          <a:bodyPr wrap="square" lIns="0" tIns="0" rIns="0" bIns="0" rtlCol="0" anchor="ctr"/>
          <a:lstStyle/>
          <a:p>
            <a:pPr algn="ctr" indent="0" marL="0">
              <a:buNone/>
            </a:pPr>
            <a:r>
              <a:rPr lang="en-US" sz="1200" b="1" dirty="0">
                <a:solidFill>
                  <a:srgbClr val="13285B"/>
                </a:solidFill>
                <a:latin typeface="Calibri" pitchFamily="34" charset="0"/>
                <a:ea typeface="Calibri" pitchFamily="34" charset="-122"/>
                <a:cs typeface="Calibri" pitchFamily="34" charset="-120"/>
              </a:rPr>
              <a:t>1 · UNDERCUT</a:t>
            </a:r>
            <a:endParaRPr lang="en-US" sz="1200" dirty="0"/>
          </a:p>
          <a:p>
            <a:pPr algn="ctr" indent="0" marL="0">
              <a:buNone/>
            </a:pPr>
            <a:r>
              <a:rPr lang="en-US" sz="900" dirty="0">
                <a:solidFill>
                  <a:srgbClr val="1F2937"/>
                </a:solidFill>
                <a:latin typeface="Calibri" pitchFamily="34" charset="0"/>
                <a:ea typeface="Calibri" pitchFamily="34" charset="-122"/>
                <a:cs typeface="Calibri" pitchFamily="34" charset="-120"/>
              </a:rPr>
              <a:t>PPR &lt; 0.85× · hard reject</a:t>
            </a:r>
            <a:endParaRPr lang="en-US" sz="1200" dirty="0"/>
          </a:p>
        </p:txBody>
      </p:sp>
      <p:sp>
        <p:nvSpPr>
          <p:cNvPr id="16" name="Shape 14"/>
          <p:cNvSpPr/>
          <p:nvPr/>
        </p:nvSpPr>
        <p:spPr>
          <a:xfrm>
            <a:off x="6099048" y="2267712"/>
            <a:ext cx="2011680" cy="676656"/>
          </a:xfrm>
          <a:prstGeom prst="roundRect">
            <a:avLst>
              <a:gd name="adj" fmla="val 10811"/>
            </a:avLst>
          </a:prstGeom>
          <a:solidFill>
            <a:srgbClr val="D5F0E6"/>
          </a:solidFill>
          <a:ln w="12700">
            <a:solidFill>
              <a:srgbClr val="5CC49A"/>
            </a:solidFill>
            <a:prstDash val="solid"/>
          </a:ln>
        </p:spPr>
      </p:sp>
      <p:sp>
        <p:nvSpPr>
          <p:cNvPr id="17" name="Text 15"/>
          <p:cNvSpPr txBox="1"/>
          <p:nvPr/>
        </p:nvSpPr>
        <p:spPr>
          <a:xfrm>
            <a:off x="6144768" y="2267712"/>
            <a:ext cx="1920240" cy="676656"/>
          </a:xfrm>
          <a:prstGeom prst="rect">
            <a:avLst/>
          </a:prstGeom>
          <a:noFill/>
          <a:ln/>
        </p:spPr>
        <p:txBody>
          <a:bodyPr wrap="square" lIns="0" tIns="0" rIns="0" bIns="0" rtlCol="0" anchor="ctr"/>
          <a:lstStyle/>
          <a:p>
            <a:pPr algn="ctr" indent="0" marL="0">
              <a:buNone/>
            </a:pPr>
            <a:r>
              <a:rPr lang="en-US" sz="1200" b="1" dirty="0">
                <a:solidFill>
                  <a:srgbClr val="13285B"/>
                </a:solidFill>
                <a:latin typeface="Calibri" pitchFamily="34" charset="0"/>
                <a:ea typeface="Calibri" pitchFamily="34" charset="-122"/>
                <a:cs typeface="Calibri" pitchFamily="34" charset="-120"/>
              </a:rPr>
              <a:t>2 · TRADE-UP</a:t>
            </a:r>
            <a:endParaRPr lang="en-US" sz="1200" dirty="0"/>
          </a:p>
          <a:p>
            <a:pPr algn="ctr" indent="0" marL="0">
              <a:buNone/>
            </a:pPr>
            <a:r>
              <a:rPr lang="en-US" sz="900" dirty="0">
                <a:solidFill>
                  <a:srgbClr val="1F2937"/>
                </a:solidFill>
                <a:latin typeface="Calibri" pitchFamily="34" charset="0"/>
                <a:ea typeface="Calibri" pitchFamily="34" charset="-122"/>
                <a:cs typeface="Calibri" pitchFamily="34" charset="-120"/>
              </a:rPr>
              <a:t>PPR ≥ 1.5× + design/material upgrade</a:t>
            </a:r>
            <a:endParaRPr lang="en-US" sz="1200" dirty="0"/>
          </a:p>
        </p:txBody>
      </p:sp>
      <p:sp>
        <p:nvSpPr>
          <p:cNvPr id="18" name="Shape 16"/>
          <p:cNvSpPr/>
          <p:nvPr/>
        </p:nvSpPr>
        <p:spPr>
          <a:xfrm>
            <a:off x="6099048" y="2999232"/>
            <a:ext cx="2011680" cy="676656"/>
          </a:xfrm>
          <a:prstGeom prst="roundRect">
            <a:avLst>
              <a:gd name="adj" fmla="val 10811"/>
            </a:avLst>
          </a:prstGeom>
          <a:solidFill>
            <a:srgbClr val="D5F0E6"/>
          </a:solidFill>
          <a:ln w="12700">
            <a:solidFill>
              <a:srgbClr val="5CC49A"/>
            </a:solidFill>
            <a:prstDash val="solid"/>
          </a:ln>
        </p:spPr>
      </p:sp>
      <p:sp>
        <p:nvSpPr>
          <p:cNvPr id="19" name="Text 17"/>
          <p:cNvSpPr txBox="1"/>
          <p:nvPr/>
        </p:nvSpPr>
        <p:spPr>
          <a:xfrm>
            <a:off x="6144768" y="2999232"/>
            <a:ext cx="1920240" cy="676656"/>
          </a:xfrm>
          <a:prstGeom prst="rect">
            <a:avLst/>
          </a:prstGeom>
          <a:noFill/>
          <a:ln/>
        </p:spPr>
        <p:txBody>
          <a:bodyPr wrap="square" lIns="0" tIns="0" rIns="0" bIns="0" rtlCol="0" anchor="ctr"/>
          <a:lstStyle/>
          <a:p>
            <a:pPr algn="ctr" indent="0" marL="0">
              <a:buNone/>
            </a:pPr>
            <a:r>
              <a:rPr lang="en-US" sz="1200" b="1" dirty="0">
                <a:solidFill>
                  <a:srgbClr val="13285B"/>
                </a:solidFill>
                <a:latin typeface="Calibri" pitchFamily="34" charset="0"/>
                <a:ea typeface="Calibri" pitchFamily="34" charset="-122"/>
                <a:cs typeface="Calibri" pitchFamily="34" charset="-120"/>
              </a:rPr>
              <a:t>3 · STYLE-EXTENSION</a:t>
            </a:r>
            <a:endParaRPr lang="en-US" sz="1200" dirty="0"/>
          </a:p>
          <a:p>
            <a:pPr algn="ctr" indent="0" marL="0">
              <a:buNone/>
            </a:pPr>
            <a:r>
              <a:rPr lang="en-US" sz="900" dirty="0">
                <a:solidFill>
                  <a:srgbClr val="1F2937"/>
                </a:solidFill>
                <a:latin typeface="Calibri" pitchFamily="34" charset="0"/>
                <a:ea typeface="Calibri" pitchFamily="34" charset="-122"/>
                <a:cs typeface="Calibri" pitchFamily="34" charset="-120"/>
              </a:rPr>
              <a:t>AD ≥ 0.5: new colour/material/style</a:t>
            </a:r>
            <a:endParaRPr lang="en-US" sz="1200" dirty="0"/>
          </a:p>
        </p:txBody>
      </p:sp>
      <p:sp>
        <p:nvSpPr>
          <p:cNvPr id="20" name="Shape 18"/>
          <p:cNvSpPr/>
          <p:nvPr/>
        </p:nvSpPr>
        <p:spPr>
          <a:xfrm>
            <a:off x="6099048" y="3730752"/>
            <a:ext cx="2011680" cy="676656"/>
          </a:xfrm>
          <a:prstGeom prst="roundRect">
            <a:avLst>
              <a:gd name="adj" fmla="val 10811"/>
            </a:avLst>
          </a:prstGeom>
          <a:solidFill>
            <a:srgbClr val="E6E3FA"/>
          </a:solidFill>
          <a:ln w="12700">
            <a:solidFill>
              <a:srgbClr val="A99BEA"/>
            </a:solidFill>
            <a:prstDash val="solid"/>
          </a:ln>
        </p:spPr>
      </p:sp>
      <p:sp>
        <p:nvSpPr>
          <p:cNvPr id="21" name="Text 19"/>
          <p:cNvSpPr txBox="1"/>
          <p:nvPr/>
        </p:nvSpPr>
        <p:spPr>
          <a:xfrm>
            <a:off x="6144768" y="3730752"/>
            <a:ext cx="1920240" cy="676656"/>
          </a:xfrm>
          <a:prstGeom prst="rect">
            <a:avLst/>
          </a:prstGeom>
          <a:noFill/>
          <a:ln/>
        </p:spPr>
        <p:txBody>
          <a:bodyPr wrap="square" lIns="0" tIns="0" rIns="0" bIns="0" rtlCol="0" anchor="ctr"/>
          <a:lstStyle/>
          <a:p>
            <a:pPr algn="ctr" indent="0" marL="0">
              <a:buNone/>
            </a:pPr>
            <a:r>
              <a:rPr lang="en-US" sz="1200" b="1" dirty="0">
                <a:solidFill>
                  <a:srgbClr val="13285B"/>
                </a:solidFill>
                <a:latin typeface="Calibri" pitchFamily="34" charset="0"/>
                <a:ea typeface="Calibri" pitchFamily="34" charset="-122"/>
                <a:cs typeface="Calibri" pitchFamily="34" charset="-120"/>
              </a:rPr>
              <a:t>4 · SUBSTITUTE</a:t>
            </a:r>
            <a:endParaRPr lang="en-US" sz="1200" dirty="0"/>
          </a:p>
          <a:p>
            <a:pPr algn="ctr" indent="0" marL="0">
              <a:buNone/>
            </a:pPr>
            <a:r>
              <a:rPr lang="en-US" sz="900" dirty="0">
                <a:solidFill>
                  <a:srgbClr val="1F2937"/>
                </a:solidFill>
                <a:latin typeface="Calibri" pitchFamily="34" charset="0"/>
                <a:ea typeface="Calibri" pitchFamily="34" charset="-122"/>
                <a:cs typeface="Calibri" pitchFamily="34" charset="-120"/>
              </a:rPr>
              <a:t>otherwise: same job, same look · reject</a:t>
            </a:r>
            <a:endParaRPr lang="en-US" sz="1200" dirty="0"/>
          </a:p>
        </p:txBody>
      </p:sp>
      <p:sp>
        <p:nvSpPr>
          <p:cNvPr id="22" name="Shape 20"/>
          <p:cNvSpPr/>
          <p:nvPr/>
        </p:nvSpPr>
        <p:spPr>
          <a:xfrm>
            <a:off x="1600200" y="4462272"/>
            <a:ext cx="6510528" cy="786384"/>
          </a:xfrm>
          <a:prstGeom prst="roundRect">
            <a:avLst>
              <a:gd name="adj" fmla="val 9302"/>
            </a:avLst>
          </a:prstGeom>
          <a:solidFill>
            <a:srgbClr val="E6E3FA"/>
          </a:solidFill>
          <a:ln w="12700">
            <a:solidFill>
              <a:srgbClr val="A99BEA"/>
            </a:solidFill>
            <a:prstDash val="solid"/>
          </a:ln>
        </p:spPr>
      </p:sp>
      <p:sp>
        <p:nvSpPr>
          <p:cNvPr id="23" name="Text 21"/>
          <p:cNvSpPr txBox="1"/>
          <p:nvPr/>
        </p:nvSpPr>
        <p:spPr>
          <a:xfrm>
            <a:off x="1645920" y="4462272"/>
            <a:ext cx="6419088" cy="786384"/>
          </a:xfrm>
          <a:prstGeom prst="rect">
            <a:avLst/>
          </a:prstGeom>
          <a:noFill/>
          <a:ln/>
        </p:spPr>
        <p:txBody>
          <a:bodyPr wrap="square" lIns="0" tIns="0" rIns="0" bIns="0" rtlCol="0" anchor="ctr"/>
          <a:lstStyle/>
          <a:p>
            <a:pPr algn="ctr" indent="0" marL="0">
              <a:buNone/>
            </a:pPr>
            <a:r>
              <a:rPr lang="en-US" sz="1200" b="1" dirty="0">
                <a:solidFill>
                  <a:srgbClr val="13285B"/>
                </a:solidFill>
                <a:latin typeface="Calibri" pitchFamily="34" charset="0"/>
                <a:ea typeface="Calibri" pitchFamily="34" charset="-122"/>
                <a:cs typeface="Calibri" pitchFamily="34" charset="-120"/>
              </a:rPr>
              <a:t>OFF-BRAND</a:t>
            </a:r>
            <a:endParaRPr lang="en-US" sz="1200" dirty="0"/>
          </a:p>
          <a:p>
            <a:pPr algn="ctr" indent="0" marL="0">
              <a:buNone/>
            </a:pPr>
            <a:r>
              <a:rPr lang="en-US" sz="900" dirty="0">
                <a:solidFill>
                  <a:srgbClr val="1F2937"/>
                </a:solidFill>
                <a:latin typeface="Calibri" pitchFamily="34" charset="0"/>
                <a:ea typeface="Calibri" pitchFamily="34" charset="-122"/>
                <a:cs typeface="Calibri" pitchFamily="34" charset="-120"/>
              </a:rPr>
              <a:t>poor fit with Staples' catalog and customers · reject (checked before CRS)</a:t>
            </a:r>
            <a:endParaRPr lang="en-US" sz="1200" dirty="0"/>
          </a:p>
        </p:txBody>
      </p:sp>
      <p:sp>
        <p:nvSpPr>
          <p:cNvPr id="24" name="Text 22"/>
          <p:cNvSpPr txBox="1"/>
          <p:nvPr/>
        </p:nvSpPr>
        <p:spPr>
          <a:xfrm>
            <a:off x="658368" y="1536192"/>
            <a:ext cx="868680" cy="1408176"/>
          </a:xfrm>
          <a:prstGeom prst="rect">
            <a:avLst/>
          </a:prstGeom>
          <a:noFill/>
          <a:ln/>
        </p:spPr>
        <p:txBody>
          <a:bodyPr wrap="square" lIns="0" tIns="0" rIns="0" bIns="0" rtlCol="0" anchor="ctr"/>
          <a:lstStyle/>
          <a:p>
            <a:pPr algn="r" indent="0" marL="0">
              <a:buNone/>
            </a:pPr>
            <a:r>
              <a:rPr lang="en-US" sz="1000" dirty="0">
                <a:solidFill>
                  <a:srgbClr val="5B6475"/>
                </a:solidFill>
                <a:latin typeface="Calibri" pitchFamily="34" charset="0"/>
                <a:ea typeface="Calibri" pitchFamily="34" charset="-122"/>
                <a:cs typeface="Calibri" pitchFamily="34" charset="-120"/>
              </a:rPr>
              <a:t>≥ T_high</a:t>
            </a:r>
            <a:endParaRPr lang="en-US" sz="1000" dirty="0"/>
          </a:p>
          <a:p>
            <a:pPr algn="r" indent="0" marL="0">
              <a:buNone/>
            </a:pPr>
            <a:r>
              <a:rPr lang="en-US" sz="1000" dirty="0">
                <a:solidFill>
                  <a:srgbClr val="5B6475"/>
                </a:solidFill>
                <a:latin typeface="Calibri" pitchFamily="34" charset="0"/>
                <a:ea typeface="Calibri" pitchFamily="34" charset="-122"/>
                <a:cs typeface="Calibri" pitchFamily="34" charset="-120"/>
              </a:rPr>
              <a:t>(43–61)</a:t>
            </a:r>
            <a:endParaRPr lang="en-US" sz="1000" dirty="0"/>
          </a:p>
        </p:txBody>
      </p:sp>
      <p:sp>
        <p:nvSpPr>
          <p:cNvPr id="25" name="Text 23"/>
          <p:cNvSpPr txBox="1"/>
          <p:nvPr/>
        </p:nvSpPr>
        <p:spPr>
          <a:xfrm>
            <a:off x="658368" y="2999232"/>
            <a:ext cx="868680" cy="1408176"/>
          </a:xfrm>
          <a:prstGeom prst="rect">
            <a:avLst/>
          </a:prstGeom>
          <a:noFill/>
          <a:ln/>
        </p:spPr>
        <p:txBody>
          <a:bodyPr wrap="square" lIns="0" tIns="0" rIns="0" bIns="0" rtlCol="0" anchor="ctr"/>
          <a:lstStyle/>
          <a:p>
            <a:pPr algn="r" indent="0" marL="0">
              <a:buNone/>
            </a:pPr>
            <a:r>
              <a:rPr lang="en-US" sz="1000" dirty="0">
                <a:solidFill>
                  <a:srgbClr val="5B6475"/>
                </a:solidFill>
                <a:latin typeface="Calibri" pitchFamily="34" charset="0"/>
                <a:ea typeface="Calibri" pitchFamily="34" charset="-122"/>
                <a:cs typeface="Calibri" pitchFamily="34" charset="-120"/>
              </a:rPr>
              <a:t>T_low–T_high</a:t>
            </a:r>
            <a:endParaRPr lang="en-US" sz="1000" dirty="0"/>
          </a:p>
        </p:txBody>
      </p:sp>
      <p:sp>
        <p:nvSpPr>
          <p:cNvPr id="26" name="Text 24"/>
          <p:cNvSpPr txBox="1"/>
          <p:nvPr/>
        </p:nvSpPr>
        <p:spPr>
          <a:xfrm>
            <a:off x="658368" y="4462272"/>
            <a:ext cx="868680" cy="786384"/>
          </a:xfrm>
          <a:prstGeom prst="rect">
            <a:avLst/>
          </a:prstGeom>
          <a:noFill/>
          <a:ln/>
        </p:spPr>
        <p:txBody>
          <a:bodyPr wrap="square" lIns="0" tIns="0" rIns="0" bIns="0" rtlCol="0" anchor="ctr"/>
          <a:lstStyle/>
          <a:p>
            <a:pPr algn="r" indent="0" marL="0">
              <a:buNone/>
            </a:pPr>
            <a:r>
              <a:rPr lang="en-US" sz="1000" dirty="0">
                <a:solidFill>
                  <a:srgbClr val="5B6475"/>
                </a:solidFill>
                <a:latin typeface="Calibri" pitchFamily="34" charset="0"/>
                <a:ea typeface="Calibri" pitchFamily="34" charset="-122"/>
                <a:cs typeface="Calibri" pitchFamily="34" charset="-120"/>
              </a:rPr>
              <a:t>&lt; T_low</a:t>
            </a:r>
            <a:endParaRPr lang="en-US" sz="1000" dirty="0"/>
          </a:p>
          <a:p>
            <a:pPr algn="r" indent="0" marL="0">
              <a:buNone/>
            </a:pPr>
            <a:r>
              <a:rPr lang="en-US" sz="1000" dirty="0">
                <a:solidFill>
                  <a:srgbClr val="5B6475"/>
                </a:solidFill>
                <a:latin typeface="Calibri" pitchFamily="34" charset="0"/>
                <a:ea typeface="Calibri" pitchFamily="34" charset="-122"/>
                <a:cs typeface="Calibri" pitchFamily="34" charset="-120"/>
              </a:rPr>
              <a:t>(24–42)</a:t>
            </a:r>
            <a:endParaRPr lang="en-US" sz="1000" dirty="0"/>
          </a:p>
        </p:txBody>
      </p:sp>
      <p:sp>
        <p:nvSpPr>
          <p:cNvPr id="27" name="Text 25"/>
          <p:cNvSpPr txBox="1"/>
          <p:nvPr/>
        </p:nvSpPr>
        <p:spPr>
          <a:xfrm>
            <a:off x="365760" y="1536192"/>
            <a:ext cx="329184" cy="3712464"/>
          </a:xfrm>
          <a:prstGeom prst="rect">
            <a:avLst/>
          </a:prstGeom>
          <a:noFill/>
          <a:ln/>
        </p:spPr>
        <p:txBody>
          <a:bodyPr wrap="square" lIns="0" tIns="0" rIns="0" bIns="0" rtlCol="0" anchor="ctr" vert="vert270"/>
          <a:lstStyle/>
          <a:p>
            <a:pPr algn="ctr" indent="0" marL="0">
              <a:buNone/>
            </a:pPr>
            <a:r>
              <a:rPr lang="en-US" sz="1050" b="1" dirty="0">
                <a:solidFill>
                  <a:srgbClr val="13285B"/>
                </a:solidFill>
                <a:latin typeface="Calibri" pitchFamily="34" charset="0"/>
                <a:ea typeface="Calibri" pitchFamily="34" charset="-122"/>
                <a:cs typeface="Calibri" pitchFamily="34" charset="-120"/>
              </a:rPr>
              <a:t>AAS (Adjacency Affinity Score): fit with Staples →</a:t>
            </a:r>
            <a:endParaRPr lang="en-US" sz="1050" dirty="0"/>
          </a:p>
        </p:txBody>
      </p:sp>
      <p:sp>
        <p:nvSpPr>
          <p:cNvPr id="28" name="Text 26"/>
          <p:cNvSpPr txBox="1"/>
          <p:nvPr/>
        </p:nvSpPr>
        <p:spPr>
          <a:xfrm>
            <a:off x="1600200" y="5321808"/>
            <a:ext cx="6510528" cy="274320"/>
          </a:xfrm>
          <a:prstGeom prst="rect">
            <a:avLst/>
          </a:prstGeom>
          <a:noFill/>
          <a:ln/>
        </p:spPr>
        <p:txBody>
          <a:bodyPr wrap="square" lIns="0" tIns="0" rIns="0" bIns="0" rtlCol="0" anchor="ctr"/>
          <a:lstStyle/>
          <a:p>
            <a:pPr algn="ctr" indent="0" marL="0">
              <a:buNone/>
            </a:pPr>
            <a:r>
              <a:rPr lang="en-US" sz="1050" b="1" dirty="0">
                <a:solidFill>
                  <a:srgbClr val="13285B"/>
                </a:solidFill>
                <a:latin typeface="Calibri" pitchFamily="34" charset="0"/>
                <a:ea typeface="Calibri" pitchFamily="34" charset="-122"/>
                <a:cs typeface="Calibri" pitchFamily="34" charset="-120"/>
              </a:rPr>
              <a:t>CRS (Cannibalisation Risk Score): functional closeness to a Staples product →</a:t>
            </a:r>
            <a:endParaRPr lang="en-US" sz="1050" dirty="0"/>
          </a:p>
        </p:txBody>
      </p:sp>
      <p:sp>
        <p:nvSpPr>
          <p:cNvPr id="29" name="Shape 27"/>
          <p:cNvSpPr/>
          <p:nvPr/>
        </p:nvSpPr>
        <p:spPr>
          <a:xfrm>
            <a:off x="1600200" y="5724144"/>
            <a:ext cx="164592" cy="164592"/>
          </a:xfrm>
          <a:prstGeom prst="roundRect">
            <a:avLst>
              <a:gd name="adj" fmla="val 16667"/>
            </a:avLst>
          </a:prstGeom>
          <a:solidFill>
            <a:srgbClr val="D5F0E6"/>
          </a:solidFill>
          <a:ln w="12700">
            <a:solidFill>
              <a:srgbClr val="5CC49A"/>
            </a:solidFill>
            <a:prstDash val="solid"/>
          </a:ln>
        </p:spPr>
      </p:sp>
      <p:sp>
        <p:nvSpPr>
          <p:cNvPr id="30" name="Text 28"/>
          <p:cNvSpPr txBox="1"/>
          <p:nvPr/>
        </p:nvSpPr>
        <p:spPr>
          <a:xfrm>
            <a:off x="1837944" y="5687568"/>
            <a:ext cx="1325880" cy="237744"/>
          </a:xfrm>
          <a:prstGeom prst="rect">
            <a:avLst/>
          </a:prstGeom>
          <a:noFill/>
          <a:ln/>
        </p:spPr>
        <p:txBody>
          <a:bodyPr wrap="square" lIns="0" tIns="0" rIns="0" bIns="0" rtlCol="0" anchor="ctr"/>
          <a:lstStyle/>
          <a:p>
            <a:pPr indent="0" marL="0">
              <a:buNone/>
            </a:pPr>
            <a:r>
              <a:rPr lang="en-US" sz="950" dirty="0">
                <a:solidFill>
                  <a:srgbClr val="1F2937"/>
                </a:solidFill>
                <a:latin typeface="Calibri" pitchFamily="34" charset="0"/>
                <a:ea typeface="Calibri" pitchFamily="34" charset="-122"/>
                <a:cs typeface="Calibri" pitchFamily="34" charset="-120"/>
              </a:rPr>
              <a:t>approve (safe)</a:t>
            </a:r>
            <a:endParaRPr lang="en-US" sz="950" dirty="0"/>
          </a:p>
        </p:txBody>
      </p:sp>
      <p:sp>
        <p:nvSpPr>
          <p:cNvPr id="31" name="Shape 29"/>
          <p:cNvSpPr/>
          <p:nvPr/>
        </p:nvSpPr>
        <p:spPr>
          <a:xfrm>
            <a:off x="3200400" y="5724144"/>
            <a:ext cx="164592" cy="164592"/>
          </a:xfrm>
          <a:prstGeom prst="roundRect">
            <a:avLst>
              <a:gd name="adj" fmla="val 16667"/>
            </a:avLst>
          </a:prstGeom>
          <a:solidFill>
            <a:srgbClr val="FCEBCB"/>
          </a:solidFill>
          <a:ln w="12700">
            <a:solidFill>
              <a:srgbClr val="E8B44A"/>
            </a:solidFill>
            <a:prstDash val="solid"/>
          </a:ln>
        </p:spPr>
      </p:sp>
      <p:sp>
        <p:nvSpPr>
          <p:cNvPr id="32" name="Text 30"/>
          <p:cNvSpPr txBox="1"/>
          <p:nvPr/>
        </p:nvSpPr>
        <p:spPr>
          <a:xfrm>
            <a:off x="3438144" y="5687568"/>
            <a:ext cx="1325880" cy="237744"/>
          </a:xfrm>
          <a:prstGeom prst="rect">
            <a:avLst/>
          </a:prstGeom>
          <a:noFill/>
          <a:ln/>
        </p:spPr>
        <p:txBody>
          <a:bodyPr wrap="square" lIns="0" tIns="0" rIns="0" bIns="0" rtlCol="0" anchor="ctr"/>
          <a:lstStyle/>
          <a:p>
            <a:pPr indent="0" marL="0">
              <a:buNone/>
            </a:pPr>
            <a:r>
              <a:rPr lang="en-US" sz="950" dirty="0">
                <a:solidFill>
                  <a:srgbClr val="1F2937"/>
                </a:solidFill>
                <a:latin typeface="Calibri" pitchFamily="34" charset="0"/>
                <a:ea typeface="Calibri" pitchFamily="34" charset="-122"/>
                <a:cs typeface="Calibri" pitchFamily="34" charset="-120"/>
              </a:rPr>
              <a:t>hold / undecided</a:t>
            </a:r>
            <a:endParaRPr lang="en-US" sz="950" dirty="0"/>
          </a:p>
        </p:txBody>
      </p:sp>
      <p:sp>
        <p:nvSpPr>
          <p:cNvPr id="33" name="Shape 31"/>
          <p:cNvSpPr/>
          <p:nvPr/>
        </p:nvSpPr>
        <p:spPr>
          <a:xfrm>
            <a:off x="4800600" y="5724144"/>
            <a:ext cx="164592" cy="164592"/>
          </a:xfrm>
          <a:prstGeom prst="roundRect">
            <a:avLst>
              <a:gd name="adj" fmla="val 16667"/>
            </a:avLst>
          </a:prstGeom>
          <a:solidFill>
            <a:srgbClr val="E6E3FA"/>
          </a:solidFill>
          <a:ln w="12700">
            <a:solidFill>
              <a:srgbClr val="A99BEA"/>
            </a:solidFill>
            <a:prstDash val="solid"/>
          </a:ln>
        </p:spPr>
      </p:sp>
      <p:sp>
        <p:nvSpPr>
          <p:cNvPr id="34" name="Text 32"/>
          <p:cNvSpPr txBox="1"/>
          <p:nvPr/>
        </p:nvSpPr>
        <p:spPr>
          <a:xfrm>
            <a:off x="5038344" y="5687568"/>
            <a:ext cx="1325880" cy="237744"/>
          </a:xfrm>
          <a:prstGeom prst="rect">
            <a:avLst/>
          </a:prstGeom>
          <a:noFill/>
          <a:ln/>
        </p:spPr>
        <p:txBody>
          <a:bodyPr wrap="square" lIns="0" tIns="0" rIns="0" bIns="0" rtlCol="0" anchor="ctr"/>
          <a:lstStyle/>
          <a:p>
            <a:pPr indent="0" marL="0">
              <a:buNone/>
            </a:pPr>
            <a:r>
              <a:rPr lang="en-US" sz="950" dirty="0">
                <a:solidFill>
                  <a:srgbClr val="1F2937"/>
                </a:solidFill>
                <a:latin typeface="Calibri" pitchFamily="34" charset="0"/>
                <a:ea typeface="Calibri" pitchFamily="34" charset="-122"/>
                <a:cs typeface="Calibri" pitchFamily="34" charset="-120"/>
              </a:rPr>
              <a:t>reject</a:t>
            </a:r>
            <a:endParaRPr lang="en-US" sz="950" dirty="0"/>
          </a:p>
        </p:txBody>
      </p:sp>
      <p:sp>
        <p:nvSpPr>
          <p:cNvPr id="35" name="Text 33"/>
          <p:cNvSpPr txBox="1"/>
          <p:nvPr/>
        </p:nvSpPr>
        <p:spPr>
          <a:xfrm>
            <a:off x="5349240" y="5687568"/>
            <a:ext cx="2761488" cy="237744"/>
          </a:xfrm>
          <a:prstGeom prst="rect">
            <a:avLst/>
          </a:prstGeom>
          <a:noFill/>
          <a:ln/>
        </p:spPr>
        <p:txBody>
          <a:bodyPr wrap="square" lIns="0" tIns="0" rIns="0" bIns="0" rtlCol="0" anchor="ctr"/>
          <a:lstStyle/>
          <a:p>
            <a:pPr algn="r" indent="0" marL="0">
              <a:buNone/>
            </a:pPr>
            <a:r>
              <a:rPr lang="en-US" sz="950" i="1" dirty="0">
                <a:solidFill>
                  <a:srgbClr val="5B6475"/>
                </a:solidFill>
                <a:latin typeface="Calibri" pitchFamily="34" charset="0"/>
                <a:ea typeface="Calibri" pitchFamily="34" charset="-122"/>
                <a:cs typeface="Calibri" pitchFamily="34" charset="-120"/>
              </a:rPr>
              <a:t>EXCLUDE (identical to a Staples product) is checked first.</a:t>
            </a:r>
            <a:endParaRPr lang="en-US" sz="950" dirty="0"/>
          </a:p>
        </p:txBody>
      </p:sp>
      <p:sp>
        <p:nvSpPr>
          <p:cNvPr id="36" name="Text 34"/>
          <p:cNvSpPr txBox="1"/>
          <p:nvPr/>
        </p:nvSpPr>
        <p:spPr>
          <a:xfrm>
            <a:off x="8641080" y="1188720"/>
            <a:ext cx="3136392" cy="274320"/>
          </a:xfrm>
          <a:prstGeom prst="rect">
            <a:avLst/>
          </a:prstGeom>
          <a:noFill/>
          <a:ln/>
        </p:spPr>
        <p:txBody>
          <a:bodyPr wrap="square" lIns="0" tIns="0" rIns="0" bIns="0" rtlCol="0" anchor="ctr"/>
          <a:lstStyle/>
          <a:p>
            <a:pPr indent="0" marL="0">
              <a:buNone/>
            </a:pPr>
            <a:r>
              <a:rPr lang="en-US" sz="1200" b="1" spc="100" kern="0" dirty="0">
                <a:solidFill>
                  <a:srgbClr val="1F4E9A"/>
                </a:solidFill>
                <a:latin typeface="Calibri" pitchFamily="34" charset="0"/>
                <a:ea typeface="Calibri" pitchFamily="34" charset="-122"/>
                <a:cs typeface="Calibri" pitchFamily="34" charset="-120"/>
              </a:rPr>
              <a:t>KEY TERMS</a:t>
            </a:r>
            <a:endParaRPr lang="en-US" sz="1200" dirty="0"/>
          </a:p>
        </p:txBody>
      </p:sp>
      <p:sp>
        <p:nvSpPr>
          <p:cNvPr id="37" name="Shape 35"/>
          <p:cNvSpPr/>
          <p:nvPr/>
        </p:nvSpPr>
        <p:spPr>
          <a:xfrm>
            <a:off x="8641080" y="1536192"/>
            <a:ext cx="3136392" cy="694944"/>
          </a:xfrm>
          <a:prstGeom prst="roundRect">
            <a:avLst>
              <a:gd name="adj" fmla="val 10526"/>
            </a:avLst>
          </a:prstGeom>
          <a:solidFill>
            <a:srgbClr val="EEF3FB"/>
          </a:solidFill>
          <a:ln w="12700">
            <a:solidFill>
              <a:srgbClr val="EEF3FB"/>
            </a:solidFill>
            <a:prstDash val="solid"/>
          </a:ln>
        </p:spPr>
      </p:sp>
      <p:sp>
        <p:nvSpPr>
          <p:cNvPr id="38" name="Text 36"/>
          <p:cNvSpPr txBox="1"/>
          <p:nvPr/>
        </p:nvSpPr>
        <p:spPr>
          <a:xfrm>
            <a:off x="8769096" y="1591056"/>
            <a:ext cx="2880360" cy="256032"/>
          </a:xfrm>
          <a:prstGeom prst="rect">
            <a:avLst/>
          </a:prstGeom>
          <a:noFill/>
          <a:ln/>
        </p:spPr>
        <p:txBody>
          <a:bodyPr wrap="square" lIns="0" tIns="0" rIns="0" bIns="0" rtlCol="0" anchor="ctr"/>
          <a:lstStyle/>
          <a:p>
            <a:pPr indent="0" marL="0">
              <a:buNone/>
            </a:pPr>
            <a:r>
              <a:rPr lang="en-US" sz="1300" b="1" dirty="0">
                <a:solidFill>
                  <a:srgbClr val="1F4E9A"/>
                </a:solidFill>
                <a:latin typeface="Calibri" pitchFamily="34" charset="0"/>
                <a:ea typeface="Calibri" pitchFamily="34" charset="-122"/>
                <a:cs typeface="Calibri" pitchFamily="34" charset="-120"/>
              </a:rPr>
              <a:t>AAS</a:t>
            </a:r>
            <a:pPr indent="0" marL="0">
              <a:buNone/>
            </a:pPr>
            <a:r>
              <a:rPr lang="en-US" sz="1050" b="1" dirty="0">
                <a:solidFill>
                  <a:srgbClr val="13285B"/>
                </a:solidFill>
                <a:latin typeface="Calibri" pitchFamily="34" charset="0"/>
                <a:ea typeface="Calibri" pitchFamily="34" charset="-122"/>
                <a:cs typeface="Calibri" pitchFamily="34" charset="-120"/>
              </a:rPr>
              <a:t>  (Adjacency Affinity Score)</a:t>
            </a:r>
            <a:endParaRPr lang="en-US" sz="1200" dirty="0"/>
          </a:p>
        </p:txBody>
      </p:sp>
      <p:sp>
        <p:nvSpPr>
          <p:cNvPr id="39" name="Text 37"/>
          <p:cNvSpPr txBox="1"/>
          <p:nvPr/>
        </p:nvSpPr>
        <p:spPr>
          <a:xfrm>
            <a:off x="8769096" y="1865376"/>
            <a:ext cx="2880360" cy="329184"/>
          </a:xfrm>
          <a:prstGeom prst="rect">
            <a:avLst/>
          </a:prstGeom>
          <a:noFill/>
          <a:ln/>
        </p:spPr>
        <p:txBody>
          <a:bodyPr wrap="square" lIns="0" tIns="0" rIns="0" bIns="0" rtlCol="0" anchor="t"/>
          <a:lstStyle/>
          <a:p>
            <a:pPr indent="0" marL="0">
              <a:buNone/>
            </a:pPr>
            <a:r>
              <a:rPr lang="en-US" sz="950" dirty="0">
                <a:solidFill>
                  <a:srgbClr val="1F2937"/>
                </a:solidFill>
                <a:latin typeface="Calibri" pitchFamily="34" charset="0"/>
                <a:ea typeface="Calibri" pitchFamily="34" charset="-122"/>
                <a:cs typeface="Calibri" pitchFamily="34" charset="-120"/>
              </a:rPr>
              <a:t>how well the product fits Staples' catalog and customers</a:t>
            </a:r>
            <a:endParaRPr lang="en-US" sz="950" dirty="0"/>
          </a:p>
        </p:txBody>
      </p:sp>
      <p:sp>
        <p:nvSpPr>
          <p:cNvPr id="40" name="Shape 38"/>
          <p:cNvSpPr/>
          <p:nvPr/>
        </p:nvSpPr>
        <p:spPr>
          <a:xfrm>
            <a:off x="8641080" y="2304288"/>
            <a:ext cx="3136392" cy="694944"/>
          </a:xfrm>
          <a:prstGeom prst="roundRect">
            <a:avLst>
              <a:gd name="adj" fmla="val 10526"/>
            </a:avLst>
          </a:prstGeom>
          <a:solidFill>
            <a:srgbClr val="EEF3FB"/>
          </a:solidFill>
          <a:ln w="12700">
            <a:solidFill>
              <a:srgbClr val="EEF3FB"/>
            </a:solidFill>
            <a:prstDash val="solid"/>
          </a:ln>
        </p:spPr>
      </p:sp>
      <p:sp>
        <p:nvSpPr>
          <p:cNvPr id="41" name="Text 39"/>
          <p:cNvSpPr txBox="1"/>
          <p:nvPr/>
        </p:nvSpPr>
        <p:spPr>
          <a:xfrm>
            <a:off x="8769096" y="2359152"/>
            <a:ext cx="2880360" cy="256032"/>
          </a:xfrm>
          <a:prstGeom prst="rect">
            <a:avLst/>
          </a:prstGeom>
          <a:noFill/>
          <a:ln/>
        </p:spPr>
        <p:txBody>
          <a:bodyPr wrap="square" lIns="0" tIns="0" rIns="0" bIns="0" rtlCol="0" anchor="ctr"/>
          <a:lstStyle/>
          <a:p>
            <a:pPr indent="0" marL="0">
              <a:buNone/>
            </a:pPr>
            <a:r>
              <a:rPr lang="en-US" sz="1300" b="1" dirty="0">
                <a:solidFill>
                  <a:srgbClr val="1F4E9A"/>
                </a:solidFill>
                <a:latin typeface="Calibri" pitchFamily="34" charset="0"/>
                <a:ea typeface="Calibri" pitchFamily="34" charset="-122"/>
                <a:cs typeface="Calibri" pitchFamily="34" charset="-120"/>
              </a:rPr>
              <a:t>CRS</a:t>
            </a:r>
            <a:pPr indent="0" marL="0">
              <a:buNone/>
            </a:pPr>
            <a:r>
              <a:rPr lang="en-US" sz="1050" b="1" dirty="0">
                <a:solidFill>
                  <a:srgbClr val="13285B"/>
                </a:solidFill>
                <a:latin typeface="Calibri" pitchFamily="34" charset="0"/>
                <a:ea typeface="Calibri" pitchFamily="34" charset="-122"/>
                <a:cs typeface="Calibri" pitchFamily="34" charset="-120"/>
              </a:rPr>
              <a:t>  (Cannibalisation Risk Score)</a:t>
            </a:r>
            <a:endParaRPr lang="en-US" sz="1200" dirty="0"/>
          </a:p>
        </p:txBody>
      </p:sp>
      <p:sp>
        <p:nvSpPr>
          <p:cNvPr id="42" name="Text 40"/>
          <p:cNvSpPr txBox="1"/>
          <p:nvPr/>
        </p:nvSpPr>
        <p:spPr>
          <a:xfrm>
            <a:off x="8769096" y="2633472"/>
            <a:ext cx="2880360" cy="329184"/>
          </a:xfrm>
          <a:prstGeom prst="rect">
            <a:avLst/>
          </a:prstGeom>
          <a:noFill/>
          <a:ln/>
        </p:spPr>
        <p:txBody>
          <a:bodyPr wrap="square" lIns="0" tIns="0" rIns="0" bIns="0" rtlCol="0" anchor="t"/>
          <a:lstStyle/>
          <a:p>
            <a:pPr indent="0" marL="0">
              <a:buNone/>
            </a:pPr>
            <a:r>
              <a:rPr lang="en-US" sz="950" dirty="0">
                <a:solidFill>
                  <a:srgbClr val="1F2937"/>
                </a:solidFill>
                <a:latin typeface="Calibri" pitchFamily="34" charset="0"/>
                <a:ea typeface="Calibri" pitchFamily="34" charset="-122"/>
                <a:cs typeface="Calibri" pitchFamily="34" charset="-120"/>
              </a:rPr>
              <a:t>how close it is in function to a Staples product (0–100); higher = more likely to take 1P sales</a:t>
            </a:r>
            <a:endParaRPr lang="en-US" sz="950" dirty="0"/>
          </a:p>
        </p:txBody>
      </p:sp>
      <p:sp>
        <p:nvSpPr>
          <p:cNvPr id="43" name="Shape 41"/>
          <p:cNvSpPr/>
          <p:nvPr/>
        </p:nvSpPr>
        <p:spPr>
          <a:xfrm>
            <a:off x="8641080" y="3072384"/>
            <a:ext cx="3136392" cy="694944"/>
          </a:xfrm>
          <a:prstGeom prst="roundRect">
            <a:avLst>
              <a:gd name="adj" fmla="val 10526"/>
            </a:avLst>
          </a:prstGeom>
          <a:solidFill>
            <a:srgbClr val="EEF3FB"/>
          </a:solidFill>
          <a:ln w="12700">
            <a:solidFill>
              <a:srgbClr val="EEF3FB"/>
            </a:solidFill>
            <a:prstDash val="solid"/>
          </a:ln>
        </p:spPr>
      </p:sp>
      <p:sp>
        <p:nvSpPr>
          <p:cNvPr id="44" name="Text 42"/>
          <p:cNvSpPr txBox="1"/>
          <p:nvPr/>
        </p:nvSpPr>
        <p:spPr>
          <a:xfrm>
            <a:off x="8769096" y="3127248"/>
            <a:ext cx="2880360" cy="256032"/>
          </a:xfrm>
          <a:prstGeom prst="rect">
            <a:avLst/>
          </a:prstGeom>
          <a:noFill/>
          <a:ln/>
        </p:spPr>
        <p:txBody>
          <a:bodyPr wrap="square" lIns="0" tIns="0" rIns="0" bIns="0" rtlCol="0" anchor="ctr"/>
          <a:lstStyle/>
          <a:p>
            <a:pPr indent="0" marL="0">
              <a:buNone/>
            </a:pPr>
            <a:r>
              <a:rPr lang="en-US" sz="1300" b="1" dirty="0">
                <a:solidFill>
                  <a:srgbClr val="1F4E9A"/>
                </a:solidFill>
                <a:latin typeface="Calibri" pitchFamily="34" charset="0"/>
                <a:ea typeface="Calibri" pitchFamily="34" charset="-122"/>
                <a:cs typeface="Calibri" pitchFamily="34" charset="-120"/>
              </a:rPr>
              <a:t>PPR</a:t>
            </a:r>
            <a:pPr indent="0" marL="0">
              <a:buNone/>
            </a:pPr>
            <a:r>
              <a:rPr lang="en-US" sz="1050" b="1" dirty="0">
                <a:solidFill>
                  <a:srgbClr val="13285B"/>
                </a:solidFill>
                <a:latin typeface="Calibri" pitchFamily="34" charset="0"/>
                <a:ea typeface="Calibri" pitchFamily="34" charset="-122"/>
                <a:cs typeface="Calibri" pitchFamily="34" charset="-120"/>
              </a:rPr>
              <a:t>  (Price Position Ratio)</a:t>
            </a:r>
            <a:endParaRPr lang="en-US" sz="1200" dirty="0"/>
          </a:p>
        </p:txBody>
      </p:sp>
      <p:sp>
        <p:nvSpPr>
          <p:cNvPr id="45" name="Text 43"/>
          <p:cNvSpPr txBox="1"/>
          <p:nvPr/>
        </p:nvSpPr>
        <p:spPr>
          <a:xfrm>
            <a:off x="8769096" y="3401568"/>
            <a:ext cx="2880360" cy="329184"/>
          </a:xfrm>
          <a:prstGeom prst="rect">
            <a:avLst/>
          </a:prstGeom>
          <a:noFill/>
          <a:ln/>
        </p:spPr>
        <p:txBody>
          <a:bodyPr wrap="square" lIns="0" tIns="0" rIns="0" bIns="0" rtlCol="0" anchor="t"/>
          <a:lstStyle/>
          <a:p>
            <a:pPr indent="0" marL="0">
              <a:buNone/>
            </a:pPr>
            <a:r>
              <a:rPr lang="en-US" sz="950" dirty="0">
                <a:solidFill>
                  <a:srgbClr val="1F2937"/>
                </a:solidFill>
                <a:latin typeface="Calibri" pitchFamily="34" charset="0"/>
                <a:ea typeface="Calibri" pitchFamily="34" charset="-122"/>
                <a:cs typeface="Calibri" pitchFamily="34" charset="-120"/>
              </a:rPr>
              <a:t>its price ÷ the median price of the nearest Staples products</a:t>
            </a:r>
            <a:endParaRPr lang="en-US" sz="950" dirty="0"/>
          </a:p>
        </p:txBody>
      </p:sp>
      <p:sp>
        <p:nvSpPr>
          <p:cNvPr id="46" name="Shape 44"/>
          <p:cNvSpPr/>
          <p:nvPr/>
        </p:nvSpPr>
        <p:spPr>
          <a:xfrm>
            <a:off x="8641080" y="3840480"/>
            <a:ext cx="3136392" cy="694944"/>
          </a:xfrm>
          <a:prstGeom prst="roundRect">
            <a:avLst>
              <a:gd name="adj" fmla="val 10526"/>
            </a:avLst>
          </a:prstGeom>
          <a:solidFill>
            <a:srgbClr val="EEF3FB"/>
          </a:solidFill>
          <a:ln w="12700">
            <a:solidFill>
              <a:srgbClr val="EEF3FB"/>
            </a:solidFill>
            <a:prstDash val="solid"/>
          </a:ln>
        </p:spPr>
      </p:sp>
      <p:sp>
        <p:nvSpPr>
          <p:cNvPr id="47" name="Text 45"/>
          <p:cNvSpPr txBox="1"/>
          <p:nvPr/>
        </p:nvSpPr>
        <p:spPr>
          <a:xfrm>
            <a:off x="8769096" y="3895344"/>
            <a:ext cx="2880360" cy="256032"/>
          </a:xfrm>
          <a:prstGeom prst="rect">
            <a:avLst/>
          </a:prstGeom>
          <a:noFill/>
          <a:ln/>
        </p:spPr>
        <p:txBody>
          <a:bodyPr wrap="square" lIns="0" tIns="0" rIns="0" bIns="0" rtlCol="0" anchor="ctr"/>
          <a:lstStyle/>
          <a:p>
            <a:pPr indent="0" marL="0">
              <a:buNone/>
            </a:pPr>
            <a:r>
              <a:rPr lang="en-US" sz="1300" b="1" dirty="0">
                <a:solidFill>
                  <a:srgbClr val="1F4E9A"/>
                </a:solidFill>
                <a:latin typeface="Calibri" pitchFamily="34" charset="0"/>
                <a:ea typeface="Calibri" pitchFamily="34" charset="-122"/>
                <a:cs typeface="Calibri" pitchFamily="34" charset="-120"/>
              </a:rPr>
              <a:t>AD</a:t>
            </a:r>
            <a:pPr indent="0" marL="0">
              <a:buNone/>
            </a:pPr>
            <a:r>
              <a:rPr lang="en-US" sz="1050" b="1" dirty="0">
                <a:solidFill>
                  <a:srgbClr val="13285B"/>
                </a:solidFill>
                <a:latin typeface="Calibri" pitchFamily="34" charset="0"/>
                <a:ea typeface="Calibri" pitchFamily="34" charset="-122"/>
                <a:cs typeface="Calibri" pitchFamily="34" charset="-120"/>
              </a:rPr>
              <a:t>  (Aesthetic Delta)</a:t>
            </a:r>
            <a:endParaRPr lang="en-US" sz="1200" dirty="0"/>
          </a:p>
        </p:txBody>
      </p:sp>
      <p:sp>
        <p:nvSpPr>
          <p:cNvPr id="48" name="Text 46"/>
          <p:cNvSpPr txBox="1"/>
          <p:nvPr/>
        </p:nvSpPr>
        <p:spPr>
          <a:xfrm>
            <a:off x="8769096" y="4169664"/>
            <a:ext cx="2880360" cy="329184"/>
          </a:xfrm>
          <a:prstGeom prst="rect">
            <a:avLst/>
          </a:prstGeom>
          <a:noFill/>
          <a:ln/>
        </p:spPr>
        <p:txBody>
          <a:bodyPr wrap="square" lIns="0" tIns="0" rIns="0" bIns="0" rtlCol="0" anchor="t"/>
          <a:lstStyle/>
          <a:p>
            <a:pPr indent="0" marL="0">
              <a:buNone/>
            </a:pPr>
            <a:r>
              <a:rPr lang="en-US" sz="950" dirty="0">
                <a:solidFill>
                  <a:srgbClr val="1F2937"/>
                </a:solidFill>
                <a:latin typeface="Calibri" pitchFamily="34" charset="0"/>
                <a:ea typeface="Calibri" pitchFamily="34" charset="-122"/>
                <a:cs typeface="Calibri" pitchFamily="34" charset="-120"/>
              </a:rPr>
              <a:t>look difference from the nearest Staples product (colour, material, style)</a:t>
            </a:r>
            <a:endParaRPr lang="en-US" sz="950" dirty="0"/>
          </a:p>
        </p:txBody>
      </p:sp>
      <p:sp>
        <p:nvSpPr>
          <p:cNvPr id="49" name="Shape 47"/>
          <p:cNvSpPr/>
          <p:nvPr/>
        </p:nvSpPr>
        <p:spPr>
          <a:xfrm>
            <a:off x="8641080" y="4608576"/>
            <a:ext cx="3136392" cy="640080"/>
          </a:xfrm>
          <a:prstGeom prst="roundRect">
            <a:avLst>
              <a:gd name="adj" fmla="val 11429"/>
            </a:avLst>
          </a:prstGeom>
          <a:solidFill>
            <a:srgbClr val="13285B"/>
          </a:solidFill>
          <a:ln w="12700">
            <a:solidFill>
              <a:srgbClr val="13285B"/>
            </a:solidFill>
            <a:prstDash val="solid"/>
          </a:ln>
        </p:spPr>
      </p:sp>
      <p:sp>
        <p:nvSpPr>
          <p:cNvPr id="50" name="Text 48"/>
          <p:cNvSpPr txBox="1"/>
          <p:nvPr/>
        </p:nvSpPr>
        <p:spPr>
          <a:xfrm>
            <a:off x="8769096" y="4608576"/>
            <a:ext cx="2880360" cy="640080"/>
          </a:xfrm>
          <a:prstGeom prst="rect">
            <a:avLst/>
          </a:prstGeom>
          <a:noFill/>
          <a:ln/>
        </p:spPr>
        <p:txBody>
          <a:bodyPr wrap="square" lIns="0" tIns="0" rIns="0" bIns="0" rtlCol="0" anchor="ctr"/>
          <a:lstStyle/>
          <a:p>
            <a:pPr indent="0" marL="0">
              <a:buNone/>
            </a:pPr>
            <a:r>
              <a:rPr lang="en-US" sz="1000" b="1" dirty="0">
                <a:solidFill>
                  <a:srgbClr val="F5A623"/>
                </a:solidFill>
                <a:latin typeface="Calibri" pitchFamily="34" charset="0"/>
                <a:ea typeface="Calibri" pitchFamily="34" charset="-122"/>
                <a:cs typeface="Calibri" pitchFamily="34" charset="-120"/>
              </a:rPr>
              <a:t>Green labels = safe for Method 1. </a:t>
            </a:r>
            <a:pPr indent="0" marL="0">
              <a:buNone/>
            </a:pPr>
            <a:r>
              <a:rPr lang="en-US" sz="1000" dirty="0">
                <a:solidFill>
                  <a:srgbClr val="FFFFFF"/>
                </a:solidFill>
                <a:latin typeface="Calibri" pitchFamily="34" charset="0"/>
                <a:ea typeface="Calibri" pitchFamily="34" charset="-122"/>
                <a:cs typeface="Calibri" pitchFamily="34" charset="-120"/>
              </a:rPr>
              <a:t>They are ranked by VOS (Vector Opportunity Score) and joined with Method 2's picks at the final gate.</a:t>
            </a:r>
            <a:endParaRPr lang="en-US" sz="1000" dirty="0"/>
          </a:p>
        </p:txBody>
      </p:sp>
      <p:sp>
        <p:nvSpPr>
          <p:cNvPr id="25" name="Slide Number Placeholder 0"/>
          <p:cNvSpPr>
            <a:spLocks noGrp="1"/>
          </p:cNvSpPr>
          <p:nvPr>
            <p:ph type="sldNum" sz="quarter" idx="4294967295"/>
          </p:nvPr>
        </p:nvSpPr>
        <p:spPr>
          <a:xfrm>
            <a:off x="11320272" y="6510528"/>
            <a:ext cx="457200" cy="237744"/>
          </a:xfrm>
          <a:prstGeom prst="rect">
            <a:avLst/>
          </a:prstGeom>
          <a:extLst>
            <a:ext uri="{C572A759-6A51-4108-AA02-DFA0A04FC94B}">
              <ma14:wrappingTextBoxFlag xmlns:ma14="http://schemas.microsoft.com/office/mac/drawingml/2011/main" val="0"/>
            </a:ext>
          </a:extLst>
        </p:spPr>
        <p:txBody>
          <a:bodyPr/>
          <a:lstStyle>
            <a:lvl1pPr>
              <a:defRPr sz="900">
                <a:solidFill>
                  <a:srgbClr val="7A8599"/>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640080" y="2377440"/>
            <a:ext cx="7315200" cy="914400"/>
          </a:xfrm>
          <a:prstGeom prst="rect">
            <a:avLst/>
          </a:prstGeom>
          <a:noFill/>
          <a:ln/>
        </p:spPr>
        <p:txBody>
          <a:bodyPr wrap="square" lIns="0" tIns="0" rIns="0" bIns="0" rtlCol="0" anchor="t"/>
          <a:lstStyle/>
          <a:p>
            <a:pPr indent="0" marL="0">
              <a:buNone/>
            </a:pPr>
            <a:r>
              <a:rPr lang="en-US" sz="4800" b="1" dirty="0">
                <a:solidFill>
                  <a:srgbClr val="FFFFFF"/>
                </a:solidFill>
                <a:latin typeface="Calibri" pitchFamily="34" charset="0"/>
                <a:ea typeface="Calibri" pitchFamily="34" charset="-122"/>
                <a:cs typeface="Calibri" pitchFamily="34" charset="-120"/>
              </a:rPr>
              <a:t>Thank You</a:t>
            </a:r>
            <a:endParaRPr lang="en-US" sz="4800" dirty="0"/>
          </a:p>
        </p:txBody>
      </p:sp>
      <p:sp>
        <p:nvSpPr>
          <p:cNvPr id="3" name="Shape 1"/>
          <p:cNvSpPr/>
          <p:nvPr/>
        </p:nvSpPr>
        <p:spPr>
          <a:xfrm>
            <a:off x="658368" y="3364992"/>
            <a:ext cx="1097280" cy="54864"/>
          </a:xfrm>
          <a:prstGeom prst="rect">
            <a:avLst/>
          </a:prstGeom>
          <a:solidFill>
            <a:srgbClr val="F5A623"/>
          </a:solidFill>
          <a:ln w="12700">
            <a:solidFill>
              <a:srgbClr val="F5A623"/>
            </a:solidFill>
            <a:prstDash val="solid"/>
          </a:ln>
        </p:spPr>
      </p:sp>
      <p:sp>
        <p:nvSpPr>
          <p:cNvPr id="4" name="Text 2"/>
          <p:cNvSpPr txBox="1"/>
          <p:nvPr/>
        </p:nvSpPr>
        <p:spPr>
          <a:xfrm>
            <a:off x="640080" y="3520440"/>
            <a:ext cx="7315200" cy="457200"/>
          </a:xfrm>
          <a:prstGeom prst="rect">
            <a:avLst/>
          </a:prstGeom>
          <a:noFill/>
          <a:ln/>
        </p:spPr>
        <p:txBody>
          <a:bodyPr wrap="square" lIns="0" tIns="0" rIns="0" bIns="0" rtlCol="0" anchor="t"/>
          <a:lstStyle/>
          <a:p>
            <a:pPr indent="0" marL="0">
              <a:buNone/>
            </a:pPr>
            <a:r>
              <a:rPr lang="en-US" sz="2200" dirty="0">
                <a:solidFill>
                  <a:srgbClr val="CADCFC"/>
                </a:solidFill>
                <a:latin typeface="Calibri" pitchFamily="34" charset="0"/>
                <a:ea typeface="Calibri" pitchFamily="34" charset="-122"/>
                <a:cs typeface="Calibri" pitchFamily="34" charset="-120"/>
              </a:rPr>
              <a:t>Questions &amp; discussion</a:t>
            </a:r>
            <a:endParaRPr lang="en-US" sz="2200" dirty="0"/>
          </a:p>
        </p:txBody>
      </p:sp>
      <p:sp>
        <p:nvSpPr>
          <p:cNvPr id="5" name="Text 3"/>
          <p:cNvSpPr txBox="1"/>
          <p:nvPr/>
        </p:nvSpPr>
        <p:spPr>
          <a:xfrm>
            <a:off x="640080" y="5715000"/>
            <a:ext cx="6400800" cy="320040"/>
          </a:xfrm>
          <a:prstGeom prst="rect">
            <a:avLst/>
          </a:prstGeom>
          <a:noFill/>
          <a:ln/>
        </p:spPr>
        <p:txBody>
          <a:bodyPr wrap="square" lIns="0" tIns="0" rIns="0" bIns="0" rtlCol="0" anchor="t"/>
          <a:lstStyle/>
          <a:p>
            <a:pPr indent="0" marL="0">
              <a:buNone/>
            </a:pPr>
            <a:r>
              <a:rPr lang="en-US" sz="1400" dirty="0">
                <a:solidFill>
                  <a:srgbClr val="CADCFC"/>
                </a:solidFill>
                <a:latin typeface="Calibri" pitchFamily="34" charset="0"/>
                <a:ea typeface="Calibri" pitchFamily="34" charset="-122"/>
                <a:cs typeface="Calibri" pitchFamily="34" charset="-120"/>
              </a:rPr>
              <a:t>LatentView Analytics  ·  October 2026</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LatentView Analytics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Staples Marketplace: Assortment Gap and Archetype Recommendation PoC</dc:title>
  <dc:subject>PptxGenJS Presentation</dc:subject>
  <dc:creator>LatentView Analytics</dc:creator>
  <cp:lastModifiedBy>LatentView Analytics</cp:lastModifiedBy>
  <cp:revision>1</cp:revision>
  <dcterms:created xsi:type="dcterms:W3CDTF">2026-10-06T20:34:12Z</dcterms:created>
  <dcterms:modified xsi:type="dcterms:W3CDTF">2026-10-06T20:34:12Z</dcterms:modified>
</cp:coreProperties>
</file>