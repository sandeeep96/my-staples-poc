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bc34c30-5b53-115f-b546-4dddd47d2bbb}">
          <p14:sldIdLst>
            <p14:sldId id="256"/>
          </p14:sldIdLst>
        </p14:section>
        <p14:section name="Summary" id="{de2718e6-190c-e071-8796-96202ee761e6}">
          <p14:sldIdLst>
            <p14:sldId id="257"/>
            <p14:sldId id="258"/>
          </p14:sldIdLst>
        </p14:section>
        <p14:section name="Demo" id="{b1661ace-1f9b-78a1-8951-39534762ddca}">
          <p14:sldIdLst>
            <p14:sldId id="259"/>
          </p14:sldIdLst>
        </p14:section>
        <p14:section name="Next steps" id="{85d51591-98d2-2036-61a4-b5aa417f1353}">
          <p14:sldIdLst>
            <p14:sldId id="260"/>
            <p14:sldId id="261"/>
            <p14:sldId id="262"/>
            <p14:sldId id="263"/>
          </p14:sldIdLst>
        </p14:section>
        <p14:section name="Appendix" id="{44efc54d-d8be-30e8-8f70-4048b570da93}">
          <p14:sldIdLst>
            <p14:sldId id="264"/>
            <p14:sldId id="265"/>
          </p14:sldIdLst>
        </p14:section>
        <p14:section name="Close" id="{d6611854-9306-4ce7-424f-fbd9a497a7cd}">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Tune thresholds with merchants (60 side-by-side pairs); 3 Expand: Pick 2–3 adjacent test categories &amp; a broad competitor;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shaped by the first review. If asked about order: acquire the product first (build the basket for existing customers), adjacent categories before core.
1 Prioritise (opportunity sizing): opportunity $ per archetype = Staples demand for the node (sessions or units) × the archetype's share (the only competitor input: e.g. 31% of Amazon's backpacks are hiking/outdoor vs 5 of 379 at Staples, scaled to Staples' velocity) × expected conversion × AUR (modelled at Staples' price point; the PoC's competitor median, e.g. $23 for hiking daypacks, is the starting value). Net of cannibalisation and times commission, it gives Staples' own revenue. Stack-rank to the ~20% of gaps that solve 80%, cut per category owner (e.g. furniture, consumer electronics) so each merchant sees their own list, and size it by customer segment: Staples.com (SMB and consumers) first, Staples Business later (e.g. a dialysis chair matters to Staples Business, not to Staples.com). Null searches alone mislead because redirects hide demand: trace search → product page → conversion.
2 Protect: tune the cannibalisation (safety-gate) thresholds with merchants (cannibalisation risk bands, price-position limits, fit-with-Staples cut-offs, picks per node): tighter the closer a category is to core (e.g. desks: no top-line erosion just for unit velocity). Today's checks use supply only (they already hold back 25% of competitor products as substitutes or undercuts); real 1P sales overlap replaces that proxy, plus price and margin floors per node.
3 Expand (adjacent-category whitespace): the flip side of Protect. Relaxing the adjacency thresholds (AAS, Adjacency Affinity Score: fit with Staples) turns today's OFF-BRAND products into whitespace and new verticals instead of exclusions. Test the adjacent categories raised in the review (toys, e.g. waiting-room rewards; hydration; travel and luggage; tech accessories), benchmarking a competitor with a broad assortment to scope each. The PoC already set aside 8,399 competitor families outside the 12 nodes; a new category or competitor is one config entry, no code change.
4 Curate: the same engine scores every seller submission for fit, 1P overlap and price, feeding an approve / review / reject queue that learns from curator decisions. Recruiting: start with the 13 brands behind our picks already on Staples (at-A-Glance, BAGSMART, Bentgo, CamelBak, Ello, Excello, Fringe, High Sierra, La Crosse Technology, Mead, PlanAhead, STANLEY, Targus), then top competitor sellers Staples does not carry; Wayfair's range is mostly house brands, so source the archetype, not the brand.
5 Monitor: quarterly re-crawls flag new and closing gaps. Nothing is live on the Marketplace yet, so track live picks' GMV, attach and conversion against the forecast, scale what proves out, and feed results back into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with sellers. In each column the top card matters most. Each combines external signals with Staples data; adjacent-category whitespace now sits in step 3 of slide 5.
- Search &amp; funnel gaps: on-site searches and external SEO keywords where competitors rank and Staples does not, mapped to archetypes. Null searches alone are not enough (redirects hide unmet demand), so trace search → product page → need met (satisfaction) → conversion; feeds seller recruiting and product pages.
- Social, trends &amp; retail media: mentions, hashtags and saves per archetype plus Google Trends, scored for growth and sentiment. Signal-based expansion: after Staples enters an adjacent category, these signals (with search and early sales) show which subcategories to develop, so the first load is confident rather than every item. The same audiences guide off-site retail media for new customers: the second workstream (educate and acquire the customer), on a longer horizon once the product is live.
- Demand forecasting: per node and archetype from sales history, with Back-to-School seasonality and trend signals; sizes GMV and commission before listing and feeds the opportunity $ on slide 5.
- Market research &amp; customer surveys: B2B and B2C customers on unmet needs, style and price; concept tests of the top archetypes; results set the prioritisation weights.
- Basket building for existing customers: market-basket analysis plus the business verticals of top customers show which complements are missing; target 1–2 attach items per order. Staples.com customers first; Staples Business is a separate, later channel.
- Competitor best-sellers &amp; seller intelligence: identify the top-selling brands and sellers in competitor categories Staples does not carry, then layer unit conversion and seller performance. This moves from broad visibility to category-specific targets and key players to recruit, and sharpens the opportunity estimates. Note: the PoC deliberately excluded competitor ratings, rank and bought-in-past-month signals; using them is a phase-2 decision for Staples.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curated growth plan for the Staples Marketplace: everything on slides 5 and 6, put in the order agreed in our first review. Product first, customer next (two workstreams); existing customers before new ones (build the basket); adjacent categories before core (so existing merchants are brought along, not challenged); Staples.com before Staples Business; a confident first load, then scale on evidence (launch and learn).
Phase 1 Launch: start from the PoC's 74 safe picks; tune the cannibalisation thresholds and relax the adjacency thresholds with merchants; test the adjacent categories raised (toys, hydration, travel and luggage, tech accessories); vet seller listings and recruit, starting with the 13 brands already on Staples; add basket attach items for existing customers. Output: a curated launch assortment and one story per category owner.
Phase 2 Size &amp; scale: join Staples data to size the prize per archetype by customer segment and keep the top ~20%; search-funnel gaps and demand forecasting; competitor best-seller and seller intelligence; signals choose which subcategories to grow after entry; track pilots and re-crawl quarterly.
Phase 3 Extend: raise core-category gaps with the merchants who own them (e.g. smaller or luxe desks, bento); the customer workstream (education, social, trends, off-site retail media) for new customers; validate with research and surveys; Staples Business as a separate channel for specialist verticals and contract needs.
How we would support it (phased): first organise the data and build the stories for the initial launch, then extend into Staples' data, more analyses and stakeholder use cases, using Staples' existing data and tools and adding external data where useful; the plan adapts to Staples' roadmap rather than a fixed path.
Beyond internal reporting (if asked how this differs from running internal tools): internal data can't show what Staples doesn't carry; we measure both sides with one attribute instrument (885 archetypes); cannibalisation is screened by two independent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model: three tiers, each pairing Staples and LatentView, with a set cadence; issues move up a tier when they need a decision.
Executive team (quarterly): Staples leadership with LatentView leadership. Quarterly business review for value, excellence and innovation; quarterly discussions on long-term planning and strategic alignment; a monthly executive briefing on strategic updates, key risks and mitigation.
Project team (monthly / quarterly): Staples team leads and stakeholders with LatentView client partners and account managers, who collectively own program management. Monthly business review on milestones, feedback and scope; weekly newsletters on project health with critical issues and dependencies escalated.
Delivery team (daily / weekly): the Staples team lead works with the LatentView program manager and a data engineering, BI and data science team. Daily stand-ups with the program manager; weekly review meetings on progress, challenges and upcoming tasks; monthly sprint planning and cross-workstream meetings; a quarterly inspect-and-adapt.
LatentView value adds and investments: access to a scalable analytics team; org expertise from the data engineering and data science &amp; AI horizontals, the BI and supply-chain centres of excellence and service delivery excellence; a buffer pool of trained engineers, scientists, analysts and BI developers for contingency.
How we communicate: maximum transparency, feedback on the partnership and team, insight into team utilisation, identifying opportunities, and new ideas across multiple frontiers. The cadence scales with the phase on the growth plan: light while we build the launch stories, fuller once Staples' data joins.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slides 5–7 (the PoC engine on Staples data, growth paths, and the phased growth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Opportunity sizing &amp; stack-rank</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guardrails &amp; cannibalisation</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Adjacent-category whitespace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vetting &amp; seller recruiting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guardrails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Opportunity sizing &amp; stack-rank</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Opportunity $ = node demand × archetype share (competitor-scaled) × conversion × AUR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Stack-rank to the ~20% of gaps that solve 80%, by category owner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Size the opportunity by customer segment: Staples.com (SMB, consumers) vs Staples Business</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search funnel · conversion</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$-ranked shortlist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guardrails &amp; cannibalisation</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cannibalisation thresholds: tighter the closer to core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curated, not an everything store</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Adjacent-category whitespace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Relax adjacency thresholds to surface whitespace &amp; new verticals: the flip side of Protect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Test adjacent: toys, hydration, luggage, tech accessories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Benchmark a broad-assortment competitor to scope each</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broad-competitor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Evidence-backed adjacent categories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vetting &amp; seller recruiting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 and should it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 fit, 1P overlap &amp; price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Recruit: start with the 13 brands already on Staples, then top competitor sellers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 a recruit list</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Quarterly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live picks' GMV, attach &amp; conversion vs forecast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what proves out, drop the rest;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 &amp; funnel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search, and drop off?</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Search → PDP → need met → conversion (redirects hide demand)</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 satisfaction</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trends &amp; retail media</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 and for whom?</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(TikTok, Pinterest, Reddit, Google Trends)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Signals show which subcategories to grow after entry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Aim off-site retail media at new customers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Grow on signals; reach new customers</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sellers</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building for existing customers</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customers' verticals → missing complements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verticals</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Best-seller &amp; seller intelligence</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Who wins where Staples is absent?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Top-selling brands &amp; sellers in categories Staples doesn't carry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Layer unit conversion &amp; seller performance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Category-specific targets &amp; key players to recruit</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Competitor sales signals · seller performance</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Sharper $ estimates &amp; a recruit shortlist</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A Curated Growth Plan for the Staples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Everything on slides 5–6, sequenced: </a:t>
            </a:r>
            <a:pPr algn="ctr" indent="0" marL="0">
              <a:buNone/>
            </a:pPr>
            <a:r>
              <a:rPr lang="en-US" sz="1150" b="1" dirty="0">
                <a:solidFill>
                  <a:srgbClr val="13285B"/>
                </a:solidFill>
                <a:latin typeface="Calibri" pitchFamily="34" charset="0"/>
                <a:ea typeface="Calibri" pitchFamily="34" charset="-122"/>
                <a:cs typeface="Calibri" pitchFamily="34" charset="-120"/>
              </a:rPr>
              <a:t>product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adjacent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scale on evidence</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554480"/>
            <a:ext cx="3630168" cy="658368"/>
          </a:xfrm>
          <a:prstGeom prst="roundRect">
            <a:avLst>
              <a:gd name="adj" fmla="val 11111"/>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57784" y="1709928"/>
            <a:ext cx="347472" cy="347472"/>
          </a:xfrm>
          <a:prstGeom prst="rect">
            <a:avLst/>
          </a:prstGeom>
        </p:spPr>
      </p:pic>
      <p:sp>
        <p:nvSpPr>
          <p:cNvPr id="7" name="Text 4"/>
          <p:cNvSpPr txBox="1"/>
          <p:nvPr/>
        </p:nvSpPr>
        <p:spPr>
          <a:xfrm>
            <a:off x="1051560"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1 · LAUNCH</a:t>
            </a:r>
            <a:endParaRPr lang="en-US" sz="1100" dirty="0"/>
          </a:p>
        </p:txBody>
      </p:sp>
      <p:sp>
        <p:nvSpPr>
          <p:cNvPr id="8" name="Text 5"/>
          <p:cNvSpPr txBox="1"/>
          <p:nvPr/>
        </p:nvSpPr>
        <p:spPr>
          <a:xfrm>
            <a:off x="1051560"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Load a confident first assortment</a:t>
            </a:r>
            <a:endParaRPr lang="en-US" sz="1250" dirty="0"/>
          </a:p>
        </p:txBody>
      </p:sp>
      <p:sp>
        <p:nvSpPr>
          <p:cNvPr id="9" name="Shape 6"/>
          <p:cNvSpPr/>
          <p:nvPr/>
        </p:nvSpPr>
        <p:spPr>
          <a:xfrm>
            <a:off x="4078224" y="1755648"/>
            <a:ext cx="164592" cy="256032"/>
          </a:xfrm>
          <a:prstGeom prst="rightArrow">
            <a:avLst/>
          </a:prstGeom>
          <a:solidFill>
            <a:srgbClr val="A9C3EE"/>
          </a:solidFill>
          <a:ln w="12700">
            <a:solidFill>
              <a:srgbClr val="A9C3EE"/>
            </a:solidFill>
            <a:prstDash val="solid"/>
          </a:ln>
        </p:spPr>
      </p:sp>
      <p:sp>
        <p:nvSpPr>
          <p:cNvPr id="10" name="Shape 7"/>
          <p:cNvSpPr/>
          <p:nvPr/>
        </p:nvSpPr>
        <p:spPr>
          <a:xfrm>
            <a:off x="411480"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Shape 8"/>
          <p:cNvSpPr/>
          <p:nvPr/>
        </p:nvSpPr>
        <p:spPr>
          <a:xfrm>
            <a:off x="521208" y="2414016"/>
            <a:ext cx="1112520" cy="256032"/>
          </a:xfrm>
          <a:prstGeom prst="roundRect">
            <a:avLst>
              <a:gd name="adj" fmla="val 50000"/>
            </a:avLst>
          </a:prstGeom>
          <a:solidFill>
            <a:srgbClr val="DCE7F8"/>
          </a:solidFill>
          <a:ln w="12700">
            <a:solidFill>
              <a:srgbClr val="DCE7F8"/>
            </a:solidFill>
            <a:prstDash val="solid"/>
          </a:ln>
        </p:spPr>
      </p:sp>
      <p:sp>
        <p:nvSpPr>
          <p:cNvPr id="12" name="Text 9"/>
          <p:cNvSpPr txBox="1"/>
          <p:nvPr/>
        </p:nvSpPr>
        <p:spPr>
          <a:xfrm>
            <a:off x="52120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first</a:t>
            </a:r>
            <a:endParaRPr lang="en-US" sz="850" dirty="0"/>
          </a:p>
        </p:txBody>
      </p:sp>
      <p:sp>
        <p:nvSpPr>
          <p:cNvPr id="13" name="Shape 10"/>
          <p:cNvSpPr/>
          <p:nvPr/>
        </p:nvSpPr>
        <p:spPr>
          <a:xfrm>
            <a:off x="1670304" y="2414016"/>
            <a:ext cx="1112520" cy="256032"/>
          </a:xfrm>
          <a:prstGeom prst="roundRect">
            <a:avLst>
              <a:gd name="adj" fmla="val 50000"/>
            </a:avLst>
          </a:prstGeom>
          <a:solidFill>
            <a:srgbClr val="DCE7F8"/>
          </a:solidFill>
          <a:ln w="12700">
            <a:solidFill>
              <a:srgbClr val="DCE7F8"/>
            </a:solidFill>
            <a:prstDash val="solid"/>
          </a:ln>
        </p:spPr>
      </p:sp>
      <p:sp>
        <p:nvSpPr>
          <p:cNvPr id="14" name="Text 11"/>
          <p:cNvSpPr txBox="1"/>
          <p:nvPr/>
        </p:nvSpPr>
        <p:spPr>
          <a:xfrm>
            <a:off x="167030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15" name="Shape 12"/>
          <p:cNvSpPr/>
          <p:nvPr/>
        </p:nvSpPr>
        <p:spPr>
          <a:xfrm>
            <a:off x="2819400" y="2414016"/>
            <a:ext cx="1112520" cy="256032"/>
          </a:xfrm>
          <a:prstGeom prst="roundRect">
            <a:avLst>
              <a:gd name="adj" fmla="val 50000"/>
            </a:avLst>
          </a:prstGeom>
          <a:solidFill>
            <a:srgbClr val="DCE7F8"/>
          </a:solidFill>
          <a:ln w="12700">
            <a:solidFill>
              <a:srgbClr val="DCE7F8"/>
            </a:solidFill>
            <a:prstDash val="solid"/>
          </a:ln>
        </p:spPr>
      </p:sp>
      <p:sp>
        <p:nvSpPr>
          <p:cNvPr id="16" name="Text 13"/>
          <p:cNvSpPr txBox="1"/>
          <p:nvPr/>
        </p:nvSpPr>
        <p:spPr>
          <a:xfrm>
            <a:off x="281940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17" name="Text 14"/>
          <p:cNvSpPr txBox="1"/>
          <p:nvPr/>
        </p:nvSpPr>
        <p:spPr>
          <a:xfrm>
            <a:off x="521208"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Start from the PoC's 74 safe picks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PoC</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Tune cannibalisation &amp; relax adjacency thresholds with merchants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Protect,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Test toys, hydration, luggage, tech</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Vet listings; recruit from the 13 brands on Staples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Curate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Basket building: 1–2 attach items per order</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p:txBody>
      </p:sp>
      <p:sp>
        <p:nvSpPr>
          <p:cNvPr id="18" name="Shape 15"/>
          <p:cNvSpPr/>
          <p:nvPr/>
        </p:nvSpPr>
        <p:spPr>
          <a:xfrm>
            <a:off x="502920" y="4700016"/>
            <a:ext cx="3447288" cy="640080"/>
          </a:xfrm>
          <a:prstGeom prst="roundRect">
            <a:avLst>
              <a:gd name="adj" fmla="val 8571"/>
            </a:avLst>
          </a:prstGeom>
          <a:solidFill>
            <a:srgbClr val="DCE7F8"/>
          </a:solidFill>
          <a:ln w="12700">
            <a:solidFill>
              <a:srgbClr val="DCE7F8"/>
            </a:solidFill>
            <a:prstDash val="solid"/>
          </a:ln>
        </p:spPr>
      </p:sp>
      <p:sp>
        <p:nvSpPr>
          <p:cNvPr id="19" name="Text 16"/>
          <p:cNvSpPr txBox="1"/>
          <p:nvPr/>
        </p:nvSpPr>
        <p:spPr>
          <a:xfrm>
            <a:off x="594360"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0" name="Text 17"/>
          <p:cNvSpPr txBox="1"/>
          <p:nvPr/>
        </p:nvSpPr>
        <p:spPr>
          <a:xfrm>
            <a:off x="594360"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curated launch assortment, one story per category owner</a:t>
            </a:r>
            <a:endParaRPr lang="en-US" sz="1100" dirty="0"/>
          </a:p>
        </p:txBody>
      </p:sp>
      <p:sp>
        <p:nvSpPr>
          <p:cNvPr id="21" name="Shape 18"/>
          <p:cNvSpPr/>
          <p:nvPr/>
        </p:nvSpPr>
        <p:spPr>
          <a:xfrm>
            <a:off x="4279392" y="1554480"/>
            <a:ext cx="3630168" cy="658368"/>
          </a:xfrm>
          <a:prstGeom prst="roundRect">
            <a:avLst>
              <a:gd name="adj" fmla="val 11111"/>
            </a:avLst>
          </a:prstGeom>
          <a:solidFill>
            <a:srgbClr val="2F6FD0"/>
          </a:solidFill>
          <a:ln w="12700">
            <a:solidFill>
              <a:srgbClr val="2F6FD0"/>
            </a:solidFill>
            <a:prstDash val="solid"/>
          </a:ln>
        </p:spPr>
      </p:sp>
      <p:pic>
        <p:nvPicPr>
          <p:cNvPr id="22" name="Image 1" descr="preencoded.png">    </p:cNvPr>
          <p:cNvPicPr>
            <a:picLocks noChangeAspect="1"/>
          </p:cNvPicPr>
          <p:nvPr/>
        </p:nvPicPr>
        <p:blipFill>
          <a:blip r:embed="rId2"/>
          <a:stretch>
            <a:fillRect/>
          </a:stretch>
        </p:blipFill>
        <p:spPr>
          <a:xfrm>
            <a:off x="4425696" y="1709928"/>
            <a:ext cx="347472" cy="347472"/>
          </a:xfrm>
          <a:prstGeom prst="rect">
            <a:avLst/>
          </a:prstGeom>
        </p:spPr>
      </p:pic>
      <p:sp>
        <p:nvSpPr>
          <p:cNvPr id="23" name="Text 19"/>
          <p:cNvSpPr txBox="1"/>
          <p:nvPr/>
        </p:nvSpPr>
        <p:spPr>
          <a:xfrm>
            <a:off x="4919472"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2 · SIZE &amp; SCALE</a:t>
            </a:r>
            <a:endParaRPr lang="en-US" sz="1100" dirty="0"/>
          </a:p>
        </p:txBody>
      </p:sp>
      <p:sp>
        <p:nvSpPr>
          <p:cNvPr id="24" name="Text 20"/>
          <p:cNvSpPr txBox="1"/>
          <p:nvPr/>
        </p:nvSpPr>
        <p:spPr>
          <a:xfrm>
            <a:off x="4919472"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Size the prize, scale what works</a:t>
            </a:r>
            <a:endParaRPr lang="en-US" sz="1250" dirty="0"/>
          </a:p>
        </p:txBody>
      </p:sp>
      <p:sp>
        <p:nvSpPr>
          <p:cNvPr id="25" name="Shape 21"/>
          <p:cNvSpPr/>
          <p:nvPr/>
        </p:nvSpPr>
        <p:spPr>
          <a:xfrm>
            <a:off x="7946136" y="1755648"/>
            <a:ext cx="164592" cy="256032"/>
          </a:xfrm>
          <a:prstGeom prst="rightArrow">
            <a:avLst/>
          </a:prstGeom>
          <a:solidFill>
            <a:srgbClr val="A9C3EE"/>
          </a:solidFill>
          <a:ln w="12700">
            <a:solidFill>
              <a:srgbClr val="A9C3EE"/>
            </a:solidFill>
            <a:prstDash val="solid"/>
          </a:ln>
        </p:spPr>
      </p:sp>
      <p:sp>
        <p:nvSpPr>
          <p:cNvPr id="26" name="Shape 22"/>
          <p:cNvSpPr/>
          <p:nvPr/>
        </p:nvSpPr>
        <p:spPr>
          <a:xfrm>
            <a:off x="4279392"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3"/>
          <p:cNvSpPr/>
          <p:nvPr/>
        </p:nvSpPr>
        <p:spPr>
          <a:xfrm>
            <a:off x="4389120" y="2414016"/>
            <a:ext cx="1112520" cy="256032"/>
          </a:xfrm>
          <a:prstGeom prst="roundRect">
            <a:avLst>
              <a:gd name="adj" fmla="val 50000"/>
            </a:avLst>
          </a:prstGeom>
          <a:solidFill>
            <a:srgbClr val="DCE7F8"/>
          </a:solidFill>
          <a:ln w="12700">
            <a:solidFill>
              <a:srgbClr val="DCE7F8"/>
            </a:solidFill>
            <a:prstDash val="solid"/>
          </a:ln>
        </p:spPr>
      </p:sp>
      <p:sp>
        <p:nvSpPr>
          <p:cNvPr id="28" name="Text 24"/>
          <p:cNvSpPr txBox="1"/>
          <p:nvPr/>
        </p:nvSpPr>
        <p:spPr>
          <a:xfrm>
            <a:off x="438912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 near-core</a:t>
            </a:r>
            <a:endParaRPr lang="en-US" sz="850" dirty="0"/>
          </a:p>
        </p:txBody>
      </p:sp>
      <p:sp>
        <p:nvSpPr>
          <p:cNvPr id="29" name="Shape 25"/>
          <p:cNvSpPr/>
          <p:nvPr/>
        </p:nvSpPr>
        <p:spPr>
          <a:xfrm>
            <a:off x="5538216" y="2414016"/>
            <a:ext cx="1112520" cy="256032"/>
          </a:xfrm>
          <a:prstGeom prst="roundRect">
            <a:avLst>
              <a:gd name="adj" fmla="val 50000"/>
            </a:avLst>
          </a:prstGeom>
          <a:solidFill>
            <a:srgbClr val="DCE7F8"/>
          </a:solidFill>
          <a:ln w="12700">
            <a:solidFill>
              <a:srgbClr val="DCE7F8"/>
            </a:solidFill>
            <a:prstDash val="solid"/>
          </a:ln>
        </p:spPr>
      </p:sp>
      <p:sp>
        <p:nvSpPr>
          <p:cNvPr id="30" name="Text 26"/>
          <p:cNvSpPr txBox="1"/>
          <p:nvPr/>
        </p:nvSpPr>
        <p:spPr>
          <a:xfrm>
            <a:off x="5538216"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31" name="Shape 27"/>
          <p:cNvSpPr/>
          <p:nvPr/>
        </p:nvSpPr>
        <p:spPr>
          <a:xfrm>
            <a:off x="6687312" y="2414016"/>
            <a:ext cx="1112520" cy="256032"/>
          </a:xfrm>
          <a:prstGeom prst="roundRect">
            <a:avLst>
              <a:gd name="adj" fmla="val 50000"/>
            </a:avLst>
          </a:prstGeom>
          <a:solidFill>
            <a:srgbClr val="DCE7F8"/>
          </a:solidFill>
          <a:ln w="12700">
            <a:solidFill>
              <a:srgbClr val="DCE7F8"/>
            </a:solidFill>
            <a:prstDash val="solid"/>
          </a:ln>
        </p:spPr>
      </p:sp>
      <p:sp>
        <p:nvSpPr>
          <p:cNvPr id="32" name="Text 28"/>
          <p:cNvSpPr txBox="1"/>
          <p:nvPr/>
        </p:nvSpPr>
        <p:spPr>
          <a:xfrm>
            <a:off x="668731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33" name="Text 29"/>
          <p:cNvSpPr txBox="1"/>
          <p:nvPr/>
        </p:nvSpPr>
        <p:spPr>
          <a:xfrm>
            <a:off x="4389120"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Opportunity $ by customer segment; top ~20%</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Prioritise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Search &amp; funnel gaps, demand forecasting</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Best-seller &amp; seller intelligence</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Signals pick the subcategories to grow</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Track pilots; quarterly re-crawls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Monitor</a:t>
            </a:r>
            <a:endParaRPr lang="en-US" sz="1200" dirty="0"/>
          </a:p>
        </p:txBody>
      </p:sp>
      <p:sp>
        <p:nvSpPr>
          <p:cNvPr id="34" name="Shape 30"/>
          <p:cNvSpPr/>
          <p:nvPr/>
        </p:nvSpPr>
        <p:spPr>
          <a:xfrm>
            <a:off x="4370832" y="4700016"/>
            <a:ext cx="3447288" cy="640080"/>
          </a:xfrm>
          <a:prstGeom prst="roundRect">
            <a:avLst>
              <a:gd name="adj" fmla="val 8571"/>
            </a:avLst>
          </a:prstGeom>
          <a:solidFill>
            <a:srgbClr val="DCE7F8"/>
          </a:solidFill>
          <a:ln w="12700">
            <a:solidFill>
              <a:srgbClr val="DCE7F8"/>
            </a:solidFill>
            <a:prstDash val="solid"/>
          </a:ln>
        </p:spPr>
      </p:sp>
      <p:sp>
        <p:nvSpPr>
          <p:cNvPr id="35" name="Text 31"/>
          <p:cNvSpPr txBox="1"/>
          <p:nvPr/>
        </p:nvSpPr>
        <p:spPr>
          <a:xfrm>
            <a:off x="4462272"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6" name="Text 32"/>
          <p:cNvSpPr txBox="1"/>
          <p:nvPr/>
        </p:nvSpPr>
        <p:spPr>
          <a:xfrm>
            <a:off x="4462272"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$-ranked opportunity landscape; scale on evidence</a:t>
            </a:r>
            <a:endParaRPr lang="en-US" sz="1100" dirty="0"/>
          </a:p>
        </p:txBody>
      </p:sp>
      <p:sp>
        <p:nvSpPr>
          <p:cNvPr id="37" name="Shape 33"/>
          <p:cNvSpPr/>
          <p:nvPr/>
        </p:nvSpPr>
        <p:spPr>
          <a:xfrm>
            <a:off x="8147304" y="1554480"/>
            <a:ext cx="3630168" cy="658368"/>
          </a:xfrm>
          <a:prstGeom prst="roundRect">
            <a:avLst>
              <a:gd name="adj" fmla="val 11111"/>
            </a:avLst>
          </a:prstGeom>
          <a:solidFill>
            <a:srgbClr val="13285B"/>
          </a:solidFill>
          <a:ln w="12700">
            <a:solidFill>
              <a:srgbClr val="13285B"/>
            </a:solidFill>
            <a:prstDash val="solid"/>
          </a:ln>
        </p:spPr>
      </p:sp>
      <p:pic>
        <p:nvPicPr>
          <p:cNvPr id="38" name="Image 2" descr="preencoded.png">    </p:cNvPr>
          <p:cNvPicPr>
            <a:picLocks noChangeAspect="1"/>
          </p:cNvPicPr>
          <p:nvPr/>
        </p:nvPicPr>
        <p:blipFill>
          <a:blip r:embed="rId3"/>
          <a:stretch>
            <a:fillRect/>
          </a:stretch>
        </p:blipFill>
        <p:spPr>
          <a:xfrm>
            <a:off x="8293608" y="1709928"/>
            <a:ext cx="347472" cy="347472"/>
          </a:xfrm>
          <a:prstGeom prst="rect">
            <a:avLst/>
          </a:prstGeom>
        </p:spPr>
      </p:pic>
      <p:sp>
        <p:nvSpPr>
          <p:cNvPr id="39" name="Text 34"/>
          <p:cNvSpPr txBox="1"/>
          <p:nvPr/>
        </p:nvSpPr>
        <p:spPr>
          <a:xfrm>
            <a:off x="8787384"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3 · EXTEND</a:t>
            </a:r>
            <a:endParaRPr lang="en-US" sz="1100" dirty="0"/>
          </a:p>
        </p:txBody>
      </p:sp>
      <p:sp>
        <p:nvSpPr>
          <p:cNvPr id="40" name="Text 35"/>
          <p:cNvSpPr txBox="1"/>
          <p:nvPr/>
        </p:nvSpPr>
        <p:spPr>
          <a:xfrm>
            <a:off x="8787384"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Into core and new customers</a:t>
            </a:r>
            <a:endParaRPr lang="en-US" sz="1250" dirty="0"/>
          </a:p>
        </p:txBody>
      </p:sp>
      <p:sp>
        <p:nvSpPr>
          <p:cNvPr id="41" name="Shape 36"/>
          <p:cNvSpPr/>
          <p:nvPr/>
        </p:nvSpPr>
        <p:spPr>
          <a:xfrm>
            <a:off x="8147304"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2" name="Shape 37"/>
          <p:cNvSpPr/>
          <p:nvPr/>
        </p:nvSpPr>
        <p:spPr>
          <a:xfrm>
            <a:off x="8257032" y="2414016"/>
            <a:ext cx="1112520" cy="256032"/>
          </a:xfrm>
          <a:prstGeom prst="roundRect">
            <a:avLst>
              <a:gd name="adj" fmla="val 50000"/>
            </a:avLst>
          </a:prstGeom>
          <a:solidFill>
            <a:srgbClr val="DCE7F8"/>
          </a:solidFill>
          <a:ln w="12700">
            <a:solidFill>
              <a:srgbClr val="DCE7F8"/>
            </a:solidFill>
            <a:prstDash val="solid"/>
          </a:ln>
        </p:spPr>
      </p:sp>
      <p:sp>
        <p:nvSpPr>
          <p:cNvPr id="43" name="Text 38"/>
          <p:cNvSpPr txBox="1"/>
          <p:nvPr/>
        </p:nvSpPr>
        <p:spPr>
          <a:xfrm>
            <a:off x="825703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Core gaps</a:t>
            </a:r>
            <a:endParaRPr lang="en-US" sz="850" dirty="0"/>
          </a:p>
        </p:txBody>
      </p:sp>
      <p:sp>
        <p:nvSpPr>
          <p:cNvPr id="44" name="Shape 39"/>
          <p:cNvSpPr/>
          <p:nvPr/>
        </p:nvSpPr>
        <p:spPr>
          <a:xfrm>
            <a:off x="9406128" y="2414016"/>
            <a:ext cx="1112520" cy="256032"/>
          </a:xfrm>
          <a:prstGeom prst="roundRect">
            <a:avLst>
              <a:gd name="adj" fmla="val 50000"/>
            </a:avLst>
          </a:prstGeom>
          <a:solidFill>
            <a:srgbClr val="DCE7F8"/>
          </a:solidFill>
          <a:ln w="12700">
            <a:solidFill>
              <a:srgbClr val="DCE7F8"/>
            </a:solidFill>
            <a:prstDash val="solid"/>
          </a:ln>
        </p:spPr>
      </p:sp>
      <p:sp>
        <p:nvSpPr>
          <p:cNvPr id="45" name="Text 40"/>
          <p:cNvSpPr txBox="1"/>
          <p:nvPr/>
        </p:nvSpPr>
        <p:spPr>
          <a:xfrm>
            <a:off x="940612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New customers</a:t>
            </a:r>
            <a:endParaRPr lang="en-US" sz="850" dirty="0"/>
          </a:p>
        </p:txBody>
      </p:sp>
      <p:sp>
        <p:nvSpPr>
          <p:cNvPr id="46" name="Shape 41"/>
          <p:cNvSpPr/>
          <p:nvPr/>
        </p:nvSpPr>
        <p:spPr>
          <a:xfrm>
            <a:off x="10555224" y="2414016"/>
            <a:ext cx="1112520" cy="256032"/>
          </a:xfrm>
          <a:prstGeom prst="roundRect">
            <a:avLst>
              <a:gd name="adj" fmla="val 50000"/>
            </a:avLst>
          </a:prstGeom>
          <a:solidFill>
            <a:srgbClr val="DCE7F8"/>
          </a:solidFill>
          <a:ln w="12700">
            <a:solidFill>
              <a:srgbClr val="DCE7F8"/>
            </a:solidFill>
            <a:prstDash val="solid"/>
          </a:ln>
        </p:spPr>
      </p:sp>
      <p:sp>
        <p:nvSpPr>
          <p:cNvPr id="47" name="Text 42"/>
          <p:cNvSpPr txBox="1"/>
          <p:nvPr/>
        </p:nvSpPr>
        <p:spPr>
          <a:xfrm>
            <a:off x="1055522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 Staples Business</a:t>
            </a:r>
            <a:endParaRPr lang="en-US" sz="850" dirty="0"/>
          </a:p>
        </p:txBody>
      </p:sp>
      <p:sp>
        <p:nvSpPr>
          <p:cNvPr id="48" name="Text 43"/>
          <p:cNvSpPr txBox="1"/>
          <p:nvPr/>
        </p:nvSpPr>
        <p:spPr>
          <a:xfrm>
            <a:off x="8257032"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gaps raised with merchants, e.g. smaller or luxe desks, bento</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with merchants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Educate &amp; acquire customers: social, trends, off-site retail media</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Validate with market research &amp; surveys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Staples Business: specialist verticals &amp; contract needs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new channel</a:t>
            </a:r>
            <a:endParaRPr lang="en-US" sz="1200" dirty="0"/>
          </a:p>
        </p:txBody>
      </p:sp>
      <p:sp>
        <p:nvSpPr>
          <p:cNvPr id="49" name="Shape 44"/>
          <p:cNvSpPr/>
          <p:nvPr/>
        </p:nvSpPr>
        <p:spPr>
          <a:xfrm>
            <a:off x="8238744" y="4700016"/>
            <a:ext cx="3447288" cy="640080"/>
          </a:xfrm>
          <a:prstGeom prst="roundRect">
            <a:avLst>
              <a:gd name="adj" fmla="val 8571"/>
            </a:avLst>
          </a:prstGeom>
          <a:solidFill>
            <a:srgbClr val="DCE7F8"/>
          </a:solidFill>
          <a:ln w="12700">
            <a:solidFill>
              <a:srgbClr val="DCE7F8"/>
            </a:solidFill>
            <a:prstDash val="solid"/>
          </a:ln>
        </p:spPr>
      </p:sp>
      <p:sp>
        <p:nvSpPr>
          <p:cNvPr id="50" name="Text 45"/>
          <p:cNvSpPr txBox="1"/>
          <p:nvPr/>
        </p:nvSpPr>
        <p:spPr>
          <a:xfrm>
            <a:off x="8330184"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1" name="Text 46"/>
          <p:cNvSpPr txBox="1"/>
          <p:nvPr/>
        </p:nvSpPr>
        <p:spPr>
          <a:xfrm>
            <a:off x="8330184"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Core growth merchants sign up to; new customers reached</a:t>
            </a:r>
            <a:endParaRPr lang="en-US" sz="1100" dirty="0"/>
          </a:p>
        </p:txBody>
      </p:sp>
      <p:sp>
        <p:nvSpPr>
          <p:cNvPr id="52" name="Shape 47"/>
          <p:cNvSpPr/>
          <p:nvPr/>
        </p:nvSpPr>
        <p:spPr>
          <a:xfrm>
            <a:off x="411480" y="5559552"/>
            <a:ext cx="11365992" cy="768096"/>
          </a:xfrm>
          <a:prstGeom prst="roundRect">
            <a:avLst>
              <a:gd name="adj" fmla="val 9524"/>
            </a:avLst>
          </a:prstGeom>
          <a:solidFill>
            <a:srgbClr val="EEF3FB"/>
          </a:solidFill>
          <a:ln w="9525">
            <a:solidFill>
              <a:srgbClr val="8FB0E8"/>
            </a:solidFill>
            <a:prstDash val="solid"/>
          </a:ln>
        </p:spPr>
      </p:sp>
      <p:sp>
        <p:nvSpPr>
          <p:cNvPr id="53" name="Text 48"/>
          <p:cNvSpPr txBox="1"/>
          <p:nvPr/>
        </p:nvSpPr>
        <p:spPr>
          <a:xfrm>
            <a:off x="566928" y="5559552"/>
            <a:ext cx="1828800" cy="768096"/>
          </a:xfrm>
          <a:prstGeom prst="rect">
            <a:avLst/>
          </a:prstGeom>
          <a:noFill/>
          <a:ln/>
        </p:spPr>
        <p:txBody>
          <a:bodyPr wrap="square" lIns="0" tIns="0" rIns="0" bIns="0" rtlCol="0" anchor="ctr"/>
          <a:lstStyle/>
          <a:p>
            <a:pPr indent="0" marL="0">
              <a:buNone/>
            </a:pPr>
            <a:r>
              <a:rPr lang="en-US" sz="1050" b="1" spc="100" kern="0" dirty="0">
                <a:solidFill>
                  <a:srgbClr val="1F4E9A"/>
                </a:solidFill>
                <a:latin typeface="Calibri" pitchFamily="34" charset="0"/>
                <a:ea typeface="Calibri" pitchFamily="34" charset="-122"/>
                <a:cs typeface="Calibri" pitchFamily="34" charset="-120"/>
              </a:rPr>
              <a:t>BEYOND INTERNAL REPORTING</a:t>
            </a:r>
            <a:endParaRPr lang="en-US" sz="1050" dirty="0"/>
          </a:p>
        </p:txBody>
      </p:sp>
      <p:pic>
        <p:nvPicPr>
          <p:cNvPr id="54" name="Image 3" descr="preencoded.png">    </p:cNvPr>
          <p:cNvPicPr>
            <a:picLocks noChangeAspect="1"/>
          </p:cNvPicPr>
          <p:nvPr/>
        </p:nvPicPr>
        <p:blipFill>
          <a:blip r:embed="rId4"/>
          <a:stretch>
            <a:fillRect/>
          </a:stretch>
        </p:blipFill>
        <p:spPr>
          <a:xfrm>
            <a:off x="2514600" y="5769864"/>
            <a:ext cx="347472" cy="347472"/>
          </a:xfrm>
          <a:prstGeom prst="rect">
            <a:avLst/>
          </a:prstGeom>
        </p:spPr>
      </p:pic>
      <p:sp>
        <p:nvSpPr>
          <p:cNvPr id="55" name="Text 49"/>
          <p:cNvSpPr txBox="1"/>
          <p:nvPr/>
        </p:nvSpPr>
        <p:spPr>
          <a:xfrm>
            <a:off x="2971800"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Sees outside Staples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the competitor side internal data can't show</a:t>
            </a:r>
            <a:endParaRPr lang="en-US" sz="1050" dirty="0"/>
          </a:p>
        </p:txBody>
      </p:sp>
      <p:pic>
        <p:nvPicPr>
          <p:cNvPr id="56" name="Image 4" descr="preencoded.png">    </p:cNvPr>
          <p:cNvPicPr>
            <a:picLocks noChangeAspect="1"/>
          </p:cNvPicPr>
          <p:nvPr/>
        </p:nvPicPr>
        <p:blipFill>
          <a:blip r:embed="rId5"/>
          <a:stretch>
            <a:fillRect/>
          </a:stretch>
        </p:blipFill>
        <p:spPr>
          <a:xfrm>
            <a:off x="5602224" y="5769864"/>
            <a:ext cx="347472" cy="347472"/>
          </a:xfrm>
          <a:prstGeom prst="rect">
            <a:avLst/>
          </a:prstGeom>
        </p:spPr>
      </p:pic>
      <p:sp>
        <p:nvSpPr>
          <p:cNvPr id="57" name="Text 50"/>
          <p:cNvSpPr txBox="1"/>
          <p:nvPr/>
        </p:nvSpPr>
        <p:spPr>
          <a:xfrm>
            <a:off x="6059424"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Same yardstick on both sides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885 archetypes, one attribute extractor</a:t>
            </a:r>
            <a:endParaRPr lang="en-US" sz="1050" dirty="0"/>
          </a:p>
        </p:txBody>
      </p:sp>
      <p:pic>
        <p:nvPicPr>
          <p:cNvPr id="58" name="Image 5" descr="preencoded.png">    </p:cNvPr>
          <p:cNvPicPr>
            <a:picLocks noChangeAspect="1"/>
          </p:cNvPicPr>
          <p:nvPr/>
        </p:nvPicPr>
        <p:blipFill>
          <a:blip r:embed="rId6"/>
          <a:stretch>
            <a:fillRect/>
          </a:stretch>
        </p:blipFill>
        <p:spPr>
          <a:xfrm>
            <a:off x="8689848" y="5769864"/>
            <a:ext cx="347472" cy="347472"/>
          </a:xfrm>
          <a:prstGeom prst="rect">
            <a:avLst/>
          </a:prstGeom>
        </p:spPr>
      </p:pic>
      <p:sp>
        <p:nvSpPr>
          <p:cNvPr id="59" name="Text 51"/>
          <p:cNvSpPr txBox="1"/>
          <p:nvPr/>
        </p:nvSpPr>
        <p:spPr>
          <a:xfrm>
            <a:off x="9147048"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Two independent safety gates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cannibalisation checked twice</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200" b="1" dirty="0">
                <a:solidFill>
                  <a:srgbClr val="1F4E9A"/>
                </a:solidFill>
                <a:latin typeface="Calibri" pitchFamily="34" charset="0"/>
                <a:ea typeface="Calibri" pitchFamily="34" charset="-122"/>
                <a:cs typeface="Calibri" pitchFamily="34" charset="-120"/>
              </a:rPr>
              <a:t>Our Governance Model ensures effective oversight and collaboration between LatentView and Staples</a:t>
            </a:r>
            <a:endParaRPr lang="en-US" sz="2800" dirty="0"/>
          </a:p>
        </p:txBody>
      </p:sp>
      <p:sp>
        <p:nvSpPr>
          <p:cNvPr id="3" name="Shape 1"/>
          <p:cNvSpPr/>
          <p:nvPr/>
        </p:nvSpPr>
        <p:spPr>
          <a:xfrm>
            <a:off x="274320" y="1051560"/>
            <a:ext cx="8092440" cy="365760"/>
          </a:xfrm>
          <a:prstGeom prst="rect">
            <a:avLst/>
          </a:prstGeom>
          <a:solidFill>
            <a:srgbClr val="13285B"/>
          </a:solidFill>
          <a:ln w="12700">
            <a:solidFill>
              <a:srgbClr val="13285B"/>
            </a:solidFill>
            <a:prstDash val="solid"/>
          </a:ln>
        </p:spPr>
      </p:sp>
      <p:sp>
        <p:nvSpPr>
          <p:cNvPr id="4" name="Text 2"/>
          <p:cNvSpPr txBox="1"/>
          <p:nvPr/>
        </p:nvSpPr>
        <p:spPr>
          <a:xfrm>
            <a:off x="320040" y="1051560"/>
            <a:ext cx="80010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3-Tiered Robust Governance Structure with Cadence for Seamless Communication and Feedback Alignment</a:t>
            </a:r>
            <a:endParaRPr lang="en-US" sz="1200" dirty="0"/>
          </a:p>
        </p:txBody>
      </p:sp>
      <p:sp>
        <p:nvSpPr>
          <p:cNvPr id="5" name="Shape 3"/>
          <p:cNvSpPr/>
          <p:nvPr/>
        </p:nvSpPr>
        <p:spPr>
          <a:xfrm>
            <a:off x="8595360" y="1051560"/>
            <a:ext cx="3291840" cy="365760"/>
          </a:xfrm>
          <a:prstGeom prst="rect">
            <a:avLst/>
          </a:prstGeom>
          <a:solidFill>
            <a:srgbClr val="7E62A8"/>
          </a:solidFill>
          <a:ln w="12700">
            <a:solidFill>
              <a:srgbClr val="7E62A8"/>
            </a:solidFill>
            <a:prstDash val="solid"/>
          </a:ln>
        </p:spPr>
      </p:sp>
      <p:sp>
        <p:nvSpPr>
          <p:cNvPr id="6" name="Text 4"/>
          <p:cNvSpPr txBox="1"/>
          <p:nvPr/>
        </p:nvSpPr>
        <p:spPr>
          <a:xfrm>
            <a:off x="8595360" y="1051560"/>
            <a:ext cx="32918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LatentView Value Adds &amp; Investments</a:t>
            </a:r>
            <a:endParaRPr lang="en-US" sz="1200" dirty="0"/>
          </a:p>
        </p:txBody>
      </p:sp>
      <p:sp>
        <p:nvSpPr>
          <p:cNvPr id="7" name="Text 5"/>
          <p:cNvSpPr txBox="1"/>
          <p:nvPr/>
        </p:nvSpPr>
        <p:spPr>
          <a:xfrm>
            <a:off x="274320" y="1572768"/>
            <a:ext cx="1371600" cy="475488"/>
          </a:xfrm>
          <a:prstGeom prst="rect">
            <a:avLst/>
          </a:prstGeom>
          <a:noFill/>
          <a:ln/>
        </p:spPr>
        <p:txBody>
          <a:bodyPr wrap="square" lIns="0" tIns="0" rIns="0" bIns="0" rtlCol="0" anchor="ctr"/>
          <a:lstStyle/>
          <a:p>
            <a:pPr algn="ctr" indent="0" marL="0">
              <a:buNone/>
            </a:pPr>
            <a:r>
              <a:rPr lang="en-US" sz="1300" b="1" dirty="0">
                <a:solidFill>
                  <a:srgbClr val="1F4E9A"/>
                </a:solidFill>
                <a:latin typeface="Calibri" pitchFamily="34" charset="0"/>
                <a:ea typeface="Calibri" pitchFamily="34" charset="-122"/>
                <a:cs typeface="Calibri" pitchFamily="34" charset="-120"/>
              </a:rPr>
              <a:t>Executive</a:t>
            </a:r>
            <a:endParaRPr lang="en-US" sz="1300" dirty="0"/>
          </a:p>
          <a:p>
            <a:pPr algn="ctr" indent="0" marL="0">
              <a:buNone/>
            </a:pPr>
            <a:r>
              <a:rPr lang="en-US" sz="1300" b="1" dirty="0">
                <a:solidFill>
                  <a:srgbClr val="1F4E9A"/>
                </a:solidFill>
                <a:latin typeface="Calibri" pitchFamily="34" charset="0"/>
                <a:ea typeface="Calibri" pitchFamily="34" charset="-122"/>
                <a:cs typeface="Calibri" pitchFamily="34" charset="-120"/>
              </a:rPr>
              <a:t>Team</a:t>
            </a:r>
            <a:endParaRPr lang="en-US" sz="1300" dirty="0"/>
          </a:p>
        </p:txBody>
      </p:sp>
      <p:sp>
        <p:nvSpPr>
          <p:cNvPr id="8" name="Text 6"/>
          <p:cNvSpPr txBox="1"/>
          <p:nvPr/>
        </p:nvSpPr>
        <p:spPr>
          <a:xfrm>
            <a:off x="274320" y="2066544"/>
            <a:ext cx="1371600" cy="219456"/>
          </a:xfrm>
          <a:prstGeom prst="rect">
            <a:avLst/>
          </a:prstGeom>
          <a:noFill/>
          <a:ln/>
        </p:spPr>
        <p:txBody>
          <a:bodyPr wrap="square" lIns="0" tIns="0" rIns="0" bIns="0" rtlCol="0" anchor="ctr"/>
          <a:lstStyle/>
          <a:p>
            <a:pPr algn="ctr" indent="0" marL="0">
              <a:buNone/>
            </a:pPr>
            <a:r>
              <a:rPr lang="en-US" sz="1100" b="1" i="1" dirty="0">
                <a:solidFill>
                  <a:srgbClr val="A31515"/>
                </a:solidFill>
                <a:latin typeface="Calibri" pitchFamily="34" charset="0"/>
                <a:ea typeface="Calibri" pitchFamily="34" charset="-122"/>
                <a:cs typeface="Calibri" pitchFamily="34" charset="-120"/>
              </a:rPr>
              <a:t>Quarterly</a:t>
            </a:r>
            <a:endParaRPr lang="en-US" sz="1100" dirty="0"/>
          </a:p>
        </p:txBody>
      </p:sp>
      <p:sp>
        <p:nvSpPr>
          <p:cNvPr id="9" name="Text 7"/>
          <p:cNvSpPr txBox="1"/>
          <p:nvPr/>
        </p:nvSpPr>
        <p:spPr>
          <a:xfrm>
            <a:off x="274320" y="2304288"/>
            <a:ext cx="1371600" cy="384048"/>
          </a:xfrm>
          <a:prstGeom prst="rect">
            <a:avLst/>
          </a:prstGeom>
          <a:noFill/>
          <a:ln/>
        </p:spPr>
        <p:txBody>
          <a:bodyPr wrap="square" lIns="0" tIns="0" rIns="0" bIns="0" rtlCol="0" anchor="t"/>
          <a:lstStyle/>
          <a:p>
            <a:pPr algn="ctr" indent="0" marL="0">
              <a:buNone/>
            </a:pPr>
            <a:r>
              <a:rPr lang="en-US" sz="800" i="1" dirty="0">
                <a:solidFill>
                  <a:srgbClr val="7A8599"/>
                </a:solidFill>
                <a:latin typeface="Calibri" pitchFamily="34" charset="0"/>
                <a:ea typeface="Calibri" pitchFamily="34" charset="-122"/>
                <a:cs typeface="Calibri" pitchFamily="34" charset="-120"/>
              </a:rPr>
              <a:t>Quarterly business review · monthly executive briefing</a:t>
            </a:r>
            <a:endParaRPr lang="en-US" sz="800" dirty="0"/>
          </a:p>
        </p:txBody>
      </p:sp>
      <p:sp>
        <p:nvSpPr>
          <p:cNvPr id="10" name="Text 8"/>
          <p:cNvSpPr txBox="1"/>
          <p:nvPr/>
        </p:nvSpPr>
        <p:spPr>
          <a:xfrm>
            <a:off x="274320" y="2761488"/>
            <a:ext cx="1371600" cy="475488"/>
          </a:xfrm>
          <a:prstGeom prst="rect">
            <a:avLst/>
          </a:prstGeom>
          <a:noFill/>
          <a:ln/>
        </p:spPr>
        <p:txBody>
          <a:bodyPr wrap="square" lIns="0" tIns="0" rIns="0" bIns="0" rtlCol="0" anchor="ctr"/>
          <a:lstStyle/>
          <a:p>
            <a:pPr algn="ctr" indent="0" marL="0">
              <a:buNone/>
            </a:pPr>
            <a:r>
              <a:rPr lang="en-US" sz="1300" b="1" dirty="0">
                <a:solidFill>
                  <a:srgbClr val="1F4E9A"/>
                </a:solidFill>
                <a:latin typeface="Calibri" pitchFamily="34" charset="0"/>
                <a:ea typeface="Calibri" pitchFamily="34" charset="-122"/>
                <a:cs typeface="Calibri" pitchFamily="34" charset="-120"/>
              </a:rPr>
              <a:t>Project</a:t>
            </a:r>
            <a:endParaRPr lang="en-US" sz="1300" dirty="0"/>
          </a:p>
          <a:p>
            <a:pPr algn="ctr" indent="0" marL="0">
              <a:buNone/>
            </a:pPr>
            <a:r>
              <a:rPr lang="en-US" sz="1300" b="1" dirty="0">
                <a:solidFill>
                  <a:srgbClr val="1F4E9A"/>
                </a:solidFill>
                <a:latin typeface="Calibri" pitchFamily="34" charset="0"/>
                <a:ea typeface="Calibri" pitchFamily="34" charset="-122"/>
                <a:cs typeface="Calibri" pitchFamily="34" charset="-120"/>
              </a:rPr>
              <a:t>Team</a:t>
            </a:r>
            <a:endParaRPr lang="en-US" sz="1300" dirty="0"/>
          </a:p>
        </p:txBody>
      </p:sp>
      <p:sp>
        <p:nvSpPr>
          <p:cNvPr id="11" name="Text 9"/>
          <p:cNvSpPr txBox="1"/>
          <p:nvPr/>
        </p:nvSpPr>
        <p:spPr>
          <a:xfrm>
            <a:off x="274320" y="3255264"/>
            <a:ext cx="1371600" cy="219456"/>
          </a:xfrm>
          <a:prstGeom prst="rect">
            <a:avLst/>
          </a:prstGeom>
          <a:noFill/>
          <a:ln/>
        </p:spPr>
        <p:txBody>
          <a:bodyPr wrap="square" lIns="0" tIns="0" rIns="0" bIns="0" rtlCol="0" anchor="ctr"/>
          <a:lstStyle/>
          <a:p>
            <a:pPr algn="ctr" indent="0" marL="0">
              <a:buNone/>
            </a:pPr>
            <a:r>
              <a:rPr lang="en-US" sz="1100" b="1" i="1" dirty="0">
                <a:solidFill>
                  <a:srgbClr val="A31515"/>
                </a:solidFill>
                <a:latin typeface="Calibri" pitchFamily="34" charset="0"/>
                <a:ea typeface="Calibri" pitchFamily="34" charset="-122"/>
                <a:cs typeface="Calibri" pitchFamily="34" charset="-120"/>
              </a:rPr>
              <a:t>Monthly / Quarterly</a:t>
            </a:r>
            <a:endParaRPr lang="en-US" sz="1100" dirty="0"/>
          </a:p>
        </p:txBody>
      </p:sp>
      <p:sp>
        <p:nvSpPr>
          <p:cNvPr id="12" name="Text 10"/>
          <p:cNvSpPr txBox="1"/>
          <p:nvPr/>
        </p:nvSpPr>
        <p:spPr>
          <a:xfrm>
            <a:off x="274320" y="3493008"/>
            <a:ext cx="1371600" cy="384048"/>
          </a:xfrm>
          <a:prstGeom prst="rect">
            <a:avLst/>
          </a:prstGeom>
          <a:noFill/>
          <a:ln/>
        </p:spPr>
        <p:txBody>
          <a:bodyPr wrap="square" lIns="0" tIns="0" rIns="0" bIns="0" rtlCol="0" anchor="t"/>
          <a:lstStyle/>
          <a:p>
            <a:pPr algn="ctr" indent="0" marL="0">
              <a:buNone/>
            </a:pPr>
            <a:r>
              <a:rPr lang="en-US" sz="800" i="1" dirty="0">
                <a:solidFill>
                  <a:srgbClr val="7A8599"/>
                </a:solidFill>
                <a:latin typeface="Calibri" pitchFamily="34" charset="0"/>
                <a:ea typeface="Calibri" pitchFamily="34" charset="-122"/>
                <a:cs typeface="Calibri" pitchFamily="34" charset="-120"/>
              </a:rPr>
              <a:t>Monthly business review · weekly status newsletter</a:t>
            </a:r>
            <a:endParaRPr lang="en-US" sz="800" dirty="0"/>
          </a:p>
        </p:txBody>
      </p:sp>
      <p:sp>
        <p:nvSpPr>
          <p:cNvPr id="13" name="Text 11"/>
          <p:cNvSpPr txBox="1"/>
          <p:nvPr/>
        </p:nvSpPr>
        <p:spPr>
          <a:xfrm>
            <a:off x="274320" y="4617720"/>
            <a:ext cx="1371600" cy="475488"/>
          </a:xfrm>
          <a:prstGeom prst="rect">
            <a:avLst/>
          </a:prstGeom>
          <a:noFill/>
          <a:ln/>
        </p:spPr>
        <p:txBody>
          <a:bodyPr wrap="square" lIns="0" tIns="0" rIns="0" bIns="0" rtlCol="0" anchor="ctr"/>
          <a:lstStyle/>
          <a:p>
            <a:pPr algn="ctr" indent="0" marL="0">
              <a:buNone/>
            </a:pPr>
            <a:r>
              <a:rPr lang="en-US" sz="1300" b="1" dirty="0">
                <a:solidFill>
                  <a:srgbClr val="1F4E9A"/>
                </a:solidFill>
                <a:latin typeface="Calibri" pitchFamily="34" charset="0"/>
                <a:ea typeface="Calibri" pitchFamily="34" charset="-122"/>
                <a:cs typeface="Calibri" pitchFamily="34" charset="-120"/>
              </a:rPr>
              <a:t>Delivery</a:t>
            </a:r>
            <a:endParaRPr lang="en-US" sz="1300" dirty="0"/>
          </a:p>
          <a:p>
            <a:pPr algn="ctr" indent="0" marL="0">
              <a:buNone/>
            </a:pPr>
            <a:r>
              <a:rPr lang="en-US" sz="1300" b="1" dirty="0">
                <a:solidFill>
                  <a:srgbClr val="1F4E9A"/>
                </a:solidFill>
                <a:latin typeface="Calibri" pitchFamily="34" charset="0"/>
                <a:ea typeface="Calibri" pitchFamily="34" charset="-122"/>
                <a:cs typeface="Calibri" pitchFamily="34" charset="-120"/>
              </a:rPr>
              <a:t>Team</a:t>
            </a:r>
            <a:endParaRPr lang="en-US" sz="1300" dirty="0"/>
          </a:p>
        </p:txBody>
      </p:sp>
      <p:sp>
        <p:nvSpPr>
          <p:cNvPr id="14" name="Text 12"/>
          <p:cNvSpPr txBox="1"/>
          <p:nvPr/>
        </p:nvSpPr>
        <p:spPr>
          <a:xfrm>
            <a:off x="274320" y="5111496"/>
            <a:ext cx="1371600" cy="219456"/>
          </a:xfrm>
          <a:prstGeom prst="rect">
            <a:avLst/>
          </a:prstGeom>
          <a:noFill/>
          <a:ln/>
        </p:spPr>
        <p:txBody>
          <a:bodyPr wrap="square" lIns="0" tIns="0" rIns="0" bIns="0" rtlCol="0" anchor="ctr"/>
          <a:lstStyle/>
          <a:p>
            <a:pPr algn="ctr" indent="0" marL="0">
              <a:buNone/>
            </a:pPr>
            <a:r>
              <a:rPr lang="en-US" sz="1100" b="1" i="1" dirty="0">
                <a:solidFill>
                  <a:srgbClr val="A31515"/>
                </a:solidFill>
                <a:latin typeface="Calibri" pitchFamily="34" charset="0"/>
                <a:ea typeface="Calibri" pitchFamily="34" charset="-122"/>
                <a:cs typeface="Calibri" pitchFamily="34" charset="-120"/>
              </a:rPr>
              <a:t>Daily / Weekly</a:t>
            </a:r>
            <a:endParaRPr lang="en-US" sz="1100" dirty="0"/>
          </a:p>
        </p:txBody>
      </p:sp>
      <p:sp>
        <p:nvSpPr>
          <p:cNvPr id="15" name="Text 13"/>
          <p:cNvSpPr txBox="1"/>
          <p:nvPr/>
        </p:nvSpPr>
        <p:spPr>
          <a:xfrm>
            <a:off x="274320" y="5349240"/>
            <a:ext cx="1371600" cy="384048"/>
          </a:xfrm>
          <a:prstGeom prst="rect">
            <a:avLst/>
          </a:prstGeom>
          <a:noFill/>
          <a:ln/>
        </p:spPr>
        <p:txBody>
          <a:bodyPr wrap="square" lIns="0" tIns="0" rIns="0" bIns="0" rtlCol="0" anchor="t"/>
          <a:lstStyle/>
          <a:p>
            <a:pPr algn="ctr" indent="0" marL="0">
              <a:buNone/>
            </a:pPr>
            <a:r>
              <a:rPr lang="en-US" sz="800" i="1" dirty="0">
                <a:solidFill>
                  <a:srgbClr val="7A8599"/>
                </a:solidFill>
                <a:latin typeface="Calibri" pitchFamily="34" charset="0"/>
                <a:ea typeface="Calibri" pitchFamily="34" charset="-122"/>
                <a:cs typeface="Calibri" pitchFamily="34" charset="-120"/>
              </a:rPr>
              <a:t>Daily stand-ups · weekly reviews · sprint planning</a:t>
            </a:r>
            <a:endParaRPr lang="en-US" sz="800" dirty="0"/>
          </a:p>
        </p:txBody>
      </p:sp>
      <p:sp>
        <p:nvSpPr>
          <p:cNvPr id="16" name="Shape 14"/>
          <p:cNvSpPr/>
          <p:nvPr/>
        </p:nvSpPr>
        <p:spPr>
          <a:xfrm>
            <a:off x="868680" y="2615184"/>
            <a:ext cx="7269480" cy="0"/>
          </a:xfrm>
          <a:prstGeom prst="line">
            <a:avLst/>
          </a:prstGeom>
          <a:noFill/>
          <a:ln w="15875">
            <a:solidFill>
              <a:srgbClr val="1F4E9A"/>
            </a:solidFill>
            <a:prstDash val="dash"/>
          </a:ln>
        </p:spPr>
      </p:sp>
      <p:sp>
        <p:nvSpPr>
          <p:cNvPr id="17" name="Shape 15"/>
          <p:cNvSpPr/>
          <p:nvPr/>
        </p:nvSpPr>
        <p:spPr>
          <a:xfrm>
            <a:off x="868680" y="4169664"/>
            <a:ext cx="7269480" cy="0"/>
          </a:xfrm>
          <a:prstGeom prst="line">
            <a:avLst/>
          </a:prstGeom>
          <a:noFill/>
          <a:ln w="15875">
            <a:solidFill>
              <a:srgbClr val="1F4E9A"/>
            </a:solidFill>
            <a:prstDash val="dash"/>
          </a:ln>
        </p:spPr>
      </p:sp>
      <p:pic>
        <p:nvPicPr>
          <p:cNvPr id="18" name="Image 0" descr="D:\Testing\My-Staples-PoC\2. AL PoC\V2 - Categ from the scratch\outputs\ppt\assets\title_logo_staples.png">    </p:cNvPr>
          <p:cNvPicPr>
            <a:picLocks noChangeAspect="1"/>
          </p:cNvPicPr>
          <p:nvPr/>
        </p:nvPicPr>
        <p:blipFill>
          <a:blip r:embed="rId1"/>
          <a:srcRect l="0" r="0" t="0" b="0"/>
          <a:stretch/>
        </p:blipFill>
        <p:spPr>
          <a:xfrm>
            <a:off x="1691640" y="1810512"/>
            <a:ext cx="960120" cy="201168"/>
          </a:xfrm>
          <a:prstGeom prst="rect">
            <a:avLst/>
          </a:prstGeom>
        </p:spPr>
      </p:pic>
      <p:sp>
        <p:nvSpPr>
          <p:cNvPr id="19" name="Shape 16"/>
          <p:cNvSpPr/>
          <p:nvPr/>
        </p:nvSpPr>
        <p:spPr>
          <a:xfrm>
            <a:off x="2743200" y="1536192"/>
            <a:ext cx="3611880" cy="896112"/>
          </a:xfrm>
          <a:prstGeom prst="rect">
            <a:avLst/>
          </a:prstGeom>
          <a:ln w="12700">
            <a:solidFill>
              <a:srgbClr val="5B8DB8"/>
            </a:solidFill>
            <a:prstDash val="dash"/>
          </a:ln>
        </p:spPr>
      </p:sp>
      <p:sp>
        <p:nvSpPr>
          <p:cNvPr id="20" name="Shape 17"/>
          <p:cNvSpPr/>
          <p:nvPr/>
        </p:nvSpPr>
        <p:spPr>
          <a:xfrm>
            <a:off x="3017520" y="1700784"/>
            <a:ext cx="1371600" cy="566928"/>
          </a:xfrm>
          <a:prstGeom prst="roundRect">
            <a:avLst>
              <a:gd name="adj" fmla="val 12903"/>
            </a:avLst>
          </a:prstGeom>
          <a:solidFill>
            <a:srgbClr val="3BBAD9"/>
          </a:solidFill>
          <a:ln w="12700">
            <a:solidFill>
              <a:srgbClr val="3BBAD9"/>
            </a:solidFill>
            <a:prstDash val="solid"/>
          </a:ln>
        </p:spPr>
      </p:sp>
      <p:sp>
        <p:nvSpPr>
          <p:cNvPr id="21" name="Text 18"/>
          <p:cNvSpPr txBox="1"/>
          <p:nvPr/>
        </p:nvSpPr>
        <p:spPr>
          <a:xfrm>
            <a:off x="3063240" y="1700784"/>
            <a:ext cx="1280160" cy="56692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Staples</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Leadership</a:t>
            </a:r>
            <a:endParaRPr lang="en-US" sz="1050" dirty="0"/>
          </a:p>
        </p:txBody>
      </p:sp>
      <p:sp>
        <p:nvSpPr>
          <p:cNvPr id="22" name="Shape 19"/>
          <p:cNvSpPr/>
          <p:nvPr/>
        </p:nvSpPr>
        <p:spPr>
          <a:xfrm>
            <a:off x="4709160" y="1700784"/>
            <a:ext cx="1371600" cy="566928"/>
          </a:xfrm>
          <a:prstGeom prst="roundRect">
            <a:avLst>
              <a:gd name="adj" fmla="val 12903"/>
            </a:avLst>
          </a:prstGeom>
          <a:solidFill>
            <a:srgbClr val="1F4E9A"/>
          </a:solidFill>
          <a:ln w="12700">
            <a:solidFill>
              <a:srgbClr val="1F4E9A"/>
            </a:solidFill>
            <a:prstDash val="solid"/>
          </a:ln>
        </p:spPr>
      </p:sp>
      <p:sp>
        <p:nvSpPr>
          <p:cNvPr id="23" name="Text 20"/>
          <p:cNvSpPr txBox="1"/>
          <p:nvPr/>
        </p:nvSpPr>
        <p:spPr>
          <a:xfrm>
            <a:off x="4754880" y="1700784"/>
            <a:ext cx="1280160" cy="56692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LatentView</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Leadership</a:t>
            </a:r>
            <a:endParaRPr lang="en-US" sz="1050" dirty="0"/>
          </a:p>
        </p:txBody>
      </p:sp>
      <p:pic>
        <p:nvPicPr>
          <p:cNvPr id="24" name="Image 1" descr="D:\Testing\My-Staples-PoC\2. AL PoC\V2 - Categ from the scratch\outputs\ppt\assets\title_logo_latentview.png">    </p:cNvPr>
          <p:cNvPicPr>
            <a:picLocks noChangeAspect="1"/>
          </p:cNvPicPr>
          <p:nvPr/>
        </p:nvPicPr>
        <p:blipFill>
          <a:blip r:embed="rId2"/>
          <a:srcRect l="0" r="0" t="0" b="0"/>
          <a:stretch/>
        </p:blipFill>
        <p:spPr>
          <a:xfrm>
            <a:off x="6492240" y="1783080"/>
            <a:ext cx="1463040" cy="329184"/>
          </a:xfrm>
          <a:prstGeom prst="rect">
            <a:avLst/>
          </a:prstGeom>
        </p:spPr>
      </p:pic>
      <p:sp>
        <p:nvSpPr>
          <p:cNvPr id="25" name="Shape 21"/>
          <p:cNvSpPr/>
          <p:nvPr/>
        </p:nvSpPr>
        <p:spPr>
          <a:xfrm>
            <a:off x="4544568" y="2450592"/>
            <a:ext cx="0" cy="292608"/>
          </a:xfrm>
          <a:prstGeom prst="line">
            <a:avLst/>
          </a:prstGeom>
          <a:noFill/>
          <a:ln w="19050">
            <a:solidFill>
              <a:srgbClr val="000000"/>
            </a:solidFill>
            <a:prstDash val="solid"/>
            <a:headEnd type="triangle"/>
          </a:ln>
        </p:spPr>
      </p:sp>
      <p:sp>
        <p:nvSpPr>
          <p:cNvPr id="26" name="Shape 22"/>
          <p:cNvSpPr/>
          <p:nvPr/>
        </p:nvSpPr>
        <p:spPr>
          <a:xfrm>
            <a:off x="2743200" y="2743200"/>
            <a:ext cx="3611880" cy="1325880"/>
          </a:xfrm>
          <a:prstGeom prst="rect">
            <a:avLst/>
          </a:prstGeom>
          <a:ln w="12700">
            <a:solidFill>
              <a:srgbClr val="5B8DB8"/>
            </a:solidFill>
            <a:prstDash val="dash"/>
          </a:ln>
        </p:spPr>
      </p:sp>
      <p:sp>
        <p:nvSpPr>
          <p:cNvPr id="27" name="Shape 23"/>
          <p:cNvSpPr/>
          <p:nvPr/>
        </p:nvSpPr>
        <p:spPr>
          <a:xfrm>
            <a:off x="2926080" y="2852928"/>
            <a:ext cx="1417320" cy="493776"/>
          </a:xfrm>
          <a:prstGeom prst="roundRect">
            <a:avLst>
              <a:gd name="adj" fmla="val 14815"/>
            </a:avLst>
          </a:prstGeom>
          <a:solidFill>
            <a:srgbClr val="3BBAD9"/>
          </a:solidFill>
          <a:ln w="12700">
            <a:solidFill>
              <a:srgbClr val="3BBAD9"/>
            </a:solidFill>
            <a:prstDash val="solid"/>
          </a:ln>
        </p:spPr>
      </p:sp>
      <p:sp>
        <p:nvSpPr>
          <p:cNvPr id="28" name="Text 24"/>
          <p:cNvSpPr txBox="1"/>
          <p:nvPr/>
        </p:nvSpPr>
        <p:spPr>
          <a:xfrm>
            <a:off x="2971800" y="2852928"/>
            <a:ext cx="1325880" cy="49377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Staples Team</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Leads</a:t>
            </a:r>
            <a:endParaRPr lang="en-US" sz="1050" dirty="0"/>
          </a:p>
        </p:txBody>
      </p:sp>
      <p:sp>
        <p:nvSpPr>
          <p:cNvPr id="29" name="Shape 25"/>
          <p:cNvSpPr/>
          <p:nvPr/>
        </p:nvSpPr>
        <p:spPr>
          <a:xfrm>
            <a:off x="2926080" y="3474720"/>
            <a:ext cx="1417320" cy="493776"/>
          </a:xfrm>
          <a:prstGeom prst="roundRect">
            <a:avLst>
              <a:gd name="adj" fmla="val 14815"/>
            </a:avLst>
          </a:prstGeom>
          <a:solidFill>
            <a:srgbClr val="3BBAD9"/>
          </a:solidFill>
          <a:ln w="12700">
            <a:solidFill>
              <a:srgbClr val="3BBAD9"/>
            </a:solidFill>
            <a:prstDash val="solid"/>
          </a:ln>
        </p:spPr>
      </p:sp>
      <p:sp>
        <p:nvSpPr>
          <p:cNvPr id="30" name="Text 26"/>
          <p:cNvSpPr txBox="1"/>
          <p:nvPr/>
        </p:nvSpPr>
        <p:spPr>
          <a:xfrm>
            <a:off x="2971800" y="3474720"/>
            <a:ext cx="1325880" cy="49377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Staples</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Stakeholders</a:t>
            </a:r>
            <a:endParaRPr lang="en-US" sz="1050" dirty="0"/>
          </a:p>
        </p:txBody>
      </p:sp>
      <p:sp>
        <p:nvSpPr>
          <p:cNvPr id="31" name="Shape 27"/>
          <p:cNvSpPr/>
          <p:nvPr/>
        </p:nvSpPr>
        <p:spPr>
          <a:xfrm>
            <a:off x="4681728" y="2852928"/>
            <a:ext cx="1508760" cy="493776"/>
          </a:xfrm>
          <a:prstGeom prst="roundRect">
            <a:avLst>
              <a:gd name="adj" fmla="val 14815"/>
            </a:avLst>
          </a:prstGeom>
          <a:solidFill>
            <a:srgbClr val="1F4E9A"/>
          </a:solidFill>
          <a:ln w="12700">
            <a:solidFill>
              <a:srgbClr val="1F4E9A"/>
            </a:solidFill>
            <a:prstDash val="solid"/>
          </a:ln>
        </p:spPr>
      </p:sp>
      <p:sp>
        <p:nvSpPr>
          <p:cNvPr id="32" name="Text 28"/>
          <p:cNvSpPr txBox="1"/>
          <p:nvPr/>
        </p:nvSpPr>
        <p:spPr>
          <a:xfrm>
            <a:off x="4727448" y="2852928"/>
            <a:ext cx="1417320" cy="49377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LatentView Client</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Partners</a:t>
            </a:r>
            <a:endParaRPr lang="en-US" sz="1050" dirty="0"/>
          </a:p>
        </p:txBody>
      </p:sp>
      <p:sp>
        <p:nvSpPr>
          <p:cNvPr id="33" name="Shape 29"/>
          <p:cNvSpPr/>
          <p:nvPr/>
        </p:nvSpPr>
        <p:spPr>
          <a:xfrm>
            <a:off x="4681728" y="3474720"/>
            <a:ext cx="1508760" cy="493776"/>
          </a:xfrm>
          <a:prstGeom prst="roundRect">
            <a:avLst>
              <a:gd name="adj" fmla="val 14815"/>
            </a:avLst>
          </a:prstGeom>
          <a:solidFill>
            <a:srgbClr val="1F4E9A"/>
          </a:solidFill>
          <a:ln w="12700">
            <a:solidFill>
              <a:srgbClr val="1F4E9A"/>
            </a:solidFill>
            <a:prstDash val="solid"/>
          </a:ln>
        </p:spPr>
      </p:sp>
      <p:sp>
        <p:nvSpPr>
          <p:cNvPr id="34" name="Text 30"/>
          <p:cNvSpPr txBox="1"/>
          <p:nvPr/>
        </p:nvSpPr>
        <p:spPr>
          <a:xfrm>
            <a:off x="4727448" y="3474720"/>
            <a:ext cx="1417320" cy="49377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LatentView Account</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Managers</a:t>
            </a:r>
            <a:endParaRPr lang="en-US" sz="1050" dirty="0"/>
          </a:p>
        </p:txBody>
      </p:sp>
      <p:sp>
        <p:nvSpPr>
          <p:cNvPr id="35" name="Shape 31"/>
          <p:cNvSpPr/>
          <p:nvPr/>
        </p:nvSpPr>
        <p:spPr>
          <a:xfrm>
            <a:off x="6190488" y="3099816"/>
            <a:ext cx="274320" cy="0"/>
          </a:xfrm>
          <a:prstGeom prst="line">
            <a:avLst/>
          </a:prstGeom>
          <a:noFill/>
          <a:ln w="15875">
            <a:solidFill>
              <a:srgbClr val="44546A"/>
            </a:solidFill>
            <a:prstDash val="solid"/>
          </a:ln>
        </p:spPr>
      </p:sp>
      <p:sp>
        <p:nvSpPr>
          <p:cNvPr id="36" name="Shape 32"/>
          <p:cNvSpPr/>
          <p:nvPr/>
        </p:nvSpPr>
        <p:spPr>
          <a:xfrm>
            <a:off x="6190488" y="3721608"/>
            <a:ext cx="274320" cy="0"/>
          </a:xfrm>
          <a:prstGeom prst="line">
            <a:avLst/>
          </a:prstGeom>
          <a:noFill/>
          <a:ln w="15875">
            <a:solidFill>
              <a:srgbClr val="44546A"/>
            </a:solidFill>
            <a:prstDash val="solid"/>
          </a:ln>
        </p:spPr>
      </p:sp>
      <p:sp>
        <p:nvSpPr>
          <p:cNvPr id="37" name="Shape 33"/>
          <p:cNvSpPr/>
          <p:nvPr/>
        </p:nvSpPr>
        <p:spPr>
          <a:xfrm>
            <a:off x="6464808" y="3099816"/>
            <a:ext cx="0" cy="621792"/>
          </a:xfrm>
          <a:prstGeom prst="line">
            <a:avLst/>
          </a:prstGeom>
          <a:noFill/>
          <a:ln w="15875">
            <a:solidFill>
              <a:srgbClr val="44546A"/>
            </a:solidFill>
            <a:prstDash val="solid"/>
          </a:ln>
        </p:spPr>
      </p:sp>
      <p:sp>
        <p:nvSpPr>
          <p:cNvPr id="38" name="Shape 34"/>
          <p:cNvSpPr/>
          <p:nvPr/>
        </p:nvSpPr>
        <p:spPr>
          <a:xfrm>
            <a:off x="6464808" y="3410712"/>
            <a:ext cx="237744" cy="0"/>
          </a:xfrm>
          <a:prstGeom prst="line">
            <a:avLst/>
          </a:prstGeom>
          <a:noFill/>
          <a:ln w="15875">
            <a:solidFill>
              <a:srgbClr val="44546A"/>
            </a:solidFill>
            <a:prstDash val="solid"/>
            <a:tailEnd type="triangle"/>
          </a:ln>
        </p:spPr>
      </p:sp>
      <p:sp>
        <p:nvSpPr>
          <p:cNvPr id="39" name="Shape 35"/>
          <p:cNvSpPr/>
          <p:nvPr/>
        </p:nvSpPr>
        <p:spPr>
          <a:xfrm>
            <a:off x="6720840" y="3017520"/>
            <a:ext cx="1600200" cy="786384"/>
          </a:xfrm>
          <a:prstGeom prst="roundRect">
            <a:avLst>
              <a:gd name="adj" fmla="val 13953"/>
            </a:avLst>
          </a:prstGeom>
          <a:solidFill>
            <a:srgbClr val="E6E6E6"/>
          </a:solidFill>
          <a:ln w="12700">
            <a:solidFill>
              <a:srgbClr val="E6E6E6"/>
            </a:solidFill>
            <a:prstDash val="solid"/>
          </a:ln>
        </p:spPr>
      </p:sp>
      <p:sp>
        <p:nvSpPr>
          <p:cNvPr id="40" name="Text 36"/>
          <p:cNvSpPr txBox="1"/>
          <p:nvPr/>
        </p:nvSpPr>
        <p:spPr>
          <a:xfrm>
            <a:off x="6784848" y="3017520"/>
            <a:ext cx="1472184" cy="786384"/>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Collectively own program management</a:t>
            </a:r>
            <a:endParaRPr lang="en-US" sz="1100" dirty="0"/>
          </a:p>
        </p:txBody>
      </p:sp>
      <p:sp>
        <p:nvSpPr>
          <p:cNvPr id="41" name="Shape 37"/>
          <p:cNvSpPr/>
          <p:nvPr/>
        </p:nvSpPr>
        <p:spPr>
          <a:xfrm>
            <a:off x="4544568" y="4087368"/>
            <a:ext cx="0" cy="201168"/>
          </a:xfrm>
          <a:prstGeom prst="line">
            <a:avLst/>
          </a:prstGeom>
          <a:noFill/>
          <a:ln w="19050">
            <a:solidFill>
              <a:srgbClr val="000000"/>
            </a:solidFill>
            <a:prstDash val="solid"/>
            <a:headEnd type="triangle"/>
          </a:ln>
        </p:spPr>
      </p:sp>
      <p:sp>
        <p:nvSpPr>
          <p:cNvPr id="42" name="Shape 38"/>
          <p:cNvSpPr/>
          <p:nvPr/>
        </p:nvSpPr>
        <p:spPr>
          <a:xfrm>
            <a:off x="1691640" y="4297680"/>
            <a:ext cx="6629400" cy="1901952"/>
          </a:xfrm>
          <a:prstGeom prst="rect">
            <a:avLst/>
          </a:prstGeom>
          <a:ln w="12700">
            <a:solidFill>
              <a:srgbClr val="5B8DB8"/>
            </a:solidFill>
            <a:prstDash val="dash"/>
          </a:ln>
        </p:spPr>
      </p:sp>
      <p:sp>
        <p:nvSpPr>
          <p:cNvPr id="43" name="Shape 39"/>
          <p:cNvSpPr/>
          <p:nvPr/>
        </p:nvSpPr>
        <p:spPr>
          <a:xfrm>
            <a:off x="1828800" y="4389120"/>
            <a:ext cx="6355080" cy="1719072"/>
          </a:xfrm>
          <a:prstGeom prst="rect">
            <a:avLst/>
          </a:prstGeom>
          <a:solidFill>
            <a:srgbClr val="FFFFFF"/>
          </a:solidFill>
          <a:ln w="15875">
            <a:solidFill>
              <a:srgbClr val="C0504D"/>
            </a:solidFill>
            <a:prstDash val="solid"/>
          </a:ln>
        </p:spPr>
      </p:sp>
      <p:sp>
        <p:nvSpPr>
          <p:cNvPr id="44" name="Text 40"/>
          <p:cNvSpPr txBox="1"/>
          <p:nvPr/>
        </p:nvSpPr>
        <p:spPr>
          <a:xfrm>
            <a:off x="1828800" y="4443984"/>
            <a:ext cx="6355080" cy="274320"/>
          </a:xfrm>
          <a:prstGeom prst="rect">
            <a:avLst/>
          </a:prstGeom>
          <a:noFill/>
          <a:ln/>
        </p:spPr>
        <p:txBody>
          <a:bodyPr wrap="square" lIns="0" tIns="0" rIns="0" bIns="0" rtlCol="0" anchor="ctr"/>
          <a:lstStyle/>
          <a:p>
            <a:pPr algn="ctr" indent="0" marL="0">
              <a:buNone/>
            </a:pPr>
            <a:r>
              <a:rPr lang="en-US" sz="1150" b="1" dirty="0">
                <a:solidFill>
                  <a:srgbClr val="13285B"/>
                </a:solidFill>
                <a:latin typeface="Calibri" pitchFamily="34" charset="0"/>
                <a:ea typeface="Calibri" pitchFamily="34" charset="-122"/>
                <a:cs typeface="Calibri" pitchFamily="34" charset="-120"/>
              </a:rPr>
              <a:t>Data Engineering / Business Intelligence / Data Science Team</a:t>
            </a:r>
            <a:endParaRPr lang="en-US" sz="1150" dirty="0"/>
          </a:p>
        </p:txBody>
      </p:sp>
      <p:pic>
        <p:nvPicPr>
          <p:cNvPr id="45" name="Image 2" descr="preencoded.png">    </p:cNvPr>
          <p:cNvPicPr>
            <a:picLocks noChangeAspect="1"/>
          </p:cNvPicPr>
          <p:nvPr/>
        </p:nvPicPr>
        <p:blipFill>
          <a:blip r:embed="rId3"/>
          <a:stretch>
            <a:fillRect/>
          </a:stretch>
        </p:blipFill>
        <p:spPr>
          <a:xfrm>
            <a:off x="3867912" y="4754880"/>
            <a:ext cx="310896" cy="310896"/>
          </a:xfrm>
          <a:prstGeom prst="rect">
            <a:avLst/>
          </a:prstGeom>
        </p:spPr>
      </p:pic>
      <p:sp>
        <p:nvSpPr>
          <p:cNvPr id="46" name="Text 41"/>
          <p:cNvSpPr txBox="1"/>
          <p:nvPr/>
        </p:nvSpPr>
        <p:spPr>
          <a:xfrm>
            <a:off x="3310128" y="5084064"/>
            <a:ext cx="1426464" cy="182880"/>
          </a:xfrm>
          <a:prstGeom prst="rect">
            <a:avLst/>
          </a:prstGeom>
          <a:noFill/>
          <a:ln/>
        </p:spPr>
        <p:txBody>
          <a:bodyPr wrap="square" lIns="0" tIns="0" rIns="0" bIns="0" rtlCol="0" anchor="t"/>
          <a:lstStyle/>
          <a:p>
            <a:pPr algn="ctr" indent="0" marL="0">
              <a:buNone/>
            </a:pPr>
            <a:r>
              <a:rPr lang="en-US" sz="800" b="1" dirty="0">
                <a:solidFill>
                  <a:srgbClr val="13285B"/>
                </a:solidFill>
                <a:latin typeface="Calibri" pitchFamily="34" charset="0"/>
                <a:ea typeface="Calibri" pitchFamily="34" charset="-122"/>
                <a:cs typeface="Calibri" pitchFamily="34" charset="-120"/>
              </a:rPr>
              <a:t>Staples Team Lead</a:t>
            </a:r>
            <a:endParaRPr lang="en-US" sz="800" dirty="0"/>
          </a:p>
        </p:txBody>
      </p:sp>
      <p:sp>
        <p:nvSpPr>
          <p:cNvPr id="47" name="Shape 42"/>
          <p:cNvSpPr/>
          <p:nvPr/>
        </p:nvSpPr>
        <p:spPr>
          <a:xfrm>
            <a:off x="4315968" y="4837176"/>
            <a:ext cx="502920" cy="146304"/>
          </a:xfrm>
          <a:prstGeom prst="leftRightArrow">
            <a:avLst/>
          </a:prstGeom>
          <a:solidFill>
            <a:srgbClr val="A6A6A6"/>
          </a:solidFill>
          <a:ln w="12700">
            <a:solidFill>
              <a:srgbClr val="A6A6A6"/>
            </a:solidFill>
            <a:prstDash val="solid"/>
          </a:ln>
        </p:spPr>
      </p:sp>
      <p:pic>
        <p:nvPicPr>
          <p:cNvPr id="48" name="Image 3" descr="preencoded.png">    </p:cNvPr>
          <p:cNvPicPr>
            <a:picLocks noChangeAspect="1"/>
          </p:cNvPicPr>
          <p:nvPr/>
        </p:nvPicPr>
        <p:blipFill>
          <a:blip r:embed="rId4"/>
          <a:stretch>
            <a:fillRect/>
          </a:stretch>
        </p:blipFill>
        <p:spPr>
          <a:xfrm>
            <a:off x="4956048" y="4754880"/>
            <a:ext cx="310896" cy="310896"/>
          </a:xfrm>
          <a:prstGeom prst="rect">
            <a:avLst/>
          </a:prstGeom>
        </p:spPr>
      </p:pic>
      <p:sp>
        <p:nvSpPr>
          <p:cNvPr id="49" name="Text 43"/>
          <p:cNvSpPr txBox="1"/>
          <p:nvPr/>
        </p:nvSpPr>
        <p:spPr>
          <a:xfrm>
            <a:off x="4398264" y="5084064"/>
            <a:ext cx="1426464" cy="182880"/>
          </a:xfrm>
          <a:prstGeom prst="rect">
            <a:avLst/>
          </a:prstGeom>
          <a:noFill/>
          <a:ln/>
        </p:spPr>
        <p:txBody>
          <a:bodyPr wrap="square" lIns="0" tIns="0" rIns="0" bIns="0" rtlCol="0" anchor="t"/>
          <a:lstStyle/>
          <a:p>
            <a:pPr algn="ctr" indent="0" marL="0">
              <a:buNone/>
            </a:pPr>
            <a:r>
              <a:rPr lang="en-US" sz="800" b="1" dirty="0">
                <a:solidFill>
                  <a:srgbClr val="13285B"/>
                </a:solidFill>
                <a:latin typeface="Calibri" pitchFamily="34" charset="0"/>
                <a:ea typeface="Calibri" pitchFamily="34" charset="-122"/>
                <a:cs typeface="Calibri" pitchFamily="34" charset="-120"/>
              </a:rPr>
              <a:t>LV Program Manager</a:t>
            </a:r>
            <a:endParaRPr lang="en-US" sz="800" dirty="0"/>
          </a:p>
        </p:txBody>
      </p:sp>
      <p:sp>
        <p:nvSpPr>
          <p:cNvPr id="50" name="Shape 44"/>
          <p:cNvSpPr/>
          <p:nvPr/>
        </p:nvSpPr>
        <p:spPr>
          <a:xfrm>
            <a:off x="5047488" y="5285232"/>
            <a:ext cx="128016" cy="292608"/>
          </a:xfrm>
          <a:prstGeom prst="upDownArrow">
            <a:avLst/>
          </a:prstGeom>
          <a:solidFill>
            <a:srgbClr val="A6A6A6"/>
          </a:solidFill>
          <a:ln w="12700">
            <a:solidFill>
              <a:srgbClr val="A6A6A6"/>
            </a:solidFill>
            <a:prstDash val="solid"/>
          </a:ln>
        </p:spPr>
      </p:sp>
      <p:sp>
        <p:nvSpPr>
          <p:cNvPr id="51" name="Shape 45"/>
          <p:cNvSpPr/>
          <p:nvPr/>
        </p:nvSpPr>
        <p:spPr>
          <a:xfrm>
            <a:off x="1965960" y="5596128"/>
            <a:ext cx="6080760" cy="438912"/>
          </a:xfrm>
          <a:prstGeom prst="rect">
            <a:avLst/>
          </a:prstGeom>
          <a:solidFill>
            <a:srgbClr val="F0F0F0"/>
          </a:solidFill>
          <a:ln w="12700">
            <a:solidFill>
              <a:srgbClr val="F0F0F0"/>
            </a:solidFill>
            <a:prstDash val="solid"/>
          </a:ln>
        </p:spPr>
      </p:sp>
      <p:sp>
        <p:nvSpPr>
          <p:cNvPr id="52" name="Text 46"/>
          <p:cNvSpPr txBox="1"/>
          <p:nvPr/>
        </p:nvSpPr>
        <p:spPr>
          <a:xfrm>
            <a:off x="2103120" y="5596128"/>
            <a:ext cx="1828800" cy="438912"/>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Big Data Engineer</a:t>
            </a:r>
            <a:endParaRPr lang="en-US" sz="900" dirty="0"/>
          </a:p>
          <a:p>
            <a:pPr algn="ctr" indent="0" marL="0">
              <a:buNone/>
            </a:pPr>
            <a:r>
              <a:rPr lang="en-US" sz="900" dirty="0">
                <a:solidFill>
                  <a:srgbClr val="1F2937"/>
                </a:solidFill>
                <a:latin typeface="Calibri" pitchFamily="34" charset="0"/>
                <a:ea typeface="Calibri" pitchFamily="34" charset="-122"/>
                <a:cs typeface="Calibri" pitchFamily="34" charset="-120"/>
              </a:rPr>
              <a:t>Data Architect</a:t>
            </a:r>
            <a:endParaRPr lang="en-US" sz="900" dirty="0"/>
          </a:p>
        </p:txBody>
      </p:sp>
      <p:sp>
        <p:nvSpPr>
          <p:cNvPr id="53" name="Text 47"/>
          <p:cNvSpPr txBox="1"/>
          <p:nvPr/>
        </p:nvSpPr>
        <p:spPr>
          <a:xfrm>
            <a:off x="4114800" y="5596128"/>
            <a:ext cx="1828800" cy="438912"/>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BI Developer</a:t>
            </a:r>
            <a:endParaRPr lang="en-US" sz="900" dirty="0"/>
          </a:p>
          <a:p>
            <a:pPr algn="ctr" indent="0" marL="0">
              <a:buNone/>
            </a:pPr>
            <a:r>
              <a:rPr lang="en-US" sz="900" dirty="0">
                <a:solidFill>
                  <a:srgbClr val="1F2937"/>
                </a:solidFill>
                <a:latin typeface="Calibri" pitchFamily="34" charset="0"/>
                <a:ea typeface="Calibri" pitchFamily="34" charset="-122"/>
                <a:cs typeface="Calibri" pitchFamily="34" charset="-120"/>
              </a:rPr>
              <a:t>BI Analyst</a:t>
            </a:r>
            <a:endParaRPr lang="en-US" sz="900" dirty="0"/>
          </a:p>
        </p:txBody>
      </p:sp>
      <p:sp>
        <p:nvSpPr>
          <p:cNvPr id="54" name="Text 48"/>
          <p:cNvSpPr txBox="1"/>
          <p:nvPr/>
        </p:nvSpPr>
        <p:spPr>
          <a:xfrm>
            <a:off x="6126480" y="5596128"/>
            <a:ext cx="1828800" cy="438912"/>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Data Scientist</a:t>
            </a:r>
            <a:endParaRPr lang="en-US" sz="900" dirty="0"/>
          </a:p>
          <a:p>
            <a:pPr algn="ctr" indent="0" marL="0">
              <a:buNone/>
            </a:pPr>
            <a:r>
              <a:rPr lang="en-US" sz="900" dirty="0">
                <a:solidFill>
                  <a:srgbClr val="1F2937"/>
                </a:solidFill>
                <a:latin typeface="Calibri" pitchFamily="34" charset="0"/>
                <a:ea typeface="Calibri" pitchFamily="34" charset="-122"/>
                <a:cs typeface="Calibri" pitchFamily="34" charset="-120"/>
              </a:rPr>
              <a:t>Data Analyst</a:t>
            </a:r>
            <a:endParaRPr lang="en-US" sz="900" dirty="0"/>
          </a:p>
        </p:txBody>
      </p:sp>
      <p:pic>
        <p:nvPicPr>
          <p:cNvPr id="55" name="Image 4" descr="preencoded.png">    </p:cNvPr>
          <p:cNvPicPr>
            <a:picLocks noChangeAspect="1"/>
          </p:cNvPicPr>
          <p:nvPr/>
        </p:nvPicPr>
        <p:blipFill>
          <a:blip r:embed="rId5"/>
          <a:stretch>
            <a:fillRect/>
          </a:stretch>
        </p:blipFill>
        <p:spPr>
          <a:xfrm>
            <a:off x="274320" y="6245352"/>
            <a:ext cx="201168" cy="201168"/>
          </a:xfrm>
          <a:prstGeom prst="rect">
            <a:avLst/>
          </a:prstGeom>
        </p:spPr>
      </p:pic>
      <p:sp>
        <p:nvSpPr>
          <p:cNvPr id="56" name="Text 49"/>
          <p:cNvSpPr txBox="1"/>
          <p:nvPr/>
        </p:nvSpPr>
        <p:spPr>
          <a:xfrm>
            <a:off x="512064" y="6245352"/>
            <a:ext cx="731520" cy="201168"/>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Staples</a:t>
            </a:r>
            <a:endParaRPr lang="en-US" sz="1000" dirty="0"/>
          </a:p>
        </p:txBody>
      </p:sp>
      <p:pic>
        <p:nvPicPr>
          <p:cNvPr id="57" name="Image 5" descr="preencoded.png">    </p:cNvPr>
          <p:cNvPicPr>
            <a:picLocks noChangeAspect="1"/>
          </p:cNvPicPr>
          <p:nvPr/>
        </p:nvPicPr>
        <p:blipFill>
          <a:blip r:embed="rId6"/>
          <a:stretch>
            <a:fillRect/>
          </a:stretch>
        </p:blipFill>
        <p:spPr>
          <a:xfrm>
            <a:off x="1280160" y="6245352"/>
            <a:ext cx="201168" cy="201168"/>
          </a:xfrm>
          <a:prstGeom prst="rect">
            <a:avLst/>
          </a:prstGeom>
        </p:spPr>
      </p:pic>
      <p:sp>
        <p:nvSpPr>
          <p:cNvPr id="58" name="Text 50"/>
          <p:cNvSpPr txBox="1"/>
          <p:nvPr/>
        </p:nvSpPr>
        <p:spPr>
          <a:xfrm>
            <a:off x="1517904" y="6245352"/>
            <a:ext cx="914400" cy="201168"/>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LatentView</a:t>
            </a:r>
            <a:endParaRPr lang="en-US" sz="1000" dirty="0"/>
          </a:p>
        </p:txBody>
      </p:sp>
      <p:sp>
        <p:nvSpPr>
          <p:cNvPr id="59" name="Shape 51"/>
          <p:cNvSpPr/>
          <p:nvPr/>
        </p:nvSpPr>
        <p:spPr>
          <a:xfrm>
            <a:off x="8476488" y="1508760"/>
            <a:ext cx="0" cy="4800600"/>
          </a:xfrm>
          <a:prstGeom prst="line">
            <a:avLst/>
          </a:prstGeom>
          <a:noFill/>
          <a:ln w="12700">
            <a:solidFill>
              <a:srgbClr val="5B8DB8"/>
            </a:solidFill>
            <a:prstDash val="dash"/>
          </a:ln>
        </p:spPr>
      </p:sp>
      <p:sp>
        <p:nvSpPr>
          <p:cNvPr id="60" name="Shape 52"/>
          <p:cNvSpPr/>
          <p:nvPr/>
        </p:nvSpPr>
        <p:spPr>
          <a:xfrm>
            <a:off x="8595360" y="1508760"/>
            <a:ext cx="3291840" cy="4754880"/>
          </a:xfrm>
          <a:prstGeom prst="rect">
            <a:avLst/>
          </a:prstGeom>
          <a:solidFill>
            <a:srgbClr val="EFEFEF"/>
          </a:solidFill>
          <a:ln w="12700">
            <a:solidFill>
              <a:srgbClr val="EFEFEF"/>
            </a:solidFill>
            <a:prstDash val="solid"/>
          </a:ln>
        </p:spPr>
      </p:sp>
      <p:pic>
        <p:nvPicPr>
          <p:cNvPr id="61" name="Image 6" descr="preencoded.png">    </p:cNvPr>
          <p:cNvPicPr>
            <a:picLocks noChangeAspect="1"/>
          </p:cNvPicPr>
          <p:nvPr/>
        </p:nvPicPr>
        <p:blipFill>
          <a:blip r:embed="rId7"/>
          <a:stretch>
            <a:fillRect/>
          </a:stretch>
        </p:blipFill>
        <p:spPr>
          <a:xfrm>
            <a:off x="8686800" y="1572768"/>
            <a:ext cx="237744" cy="237744"/>
          </a:xfrm>
          <a:prstGeom prst="rect">
            <a:avLst/>
          </a:prstGeom>
        </p:spPr>
      </p:pic>
      <p:sp>
        <p:nvSpPr>
          <p:cNvPr id="62" name="Shape 53"/>
          <p:cNvSpPr/>
          <p:nvPr/>
        </p:nvSpPr>
        <p:spPr>
          <a:xfrm>
            <a:off x="8915400" y="1664208"/>
            <a:ext cx="2743200" cy="384048"/>
          </a:xfrm>
          <a:prstGeom prst="rect">
            <a:avLst/>
          </a:prstGeom>
          <a:ln w="12700">
            <a:solidFill>
              <a:srgbClr val="1F4E9A"/>
            </a:solidFill>
            <a:prstDash val="sysDot"/>
          </a:ln>
        </p:spPr>
      </p:sp>
      <p:sp>
        <p:nvSpPr>
          <p:cNvPr id="63" name="Text 54"/>
          <p:cNvSpPr txBox="1"/>
          <p:nvPr/>
        </p:nvSpPr>
        <p:spPr>
          <a:xfrm>
            <a:off x="8915400" y="1664208"/>
            <a:ext cx="2743200" cy="384048"/>
          </a:xfrm>
          <a:prstGeom prst="rect">
            <a:avLst/>
          </a:prstGeom>
          <a:noFill/>
          <a:ln/>
        </p:spPr>
        <p:txBody>
          <a:bodyPr wrap="square" lIns="0" tIns="0" rIns="0" bIns="0" rtlCol="0" anchor="ctr"/>
          <a:lstStyle/>
          <a:p>
            <a:pPr algn="ctr" indent="0" marL="0">
              <a:buNone/>
            </a:pPr>
            <a:r>
              <a:rPr lang="en-US" sz="1100" b="1" dirty="0">
                <a:solidFill>
                  <a:srgbClr val="1F4E9A"/>
                </a:solidFill>
                <a:latin typeface="Calibri" pitchFamily="34" charset="0"/>
                <a:ea typeface="Calibri" pitchFamily="34" charset="-122"/>
                <a:cs typeface="Calibri" pitchFamily="34" charset="-120"/>
              </a:rPr>
              <a:t>Access To Scalable analytics team</a:t>
            </a:r>
            <a:endParaRPr lang="en-US" sz="1100" dirty="0"/>
          </a:p>
        </p:txBody>
      </p:sp>
      <p:sp>
        <p:nvSpPr>
          <p:cNvPr id="64" name="Shape 55"/>
          <p:cNvSpPr/>
          <p:nvPr/>
        </p:nvSpPr>
        <p:spPr>
          <a:xfrm>
            <a:off x="8915400" y="2157984"/>
            <a:ext cx="2743200" cy="2615184"/>
          </a:xfrm>
          <a:prstGeom prst="rect">
            <a:avLst/>
          </a:prstGeom>
          <a:ln w="12700">
            <a:solidFill>
              <a:srgbClr val="1F4E9A"/>
            </a:solidFill>
            <a:prstDash val="sysDot"/>
          </a:ln>
        </p:spPr>
      </p:sp>
      <p:sp>
        <p:nvSpPr>
          <p:cNvPr id="65" name="Text 56"/>
          <p:cNvSpPr txBox="1"/>
          <p:nvPr/>
        </p:nvSpPr>
        <p:spPr>
          <a:xfrm>
            <a:off x="8915400" y="2212848"/>
            <a:ext cx="2743200" cy="310896"/>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Org Expertise</a:t>
            </a:r>
            <a:endParaRPr lang="en-US" sz="1300" dirty="0"/>
          </a:p>
        </p:txBody>
      </p:sp>
      <p:sp>
        <p:nvSpPr>
          <p:cNvPr id="66" name="Shape 57"/>
          <p:cNvSpPr/>
          <p:nvPr/>
        </p:nvSpPr>
        <p:spPr>
          <a:xfrm>
            <a:off x="9098280" y="2560320"/>
            <a:ext cx="2377440" cy="0"/>
          </a:xfrm>
          <a:prstGeom prst="line">
            <a:avLst/>
          </a:prstGeom>
          <a:noFill/>
          <a:ln w="12700">
            <a:solidFill>
              <a:srgbClr val="1F4E9A"/>
            </a:solidFill>
            <a:prstDash val="dash"/>
          </a:ln>
        </p:spPr>
      </p:sp>
      <p:sp>
        <p:nvSpPr>
          <p:cNvPr id="67" name="Shape 58"/>
          <p:cNvSpPr/>
          <p:nvPr/>
        </p:nvSpPr>
        <p:spPr>
          <a:xfrm>
            <a:off x="9015984" y="2670048"/>
            <a:ext cx="1261872" cy="603504"/>
          </a:xfrm>
          <a:prstGeom prst="roundRect">
            <a:avLst>
              <a:gd name="adj" fmla="val 12121"/>
            </a:avLst>
          </a:prstGeom>
          <a:solidFill>
            <a:srgbClr val="1F4E9A"/>
          </a:solidFill>
          <a:ln w="12700">
            <a:solidFill>
              <a:srgbClr val="1F4E9A"/>
            </a:solidFill>
            <a:prstDash val="solid"/>
          </a:ln>
        </p:spPr>
      </p:sp>
      <p:sp>
        <p:nvSpPr>
          <p:cNvPr id="68" name="Text 59"/>
          <p:cNvSpPr txBox="1"/>
          <p:nvPr/>
        </p:nvSpPr>
        <p:spPr>
          <a:xfrm>
            <a:off x="9061704" y="2670048"/>
            <a:ext cx="1170432" cy="60350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LatentView</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DE Horizontal</a:t>
            </a:r>
            <a:endParaRPr lang="en-US" sz="900" dirty="0"/>
          </a:p>
        </p:txBody>
      </p:sp>
      <p:sp>
        <p:nvSpPr>
          <p:cNvPr id="69" name="Shape 60"/>
          <p:cNvSpPr/>
          <p:nvPr/>
        </p:nvSpPr>
        <p:spPr>
          <a:xfrm>
            <a:off x="10332720" y="2670048"/>
            <a:ext cx="1261872" cy="603504"/>
          </a:xfrm>
          <a:prstGeom prst="roundRect">
            <a:avLst>
              <a:gd name="adj" fmla="val 12121"/>
            </a:avLst>
          </a:prstGeom>
          <a:solidFill>
            <a:srgbClr val="1F4E9A"/>
          </a:solidFill>
          <a:ln w="12700">
            <a:solidFill>
              <a:srgbClr val="1F4E9A"/>
            </a:solidFill>
            <a:prstDash val="solid"/>
          </a:ln>
        </p:spPr>
      </p:sp>
      <p:sp>
        <p:nvSpPr>
          <p:cNvPr id="70" name="Text 61"/>
          <p:cNvSpPr txBox="1"/>
          <p:nvPr/>
        </p:nvSpPr>
        <p:spPr>
          <a:xfrm>
            <a:off x="10378440" y="2670048"/>
            <a:ext cx="1170432" cy="60350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LatentView</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Data Science &amp; AI</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Horizontal</a:t>
            </a:r>
            <a:endParaRPr lang="en-US" sz="900" dirty="0"/>
          </a:p>
        </p:txBody>
      </p:sp>
      <p:sp>
        <p:nvSpPr>
          <p:cNvPr id="71" name="Shape 62"/>
          <p:cNvSpPr/>
          <p:nvPr/>
        </p:nvSpPr>
        <p:spPr>
          <a:xfrm>
            <a:off x="9015984" y="3355848"/>
            <a:ext cx="1261872" cy="603504"/>
          </a:xfrm>
          <a:prstGeom prst="roundRect">
            <a:avLst>
              <a:gd name="adj" fmla="val 12121"/>
            </a:avLst>
          </a:prstGeom>
          <a:solidFill>
            <a:srgbClr val="1F4E9A"/>
          </a:solidFill>
          <a:ln w="12700">
            <a:solidFill>
              <a:srgbClr val="1F4E9A"/>
            </a:solidFill>
            <a:prstDash val="solid"/>
          </a:ln>
        </p:spPr>
      </p:sp>
      <p:sp>
        <p:nvSpPr>
          <p:cNvPr id="72" name="Text 63"/>
          <p:cNvSpPr txBox="1"/>
          <p:nvPr/>
        </p:nvSpPr>
        <p:spPr>
          <a:xfrm>
            <a:off x="9061704" y="3355848"/>
            <a:ext cx="1170432" cy="60350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LatentView</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BI Center of</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Excellence</a:t>
            </a:r>
            <a:endParaRPr lang="en-US" sz="900" dirty="0"/>
          </a:p>
        </p:txBody>
      </p:sp>
      <p:sp>
        <p:nvSpPr>
          <p:cNvPr id="73" name="Shape 64"/>
          <p:cNvSpPr/>
          <p:nvPr/>
        </p:nvSpPr>
        <p:spPr>
          <a:xfrm>
            <a:off x="10332720" y="3355848"/>
            <a:ext cx="1261872" cy="603504"/>
          </a:xfrm>
          <a:prstGeom prst="roundRect">
            <a:avLst>
              <a:gd name="adj" fmla="val 12121"/>
            </a:avLst>
          </a:prstGeom>
          <a:solidFill>
            <a:srgbClr val="1F4E9A"/>
          </a:solidFill>
          <a:ln w="12700">
            <a:solidFill>
              <a:srgbClr val="1F4E9A"/>
            </a:solidFill>
            <a:prstDash val="solid"/>
          </a:ln>
        </p:spPr>
      </p:sp>
      <p:sp>
        <p:nvSpPr>
          <p:cNvPr id="74" name="Text 65"/>
          <p:cNvSpPr txBox="1"/>
          <p:nvPr/>
        </p:nvSpPr>
        <p:spPr>
          <a:xfrm>
            <a:off x="10378440" y="3355848"/>
            <a:ext cx="1170432" cy="60350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LatentView</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Supply Chain</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Center of Excellence</a:t>
            </a:r>
            <a:endParaRPr lang="en-US" sz="900" dirty="0"/>
          </a:p>
        </p:txBody>
      </p:sp>
      <p:sp>
        <p:nvSpPr>
          <p:cNvPr id="75" name="Shape 66"/>
          <p:cNvSpPr/>
          <p:nvPr/>
        </p:nvSpPr>
        <p:spPr>
          <a:xfrm>
            <a:off x="9674352" y="4050792"/>
            <a:ext cx="1261872" cy="603504"/>
          </a:xfrm>
          <a:prstGeom prst="roundRect">
            <a:avLst>
              <a:gd name="adj" fmla="val 12121"/>
            </a:avLst>
          </a:prstGeom>
          <a:solidFill>
            <a:srgbClr val="1F4E9A"/>
          </a:solidFill>
          <a:ln w="12700">
            <a:solidFill>
              <a:srgbClr val="1F4E9A"/>
            </a:solidFill>
            <a:prstDash val="solid"/>
          </a:ln>
        </p:spPr>
      </p:sp>
      <p:sp>
        <p:nvSpPr>
          <p:cNvPr id="76" name="Text 67"/>
          <p:cNvSpPr txBox="1"/>
          <p:nvPr/>
        </p:nvSpPr>
        <p:spPr>
          <a:xfrm>
            <a:off x="9720072" y="4050792"/>
            <a:ext cx="1170432" cy="60350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Service Delivery</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Excellence</a:t>
            </a:r>
            <a:endParaRPr lang="en-US" sz="900" dirty="0"/>
          </a:p>
        </p:txBody>
      </p:sp>
      <p:sp>
        <p:nvSpPr>
          <p:cNvPr id="77" name="Shape 68"/>
          <p:cNvSpPr/>
          <p:nvPr/>
        </p:nvSpPr>
        <p:spPr>
          <a:xfrm>
            <a:off x="8851392" y="4956048"/>
            <a:ext cx="2871216" cy="1097280"/>
          </a:xfrm>
          <a:prstGeom prst="roundRect">
            <a:avLst>
              <a:gd name="adj" fmla="val 8333"/>
            </a:avLst>
          </a:prstGeom>
          <a:solidFill>
            <a:srgbClr val="7A1F4B"/>
          </a:solidFill>
          <a:ln w="12700">
            <a:solidFill>
              <a:srgbClr val="3A0F24"/>
            </a:solidFill>
            <a:prstDash val="dash"/>
          </a:ln>
        </p:spPr>
      </p:sp>
      <p:sp>
        <p:nvSpPr>
          <p:cNvPr id="78" name="Text 69"/>
          <p:cNvSpPr txBox="1"/>
          <p:nvPr/>
        </p:nvSpPr>
        <p:spPr>
          <a:xfrm>
            <a:off x="8942832" y="4956048"/>
            <a:ext cx="2688336" cy="10972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Buffer Pool of Trained Data Engineers, Data Scientists, Business Analysts &amp; BI developers for Contingency Management</a:t>
            </a:r>
            <a:endParaRPr lang="en-US" sz="1050" dirty="0"/>
          </a:p>
        </p:txBody>
      </p:sp>
      <p:pic>
        <p:nvPicPr>
          <p:cNvPr id="79" name="Image 7" descr="preencoded.png">    </p:cNvPr>
          <p:cNvPicPr>
            <a:picLocks noChangeAspect="1"/>
          </p:cNvPicPr>
          <p:nvPr/>
        </p:nvPicPr>
        <p:blipFill>
          <a:blip r:embed="rId8"/>
          <a:stretch>
            <a:fillRect/>
          </a:stretch>
        </p:blipFill>
        <p:spPr>
          <a:xfrm>
            <a:off x="11448288" y="5779008"/>
            <a:ext cx="237744" cy="237744"/>
          </a:xfrm>
          <a:prstGeom prst="rect">
            <a:avLst/>
          </a:prstGeom>
        </p:spPr>
      </p:pic>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2026-10-13T06:56:09Z</dcterms:created>
  <dcterms:modified xsi:type="dcterms:W3CDTF">2026-10-13T06:56:09Z</dcterms:modified>
</cp:coreProperties>
</file>