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ef4744a-9675-8b41-e0fa-91279d48d7c7}">
          <p14:sldIdLst>
            <p14:sldId id="256"/>
          </p14:sldIdLst>
        </p14:section>
        <p14:section name="Summary" id="{320e7f89-cc26-2092-aa5f-7d0e360b56d7}">
          <p14:sldIdLst>
            <p14:sldId id="257"/>
            <p14:sldId id="258"/>
          </p14:sldIdLst>
        </p14:section>
        <p14:section name="Demo" id="{ed29e699-283a-3e51-e22a-c7ecb55b9089}">
          <p14:sldIdLst>
            <p14:sldId id="259"/>
          </p14:sldIdLst>
        </p14:section>
        <p14:section name="Next steps" id="{2378f4e9-8e3a-29dd-172c-c05900ff7087}">
          <p14:sldIdLst>
            <p14:sldId id="260"/>
            <p14:sldId id="261"/>
            <p14:sldId id="262"/>
          </p14:sldIdLst>
        </p14:section>
        <p14:section name="Appendix" id="{97813983-3cf9-b334-c27c-32b65a6ab5dc}">
          <p14:sldIdLst>
            <p14:sldId id="263"/>
            <p14:sldId id="264"/>
          </p14:sldIdLst>
        </p14:section>
        <p14:section name="Close" id="{e5671ea5-9d7f-ff28-6c79-d18a5f746ea9}">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Tune thresholds with merchants (60 side-by-side pairs); 3 Expand: Pick 2–3 adjacent test categories &amp; a broad competitor;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shaped by the first review. If asked about order: acquire the product first (build the basket for existing customers), adjacent categories before core.
1 Prioritise (opportunity sizing): opportunity $ per archetype = Staples demand for the node (sessions or units) × the archetype's share (the only competitor input: e.g. 31% of Amazon's backpacks are hiking/outdoor vs 5 of 379 at Staples, scaled to Staples' velocity) × expected conversion × AUR (modelled at Staples' price point; the PoC's competitor median, e.g. $23 for hiking daypacks, is the starting value). Net of cannibalisation and times commission, it gives Staples' own revenue. Stack-rank to the ~20% of gaps that solve 80%, split by channel (Staples.com first, Staples Business later). Null searches alone mislead because redirects hide demand: trace search → product page → conversion.
2 Protect: tune the safety-gate thresholds with merchants (cannibalisation risk bands, price-position limits, fit-with-Staples cut-offs, picks per node): tighter the closer a category is to core (e.g. desks: no top-line erosion just for unit velocity). Today's checks use supply only (they already hold back 25% of competitor products as substitutes or undercuts); real 1P sales overlap replaces that proxy, plus price and margin floors per node.
3 Expand (adjacent-category whitespace): the flip side of Protect. Relaxing the AAS (Adjacency Affinity Score, fit with Staples) thresholds turns today's OFF-BRAND products into whitespace and new verticals instead of exclusions. Test the adjacent categories raised in the review (toys, e.g. waiting-room rewards; hydration; travel and luggage; tech accessories), benchmarking a competitor with a broad assortment to scope each. The PoC already set aside 8,399 competitor families outside the 12 nodes; a new category or competitor is one config entry, no code change.
4 Curate: the same engine scores every seller submission for fit, 1P overlap and price, feeding an approve / review / reject queue that learns from curator decisions. Recruiting: start with the 13 brands behind our picks already on Staples (at-A-Glance, BAGSMART, Bentgo, CamelBak, Ello, Excello, Fringe, High Sierra, La Crosse Technology, Mead, PlanAhead, STANLEY, Targus), then top competitor sellers Staples does not carry; Wayfair's range is mostly house brands, so source the archetype, not the brand.
5 Monitor: quarterly re-crawls flag new and closing gaps. Nothing is live on the Marketplace yet, so track live picks' GMV, attach and conversion against the forecast, scale what proves out, and feed results back into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the catalog. Each combines external signals with Staples data.
- Social media &amp; trend listening (social media analytics + trend listening): mentions, hashtags and saves per archetype on TikTok, Instagram, Pinterest and Reddit plus Google Trends, scored for growth and sentiment; rising styles feed the Explore nodes.
- Search &amp; funnel gaps: on-site searches and external SEO keywords where competitors rank and Staples does not, mapped to archetypes. Null searches alone are not enough (redirects hide unmet demand), so trace search → product page → need met → conversion; feeds seller recruiting and product pages.
- Demand forecasting: per node and archetype from sales history, with Back-to-School seasonality and the trend signals from social listening; sizes GMV and commission before listing.
- Market research &amp; customer surveys (market research + market survey): B2B and B2C customers on unmet needs, style and price; concept tests of the top archetypes; results set the prioritisation weights.
- Basket building for existing customers: market-basket analysis plus the business verticals of top customers show which complements are missing; target 1–2 attach items per order. Staples.com customers first; Staples Business is a separate, later channel.
- Adjacent-category whitespace: the PoC already set aside 8,399 competitor product families that fit none of the 12 nodes; the adjacent test categories raised in the review (toys, e.g. waiting-room rewards; hydration; travel and luggage; tech accessories) are sized with forecasting and research before opening, and data picks the subcategories.
Further options if asked: B2B account cross-sell, seller recruitment scoring, listing content enrichment (our attribute extractor auto-tags seller listings for filters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this fits Staples' Marketplace plan: the four principles from our first review, each tied to what the engine already does or the next step adds.
1 Build the basket first: acquiring the product for existing Staples customers comes before new-customer acquisition. Our headline picks are anchored to what Staples already sells; basket building is a growth path.
2 Curated, protect the core: a curated middle ground, not an everything store. The final gate keeps 3–10 picks per node (74 in total) and Method 1 holds back 4,103 of 16,512 competitor products (25%) as substitutes or undercuts; merchants then set tighter guardrails near core (step 2 of the engine).
3 Adjacent first, core later: start where Staples is not yet a destination and learn; water bottles (hydration), backpacks and lunch bags (travel/commute) are already scored; toys, luggage and tech accessories are config entries. Core gaps (e.g. luxe or smaller desks) are raised with the category merchants.
4 Launch &amp; learn: nothing is live yet, so load a confident first assortment and scale on live results.
Beyond internal reporting (if asked how this differs from running internal tools): internal data can't show what Staples doesn't carry; we measure both sides with one attribute instrument (885 archetypes); cannibalisation is screened by two independent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 5 (the PoC engine on Staples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2.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Opportunity sizing &amp; stack-rank</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Core guardrails &amp; cannibalisation</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Adjacent-category whitespace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vetting &amp; seller recruiting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guardrails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Opportunity sizing &amp; stack-rank</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are worth the most,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Opportunity $ = node demand × archetype share (competitor-scaled) × conversion × AUR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Stack-rank to the ~20% of gaps that solve 80%</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Split by channel: Staples.com vs Staples Business</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search funnel · conversion</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$-ranked shortlist per channel</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Core guardrails &amp; cannibalisation</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thresholds with merchants: tighter the closer to core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curated, not an everything store</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Adjacent-category whitespace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Relax the AAS (fit) thresholds to surface whitespace &amp; new verticals: the flip side of Protect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Test adjacent: toys, hydration, luggage, tech accessories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Benchmark a broad-assortment competitor to scope each</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broad-competitor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Evidence-backed adjacent categories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vetting &amp; seller recruiting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should supply it, and should it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 fit, 1P overlap &amp; price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Recruit: start with the 13 brands already on Staples, then top competitor sellers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 a recruit list</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Quarterly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live picks' GMV, attach &amp; conversion vs forecast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Scale what proves out, drop the rest;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Search &amp; funnel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Where do shoppers search, and drop off?</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Search → PDP → conversion (redirects hide demand)</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logs · funnel · SEO keywords</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media &amp; trend listening</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on TikTok, Pinterest, Reddit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Google Trends; score growth &amp; sentiment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rising styles for Explore nodes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Spot the next "White Chair" early</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catalog</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Adjacent-category whitespace</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adjacent categories to test first?</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Start from the 8.4K products outside our 12 nodes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Test toys, hydration, luggage, tech accessories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with forecasting &amp; research; open the best</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PoC backlog + sales &amp; search</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Evidence-backed adjacent categories</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building for existing customers</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 customers' verticals → missing complements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 · customer verticals</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How This Fits Staples' Marketplace Plan</a:t>
            </a:r>
            <a:endParaRPr lang="en-US" sz="2800" dirty="0"/>
          </a:p>
        </p:txBody>
      </p:sp>
      <p:sp>
        <p:nvSpPr>
          <p:cNvPr id="3" name="Shape 1"/>
          <p:cNvSpPr/>
          <p:nvPr/>
        </p:nvSpPr>
        <p:spPr>
          <a:xfrm>
            <a:off x="411480" y="1143000"/>
            <a:ext cx="2690622" cy="1371600"/>
          </a:xfrm>
          <a:prstGeom prst="roundRect">
            <a:avLst>
              <a:gd name="adj" fmla="val 5333"/>
            </a:avLst>
          </a:prstGeom>
          <a:solidFill>
            <a:srgbClr val="13285B"/>
          </a:solidFill>
          <a:ln w="12700">
            <a:solidFill>
              <a:srgbClr val="13285B"/>
            </a:solidFill>
            <a:prstDash val="solid"/>
          </a:ln>
        </p:spPr>
      </p:sp>
      <p:sp>
        <p:nvSpPr>
          <p:cNvPr id="4" name="Shape 2"/>
          <p:cNvSpPr/>
          <p:nvPr/>
        </p:nvSpPr>
        <p:spPr>
          <a:xfrm>
            <a:off x="557784" y="1289304"/>
            <a:ext cx="457200" cy="457200"/>
          </a:xfrm>
          <a:prstGeom prst="ellipse">
            <a:avLst/>
          </a:prstGeom>
          <a:solidFill>
            <a:srgbClr val="2F6FD0"/>
          </a:solidFill>
          <a:ln w="12700">
            <a:solidFill>
              <a:srgbClr val="2F6FD0"/>
            </a:solidFill>
            <a:prstDash val="solid"/>
          </a:ln>
        </p:spPr>
      </p:sp>
      <p:pic>
        <p:nvPicPr>
          <p:cNvPr id="5" name="Image 0" descr="preencoded.png">    </p:cNvPr>
          <p:cNvPicPr>
            <a:picLocks noChangeAspect="1"/>
          </p:cNvPicPr>
          <p:nvPr/>
        </p:nvPicPr>
        <p:blipFill>
          <a:blip r:embed="rId1"/>
          <a:stretch>
            <a:fillRect/>
          </a:stretch>
        </p:blipFill>
        <p:spPr>
          <a:xfrm>
            <a:off x="658368" y="1389888"/>
            <a:ext cx="256032" cy="256032"/>
          </a:xfrm>
          <a:prstGeom prst="rect">
            <a:avLst/>
          </a:prstGeom>
        </p:spPr>
      </p:pic>
      <p:sp>
        <p:nvSpPr>
          <p:cNvPr id="6" name="Text 3"/>
          <p:cNvSpPr txBox="1"/>
          <p:nvPr/>
        </p:nvSpPr>
        <p:spPr>
          <a:xfrm>
            <a:off x="1124712" y="1289304"/>
            <a:ext cx="1867662"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STAPLES' PLAN</a:t>
            </a:r>
            <a:endParaRPr lang="en-US" sz="900" dirty="0"/>
          </a:p>
        </p:txBody>
      </p:sp>
      <p:sp>
        <p:nvSpPr>
          <p:cNvPr id="7" name="Text 4"/>
          <p:cNvSpPr txBox="1"/>
          <p:nvPr/>
        </p:nvSpPr>
        <p:spPr>
          <a:xfrm>
            <a:off x="1124712" y="1490472"/>
            <a:ext cx="186766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Build the basket first</a:t>
            </a:r>
            <a:endParaRPr lang="en-US" sz="1350" dirty="0"/>
          </a:p>
        </p:txBody>
      </p:sp>
      <p:sp>
        <p:nvSpPr>
          <p:cNvPr id="8" name="Text 5"/>
          <p:cNvSpPr txBox="1"/>
          <p:nvPr/>
        </p:nvSpPr>
        <p:spPr>
          <a:xfrm>
            <a:off x="557784" y="1892808"/>
            <a:ext cx="2398014"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Acquire the product for today's customers before chasing new ones</a:t>
            </a:r>
            <a:endParaRPr lang="en-US" sz="1050" dirty="0"/>
          </a:p>
        </p:txBody>
      </p:sp>
      <p:sp>
        <p:nvSpPr>
          <p:cNvPr id="9" name="Shape 6"/>
          <p:cNvSpPr/>
          <p:nvPr/>
        </p:nvSpPr>
        <p:spPr>
          <a:xfrm>
            <a:off x="1610487" y="2569464"/>
            <a:ext cx="292608" cy="256032"/>
          </a:xfrm>
          <a:prstGeom prst="downArrow">
            <a:avLst/>
          </a:prstGeom>
          <a:solidFill>
            <a:srgbClr val="A9C3EE"/>
          </a:solidFill>
          <a:ln w="12700">
            <a:solidFill>
              <a:srgbClr val="A9C3EE"/>
            </a:solidFill>
            <a:prstDash val="solid"/>
          </a:ln>
        </p:spPr>
      </p:sp>
      <p:sp>
        <p:nvSpPr>
          <p:cNvPr id="10" name="Shape 7"/>
          <p:cNvSpPr/>
          <p:nvPr/>
        </p:nvSpPr>
        <p:spPr>
          <a:xfrm>
            <a:off x="411480" y="2880360"/>
            <a:ext cx="2690622" cy="2057400"/>
          </a:xfrm>
          <a:prstGeom prst="roundRect">
            <a:avLst>
              <a:gd name="adj" fmla="val 355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Text 8"/>
          <p:cNvSpPr txBox="1"/>
          <p:nvPr/>
        </p:nvSpPr>
        <p:spPr>
          <a:xfrm>
            <a:off x="557784" y="2971800"/>
            <a:ext cx="2398014"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HOW THE ENGINE DELIVERS</a:t>
            </a:r>
            <a:endParaRPr lang="en-US" sz="900" dirty="0"/>
          </a:p>
        </p:txBody>
      </p:sp>
      <p:sp>
        <p:nvSpPr>
          <p:cNvPr id="12" name="Text 9"/>
          <p:cNvSpPr txBox="1"/>
          <p:nvPr/>
        </p:nvSpPr>
        <p:spPr>
          <a:xfrm>
            <a:off x="521208" y="3264408"/>
            <a:ext cx="2471166" cy="16002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Picks anchored to what Staples already sells: desks, bento, K-Cup drawers, barrel chair</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Basket building for existing customers (growth paths)</a:t>
            </a:r>
            <a:endParaRPr lang="en-US" sz="1200" dirty="0"/>
          </a:p>
        </p:txBody>
      </p:sp>
      <p:sp>
        <p:nvSpPr>
          <p:cNvPr id="13" name="Shape 10"/>
          <p:cNvSpPr/>
          <p:nvPr/>
        </p:nvSpPr>
        <p:spPr>
          <a:xfrm>
            <a:off x="3303270" y="1143000"/>
            <a:ext cx="2690622" cy="1371600"/>
          </a:xfrm>
          <a:prstGeom prst="roundRect">
            <a:avLst>
              <a:gd name="adj" fmla="val 5333"/>
            </a:avLst>
          </a:prstGeom>
          <a:solidFill>
            <a:srgbClr val="13285B"/>
          </a:solidFill>
          <a:ln w="12700">
            <a:solidFill>
              <a:srgbClr val="13285B"/>
            </a:solidFill>
            <a:prstDash val="solid"/>
          </a:ln>
        </p:spPr>
      </p:sp>
      <p:sp>
        <p:nvSpPr>
          <p:cNvPr id="14" name="Shape 11"/>
          <p:cNvSpPr/>
          <p:nvPr/>
        </p:nvSpPr>
        <p:spPr>
          <a:xfrm>
            <a:off x="3449574" y="1289304"/>
            <a:ext cx="457200" cy="457200"/>
          </a:xfrm>
          <a:prstGeom prst="ellipse">
            <a:avLst/>
          </a:prstGeom>
          <a:solidFill>
            <a:srgbClr val="2F6FD0"/>
          </a:solidFill>
          <a:ln w="12700">
            <a:solidFill>
              <a:srgbClr val="2F6FD0"/>
            </a:solidFill>
            <a:prstDash val="solid"/>
          </a:ln>
        </p:spPr>
      </p:sp>
      <p:pic>
        <p:nvPicPr>
          <p:cNvPr id="15" name="Image 1" descr="preencoded.png">    </p:cNvPr>
          <p:cNvPicPr>
            <a:picLocks noChangeAspect="1"/>
          </p:cNvPicPr>
          <p:nvPr/>
        </p:nvPicPr>
        <p:blipFill>
          <a:blip r:embed="rId2"/>
          <a:stretch>
            <a:fillRect/>
          </a:stretch>
        </p:blipFill>
        <p:spPr>
          <a:xfrm>
            <a:off x="3550158" y="1389888"/>
            <a:ext cx="256032" cy="256032"/>
          </a:xfrm>
          <a:prstGeom prst="rect">
            <a:avLst/>
          </a:prstGeom>
        </p:spPr>
      </p:pic>
      <p:sp>
        <p:nvSpPr>
          <p:cNvPr id="16" name="Text 12"/>
          <p:cNvSpPr txBox="1"/>
          <p:nvPr/>
        </p:nvSpPr>
        <p:spPr>
          <a:xfrm>
            <a:off x="4016502" y="1289304"/>
            <a:ext cx="1867662"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STAPLES' PLAN</a:t>
            </a:r>
            <a:endParaRPr lang="en-US" sz="900" dirty="0"/>
          </a:p>
        </p:txBody>
      </p:sp>
      <p:sp>
        <p:nvSpPr>
          <p:cNvPr id="17" name="Text 13"/>
          <p:cNvSpPr txBox="1"/>
          <p:nvPr/>
        </p:nvSpPr>
        <p:spPr>
          <a:xfrm>
            <a:off x="4016502" y="1490472"/>
            <a:ext cx="186766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Curated, core protected</a:t>
            </a:r>
            <a:endParaRPr lang="en-US" sz="1350" dirty="0"/>
          </a:p>
        </p:txBody>
      </p:sp>
      <p:sp>
        <p:nvSpPr>
          <p:cNvPr id="18" name="Text 14"/>
          <p:cNvSpPr txBox="1"/>
          <p:nvPr/>
        </p:nvSpPr>
        <p:spPr>
          <a:xfrm>
            <a:off x="3449574" y="1892808"/>
            <a:ext cx="2398014"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A middle ground, not an everything store</a:t>
            </a:r>
            <a:endParaRPr lang="en-US" sz="1050" dirty="0"/>
          </a:p>
        </p:txBody>
      </p:sp>
      <p:sp>
        <p:nvSpPr>
          <p:cNvPr id="19" name="Shape 15"/>
          <p:cNvSpPr/>
          <p:nvPr/>
        </p:nvSpPr>
        <p:spPr>
          <a:xfrm>
            <a:off x="4502277" y="2569464"/>
            <a:ext cx="292608" cy="256032"/>
          </a:xfrm>
          <a:prstGeom prst="downArrow">
            <a:avLst/>
          </a:prstGeom>
          <a:solidFill>
            <a:srgbClr val="A9C3EE"/>
          </a:solidFill>
          <a:ln w="12700">
            <a:solidFill>
              <a:srgbClr val="A9C3EE"/>
            </a:solidFill>
            <a:prstDash val="solid"/>
          </a:ln>
        </p:spPr>
      </p:sp>
      <p:sp>
        <p:nvSpPr>
          <p:cNvPr id="20" name="Shape 16"/>
          <p:cNvSpPr/>
          <p:nvPr/>
        </p:nvSpPr>
        <p:spPr>
          <a:xfrm>
            <a:off x="3303270" y="2880360"/>
            <a:ext cx="2690622" cy="2057400"/>
          </a:xfrm>
          <a:prstGeom prst="roundRect">
            <a:avLst>
              <a:gd name="adj" fmla="val 355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1" name="Text 17"/>
          <p:cNvSpPr txBox="1"/>
          <p:nvPr/>
        </p:nvSpPr>
        <p:spPr>
          <a:xfrm>
            <a:off x="3449574" y="2971800"/>
            <a:ext cx="2398014"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HOW THE ENGINE DELIVERS</a:t>
            </a:r>
            <a:endParaRPr lang="en-US" sz="900" dirty="0"/>
          </a:p>
        </p:txBody>
      </p:sp>
      <p:sp>
        <p:nvSpPr>
          <p:cNvPr id="22" name="Text 18"/>
          <p:cNvSpPr txBox="1"/>
          <p:nvPr/>
        </p:nvSpPr>
        <p:spPr>
          <a:xfrm>
            <a:off x="3412998" y="3264408"/>
            <a:ext cx="2471166" cy="16002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3–10 picks per node; 74 in total</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25% of competitor products held back as substitutes or undercuts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Core guardrails set by merchants (step 2)</a:t>
            </a:r>
            <a:endParaRPr lang="en-US" sz="1200" dirty="0"/>
          </a:p>
        </p:txBody>
      </p:sp>
      <p:sp>
        <p:nvSpPr>
          <p:cNvPr id="23" name="Shape 19"/>
          <p:cNvSpPr/>
          <p:nvPr/>
        </p:nvSpPr>
        <p:spPr>
          <a:xfrm>
            <a:off x="6195060" y="1143000"/>
            <a:ext cx="2690622" cy="1371600"/>
          </a:xfrm>
          <a:prstGeom prst="roundRect">
            <a:avLst>
              <a:gd name="adj" fmla="val 5333"/>
            </a:avLst>
          </a:prstGeom>
          <a:solidFill>
            <a:srgbClr val="13285B"/>
          </a:solidFill>
          <a:ln w="12700">
            <a:solidFill>
              <a:srgbClr val="13285B"/>
            </a:solidFill>
            <a:prstDash val="solid"/>
          </a:ln>
        </p:spPr>
      </p:sp>
      <p:sp>
        <p:nvSpPr>
          <p:cNvPr id="24" name="Shape 20"/>
          <p:cNvSpPr/>
          <p:nvPr/>
        </p:nvSpPr>
        <p:spPr>
          <a:xfrm>
            <a:off x="6341364" y="1289304"/>
            <a:ext cx="457200" cy="457200"/>
          </a:xfrm>
          <a:prstGeom prst="ellipse">
            <a:avLst/>
          </a:prstGeom>
          <a:solidFill>
            <a:srgbClr val="2F6FD0"/>
          </a:solidFill>
          <a:ln w="12700">
            <a:solidFill>
              <a:srgbClr val="2F6FD0"/>
            </a:solidFill>
            <a:prstDash val="solid"/>
          </a:ln>
        </p:spPr>
      </p:sp>
      <p:pic>
        <p:nvPicPr>
          <p:cNvPr id="25" name="Image 2" descr="preencoded.png">    </p:cNvPr>
          <p:cNvPicPr>
            <a:picLocks noChangeAspect="1"/>
          </p:cNvPicPr>
          <p:nvPr/>
        </p:nvPicPr>
        <p:blipFill>
          <a:blip r:embed="rId3"/>
          <a:stretch>
            <a:fillRect/>
          </a:stretch>
        </p:blipFill>
        <p:spPr>
          <a:xfrm>
            <a:off x="6441948" y="1389888"/>
            <a:ext cx="256032" cy="256032"/>
          </a:xfrm>
          <a:prstGeom prst="rect">
            <a:avLst/>
          </a:prstGeom>
        </p:spPr>
      </p:pic>
      <p:sp>
        <p:nvSpPr>
          <p:cNvPr id="26" name="Text 21"/>
          <p:cNvSpPr txBox="1"/>
          <p:nvPr/>
        </p:nvSpPr>
        <p:spPr>
          <a:xfrm>
            <a:off x="6908292" y="1289304"/>
            <a:ext cx="1867662"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STAPLES' PLAN</a:t>
            </a:r>
            <a:endParaRPr lang="en-US" sz="900" dirty="0"/>
          </a:p>
        </p:txBody>
      </p:sp>
      <p:sp>
        <p:nvSpPr>
          <p:cNvPr id="27" name="Text 22"/>
          <p:cNvSpPr txBox="1"/>
          <p:nvPr/>
        </p:nvSpPr>
        <p:spPr>
          <a:xfrm>
            <a:off x="6908292" y="1490472"/>
            <a:ext cx="186766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Adjacent first, core later</a:t>
            </a:r>
            <a:endParaRPr lang="en-US" sz="1350" dirty="0"/>
          </a:p>
        </p:txBody>
      </p:sp>
      <p:sp>
        <p:nvSpPr>
          <p:cNvPr id="28" name="Text 23"/>
          <p:cNvSpPr txBox="1"/>
          <p:nvPr/>
        </p:nvSpPr>
        <p:spPr>
          <a:xfrm>
            <a:off x="6341364" y="1892808"/>
            <a:ext cx="2398014"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Learn where Staples is not yet a destination</a:t>
            </a:r>
            <a:endParaRPr lang="en-US" sz="1050" dirty="0"/>
          </a:p>
        </p:txBody>
      </p:sp>
      <p:sp>
        <p:nvSpPr>
          <p:cNvPr id="29" name="Shape 24"/>
          <p:cNvSpPr/>
          <p:nvPr/>
        </p:nvSpPr>
        <p:spPr>
          <a:xfrm>
            <a:off x="7394067" y="2569464"/>
            <a:ext cx="292608" cy="256032"/>
          </a:xfrm>
          <a:prstGeom prst="downArrow">
            <a:avLst/>
          </a:prstGeom>
          <a:solidFill>
            <a:srgbClr val="A9C3EE"/>
          </a:solidFill>
          <a:ln w="12700">
            <a:solidFill>
              <a:srgbClr val="A9C3EE"/>
            </a:solidFill>
            <a:prstDash val="solid"/>
          </a:ln>
        </p:spPr>
      </p:sp>
      <p:sp>
        <p:nvSpPr>
          <p:cNvPr id="30" name="Shape 25"/>
          <p:cNvSpPr/>
          <p:nvPr/>
        </p:nvSpPr>
        <p:spPr>
          <a:xfrm>
            <a:off x="6195060" y="2880360"/>
            <a:ext cx="2690622" cy="2057400"/>
          </a:xfrm>
          <a:prstGeom prst="roundRect">
            <a:avLst>
              <a:gd name="adj" fmla="val 355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1" name="Text 26"/>
          <p:cNvSpPr txBox="1"/>
          <p:nvPr/>
        </p:nvSpPr>
        <p:spPr>
          <a:xfrm>
            <a:off x="6341364" y="2971800"/>
            <a:ext cx="2398014"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HOW THE ENGINE DELIVERS</a:t>
            </a:r>
            <a:endParaRPr lang="en-US" sz="900" dirty="0"/>
          </a:p>
        </p:txBody>
      </p:sp>
      <p:sp>
        <p:nvSpPr>
          <p:cNvPr id="32" name="Text 27"/>
          <p:cNvSpPr txBox="1"/>
          <p:nvPr/>
        </p:nvSpPr>
        <p:spPr>
          <a:xfrm>
            <a:off x="6304788" y="3264408"/>
            <a:ext cx="2471166" cy="16002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Hydration and travel/commute already among our 12 nodes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New categories: config only, no new code (step 3)</a:t>
            </a:r>
            <a:endParaRPr lang="en-US" sz="1200" dirty="0"/>
          </a:p>
        </p:txBody>
      </p:sp>
      <p:sp>
        <p:nvSpPr>
          <p:cNvPr id="33" name="Shape 28"/>
          <p:cNvSpPr/>
          <p:nvPr/>
        </p:nvSpPr>
        <p:spPr>
          <a:xfrm>
            <a:off x="9086850" y="1143000"/>
            <a:ext cx="2690622" cy="1371600"/>
          </a:xfrm>
          <a:prstGeom prst="roundRect">
            <a:avLst>
              <a:gd name="adj" fmla="val 5333"/>
            </a:avLst>
          </a:prstGeom>
          <a:solidFill>
            <a:srgbClr val="13285B"/>
          </a:solidFill>
          <a:ln w="12700">
            <a:solidFill>
              <a:srgbClr val="13285B"/>
            </a:solidFill>
            <a:prstDash val="solid"/>
          </a:ln>
        </p:spPr>
      </p:sp>
      <p:sp>
        <p:nvSpPr>
          <p:cNvPr id="34" name="Shape 29"/>
          <p:cNvSpPr/>
          <p:nvPr/>
        </p:nvSpPr>
        <p:spPr>
          <a:xfrm>
            <a:off x="9233154" y="1289304"/>
            <a:ext cx="457200" cy="457200"/>
          </a:xfrm>
          <a:prstGeom prst="ellipse">
            <a:avLst/>
          </a:prstGeom>
          <a:solidFill>
            <a:srgbClr val="2F6FD0"/>
          </a:solidFill>
          <a:ln w="12700">
            <a:solidFill>
              <a:srgbClr val="2F6FD0"/>
            </a:solidFill>
            <a:prstDash val="solid"/>
          </a:ln>
        </p:spPr>
      </p:sp>
      <p:pic>
        <p:nvPicPr>
          <p:cNvPr id="35" name="Image 3" descr="preencoded.png">    </p:cNvPr>
          <p:cNvPicPr>
            <a:picLocks noChangeAspect="1"/>
          </p:cNvPicPr>
          <p:nvPr/>
        </p:nvPicPr>
        <p:blipFill>
          <a:blip r:embed="rId4"/>
          <a:stretch>
            <a:fillRect/>
          </a:stretch>
        </p:blipFill>
        <p:spPr>
          <a:xfrm>
            <a:off x="9333738" y="1389888"/>
            <a:ext cx="256032" cy="256032"/>
          </a:xfrm>
          <a:prstGeom prst="rect">
            <a:avLst/>
          </a:prstGeom>
        </p:spPr>
      </p:pic>
      <p:sp>
        <p:nvSpPr>
          <p:cNvPr id="36" name="Text 30"/>
          <p:cNvSpPr txBox="1"/>
          <p:nvPr/>
        </p:nvSpPr>
        <p:spPr>
          <a:xfrm>
            <a:off x="9800082" y="1289304"/>
            <a:ext cx="1867662"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STAPLES' PLAN</a:t>
            </a:r>
            <a:endParaRPr lang="en-US" sz="900" dirty="0"/>
          </a:p>
        </p:txBody>
      </p:sp>
      <p:sp>
        <p:nvSpPr>
          <p:cNvPr id="37" name="Text 31"/>
          <p:cNvSpPr txBox="1"/>
          <p:nvPr/>
        </p:nvSpPr>
        <p:spPr>
          <a:xfrm>
            <a:off x="9800082" y="1490472"/>
            <a:ext cx="1867662"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Launch &amp; learn</a:t>
            </a:r>
            <a:endParaRPr lang="en-US" sz="1350" dirty="0"/>
          </a:p>
        </p:txBody>
      </p:sp>
      <p:sp>
        <p:nvSpPr>
          <p:cNvPr id="38" name="Text 32"/>
          <p:cNvSpPr txBox="1"/>
          <p:nvPr/>
        </p:nvSpPr>
        <p:spPr>
          <a:xfrm>
            <a:off x="9233154" y="1892808"/>
            <a:ext cx="2398014" cy="54864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Load with confidence, then scale on evidence</a:t>
            </a:r>
            <a:endParaRPr lang="en-US" sz="1050" dirty="0"/>
          </a:p>
        </p:txBody>
      </p:sp>
      <p:sp>
        <p:nvSpPr>
          <p:cNvPr id="39" name="Shape 33"/>
          <p:cNvSpPr/>
          <p:nvPr/>
        </p:nvSpPr>
        <p:spPr>
          <a:xfrm>
            <a:off x="10285857" y="2569464"/>
            <a:ext cx="292608" cy="256032"/>
          </a:xfrm>
          <a:prstGeom prst="downArrow">
            <a:avLst/>
          </a:prstGeom>
          <a:solidFill>
            <a:srgbClr val="A9C3EE"/>
          </a:solidFill>
          <a:ln w="12700">
            <a:solidFill>
              <a:srgbClr val="A9C3EE"/>
            </a:solidFill>
            <a:prstDash val="solid"/>
          </a:ln>
        </p:spPr>
      </p:sp>
      <p:sp>
        <p:nvSpPr>
          <p:cNvPr id="40" name="Shape 34"/>
          <p:cNvSpPr/>
          <p:nvPr/>
        </p:nvSpPr>
        <p:spPr>
          <a:xfrm>
            <a:off x="9086850" y="2880360"/>
            <a:ext cx="2690622" cy="2057400"/>
          </a:xfrm>
          <a:prstGeom prst="roundRect">
            <a:avLst>
              <a:gd name="adj" fmla="val 355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Text 35"/>
          <p:cNvSpPr txBox="1"/>
          <p:nvPr/>
        </p:nvSpPr>
        <p:spPr>
          <a:xfrm>
            <a:off x="9233154" y="2971800"/>
            <a:ext cx="2398014" cy="201168"/>
          </a:xfrm>
          <a:prstGeom prst="rect">
            <a:avLst/>
          </a:prstGeom>
          <a:noFill/>
          <a:ln/>
        </p:spPr>
        <p:txBody>
          <a:bodyPr wrap="square" lIns="0" tIns="0" rIns="0" bIns="0" rtlCol="0" anchor="ctr"/>
          <a:lstStyle/>
          <a:p>
            <a:pPr indent="0" marL="0">
              <a:buNone/>
            </a:pPr>
            <a:r>
              <a:rPr lang="en-US" sz="900" b="1" spc="100" kern="0" dirty="0">
                <a:solidFill>
                  <a:srgbClr val="F5A623"/>
                </a:solidFill>
                <a:latin typeface="Calibri" pitchFamily="34" charset="0"/>
                <a:ea typeface="Calibri" pitchFamily="34" charset="-122"/>
                <a:cs typeface="Calibri" pitchFamily="34" charset="-120"/>
              </a:rPr>
              <a:t>HOW THE ENGINE DELIVERS</a:t>
            </a:r>
            <a:endParaRPr lang="en-US" sz="900" dirty="0"/>
          </a:p>
        </p:txBody>
      </p:sp>
      <p:sp>
        <p:nvSpPr>
          <p:cNvPr id="42" name="Text 36"/>
          <p:cNvSpPr txBox="1"/>
          <p:nvPr/>
        </p:nvSpPr>
        <p:spPr>
          <a:xfrm>
            <a:off x="9196578" y="3264408"/>
            <a:ext cx="2471166" cy="16002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 confident first assortment, not every item</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Scale on live results; quarterly re-crawls (step 5)</a:t>
            </a:r>
            <a:endParaRPr lang="en-US" sz="1200" dirty="0"/>
          </a:p>
        </p:txBody>
      </p:sp>
      <p:sp>
        <p:nvSpPr>
          <p:cNvPr id="43" name="Shape 37"/>
          <p:cNvSpPr/>
          <p:nvPr/>
        </p:nvSpPr>
        <p:spPr>
          <a:xfrm>
            <a:off x="411480" y="5120640"/>
            <a:ext cx="11365992" cy="1188720"/>
          </a:xfrm>
          <a:prstGeom prst="roundRect">
            <a:avLst>
              <a:gd name="adj" fmla="val 6154"/>
            </a:avLst>
          </a:prstGeom>
          <a:solidFill>
            <a:srgbClr val="EEF3FB"/>
          </a:solidFill>
          <a:ln w="9525">
            <a:solidFill>
              <a:srgbClr val="8FB0E8"/>
            </a:solidFill>
            <a:prstDash val="solid"/>
          </a:ln>
        </p:spPr>
      </p:sp>
      <p:sp>
        <p:nvSpPr>
          <p:cNvPr id="44" name="Text 38"/>
          <p:cNvSpPr txBox="1"/>
          <p:nvPr/>
        </p:nvSpPr>
        <p:spPr>
          <a:xfrm>
            <a:off x="566928" y="5120640"/>
            <a:ext cx="1828800" cy="1188720"/>
          </a:xfrm>
          <a:prstGeom prst="rect">
            <a:avLst/>
          </a:prstGeom>
          <a:noFill/>
          <a:ln/>
        </p:spPr>
        <p:txBody>
          <a:bodyPr wrap="square" lIns="0" tIns="0" rIns="0" bIns="0" rtlCol="0" anchor="ctr"/>
          <a:lstStyle/>
          <a:p>
            <a:pPr indent="0" marL="0">
              <a:buNone/>
            </a:pPr>
            <a:r>
              <a:rPr lang="en-US" sz="1100" b="1" spc="100" kern="0" dirty="0">
                <a:solidFill>
                  <a:srgbClr val="1F4E9A"/>
                </a:solidFill>
                <a:latin typeface="Calibri" pitchFamily="34" charset="0"/>
                <a:ea typeface="Calibri" pitchFamily="34" charset="-122"/>
                <a:cs typeface="Calibri" pitchFamily="34" charset="-120"/>
              </a:rPr>
              <a:t>BEYOND INTERNAL REPORTING</a:t>
            </a:r>
            <a:endParaRPr lang="en-US" sz="1100" dirty="0"/>
          </a:p>
        </p:txBody>
      </p:sp>
      <p:pic>
        <p:nvPicPr>
          <p:cNvPr id="45" name="Image 4" descr="preencoded.png">    </p:cNvPr>
          <p:cNvPicPr>
            <a:picLocks noChangeAspect="1"/>
          </p:cNvPicPr>
          <p:nvPr/>
        </p:nvPicPr>
        <p:blipFill>
          <a:blip r:embed="rId5"/>
          <a:stretch>
            <a:fillRect/>
          </a:stretch>
        </p:blipFill>
        <p:spPr>
          <a:xfrm>
            <a:off x="2514600" y="5513832"/>
            <a:ext cx="402336" cy="402336"/>
          </a:xfrm>
          <a:prstGeom prst="rect">
            <a:avLst/>
          </a:prstGeom>
        </p:spPr>
      </p:pic>
      <p:sp>
        <p:nvSpPr>
          <p:cNvPr id="46" name="Text 39"/>
          <p:cNvSpPr txBox="1"/>
          <p:nvPr/>
        </p:nvSpPr>
        <p:spPr>
          <a:xfrm>
            <a:off x="3044952" y="5257800"/>
            <a:ext cx="2447544" cy="914400"/>
          </a:xfrm>
          <a:prstGeom prst="rect">
            <a:avLst/>
          </a:prstGeom>
          <a:noFill/>
          <a:ln/>
        </p:spPr>
        <p:txBody>
          <a:bodyPr wrap="square" lIns="0" tIns="0" rIns="0" bIns="0" rtlCol="0" anchor="ctr"/>
          <a:lstStyle/>
          <a:p>
            <a:pPr indent="0" marL="0">
              <a:buNone/>
            </a:pPr>
            <a:r>
              <a:rPr lang="en-US" sz="1200" b="1" dirty="0">
                <a:solidFill>
                  <a:srgbClr val="13285B"/>
                </a:solidFill>
                <a:latin typeface="Calibri" pitchFamily="34" charset="0"/>
                <a:ea typeface="Calibri" pitchFamily="34" charset="-122"/>
                <a:cs typeface="Calibri" pitchFamily="34" charset="-120"/>
              </a:rPr>
              <a:t>Sees outside Staples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the competitor side internal data can't show</a:t>
            </a:r>
            <a:endParaRPr lang="en-US" sz="1200" dirty="0"/>
          </a:p>
        </p:txBody>
      </p:sp>
      <p:pic>
        <p:nvPicPr>
          <p:cNvPr id="47" name="Image 5" descr="preencoded.png">    </p:cNvPr>
          <p:cNvPicPr>
            <a:picLocks noChangeAspect="1"/>
          </p:cNvPicPr>
          <p:nvPr/>
        </p:nvPicPr>
        <p:blipFill>
          <a:blip r:embed="rId6"/>
          <a:stretch>
            <a:fillRect/>
          </a:stretch>
        </p:blipFill>
        <p:spPr>
          <a:xfrm>
            <a:off x="5602224" y="5513832"/>
            <a:ext cx="402336" cy="402336"/>
          </a:xfrm>
          <a:prstGeom prst="rect">
            <a:avLst/>
          </a:prstGeom>
        </p:spPr>
      </p:pic>
      <p:sp>
        <p:nvSpPr>
          <p:cNvPr id="48" name="Text 40"/>
          <p:cNvSpPr txBox="1"/>
          <p:nvPr/>
        </p:nvSpPr>
        <p:spPr>
          <a:xfrm>
            <a:off x="6132576" y="5257800"/>
            <a:ext cx="2447544" cy="914400"/>
          </a:xfrm>
          <a:prstGeom prst="rect">
            <a:avLst/>
          </a:prstGeom>
          <a:noFill/>
          <a:ln/>
        </p:spPr>
        <p:txBody>
          <a:bodyPr wrap="square" lIns="0" tIns="0" rIns="0" bIns="0" rtlCol="0" anchor="ctr"/>
          <a:lstStyle/>
          <a:p>
            <a:pPr indent="0" marL="0">
              <a:buNone/>
            </a:pPr>
            <a:r>
              <a:rPr lang="en-US" sz="1200" b="1" dirty="0">
                <a:solidFill>
                  <a:srgbClr val="13285B"/>
                </a:solidFill>
                <a:latin typeface="Calibri" pitchFamily="34" charset="0"/>
                <a:ea typeface="Calibri" pitchFamily="34" charset="-122"/>
                <a:cs typeface="Calibri" pitchFamily="34" charset="-120"/>
              </a:rPr>
              <a:t>Same yardstick on both sides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885 archetypes, one attribute extractor</a:t>
            </a:r>
            <a:endParaRPr lang="en-US" sz="1200" dirty="0"/>
          </a:p>
        </p:txBody>
      </p:sp>
      <p:pic>
        <p:nvPicPr>
          <p:cNvPr id="49" name="Image 6" descr="preencoded.png">    </p:cNvPr>
          <p:cNvPicPr>
            <a:picLocks noChangeAspect="1"/>
          </p:cNvPicPr>
          <p:nvPr/>
        </p:nvPicPr>
        <p:blipFill>
          <a:blip r:embed="rId7"/>
          <a:stretch>
            <a:fillRect/>
          </a:stretch>
        </p:blipFill>
        <p:spPr>
          <a:xfrm>
            <a:off x="8689848" y="5513832"/>
            <a:ext cx="402336" cy="402336"/>
          </a:xfrm>
          <a:prstGeom prst="rect">
            <a:avLst/>
          </a:prstGeom>
        </p:spPr>
      </p:pic>
      <p:sp>
        <p:nvSpPr>
          <p:cNvPr id="50" name="Text 41"/>
          <p:cNvSpPr txBox="1"/>
          <p:nvPr/>
        </p:nvSpPr>
        <p:spPr>
          <a:xfrm>
            <a:off x="9220200" y="5257800"/>
            <a:ext cx="2447544" cy="914400"/>
          </a:xfrm>
          <a:prstGeom prst="rect">
            <a:avLst/>
          </a:prstGeom>
          <a:noFill/>
          <a:ln/>
        </p:spPr>
        <p:txBody>
          <a:bodyPr wrap="square" lIns="0" tIns="0" rIns="0" bIns="0" rtlCol="0" anchor="ctr"/>
          <a:lstStyle/>
          <a:p>
            <a:pPr indent="0" marL="0">
              <a:buNone/>
            </a:pPr>
            <a:r>
              <a:rPr lang="en-US" sz="1200" b="1" dirty="0">
                <a:solidFill>
                  <a:srgbClr val="13285B"/>
                </a:solidFill>
                <a:latin typeface="Calibri" pitchFamily="34" charset="0"/>
                <a:ea typeface="Calibri" pitchFamily="34" charset="-122"/>
                <a:cs typeface="Calibri" pitchFamily="34" charset="-120"/>
              </a:rPr>
              <a:t>Two independent safety gates</a:t>
            </a:r>
            <a:endParaRPr lang="en-US" sz="1200" dirty="0"/>
          </a:p>
          <a:p>
            <a:pPr indent="0" marL="0">
              <a:buNone/>
            </a:pPr>
            <a:r>
              <a:rPr lang="en-US" sz="1200" dirty="0">
                <a:solidFill>
                  <a:srgbClr val="1F2937"/>
                </a:solidFill>
                <a:latin typeface="Calibri" pitchFamily="34" charset="0"/>
                <a:ea typeface="Calibri" pitchFamily="34" charset="-122"/>
                <a:cs typeface="Calibri" pitchFamily="34" charset="-120"/>
              </a:rPr>
              <a:t>cannibalisation checked twice</a:t>
            </a:r>
            <a:endParaRPr lang="en-US" sz="12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2026-10-13T05:13:07Z</dcterms:created>
  <dcterms:modified xsi:type="dcterms:W3CDTF">2026-10-13T05:13:07Z</dcterms:modified>
</cp:coreProperties>
</file>