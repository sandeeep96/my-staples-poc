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18bf6ed-82f4-322a-af6e-58bf8c9da0de}">
          <p14:sldIdLst>
            <p14:sldId id="256"/>
          </p14:sldIdLst>
        </p14:section>
        <p14:section name="Summary" id="{d885fb12-a300-d403-8df8-d893e46c8fd7}">
          <p14:sldIdLst>
            <p14:sldId id="257"/>
            <p14:sldId id="258"/>
          </p14:sldIdLst>
        </p14:section>
        <p14:section name="Demo" id="{1e56915e-88df-cc6f-5147-d7b73809159f}">
          <p14:sldIdLst>
            <p14:sldId id="259"/>
          </p14:sldIdLst>
        </p14:section>
        <p14:section name="Next steps" id="{f19efd9e-b9c8-4c01-57e3-2700dfe18ac5}">
          <p14:sldIdLst>
            <p14:sldId id="260"/>
            <p14:sldId id="261"/>
            <p14:sldId id="262"/>
          </p14:sldIdLst>
        </p14:section>
        <p14:section name="Appendix" id="{dd8c2ac0-cfc2-d2f9-07b6-738b4a290af3}">
          <p14:sldIdLst>
            <p14:sldId id="263"/>
            <p14:sldId id="264"/>
          </p14:sldIdLst>
        </p14:section>
        <p14:section name="Close" id="{36474820-bf96-a8b1-402e-41ef74bca51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fits Staples' Marketplace plan: the four principles from our first review, each tied to what the engine already does or the next step adds.
1 Build the basket first: acquiring the product for existing Staples customers comes before new-customer acquisition. Our headline picks are anchored to what Staples already sells; basket building is a growth path.
2 Curated, protect the core: a curated middle ground, not an everything store. The final gate keeps 3–10 picks per node (74 in total) and Method 1 holds back 4,103 of 16,512 competitor products (25%) as substitutes or undercuts; merchants then set tighter guardrails near core (step 2 of the engine).
3 Adjacent first, core later: start where Staples is not yet a destination and learn; water bottles (hydration), backpacks and lunch bags (travel/commute) are already scored; toys, luggage and tech accessories are config entries. Core gaps (e.g. luxe or smaller desks) are raised with the category merchants.
4 Launch &amp; learn: nothing is live yet, so load a confident first assortment and scale on live results.
Beyond internal reporting (if asked how this differs from running internal tools): internal data can't show what Staples doesn't carry; we measure both sides with one attribute instrument (885 archetypes); cannibalisation is screened by two independent methods.
Phased support (if asked how we would work): first organise the data and build the stories needed for the initial launch; then extend into Staples' internal data, more analyses and stakeholder use cases, using Staples' existing data and tools and adding external data where useful; the roadmap adapts to Staples' launch and scale plans rather than a fixed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How This Fits Staples' Marketplace Plan</a:t>
            </a:r>
            <a:endParaRPr lang="en-US" sz="2800" dirty="0"/>
          </a:p>
        </p:txBody>
      </p:sp>
      <p:sp>
        <p:nvSpPr>
          <p:cNvPr id="3" name="Shape 1"/>
          <p:cNvSpPr/>
          <p:nvPr/>
        </p:nvSpPr>
        <p:spPr>
          <a:xfrm>
            <a:off x="411480" y="1143000"/>
            <a:ext cx="2690622" cy="1371600"/>
          </a:xfrm>
          <a:prstGeom prst="roundRect">
            <a:avLst>
              <a:gd name="adj" fmla="val 5333"/>
            </a:avLst>
          </a:prstGeom>
          <a:solidFill>
            <a:srgbClr val="13285B"/>
          </a:solidFill>
          <a:ln w="12700">
            <a:solidFill>
              <a:srgbClr val="13285B"/>
            </a:solidFill>
            <a:prstDash val="solid"/>
          </a:ln>
        </p:spPr>
      </p:sp>
      <p:sp>
        <p:nvSpPr>
          <p:cNvPr id="4" name="Shape 2"/>
          <p:cNvSpPr/>
          <p:nvPr/>
        </p:nvSpPr>
        <p:spPr>
          <a:xfrm>
            <a:off x="557784" y="1289304"/>
            <a:ext cx="457200" cy="457200"/>
          </a:xfrm>
          <a:prstGeom prst="ellipse">
            <a:avLst/>
          </a:prstGeom>
          <a:solidFill>
            <a:srgbClr val="2F6FD0"/>
          </a:solidFill>
          <a:ln w="12700">
            <a:solidFill>
              <a:srgbClr val="2F6FD0"/>
            </a:solidFill>
            <a:prstDash val="solid"/>
          </a:ln>
        </p:spPr>
      </p:sp>
      <p:pic>
        <p:nvPicPr>
          <p:cNvPr id="5" name="Image 0" descr="preencoded.png">    </p:cNvPr>
          <p:cNvPicPr>
            <a:picLocks noChangeAspect="1"/>
          </p:cNvPicPr>
          <p:nvPr/>
        </p:nvPicPr>
        <p:blipFill>
          <a:blip r:embed="rId1"/>
          <a:stretch>
            <a:fillRect/>
          </a:stretch>
        </p:blipFill>
        <p:spPr>
          <a:xfrm>
            <a:off x="658368" y="1389888"/>
            <a:ext cx="256032" cy="256032"/>
          </a:xfrm>
          <a:prstGeom prst="rect">
            <a:avLst/>
          </a:prstGeom>
        </p:spPr>
      </p:pic>
      <p:sp>
        <p:nvSpPr>
          <p:cNvPr id="6" name="Text 3"/>
          <p:cNvSpPr txBox="1"/>
          <p:nvPr/>
        </p:nvSpPr>
        <p:spPr>
          <a:xfrm>
            <a:off x="112471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7" name="Text 4"/>
          <p:cNvSpPr txBox="1"/>
          <p:nvPr/>
        </p:nvSpPr>
        <p:spPr>
          <a:xfrm>
            <a:off x="112471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 the basket first</a:t>
            </a:r>
            <a:endParaRPr lang="en-US" sz="1350" dirty="0"/>
          </a:p>
        </p:txBody>
      </p:sp>
      <p:sp>
        <p:nvSpPr>
          <p:cNvPr id="8" name="Text 5"/>
          <p:cNvSpPr txBox="1"/>
          <p:nvPr/>
        </p:nvSpPr>
        <p:spPr>
          <a:xfrm>
            <a:off x="55778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Acquire the product for today's customers before chasing new ones</a:t>
            </a:r>
            <a:endParaRPr lang="en-US" sz="1050" dirty="0"/>
          </a:p>
        </p:txBody>
      </p:sp>
      <p:sp>
        <p:nvSpPr>
          <p:cNvPr id="9" name="Shape 6"/>
          <p:cNvSpPr/>
          <p:nvPr/>
        </p:nvSpPr>
        <p:spPr>
          <a:xfrm>
            <a:off x="1610487" y="2569464"/>
            <a:ext cx="292608" cy="256032"/>
          </a:xfrm>
          <a:prstGeom prst="downArrow">
            <a:avLst/>
          </a:prstGeom>
          <a:solidFill>
            <a:srgbClr val="A9C3EE"/>
          </a:solidFill>
          <a:ln w="12700">
            <a:solidFill>
              <a:srgbClr val="A9C3EE"/>
            </a:solidFill>
            <a:prstDash val="solid"/>
          </a:ln>
        </p:spPr>
      </p:sp>
      <p:sp>
        <p:nvSpPr>
          <p:cNvPr id="10" name="Shape 7"/>
          <p:cNvSpPr/>
          <p:nvPr/>
        </p:nvSpPr>
        <p:spPr>
          <a:xfrm>
            <a:off x="41148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Text 8"/>
          <p:cNvSpPr txBox="1"/>
          <p:nvPr/>
        </p:nvSpPr>
        <p:spPr>
          <a:xfrm>
            <a:off x="55778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12" name="Text 9"/>
          <p:cNvSpPr txBox="1"/>
          <p:nvPr/>
        </p:nvSpPr>
        <p:spPr>
          <a:xfrm>
            <a:off x="52120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Picks anchored to what Staples already sells: desks, bento, K-Cup drawers, barrel chair</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for existing customers (growth paths)</a:t>
            </a:r>
            <a:endParaRPr lang="en-US" sz="1200" dirty="0"/>
          </a:p>
        </p:txBody>
      </p:sp>
      <p:sp>
        <p:nvSpPr>
          <p:cNvPr id="13" name="Shape 10"/>
          <p:cNvSpPr/>
          <p:nvPr/>
        </p:nvSpPr>
        <p:spPr>
          <a:xfrm>
            <a:off x="3303270" y="1143000"/>
            <a:ext cx="2690622" cy="1371600"/>
          </a:xfrm>
          <a:prstGeom prst="roundRect">
            <a:avLst>
              <a:gd name="adj" fmla="val 5333"/>
            </a:avLst>
          </a:prstGeom>
          <a:solidFill>
            <a:srgbClr val="13285B"/>
          </a:solidFill>
          <a:ln w="12700">
            <a:solidFill>
              <a:srgbClr val="13285B"/>
            </a:solidFill>
            <a:prstDash val="solid"/>
          </a:ln>
        </p:spPr>
      </p:sp>
      <p:sp>
        <p:nvSpPr>
          <p:cNvPr id="14" name="Shape 11"/>
          <p:cNvSpPr/>
          <p:nvPr/>
        </p:nvSpPr>
        <p:spPr>
          <a:xfrm>
            <a:off x="3449574" y="1289304"/>
            <a:ext cx="457200" cy="457200"/>
          </a:xfrm>
          <a:prstGeom prst="ellipse">
            <a:avLst/>
          </a:prstGeom>
          <a:solidFill>
            <a:srgbClr val="2F6FD0"/>
          </a:solidFill>
          <a:ln w="12700">
            <a:solidFill>
              <a:srgbClr val="2F6FD0"/>
            </a:solidFill>
            <a:prstDash val="solid"/>
          </a:ln>
        </p:spPr>
      </p:sp>
      <p:pic>
        <p:nvPicPr>
          <p:cNvPr id="15" name="Image 1" descr="preencoded.png">    </p:cNvPr>
          <p:cNvPicPr>
            <a:picLocks noChangeAspect="1"/>
          </p:cNvPicPr>
          <p:nvPr/>
        </p:nvPicPr>
        <p:blipFill>
          <a:blip r:embed="rId2"/>
          <a:stretch>
            <a:fillRect/>
          </a:stretch>
        </p:blipFill>
        <p:spPr>
          <a:xfrm>
            <a:off x="3550158" y="1389888"/>
            <a:ext cx="256032" cy="256032"/>
          </a:xfrm>
          <a:prstGeom prst="rect">
            <a:avLst/>
          </a:prstGeom>
        </p:spPr>
      </p:pic>
      <p:sp>
        <p:nvSpPr>
          <p:cNvPr id="16" name="Text 12"/>
          <p:cNvSpPr txBox="1"/>
          <p:nvPr/>
        </p:nvSpPr>
        <p:spPr>
          <a:xfrm>
            <a:off x="401650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17" name="Text 13"/>
          <p:cNvSpPr txBox="1"/>
          <p:nvPr/>
        </p:nvSpPr>
        <p:spPr>
          <a:xfrm>
            <a:off x="401650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Curated, core protected</a:t>
            </a:r>
            <a:endParaRPr lang="en-US" sz="1350" dirty="0"/>
          </a:p>
        </p:txBody>
      </p:sp>
      <p:sp>
        <p:nvSpPr>
          <p:cNvPr id="18" name="Text 14"/>
          <p:cNvSpPr txBox="1"/>
          <p:nvPr/>
        </p:nvSpPr>
        <p:spPr>
          <a:xfrm>
            <a:off x="344957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 middle ground, not an everything store</a:t>
            </a:r>
            <a:endParaRPr lang="en-US" sz="1050" dirty="0"/>
          </a:p>
        </p:txBody>
      </p:sp>
      <p:sp>
        <p:nvSpPr>
          <p:cNvPr id="19" name="Shape 15"/>
          <p:cNvSpPr/>
          <p:nvPr/>
        </p:nvSpPr>
        <p:spPr>
          <a:xfrm>
            <a:off x="4502277" y="2569464"/>
            <a:ext cx="292608" cy="256032"/>
          </a:xfrm>
          <a:prstGeom prst="downArrow">
            <a:avLst/>
          </a:prstGeom>
          <a:solidFill>
            <a:srgbClr val="A9C3EE"/>
          </a:solidFill>
          <a:ln w="12700">
            <a:solidFill>
              <a:srgbClr val="A9C3EE"/>
            </a:solidFill>
            <a:prstDash val="solid"/>
          </a:ln>
        </p:spPr>
      </p:sp>
      <p:sp>
        <p:nvSpPr>
          <p:cNvPr id="20" name="Shape 16"/>
          <p:cNvSpPr/>
          <p:nvPr/>
        </p:nvSpPr>
        <p:spPr>
          <a:xfrm>
            <a:off x="330327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1" name="Text 17"/>
          <p:cNvSpPr txBox="1"/>
          <p:nvPr/>
        </p:nvSpPr>
        <p:spPr>
          <a:xfrm>
            <a:off x="344957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22" name="Text 18"/>
          <p:cNvSpPr txBox="1"/>
          <p:nvPr/>
        </p:nvSpPr>
        <p:spPr>
          <a:xfrm>
            <a:off x="341299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3–10 picks per node; 74 in total</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25% of competitor products held back as substitutes or undercuts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guardrails set by merchants (step 2)</a:t>
            </a:r>
            <a:endParaRPr lang="en-US" sz="1200" dirty="0"/>
          </a:p>
        </p:txBody>
      </p:sp>
      <p:sp>
        <p:nvSpPr>
          <p:cNvPr id="23" name="Shape 19"/>
          <p:cNvSpPr/>
          <p:nvPr/>
        </p:nvSpPr>
        <p:spPr>
          <a:xfrm>
            <a:off x="6195060" y="1143000"/>
            <a:ext cx="2690622" cy="1371600"/>
          </a:xfrm>
          <a:prstGeom prst="roundRect">
            <a:avLst>
              <a:gd name="adj" fmla="val 5333"/>
            </a:avLst>
          </a:prstGeom>
          <a:solidFill>
            <a:srgbClr val="13285B"/>
          </a:solidFill>
          <a:ln w="12700">
            <a:solidFill>
              <a:srgbClr val="13285B"/>
            </a:solidFill>
            <a:prstDash val="solid"/>
          </a:ln>
        </p:spPr>
      </p:sp>
      <p:sp>
        <p:nvSpPr>
          <p:cNvPr id="24" name="Shape 20"/>
          <p:cNvSpPr/>
          <p:nvPr/>
        </p:nvSpPr>
        <p:spPr>
          <a:xfrm>
            <a:off x="6341364" y="1289304"/>
            <a:ext cx="457200" cy="457200"/>
          </a:xfrm>
          <a:prstGeom prst="ellipse">
            <a:avLst/>
          </a:prstGeom>
          <a:solidFill>
            <a:srgbClr val="2F6FD0"/>
          </a:solidFill>
          <a:ln w="12700">
            <a:solidFill>
              <a:srgbClr val="2F6FD0"/>
            </a:solidFill>
            <a:prstDash val="solid"/>
          </a:ln>
        </p:spPr>
      </p:sp>
      <p:pic>
        <p:nvPicPr>
          <p:cNvPr id="25" name="Image 2" descr="preencoded.png">    </p:cNvPr>
          <p:cNvPicPr>
            <a:picLocks noChangeAspect="1"/>
          </p:cNvPicPr>
          <p:nvPr/>
        </p:nvPicPr>
        <p:blipFill>
          <a:blip r:embed="rId3"/>
          <a:stretch>
            <a:fillRect/>
          </a:stretch>
        </p:blipFill>
        <p:spPr>
          <a:xfrm>
            <a:off x="6441948" y="1389888"/>
            <a:ext cx="256032" cy="256032"/>
          </a:xfrm>
          <a:prstGeom prst="rect">
            <a:avLst/>
          </a:prstGeom>
        </p:spPr>
      </p:pic>
      <p:sp>
        <p:nvSpPr>
          <p:cNvPr id="26" name="Text 21"/>
          <p:cNvSpPr txBox="1"/>
          <p:nvPr/>
        </p:nvSpPr>
        <p:spPr>
          <a:xfrm>
            <a:off x="690829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27" name="Text 22"/>
          <p:cNvSpPr txBox="1"/>
          <p:nvPr/>
        </p:nvSpPr>
        <p:spPr>
          <a:xfrm>
            <a:off x="690829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Adjacent first, core later</a:t>
            </a:r>
            <a:endParaRPr lang="en-US" sz="1350" dirty="0"/>
          </a:p>
        </p:txBody>
      </p:sp>
      <p:sp>
        <p:nvSpPr>
          <p:cNvPr id="28" name="Text 23"/>
          <p:cNvSpPr txBox="1"/>
          <p:nvPr/>
        </p:nvSpPr>
        <p:spPr>
          <a:xfrm>
            <a:off x="634136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Learn where Staples is not yet a destination</a:t>
            </a:r>
            <a:endParaRPr lang="en-US" sz="1050" dirty="0"/>
          </a:p>
        </p:txBody>
      </p:sp>
      <p:sp>
        <p:nvSpPr>
          <p:cNvPr id="29" name="Shape 24"/>
          <p:cNvSpPr/>
          <p:nvPr/>
        </p:nvSpPr>
        <p:spPr>
          <a:xfrm>
            <a:off x="7394067" y="2569464"/>
            <a:ext cx="292608" cy="256032"/>
          </a:xfrm>
          <a:prstGeom prst="downArrow">
            <a:avLst/>
          </a:prstGeom>
          <a:solidFill>
            <a:srgbClr val="A9C3EE"/>
          </a:solidFill>
          <a:ln w="12700">
            <a:solidFill>
              <a:srgbClr val="A9C3EE"/>
            </a:solidFill>
            <a:prstDash val="solid"/>
          </a:ln>
        </p:spPr>
      </p:sp>
      <p:sp>
        <p:nvSpPr>
          <p:cNvPr id="30" name="Shape 25"/>
          <p:cNvSpPr/>
          <p:nvPr/>
        </p:nvSpPr>
        <p:spPr>
          <a:xfrm>
            <a:off x="619506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1" name="Text 26"/>
          <p:cNvSpPr txBox="1"/>
          <p:nvPr/>
        </p:nvSpPr>
        <p:spPr>
          <a:xfrm>
            <a:off x="634136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32" name="Text 27"/>
          <p:cNvSpPr txBox="1"/>
          <p:nvPr/>
        </p:nvSpPr>
        <p:spPr>
          <a:xfrm>
            <a:off x="630478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Hydration and travel/commute already among our 12 nodes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New categories: config only, no new code (step 3)</a:t>
            </a:r>
            <a:endParaRPr lang="en-US" sz="1200" dirty="0"/>
          </a:p>
        </p:txBody>
      </p:sp>
      <p:sp>
        <p:nvSpPr>
          <p:cNvPr id="33" name="Shape 28"/>
          <p:cNvSpPr/>
          <p:nvPr/>
        </p:nvSpPr>
        <p:spPr>
          <a:xfrm>
            <a:off x="9086850" y="1143000"/>
            <a:ext cx="2690622" cy="1371600"/>
          </a:xfrm>
          <a:prstGeom prst="roundRect">
            <a:avLst>
              <a:gd name="adj" fmla="val 5333"/>
            </a:avLst>
          </a:prstGeom>
          <a:solidFill>
            <a:srgbClr val="13285B"/>
          </a:solidFill>
          <a:ln w="12700">
            <a:solidFill>
              <a:srgbClr val="13285B"/>
            </a:solidFill>
            <a:prstDash val="solid"/>
          </a:ln>
        </p:spPr>
      </p:sp>
      <p:sp>
        <p:nvSpPr>
          <p:cNvPr id="34" name="Shape 29"/>
          <p:cNvSpPr/>
          <p:nvPr/>
        </p:nvSpPr>
        <p:spPr>
          <a:xfrm>
            <a:off x="9233154" y="1289304"/>
            <a:ext cx="457200" cy="457200"/>
          </a:xfrm>
          <a:prstGeom prst="ellipse">
            <a:avLst/>
          </a:prstGeom>
          <a:solidFill>
            <a:srgbClr val="2F6FD0"/>
          </a:solidFill>
          <a:ln w="12700">
            <a:solidFill>
              <a:srgbClr val="2F6FD0"/>
            </a:solidFill>
            <a:prstDash val="solid"/>
          </a:ln>
        </p:spPr>
      </p:sp>
      <p:pic>
        <p:nvPicPr>
          <p:cNvPr id="35" name="Image 3" descr="preencoded.png">    </p:cNvPr>
          <p:cNvPicPr>
            <a:picLocks noChangeAspect="1"/>
          </p:cNvPicPr>
          <p:nvPr/>
        </p:nvPicPr>
        <p:blipFill>
          <a:blip r:embed="rId4"/>
          <a:stretch>
            <a:fillRect/>
          </a:stretch>
        </p:blipFill>
        <p:spPr>
          <a:xfrm>
            <a:off x="9333738" y="1389888"/>
            <a:ext cx="256032" cy="256032"/>
          </a:xfrm>
          <a:prstGeom prst="rect">
            <a:avLst/>
          </a:prstGeom>
        </p:spPr>
      </p:pic>
      <p:sp>
        <p:nvSpPr>
          <p:cNvPr id="36" name="Text 30"/>
          <p:cNvSpPr txBox="1"/>
          <p:nvPr/>
        </p:nvSpPr>
        <p:spPr>
          <a:xfrm>
            <a:off x="980008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37" name="Text 31"/>
          <p:cNvSpPr txBox="1"/>
          <p:nvPr/>
        </p:nvSpPr>
        <p:spPr>
          <a:xfrm>
            <a:off x="980008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Launch &amp; learn</a:t>
            </a:r>
            <a:endParaRPr lang="en-US" sz="1350" dirty="0"/>
          </a:p>
        </p:txBody>
      </p:sp>
      <p:sp>
        <p:nvSpPr>
          <p:cNvPr id="38" name="Text 32"/>
          <p:cNvSpPr txBox="1"/>
          <p:nvPr/>
        </p:nvSpPr>
        <p:spPr>
          <a:xfrm>
            <a:off x="923315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Load with confidence, then scale on evidence</a:t>
            </a:r>
            <a:endParaRPr lang="en-US" sz="1050" dirty="0"/>
          </a:p>
        </p:txBody>
      </p:sp>
      <p:sp>
        <p:nvSpPr>
          <p:cNvPr id="39" name="Shape 33"/>
          <p:cNvSpPr/>
          <p:nvPr/>
        </p:nvSpPr>
        <p:spPr>
          <a:xfrm>
            <a:off x="10285857" y="2569464"/>
            <a:ext cx="292608" cy="256032"/>
          </a:xfrm>
          <a:prstGeom prst="downArrow">
            <a:avLst/>
          </a:prstGeom>
          <a:solidFill>
            <a:srgbClr val="A9C3EE"/>
          </a:solidFill>
          <a:ln w="12700">
            <a:solidFill>
              <a:srgbClr val="A9C3EE"/>
            </a:solidFill>
            <a:prstDash val="solid"/>
          </a:ln>
        </p:spPr>
      </p:sp>
      <p:sp>
        <p:nvSpPr>
          <p:cNvPr id="40" name="Shape 34"/>
          <p:cNvSpPr/>
          <p:nvPr/>
        </p:nvSpPr>
        <p:spPr>
          <a:xfrm>
            <a:off x="908685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Text 35"/>
          <p:cNvSpPr txBox="1"/>
          <p:nvPr/>
        </p:nvSpPr>
        <p:spPr>
          <a:xfrm>
            <a:off x="923315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42" name="Text 36"/>
          <p:cNvSpPr txBox="1"/>
          <p:nvPr/>
        </p:nvSpPr>
        <p:spPr>
          <a:xfrm>
            <a:off x="919657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 confident first assortment, not every item</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Scale on live results; quarterly re-crawls (step 5)</a:t>
            </a:r>
            <a:endParaRPr lang="en-US" sz="1200" dirty="0"/>
          </a:p>
        </p:txBody>
      </p:sp>
      <p:sp>
        <p:nvSpPr>
          <p:cNvPr id="43" name="Shape 37"/>
          <p:cNvSpPr/>
          <p:nvPr/>
        </p:nvSpPr>
        <p:spPr>
          <a:xfrm>
            <a:off x="411480" y="5120640"/>
            <a:ext cx="11365992" cy="1188720"/>
          </a:xfrm>
          <a:prstGeom prst="roundRect">
            <a:avLst>
              <a:gd name="adj" fmla="val 6154"/>
            </a:avLst>
          </a:prstGeom>
          <a:solidFill>
            <a:srgbClr val="EEF3FB"/>
          </a:solidFill>
          <a:ln w="9525">
            <a:solidFill>
              <a:srgbClr val="8FB0E8"/>
            </a:solidFill>
            <a:prstDash val="solid"/>
          </a:ln>
        </p:spPr>
      </p:sp>
      <p:sp>
        <p:nvSpPr>
          <p:cNvPr id="44" name="Text 38"/>
          <p:cNvSpPr txBox="1"/>
          <p:nvPr/>
        </p:nvSpPr>
        <p:spPr>
          <a:xfrm>
            <a:off x="566928" y="5120640"/>
            <a:ext cx="1828800" cy="1188720"/>
          </a:xfrm>
          <a:prstGeom prst="rect">
            <a:avLst/>
          </a:prstGeom>
          <a:noFill/>
          <a:ln/>
        </p:spPr>
        <p:txBody>
          <a:bodyPr wrap="square" lIns="0" tIns="0" rIns="0" bIns="0" rtlCol="0" anchor="ctr"/>
          <a:lstStyle/>
          <a:p>
            <a:pPr indent="0" marL="0">
              <a:buNone/>
            </a:pPr>
            <a:r>
              <a:rPr lang="en-US" sz="1100" b="1" spc="100" kern="0" dirty="0">
                <a:solidFill>
                  <a:srgbClr val="1F4E9A"/>
                </a:solidFill>
                <a:latin typeface="Calibri" pitchFamily="34" charset="0"/>
                <a:ea typeface="Calibri" pitchFamily="34" charset="-122"/>
                <a:cs typeface="Calibri" pitchFamily="34" charset="-120"/>
              </a:rPr>
              <a:t>BEYOND INTERNAL REPORTING</a:t>
            </a:r>
            <a:endParaRPr lang="en-US" sz="1100" dirty="0"/>
          </a:p>
        </p:txBody>
      </p:sp>
      <p:pic>
        <p:nvPicPr>
          <p:cNvPr id="45" name="Image 4" descr="preencoded.png">    </p:cNvPr>
          <p:cNvPicPr>
            <a:picLocks noChangeAspect="1"/>
          </p:cNvPicPr>
          <p:nvPr/>
        </p:nvPicPr>
        <p:blipFill>
          <a:blip r:embed="rId5"/>
          <a:stretch>
            <a:fillRect/>
          </a:stretch>
        </p:blipFill>
        <p:spPr>
          <a:xfrm>
            <a:off x="2514600" y="5513832"/>
            <a:ext cx="402336" cy="402336"/>
          </a:xfrm>
          <a:prstGeom prst="rect">
            <a:avLst/>
          </a:prstGeom>
        </p:spPr>
      </p:pic>
      <p:sp>
        <p:nvSpPr>
          <p:cNvPr id="46" name="Text 39"/>
          <p:cNvSpPr txBox="1"/>
          <p:nvPr/>
        </p:nvSpPr>
        <p:spPr>
          <a:xfrm>
            <a:off x="3044952"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Sees outside Staples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the competitor side internal data can't show</a:t>
            </a:r>
            <a:endParaRPr lang="en-US" sz="1200" dirty="0"/>
          </a:p>
        </p:txBody>
      </p:sp>
      <p:pic>
        <p:nvPicPr>
          <p:cNvPr id="47" name="Image 5" descr="preencoded.png">    </p:cNvPr>
          <p:cNvPicPr>
            <a:picLocks noChangeAspect="1"/>
          </p:cNvPicPr>
          <p:nvPr/>
        </p:nvPicPr>
        <p:blipFill>
          <a:blip r:embed="rId6"/>
          <a:stretch>
            <a:fillRect/>
          </a:stretch>
        </p:blipFill>
        <p:spPr>
          <a:xfrm>
            <a:off x="5602224" y="5513832"/>
            <a:ext cx="402336" cy="402336"/>
          </a:xfrm>
          <a:prstGeom prst="rect">
            <a:avLst/>
          </a:prstGeom>
        </p:spPr>
      </p:pic>
      <p:sp>
        <p:nvSpPr>
          <p:cNvPr id="48" name="Text 40"/>
          <p:cNvSpPr txBox="1"/>
          <p:nvPr/>
        </p:nvSpPr>
        <p:spPr>
          <a:xfrm>
            <a:off x="6132576"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Same yardstick on both sides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885 archetypes, one attribute extractor</a:t>
            </a:r>
            <a:endParaRPr lang="en-US" sz="1200" dirty="0"/>
          </a:p>
        </p:txBody>
      </p:sp>
      <p:pic>
        <p:nvPicPr>
          <p:cNvPr id="49" name="Image 6" descr="preencoded.png">    </p:cNvPr>
          <p:cNvPicPr>
            <a:picLocks noChangeAspect="1"/>
          </p:cNvPicPr>
          <p:nvPr/>
        </p:nvPicPr>
        <p:blipFill>
          <a:blip r:embed="rId7"/>
          <a:stretch>
            <a:fillRect/>
          </a:stretch>
        </p:blipFill>
        <p:spPr>
          <a:xfrm>
            <a:off x="8689848" y="5513832"/>
            <a:ext cx="402336" cy="402336"/>
          </a:xfrm>
          <a:prstGeom prst="rect">
            <a:avLst/>
          </a:prstGeom>
        </p:spPr>
      </p:pic>
      <p:sp>
        <p:nvSpPr>
          <p:cNvPr id="50" name="Text 41"/>
          <p:cNvSpPr txBox="1"/>
          <p:nvPr/>
        </p:nvSpPr>
        <p:spPr>
          <a:xfrm>
            <a:off x="9220200"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Two independent safety gates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cannibalisation checked twice</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2026-10-13T06:18:49Z</dcterms:created>
  <dcterms:modified xsi:type="dcterms:W3CDTF">2026-10-13T06:18:49Z</dcterms:modified>
</cp:coreProperties>
</file>