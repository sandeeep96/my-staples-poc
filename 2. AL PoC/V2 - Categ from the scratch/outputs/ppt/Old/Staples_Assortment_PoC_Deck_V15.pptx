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c13788-418a-1616-6fc1-97b209cd062f}">
          <p14:sldIdLst>
            <p14:sldId id="256"/>
          </p14:sldIdLst>
        </p14:section>
        <p14:section name="Summary" id="{256c2285-f56c-a03e-02ac-05077f9cdeb0}">
          <p14:sldIdLst>
            <p14:sldId id="257"/>
            <p14:sldId id="258"/>
          </p14:sldIdLst>
        </p14:section>
        <p14:section name="Demo" id="{6de6d38d-ff7f-ce8a-9a08-deaa99bce654}">
          <p14:sldIdLst>
            <p14:sldId id="259"/>
          </p14:sldIdLst>
        </p14:section>
        <p14:section name="Next steps" id="{bc3e39e2-2f50-33f7-1287-6a35ee5ad7a4}">
          <p14:sldIdLst>
            <p14:sldId id="260"/>
            <p14:sldId id="261"/>
            <p14:sldId id="262"/>
            <p14:sldId id="263"/>
          </p14:sldIdLst>
        </p14:section>
        <p14:section name="Appendix" id="{da5a4876-f40f-62b3-f964-46c5a1fdd4f9}">
          <p14:sldIdLst>
            <p14:sldId id="264"/>
            <p14:sldId id="265"/>
          </p14:sldIdLst>
        </p14:section>
        <p14:section name="Close" id="{01affd73-5c9c-cd83-af39-79f3d3b495b7}">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model: three tiers, each pairing Staples and LatentView, with a set cadence; issues move up a tier when they need a decision.
Executive team (quarterly): Staples leadership with LatentView leadership. Quarterly business review for value, excellence and innovation; quarterly discussions on long-term planning and strategic alignment; a monthly executive briefing on strategic updates, key risks and mitigation.
Project team (monthly / quarterly): Staples team leads and stakeholders with LatentView client partners and account managers, who collectively own program management. Monthly business review on milestones, feedback and scope; weekly newsletters on project health with critical issues and dependencies escalated.
Delivery team (daily / weekly): the Staples team lead works with the LatentView program manager and a data engineering, BI and data science team. Daily stand-ups with the program manager; weekly review meetings on progress, challenges and upcoming tasks; monthly sprint planning and cross-workstream meetings; a quarterly inspect-and-adapt.
LatentView value adds and investments: access to a scalable analytics team; org expertise from the data engineering and data science &amp; AI horizontals, the BI and supply-chain centres of excellence and service delivery excellence; a buffer pool of trained engineers, scientists, analysts and BI developers for contingency.
How we communicate: maximum transparency, feedback on the partnership and team, insight into team utilisation, identifying opportunities, and new ideas across multiple frontiers. The cadence scales with the phase on the growth plan: light while we build the launch stories, fuller once Staples' data joins.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200" b="1" dirty="0">
                <a:solidFill>
                  <a:srgbClr val="1F4E9A"/>
                </a:solidFill>
                <a:latin typeface="Calibri" pitchFamily="34" charset="0"/>
                <a:ea typeface="Calibri" pitchFamily="34" charset="-122"/>
                <a:cs typeface="Calibri" pitchFamily="34" charset="-120"/>
              </a:rPr>
              <a:t>Our Governance Model ensures effective oversight and collaboration between LatentView and Staples</a:t>
            </a:r>
            <a:endParaRPr lang="en-US" sz="2800" dirty="0"/>
          </a:p>
        </p:txBody>
      </p:sp>
      <p:sp>
        <p:nvSpPr>
          <p:cNvPr id="3" name="Shape 1"/>
          <p:cNvSpPr/>
          <p:nvPr/>
        </p:nvSpPr>
        <p:spPr>
          <a:xfrm>
            <a:off x="274320" y="1051560"/>
            <a:ext cx="8366760" cy="347472"/>
          </a:xfrm>
          <a:prstGeom prst="rect">
            <a:avLst/>
          </a:prstGeom>
          <a:solidFill>
            <a:srgbClr val="13285B"/>
          </a:solidFill>
          <a:ln w="12700">
            <a:solidFill>
              <a:srgbClr val="13285B"/>
            </a:solidFill>
            <a:prstDash val="solid"/>
          </a:ln>
        </p:spPr>
      </p:sp>
      <p:sp>
        <p:nvSpPr>
          <p:cNvPr id="4" name="Text 2"/>
          <p:cNvSpPr txBox="1"/>
          <p:nvPr/>
        </p:nvSpPr>
        <p:spPr>
          <a:xfrm>
            <a:off x="320040" y="1051560"/>
            <a:ext cx="82753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3-Tiered Robust Governance Structure with Cadence for Seamless Communication and Feedback Alignment</a:t>
            </a:r>
            <a:endParaRPr lang="en-US" sz="1150" dirty="0"/>
          </a:p>
        </p:txBody>
      </p:sp>
      <p:sp>
        <p:nvSpPr>
          <p:cNvPr id="5" name="Shape 3"/>
          <p:cNvSpPr/>
          <p:nvPr/>
        </p:nvSpPr>
        <p:spPr>
          <a:xfrm>
            <a:off x="8851392" y="1051560"/>
            <a:ext cx="2926080" cy="347472"/>
          </a:xfrm>
          <a:prstGeom prst="rect">
            <a:avLst/>
          </a:prstGeom>
          <a:solidFill>
            <a:srgbClr val="7E62A8"/>
          </a:solidFill>
          <a:ln w="12700">
            <a:solidFill>
              <a:srgbClr val="7E62A8"/>
            </a:solidFill>
            <a:prstDash val="solid"/>
          </a:ln>
        </p:spPr>
      </p:sp>
      <p:sp>
        <p:nvSpPr>
          <p:cNvPr id="6" name="Text 4"/>
          <p:cNvSpPr txBox="1"/>
          <p:nvPr/>
        </p:nvSpPr>
        <p:spPr>
          <a:xfrm>
            <a:off x="8851392" y="1051560"/>
            <a:ext cx="2926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LatentView Value Adds &amp; Investments</a:t>
            </a:r>
            <a:endParaRPr lang="en-US" sz="1100" dirty="0"/>
          </a:p>
        </p:txBody>
      </p:sp>
      <p:sp>
        <p:nvSpPr>
          <p:cNvPr id="7" name="Text 5"/>
          <p:cNvSpPr txBox="1"/>
          <p:nvPr/>
        </p:nvSpPr>
        <p:spPr>
          <a:xfrm>
            <a:off x="274320" y="1572768"/>
            <a:ext cx="1691640" cy="274320"/>
          </a:xfrm>
          <a:prstGeom prst="rect">
            <a:avLst/>
          </a:prstGeom>
          <a:noFill/>
          <a:ln/>
        </p:spPr>
        <p:txBody>
          <a:bodyPr wrap="square" lIns="0" tIns="0" rIns="0" bIns="0" rtlCol="0" anchor="ctr"/>
          <a:lstStyle/>
          <a:p>
            <a:pPr indent="0" marL="0">
              <a:buNone/>
            </a:pPr>
            <a:r>
              <a:rPr lang="en-US" sz="1250" b="1" dirty="0">
                <a:solidFill>
                  <a:srgbClr val="1F4E9A"/>
                </a:solidFill>
                <a:latin typeface="Calibri" pitchFamily="34" charset="0"/>
                <a:ea typeface="Calibri" pitchFamily="34" charset="-122"/>
                <a:cs typeface="Calibri" pitchFamily="34" charset="-120"/>
              </a:rPr>
              <a:t>Executive Team</a:t>
            </a:r>
            <a:endParaRPr lang="en-US" sz="1250" dirty="0"/>
          </a:p>
        </p:txBody>
      </p:sp>
      <p:sp>
        <p:nvSpPr>
          <p:cNvPr id="8" name="Text 6"/>
          <p:cNvSpPr txBox="1"/>
          <p:nvPr/>
        </p:nvSpPr>
        <p:spPr>
          <a:xfrm>
            <a:off x="274320" y="1847088"/>
            <a:ext cx="1691640" cy="219456"/>
          </a:xfrm>
          <a:prstGeom prst="rect">
            <a:avLst/>
          </a:prstGeom>
          <a:noFill/>
          <a:ln/>
        </p:spPr>
        <p:txBody>
          <a:bodyPr wrap="square" lIns="0" tIns="0" rIns="0" bIns="0" rtlCol="0" anchor="ctr"/>
          <a:lstStyle/>
          <a:p>
            <a:pPr indent="0" marL="0">
              <a:buNone/>
            </a:pPr>
            <a:r>
              <a:rPr lang="en-US" sz="1050" b="1" i="1" dirty="0">
                <a:solidFill>
                  <a:srgbClr val="A31515"/>
                </a:solidFill>
                <a:latin typeface="Calibri" pitchFamily="34" charset="0"/>
                <a:ea typeface="Calibri" pitchFamily="34" charset="-122"/>
                <a:cs typeface="Calibri" pitchFamily="34" charset="-120"/>
              </a:rPr>
              <a:t>Quarterly</a:t>
            </a:r>
            <a:endParaRPr lang="en-US" sz="1050" dirty="0"/>
          </a:p>
        </p:txBody>
      </p:sp>
      <p:sp>
        <p:nvSpPr>
          <p:cNvPr id="9" name="Text 7"/>
          <p:cNvSpPr txBox="1"/>
          <p:nvPr/>
        </p:nvSpPr>
        <p:spPr>
          <a:xfrm>
            <a:off x="274320" y="2103120"/>
            <a:ext cx="1783080" cy="420624"/>
          </a:xfrm>
          <a:prstGeom prst="rect">
            <a:avLst/>
          </a:prstGeom>
          <a:noFill/>
          <a:ln/>
        </p:spPr>
        <p:txBody>
          <a:bodyPr wrap="square" lIns="0" tIns="0" rIns="0" bIns="0" rtlCol="0" anchor="t"/>
          <a:lstStyle/>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Quarterly business review</a:t>
            </a:r>
            <a:endParaRPr lang="en-US" sz="900" dirty="0"/>
          </a:p>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Monthly executive briefing</a:t>
            </a:r>
            <a:endParaRPr lang="en-US" sz="900" dirty="0"/>
          </a:p>
        </p:txBody>
      </p:sp>
      <p:sp>
        <p:nvSpPr>
          <p:cNvPr id="10" name="Text 8"/>
          <p:cNvSpPr txBox="1"/>
          <p:nvPr/>
        </p:nvSpPr>
        <p:spPr>
          <a:xfrm>
            <a:off x="274320" y="2743200"/>
            <a:ext cx="1691640" cy="274320"/>
          </a:xfrm>
          <a:prstGeom prst="rect">
            <a:avLst/>
          </a:prstGeom>
          <a:noFill/>
          <a:ln/>
        </p:spPr>
        <p:txBody>
          <a:bodyPr wrap="square" lIns="0" tIns="0" rIns="0" bIns="0" rtlCol="0" anchor="ctr"/>
          <a:lstStyle/>
          <a:p>
            <a:pPr indent="0" marL="0">
              <a:buNone/>
            </a:pPr>
            <a:r>
              <a:rPr lang="en-US" sz="1250" b="1" dirty="0">
                <a:solidFill>
                  <a:srgbClr val="1F4E9A"/>
                </a:solidFill>
                <a:latin typeface="Calibri" pitchFamily="34" charset="0"/>
                <a:ea typeface="Calibri" pitchFamily="34" charset="-122"/>
                <a:cs typeface="Calibri" pitchFamily="34" charset="-120"/>
              </a:rPr>
              <a:t>Project Team</a:t>
            </a:r>
            <a:endParaRPr lang="en-US" sz="1250" dirty="0"/>
          </a:p>
        </p:txBody>
      </p:sp>
      <p:sp>
        <p:nvSpPr>
          <p:cNvPr id="11" name="Text 9"/>
          <p:cNvSpPr txBox="1"/>
          <p:nvPr/>
        </p:nvSpPr>
        <p:spPr>
          <a:xfrm>
            <a:off x="274320" y="3017520"/>
            <a:ext cx="1691640" cy="219456"/>
          </a:xfrm>
          <a:prstGeom prst="rect">
            <a:avLst/>
          </a:prstGeom>
          <a:noFill/>
          <a:ln/>
        </p:spPr>
        <p:txBody>
          <a:bodyPr wrap="square" lIns="0" tIns="0" rIns="0" bIns="0" rtlCol="0" anchor="ctr"/>
          <a:lstStyle/>
          <a:p>
            <a:pPr indent="0" marL="0">
              <a:buNone/>
            </a:pPr>
            <a:r>
              <a:rPr lang="en-US" sz="1050" b="1" i="1" dirty="0">
                <a:solidFill>
                  <a:srgbClr val="A31515"/>
                </a:solidFill>
                <a:latin typeface="Calibri" pitchFamily="34" charset="0"/>
                <a:ea typeface="Calibri" pitchFamily="34" charset="-122"/>
                <a:cs typeface="Calibri" pitchFamily="34" charset="-120"/>
              </a:rPr>
              <a:t>Monthly / Quarterly</a:t>
            </a:r>
            <a:endParaRPr lang="en-US" sz="1050" dirty="0"/>
          </a:p>
        </p:txBody>
      </p:sp>
      <p:sp>
        <p:nvSpPr>
          <p:cNvPr id="12" name="Text 10"/>
          <p:cNvSpPr txBox="1"/>
          <p:nvPr/>
        </p:nvSpPr>
        <p:spPr>
          <a:xfrm>
            <a:off x="274320" y="3273552"/>
            <a:ext cx="1783080" cy="420624"/>
          </a:xfrm>
          <a:prstGeom prst="rect">
            <a:avLst/>
          </a:prstGeom>
          <a:noFill/>
          <a:ln/>
        </p:spPr>
        <p:txBody>
          <a:bodyPr wrap="square" lIns="0" tIns="0" rIns="0" bIns="0" rtlCol="0" anchor="t"/>
          <a:lstStyle/>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Monthly business review</a:t>
            </a:r>
            <a:endParaRPr lang="en-US" sz="900" dirty="0"/>
          </a:p>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Weekly status newsletter</a:t>
            </a:r>
            <a:endParaRPr lang="en-US" sz="900" dirty="0"/>
          </a:p>
        </p:txBody>
      </p:sp>
      <p:sp>
        <p:nvSpPr>
          <p:cNvPr id="13" name="Text 11"/>
          <p:cNvSpPr txBox="1"/>
          <p:nvPr/>
        </p:nvSpPr>
        <p:spPr>
          <a:xfrm>
            <a:off x="274320" y="4407408"/>
            <a:ext cx="1691640" cy="274320"/>
          </a:xfrm>
          <a:prstGeom prst="rect">
            <a:avLst/>
          </a:prstGeom>
          <a:noFill/>
          <a:ln/>
        </p:spPr>
        <p:txBody>
          <a:bodyPr wrap="square" lIns="0" tIns="0" rIns="0" bIns="0" rtlCol="0" anchor="ctr"/>
          <a:lstStyle/>
          <a:p>
            <a:pPr indent="0" marL="0">
              <a:buNone/>
            </a:pPr>
            <a:r>
              <a:rPr lang="en-US" sz="1250" b="1" dirty="0">
                <a:solidFill>
                  <a:srgbClr val="1F4E9A"/>
                </a:solidFill>
                <a:latin typeface="Calibri" pitchFamily="34" charset="0"/>
                <a:ea typeface="Calibri" pitchFamily="34" charset="-122"/>
                <a:cs typeface="Calibri" pitchFamily="34" charset="-120"/>
              </a:rPr>
              <a:t>Delivery Team</a:t>
            </a:r>
            <a:endParaRPr lang="en-US" sz="1250" dirty="0"/>
          </a:p>
        </p:txBody>
      </p:sp>
      <p:sp>
        <p:nvSpPr>
          <p:cNvPr id="14" name="Text 12"/>
          <p:cNvSpPr txBox="1"/>
          <p:nvPr/>
        </p:nvSpPr>
        <p:spPr>
          <a:xfrm>
            <a:off x="274320" y="4681728"/>
            <a:ext cx="1691640" cy="219456"/>
          </a:xfrm>
          <a:prstGeom prst="rect">
            <a:avLst/>
          </a:prstGeom>
          <a:noFill/>
          <a:ln/>
        </p:spPr>
        <p:txBody>
          <a:bodyPr wrap="square" lIns="0" tIns="0" rIns="0" bIns="0" rtlCol="0" anchor="ctr"/>
          <a:lstStyle/>
          <a:p>
            <a:pPr indent="0" marL="0">
              <a:buNone/>
            </a:pPr>
            <a:r>
              <a:rPr lang="en-US" sz="1050" b="1" i="1" dirty="0">
                <a:solidFill>
                  <a:srgbClr val="A31515"/>
                </a:solidFill>
                <a:latin typeface="Calibri" pitchFamily="34" charset="0"/>
                <a:ea typeface="Calibri" pitchFamily="34" charset="-122"/>
                <a:cs typeface="Calibri" pitchFamily="34" charset="-120"/>
              </a:rPr>
              <a:t>Daily / Weekly</a:t>
            </a:r>
            <a:endParaRPr lang="en-US" sz="1050" dirty="0"/>
          </a:p>
        </p:txBody>
      </p:sp>
      <p:sp>
        <p:nvSpPr>
          <p:cNvPr id="15" name="Text 13"/>
          <p:cNvSpPr txBox="1"/>
          <p:nvPr/>
        </p:nvSpPr>
        <p:spPr>
          <a:xfrm>
            <a:off x="274320" y="4937760"/>
            <a:ext cx="1783080" cy="603504"/>
          </a:xfrm>
          <a:prstGeom prst="rect">
            <a:avLst/>
          </a:prstGeom>
          <a:noFill/>
          <a:ln/>
        </p:spPr>
        <p:txBody>
          <a:bodyPr wrap="square" lIns="0" tIns="0" rIns="0" bIns="0" rtlCol="0" anchor="t"/>
          <a:lstStyle/>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Daily stand-ups</a:t>
            </a:r>
            <a:endParaRPr lang="en-US" sz="900" dirty="0"/>
          </a:p>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Weekly reviews</a:t>
            </a:r>
            <a:endParaRPr lang="en-US" sz="900" dirty="0"/>
          </a:p>
          <a:p>
            <a:pPr marL="114300" indent="-114300">
              <a:spcAft>
                <a:spcPts val="100"/>
              </a:spcAft>
              <a:buSzPct val="100000"/>
              <a:buChar char="•"/>
            </a:pPr>
            <a:r>
              <a:rPr lang="en-US" sz="900" dirty="0">
                <a:solidFill>
                  <a:srgbClr val="1F2937"/>
                </a:solidFill>
                <a:latin typeface="Calibri" pitchFamily="34" charset="0"/>
                <a:ea typeface="Calibri" pitchFamily="34" charset="-122"/>
                <a:cs typeface="Calibri" pitchFamily="34" charset="-120"/>
              </a:rPr>
              <a:t>Sprint planning</a:t>
            </a:r>
            <a:endParaRPr lang="en-US" sz="900" dirty="0"/>
          </a:p>
        </p:txBody>
      </p:sp>
      <p:sp>
        <p:nvSpPr>
          <p:cNvPr id="16" name="Shape 14"/>
          <p:cNvSpPr/>
          <p:nvPr/>
        </p:nvSpPr>
        <p:spPr>
          <a:xfrm>
            <a:off x="274320" y="2578608"/>
            <a:ext cx="8275320" cy="0"/>
          </a:xfrm>
          <a:prstGeom prst="line">
            <a:avLst/>
          </a:prstGeom>
          <a:noFill/>
          <a:ln w="12700">
            <a:solidFill>
              <a:srgbClr val="1F4E9A"/>
            </a:solidFill>
            <a:prstDash val="dash"/>
          </a:ln>
        </p:spPr>
      </p:sp>
      <p:sp>
        <p:nvSpPr>
          <p:cNvPr id="17" name="Shape 15"/>
          <p:cNvSpPr/>
          <p:nvPr/>
        </p:nvSpPr>
        <p:spPr>
          <a:xfrm>
            <a:off x="274320" y="4206240"/>
            <a:ext cx="8275320" cy="0"/>
          </a:xfrm>
          <a:prstGeom prst="line">
            <a:avLst/>
          </a:prstGeom>
          <a:noFill/>
          <a:ln w="12700">
            <a:solidFill>
              <a:srgbClr val="1F4E9A"/>
            </a:solidFill>
            <a:prstDash val="dash"/>
          </a:ln>
        </p:spPr>
      </p:sp>
      <p:pic>
        <p:nvPicPr>
          <p:cNvPr id="18" name="Image 0" descr="D:\Testing\My-Staples-PoC\2. AL PoC\V2 - Categ from the scratch\outputs\ppt\assets\title_logo_staples.png">    </p:cNvPr>
          <p:cNvPicPr>
            <a:picLocks noChangeAspect="1"/>
          </p:cNvPicPr>
          <p:nvPr/>
        </p:nvPicPr>
        <p:blipFill>
          <a:blip r:embed="rId1"/>
          <a:srcRect l="0" r="0" t="0" b="0"/>
          <a:stretch/>
        </p:blipFill>
        <p:spPr>
          <a:xfrm>
            <a:off x="2011680" y="1856232"/>
            <a:ext cx="1188720" cy="246888"/>
          </a:xfrm>
          <a:prstGeom prst="rect">
            <a:avLst/>
          </a:prstGeom>
        </p:spPr>
      </p:pic>
      <p:sp>
        <p:nvSpPr>
          <p:cNvPr id="19" name="Shape 16"/>
          <p:cNvSpPr/>
          <p:nvPr/>
        </p:nvSpPr>
        <p:spPr>
          <a:xfrm>
            <a:off x="3337560" y="1591056"/>
            <a:ext cx="3017520" cy="786384"/>
          </a:xfrm>
          <a:prstGeom prst="rect">
            <a:avLst/>
          </a:prstGeom>
          <a:ln w="9525">
            <a:solidFill>
              <a:srgbClr val="A9BCD6"/>
            </a:solidFill>
            <a:prstDash val="sysDot"/>
          </a:ln>
        </p:spPr>
      </p:sp>
      <p:sp>
        <p:nvSpPr>
          <p:cNvPr id="20" name="Shape 17"/>
          <p:cNvSpPr/>
          <p:nvPr/>
        </p:nvSpPr>
        <p:spPr>
          <a:xfrm>
            <a:off x="3547872" y="1746504"/>
            <a:ext cx="1188720" cy="475488"/>
          </a:xfrm>
          <a:prstGeom prst="roundRect">
            <a:avLst>
              <a:gd name="adj" fmla="val 15385"/>
            </a:avLst>
          </a:prstGeom>
          <a:solidFill>
            <a:srgbClr val="3BBAD9"/>
          </a:solidFill>
          <a:ln w="12700">
            <a:solidFill>
              <a:srgbClr val="3BBAD9"/>
            </a:solidFill>
            <a:prstDash val="solid"/>
          </a:ln>
        </p:spPr>
      </p:sp>
      <p:sp>
        <p:nvSpPr>
          <p:cNvPr id="21" name="Text 18"/>
          <p:cNvSpPr txBox="1"/>
          <p:nvPr/>
        </p:nvSpPr>
        <p:spPr>
          <a:xfrm>
            <a:off x="3584448"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sp>
        <p:nvSpPr>
          <p:cNvPr id="22" name="Shape 19"/>
          <p:cNvSpPr/>
          <p:nvPr/>
        </p:nvSpPr>
        <p:spPr>
          <a:xfrm>
            <a:off x="4956048" y="1746504"/>
            <a:ext cx="1188720" cy="475488"/>
          </a:xfrm>
          <a:prstGeom prst="roundRect">
            <a:avLst>
              <a:gd name="adj" fmla="val 15385"/>
            </a:avLst>
          </a:prstGeom>
          <a:solidFill>
            <a:srgbClr val="1F4E9A"/>
          </a:solidFill>
          <a:ln w="12700">
            <a:solidFill>
              <a:srgbClr val="1F4E9A"/>
            </a:solidFill>
            <a:prstDash val="solid"/>
          </a:ln>
        </p:spPr>
      </p:sp>
      <p:sp>
        <p:nvSpPr>
          <p:cNvPr id="23" name="Text 20"/>
          <p:cNvSpPr txBox="1"/>
          <p:nvPr/>
        </p:nvSpPr>
        <p:spPr>
          <a:xfrm>
            <a:off x="4992624" y="1746504"/>
            <a:ext cx="1115568" cy="475488"/>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Leadership</a:t>
            </a:r>
            <a:endParaRPr lang="en-US" sz="950" dirty="0"/>
          </a:p>
        </p:txBody>
      </p:sp>
      <p:pic>
        <p:nvPicPr>
          <p:cNvPr id="24" name="Image 1" descr="D:\Testing\My-Staples-PoC\2. AL PoC\V2 - Categ from the scratch\outputs\ppt\assets\title_logo_latentview.png">    </p:cNvPr>
          <p:cNvPicPr>
            <a:picLocks noChangeAspect="1"/>
          </p:cNvPicPr>
          <p:nvPr/>
        </p:nvPicPr>
        <p:blipFill>
          <a:blip r:embed="rId2"/>
          <a:srcRect l="0" r="0" t="0" b="0"/>
          <a:stretch/>
        </p:blipFill>
        <p:spPr>
          <a:xfrm>
            <a:off x="6537960" y="1847088"/>
            <a:ext cx="1188720" cy="274320"/>
          </a:xfrm>
          <a:prstGeom prst="rect">
            <a:avLst/>
          </a:prstGeom>
        </p:spPr>
      </p:pic>
      <p:sp>
        <p:nvSpPr>
          <p:cNvPr id="25" name="Shape 21"/>
          <p:cNvSpPr/>
          <p:nvPr/>
        </p:nvSpPr>
        <p:spPr>
          <a:xfrm>
            <a:off x="4846320" y="2395728"/>
            <a:ext cx="0" cy="329184"/>
          </a:xfrm>
          <a:prstGeom prst="line">
            <a:avLst/>
          </a:prstGeom>
          <a:noFill/>
          <a:ln w="15875">
            <a:solidFill>
              <a:srgbClr val="000000"/>
            </a:solidFill>
            <a:prstDash val="solid"/>
            <a:headEnd type="triangle"/>
          </a:ln>
        </p:spPr>
      </p:sp>
      <p:sp>
        <p:nvSpPr>
          <p:cNvPr id="26" name="Shape 22"/>
          <p:cNvSpPr/>
          <p:nvPr/>
        </p:nvSpPr>
        <p:spPr>
          <a:xfrm>
            <a:off x="3337560" y="2743200"/>
            <a:ext cx="3017520" cy="1207008"/>
          </a:xfrm>
          <a:prstGeom prst="rect">
            <a:avLst/>
          </a:prstGeom>
          <a:ln w="9525">
            <a:solidFill>
              <a:srgbClr val="A9BCD6"/>
            </a:solidFill>
            <a:prstDash val="sysDot"/>
          </a:ln>
        </p:spPr>
      </p:sp>
      <p:sp>
        <p:nvSpPr>
          <p:cNvPr id="27" name="Shape 23"/>
          <p:cNvSpPr/>
          <p:nvPr/>
        </p:nvSpPr>
        <p:spPr>
          <a:xfrm>
            <a:off x="3493008" y="2852928"/>
            <a:ext cx="1261872" cy="420624"/>
          </a:xfrm>
          <a:prstGeom prst="roundRect">
            <a:avLst>
              <a:gd name="adj" fmla="val 17391"/>
            </a:avLst>
          </a:prstGeom>
          <a:solidFill>
            <a:srgbClr val="3BBAD9"/>
          </a:solidFill>
          <a:ln w="12700">
            <a:solidFill>
              <a:srgbClr val="3BBAD9"/>
            </a:solidFill>
            <a:prstDash val="solid"/>
          </a:ln>
        </p:spPr>
      </p:sp>
      <p:sp>
        <p:nvSpPr>
          <p:cNvPr id="28" name="Text 24"/>
          <p:cNvSpPr txBox="1"/>
          <p:nvPr/>
        </p:nvSpPr>
        <p:spPr>
          <a:xfrm>
            <a:off x="352958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 Team</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Leads</a:t>
            </a:r>
            <a:endParaRPr lang="en-US" sz="950" dirty="0"/>
          </a:p>
        </p:txBody>
      </p:sp>
      <p:sp>
        <p:nvSpPr>
          <p:cNvPr id="29" name="Shape 25"/>
          <p:cNvSpPr/>
          <p:nvPr/>
        </p:nvSpPr>
        <p:spPr>
          <a:xfrm>
            <a:off x="3493008" y="3401568"/>
            <a:ext cx="1261872" cy="420624"/>
          </a:xfrm>
          <a:prstGeom prst="roundRect">
            <a:avLst>
              <a:gd name="adj" fmla="val 17391"/>
            </a:avLst>
          </a:prstGeom>
          <a:solidFill>
            <a:srgbClr val="3BBAD9"/>
          </a:solidFill>
          <a:ln w="12700">
            <a:solidFill>
              <a:srgbClr val="3BBAD9"/>
            </a:solidFill>
            <a:prstDash val="solid"/>
          </a:ln>
        </p:spPr>
      </p:sp>
      <p:sp>
        <p:nvSpPr>
          <p:cNvPr id="30" name="Text 26"/>
          <p:cNvSpPr txBox="1"/>
          <p:nvPr/>
        </p:nvSpPr>
        <p:spPr>
          <a:xfrm>
            <a:off x="352958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Staples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Stakeholders</a:t>
            </a:r>
            <a:endParaRPr lang="en-US" sz="950" dirty="0"/>
          </a:p>
        </p:txBody>
      </p:sp>
      <p:sp>
        <p:nvSpPr>
          <p:cNvPr id="31" name="Shape 27"/>
          <p:cNvSpPr/>
          <p:nvPr/>
        </p:nvSpPr>
        <p:spPr>
          <a:xfrm>
            <a:off x="4956048" y="2852928"/>
            <a:ext cx="1261872" cy="420624"/>
          </a:xfrm>
          <a:prstGeom prst="roundRect">
            <a:avLst>
              <a:gd name="adj" fmla="val 17391"/>
            </a:avLst>
          </a:prstGeom>
          <a:solidFill>
            <a:srgbClr val="1F4E9A"/>
          </a:solidFill>
          <a:ln w="12700">
            <a:solidFill>
              <a:srgbClr val="1F4E9A"/>
            </a:solidFill>
            <a:prstDash val="solid"/>
          </a:ln>
        </p:spPr>
      </p:sp>
      <p:sp>
        <p:nvSpPr>
          <p:cNvPr id="32" name="Text 28"/>
          <p:cNvSpPr txBox="1"/>
          <p:nvPr/>
        </p:nvSpPr>
        <p:spPr>
          <a:xfrm>
            <a:off x="4992624" y="285292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Client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Partners</a:t>
            </a:r>
            <a:endParaRPr lang="en-US" sz="950" dirty="0"/>
          </a:p>
        </p:txBody>
      </p:sp>
      <p:sp>
        <p:nvSpPr>
          <p:cNvPr id="33" name="Shape 29"/>
          <p:cNvSpPr/>
          <p:nvPr/>
        </p:nvSpPr>
        <p:spPr>
          <a:xfrm>
            <a:off x="4956048" y="3401568"/>
            <a:ext cx="1261872" cy="420624"/>
          </a:xfrm>
          <a:prstGeom prst="roundRect">
            <a:avLst>
              <a:gd name="adj" fmla="val 17391"/>
            </a:avLst>
          </a:prstGeom>
          <a:solidFill>
            <a:srgbClr val="1F4E9A"/>
          </a:solidFill>
          <a:ln w="12700">
            <a:solidFill>
              <a:srgbClr val="1F4E9A"/>
            </a:solidFill>
            <a:prstDash val="solid"/>
          </a:ln>
        </p:spPr>
      </p:sp>
      <p:sp>
        <p:nvSpPr>
          <p:cNvPr id="34" name="Text 30"/>
          <p:cNvSpPr txBox="1"/>
          <p:nvPr/>
        </p:nvSpPr>
        <p:spPr>
          <a:xfrm>
            <a:off x="4992624" y="3401568"/>
            <a:ext cx="11887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LatentView Account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Managers</a:t>
            </a:r>
            <a:endParaRPr lang="en-US" sz="950" dirty="0"/>
          </a:p>
        </p:txBody>
      </p:sp>
      <p:sp>
        <p:nvSpPr>
          <p:cNvPr id="35" name="Shape 31"/>
          <p:cNvSpPr/>
          <p:nvPr/>
        </p:nvSpPr>
        <p:spPr>
          <a:xfrm>
            <a:off x="6217920" y="3063240"/>
            <a:ext cx="219456" cy="0"/>
          </a:xfrm>
          <a:prstGeom prst="line">
            <a:avLst/>
          </a:prstGeom>
          <a:noFill/>
          <a:ln w="12700">
            <a:solidFill>
              <a:srgbClr val="44546A"/>
            </a:solidFill>
            <a:prstDash val="solid"/>
          </a:ln>
        </p:spPr>
      </p:sp>
      <p:sp>
        <p:nvSpPr>
          <p:cNvPr id="36" name="Shape 32"/>
          <p:cNvSpPr/>
          <p:nvPr/>
        </p:nvSpPr>
        <p:spPr>
          <a:xfrm>
            <a:off x="6217920" y="3611880"/>
            <a:ext cx="219456" cy="0"/>
          </a:xfrm>
          <a:prstGeom prst="line">
            <a:avLst/>
          </a:prstGeom>
          <a:noFill/>
          <a:ln w="12700">
            <a:solidFill>
              <a:srgbClr val="44546A"/>
            </a:solidFill>
            <a:prstDash val="solid"/>
          </a:ln>
        </p:spPr>
      </p:sp>
      <p:sp>
        <p:nvSpPr>
          <p:cNvPr id="37" name="Shape 33"/>
          <p:cNvSpPr/>
          <p:nvPr/>
        </p:nvSpPr>
        <p:spPr>
          <a:xfrm>
            <a:off x="6437376" y="3063240"/>
            <a:ext cx="0" cy="548640"/>
          </a:xfrm>
          <a:prstGeom prst="line">
            <a:avLst/>
          </a:prstGeom>
          <a:noFill/>
          <a:ln w="12700">
            <a:solidFill>
              <a:srgbClr val="44546A"/>
            </a:solidFill>
            <a:prstDash val="solid"/>
          </a:ln>
        </p:spPr>
      </p:sp>
      <p:sp>
        <p:nvSpPr>
          <p:cNvPr id="38" name="Shape 34"/>
          <p:cNvSpPr/>
          <p:nvPr/>
        </p:nvSpPr>
        <p:spPr>
          <a:xfrm>
            <a:off x="6437376" y="3337560"/>
            <a:ext cx="201168" cy="0"/>
          </a:xfrm>
          <a:prstGeom prst="line">
            <a:avLst/>
          </a:prstGeom>
          <a:noFill/>
          <a:ln w="12700">
            <a:solidFill>
              <a:srgbClr val="44546A"/>
            </a:solidFill>
            <a:prstDash val="solid"/>
            <a:tailEnd type="triangle"/>
          </a:ln>
        </p:spPr>
      </p:sp>
      <p:sp>
        <p:nvSpPr>
          <p:cNvPr id="39" name="Shape 35"/>
          <p:cNvSpPr/>
          <p:nvPr/>
        </p:nvSpPr>
        <p:spPr>
          <a:xfrm>
            <a:off x="6656832" y="3017520"/>
            <a:ext cx="1463040" cy="640080"/>
          </a:xfrm>
          <a:prstGeom prst="roundRect">
            <a:avLst>
              <a:gd name="adj" fmla="val 17143"/>
            </a:avLst>
          </a:prstGeom>
          <a:solidFill>
            <a:srgbClr val="E6E6E6"/>
          </a:solidFill>
          <a:ln w="12700">
            <a:solidFill>
              <a:srgbClr val="E6E6E6"/>
            </a:solidFill>
            <a:prstDash val="solid"/>
          </a:ln>
        </p:spPr>
      </p:sp>
      <p:sp>
        <p:nvSpPr>
          <p:cNvPr id="40" name="Text 36"/>
          <p:cNvSpPr txBox="1"/>
          <p:nvPr/>
        </p:nvSpPr>
        <p:spPr>
          <a:xfrm>
            <a:off x="6711696" y="3017520"/>
            <a:ext cx="1353312" cy="64008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Collectively own program management</a:t>
            </a:r>
            <a:endParaRPr lang="en-US" sz="950" dirty="0"/>
          </a:p>
        </p:txBody>
      </p:sp>
      <p:sp>
        <p:nvSpPr>
          <p:cNvPr id="41" name="Shape 37"/>
          <p:cNvSpPr/>
          <p:nvPr/>
        </p:nvSpPr>
        <p:spPr>
          <a:xfrm>
            <a:off x="4846320" y="3968496"/>
            <a:ext cx="0" cy="347472"/>
          </a:xfrm>
          <a:prstGeom prst="line">
            <a:avLst/>
          </a:prstGeom>
          <a:noFill/>
          <a:ln w="15875">
            <a:solidFill>
              <a:srgbClr val="000000"/>
            </a:solidFill>
            <a:prstDash val="solid"/>
            <a:headEnd type="triangle"/>
          </a:ln>
        </p:spPr>
      </p:sp>
      <p:sp>
        <p:nvSpPr>
          <p:cNvPr id="42" name="Shape 38"/>
          <p:cNvSpPr/>
          <p:nvPr/>
        </p:nvSpPr>
        <p:spPr>
          <a:xfrm>
            <a:off x="2194560" y="4334256"/>
            <a:ext cx="5943600" cy="1682496"/>
          </a:xfrm>
          <a:prstGeom prst="rect">
            <a:avLst/>
          </a:prstGeom>
          <a:ln w="9525">
            <a:solidFill>
              <a:srgbClr val="A9BCD6"/>
            </a:solidFill>
            <a:prstDash val="sysDot"/>
          </a:ln>
        </p:spPr>
      </p:sp>
      <p:sp>
        <p:nvSpPr>
          <p:cNvPr id="43" name="Shape 39"/>
          <p:cNvSpPr/>
          <p:nvPr/>
        </p:nvSpPr>
        <p:spPr>
          <a:xfrm>
            <a:off x="2313432" y="4425696"/>
            <a:ext cx="5705856" cy="1499616"/>
          </a:xfrm>
          <a:prstGeom prst="rect">
            <a:avLst/>
          </a:prstGeom>
          <a:solidFill>
            <a:srgbClr val="FFFFFF"/>
          </a:solidFill>
          <a:ln w="9525">
            <a:solidFill>
              <a:srgbClr val="E3A3A1"/>
            </a:solidFill>
            <a:prstDash val="sysDot"/>
          </a:ln>
        </p:spPr>
      </p:sp>
      <p:sp>
        <p:nvSpPr>
          <p:cNvPr id="44" name="Text 40"/>
          <p:cNvSpPr txBox="1"/>
          <p:nvPr/>
        </p:nvSpPr>
        <p:spPr>
          <a:xfrm>
            <a:off x="2313432" y="4462272"/>
            <a:ext cx="5705856" cy="237744"/>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Data Engineering / Business Intelligence / Data Science Team</a:t>
            </a:r>
            <a:endParaRPr lang="en-US" sz="1050" dirty="0"/>
          </a:p>
        </p:txBody>
      </p:sp>
      <p:pic>
        <p:nvPicPr>
          <p:cNvPr id="45" name="Image 2" descr="preencoded.png">    </p:cNvPr>
          <p:cNvPicPr>
            <a:picLocks noChangeAspect="1"/>
          </p:cNvPicPr>
          <p:nvPr/>
        </p:nvPicPr>
        <p:blipFill>
          <a:blip r:embed="rId3"/>
          <a:stretch>
            <a:fillRect/>
          </a:stretch>
        </p:blipFill>
        <p:spPr>
          <a:xfrm>
            <a:off x="4206240" y="4736592"/>
            <a:ext cx="274320" cy="274320"/>
          </a:xfrm>
          <a:prstGeom prst="rect">
            <a:avLst/>
          </a:prstGeom>
        </p:spPr>
      </p:pic>
      <p:sp>
        <p:nvSpPr>
          <p:cNvPr id="46" name="Text 41"/>
          <p:cNvSpPr txBox="1"/>
          <p:nvPr/>
        </p:nvSpPr>
        <p:spPr>
          <a:xfrm>
            <a:off x="384048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Staples Team Lead</a:t>
            </a:r>
            <a:endParaRPr lang="en-US" sz="750" dirty="0"/>
          </a:p>
        </p:txBody>
      </p:sp>
      <p:sp>
        <p:nvSpPr>
          <p:cNvPr id="47" name="Shape 42"/>
          <p:cNvSpPr/>
          <p:nvPr/>
        </p:nvSpPr>
        <p:spPr>
          <a:xfrm>
            <a:off x="4572000" y="4818888"/>
            <a:ext cx="640080" cy="118872"/>
          </a:xfrm>
          <a:prstGeom prst="leftRightArrow">
            <a:avLst/>
          </a:prstGeom>
          <a:solidFill>
            <a:srgbClr val="A6A6A6"/>
          </a:solidFill>
          <a:ln w="12700">
            <a:solidFill>
              <a:srgbClr val="A6A6A6"/>
            </a:solidFill>
            <a:prstDash val="solid"/>
          </a:ln>
        </p:spPr>
      </p:sp>
      <p:pic>
        <p:nvPicPr>
          <p:cNvPr id="48" name="Image 3" descr="preencoded.png">    </p:cNvPr>
          <p:cNvPicPr>
            <a:picLocks noChangeAspect="1"/>
          </p:cNvPicPr>
          <p:nvPr/>
        </p:nvPicPr>
        <p:blipFill>
          <a:blip r:embed="rId4"/>
          <a:stretch>
            <a:fillRect/>
          </a:stretch>
        </p:blipFill>
        <p:spPr>
          <a:xfrm>
            <a:off x="5303520" y="4736592"/>
            <a:ext cx="274320" cy="274320"/>
          </a:xfrm>
          <a:prstGeom prst="rect">
            <a:avLst/>
          </a:prstGeom>
        </p:spPr>
      </p:pic>
      <p:sp>
        <p:nvSpPr>
          <p:cNvPr id="49" name="Text 43"/>
          <p:cNvSpPr txBox="1"/>
          <p:nvPr/>
        </p:nvSpPr>
        <p:spPr>
          <a:xfrm>
            <a:off x="4937760" y="5020056"/>
            <a:ext cx="1005840" cy="164592"/>
          </a:xfrm>
          <a:prstGeom prst="rect">
            <a:avLst/>
          </a:prstGeom>
          <a:noFill/>
          <a:ln/>
        </p:spPr>
        <p:txBody>
          <a:bodyPr wrap="square" lIns="0" tIns="0" rIns="0" bIns="0" rtlCol="0" anchor="t"/>
          <a:lstStyle/>
          <a:p>
            <a:pPr algn="ctr" indent="0" marL="0">
              <a:buNone/>
            </a:pPr>
            <a:r>
              <a:rPr lang="en-US" sz="750" b="1" dirty="0">
                <a:solidFill>
                  <a:srgbClr val="13285B"/>
                </a:solidFill>
                <a:latin typeface="Calibri" pitchFamily="34" charset="0"/>
                <a:ea typeface="Calibri" pitchFamily="34" charset="-122"/>
                <a:cs typeface="Calibri" pitchFamily="34" charset="-120"/>
              </a:rPr>
              <a:t>LV Program Manager</a:t>
            </a:r>
            <a:endParaRPr lang="en-US" sz="750" dirty="0"/>
          </a:p>
        </p:txBody>
      </p:sp>
      <p:sp>
        <p:nvSpPr>
          <p:cNvPr id="50" name="Shape 44"/>
          <p:cNvSpPr/>
          <p:nvPr/>
        </p:nvSpPr>
        <p:spPr>
          <a:xfrm>
            <a:off x="5367528" y="5212080"/>
            <a:ext cx="109728" cy="237744"/>
          </a:xfrm>
          <a:prstGeom prst="upDownArrow">
            <a:avLst/>
          </a:prstGeom>
          <a:solidFill>
            <a:srgbClr val="A6A6A6"/>
          </a:solidFill>
          <a:ln w="12700">
            <a:solidFill>
              <a:srgbClr val="A6A6A6"/>
            </a:solidFill>
            <a:prstDash val="solid"/>
          </a:ln>
        </p:spPr>
      </p:sp>
      <p:sp>
        <p:nvSpPr>
          <p:cNvPr id="51" name="Shape 45"/>
          <p:cNvSpPr/>
          <p:nvPr/>
        </p:nvSpPr>
        <p:spPr>
          <a:xfrm>
            <a:off x="2468880" y="5486400"/>
            <a:ext cx="5394960" cy="347472"/>
          </a:xfrm>
          <a:prstGeom prst="rect">
            <a:avLst/>
          </a:prstGeom>
          <a:solidFill>
            <a:srgbClr val="F0F0F0"/>
          </a:solidFill>
          <a:ln w="12700">
            <a:solidFill>
              <a:srgbClr val="F0F0F0"/>
            </a:solidFill>
            <a:prstDash val="solid"/>
          </a:ln>
        </p:spPr>
      </p:sp>
      <p:sp>
        <p:nvSpPr>
          <p:cNvPr id="52" name="Text 46"/>
          <p:cNvSpPr txBox="1"/>
          <p:nvPr/>
        </p:nvSpPr>
        <p:spPr>
          <a:xfrm>
            <a:off x="256032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Big Data Engineer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Architect</a:t>
            </a:r>
            <a:endParaRPr lang="en-US" sz="850" dirty="0"/>
          </a:p>
        </p:txBody>
      </p:sp>
      <p:sp>
        <p:nvSpPr>
          <p:cNvPr id="53" name="Text 47"/>
          <p:cNvSpPr txBox="1"/>
          <p:nvPr/>
        </p:nvSpPr>
        <p:spPr>
          <a:xfrm>
            <a:off x="434340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BI Developer</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BI Analyst</a:t>
            </a:r>
            <a:endParaRPr lang="en-US" sz="850" dirty="0"/>
          </a:p>
        </p:txBody>
      </p:sp>
      <p:sp>
        <p:nvSpPr>
          <p:cNvPr id="54" name="Text 48"/>
          <p:cNvSpPr txBox="1"/>
          <p:nvPr/>
        </p:nvSpPr>
        <p:spPr>
          <a:xfrm>
            <a:off x="6126480" y="5486400"/>
            <a:ext cx="1645920" cy="347472"/>
          </a:xfrm>
          <a:prstGeom prst="rect">
            <a:avLst/>
          </a:prstGeom>
          <a:noFill/>
          <a:ln/>
        </p:spPr>
        <p:txBody>
          <a:bodyPr wrap="square" lIns="0" tIns="0" rIns="0" bIns="0" rtlCol="0" anchor="ctr"/>
          <a:lstStyle/>
          <a:p>
            <a:pPr algn="ctr" indent="0" marL="0">
              <a:buNone/>
            </a:pPr>
            <a:r>
              <a:rPr lang="en-US" sz="850" dirty="0">
                <a:solidFill>
                  <a:srgbClr val="1F2937"/>
                </a:solidFill>
                <a:latin typeface="Calibri" pitchFamily="34" charset="0"/>
                <a:ea typeface="Calibri" pitchFamily="34" charset="-122"/>
                <a:cs typeface="Calibri" pitchFamily="34" charset="-120"/>
              </a:rPr>
              <a:t>Data Scientist</a:t>
            </a:r>
            <a:endParaRPr lang="en-US" sz="850" dirty="0"/>
          </a:p>
          <a:p>
            <a:pPr algn="ctr" indent="0" marL="0">
              <a:buNone/>
            </a:pPr>
            <a:r>
              <a:rPr lang="en-US" sz="850" dirty="0">
                <a:solidFill>
                  <a:srgbClr val="1F2937"/>
                </a:solidFill>
                <a:latin typeface="Calibri" pitchFamily="34" charset="0"/>
                <a:ea typeface="Calibri" pitchFamily="34" charset="-122"/>
                <a:cs typeface="Calibri" pitchFamily="34" charset="-120"/>
              </a:rPr>
              <a:t>Data Analyst</a:t>
            </a:r>
            <a:endParaRPr lang="en-US" sz="850" dirty="0"/>
          </a:p>
        </p:txBody>
      </p:sp>
      <p:pic>
        <p:nvPicPr>
          <p:cNvPr id="55" name="Image 4" descr="preencoded.png">    </p:cNvPr>
          <p:cNvPicPr>
            <a:picLocks noChangeAspect="1"/>
          </p:cNvPicPr>
          <p:nvPr/>
        </p:nvPicPr>
        <p:blipFill>
          <a:blip r:embed="rId5"/>
          <a:stretch>
            <a:fillRect/>
          </a:stretch>
        </p:blipFill>
        <p:spPr>
          <a:xfrm>
            <a:off x="274320" y="6217920"/>
            <a:ext cx="182880" cy="182880"/>
          </a:xfrm>
          <a:prstGeom prst="rect">
            <a:avLst/>
          </a:prstGeom>
        </p:spPr>
      </p:pic>
      <p:sp>
        <p:nvSpPr>
          <p:cNvPr id="56" name="Text 49"/>
          <p:cNvSpPr txBox="1"/>
          <p:nvPr/>
        </p:nvSpPr>
        <p:spPr>
          <a:xfrm>
            <a:off x="493776" y="6217920"/>
            <a:ext cx="73152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Staples</a:t>
            </a:r>
            <a:endParaRPr lang="en-US" sz="950" dirty="0"/>
          </a:p>
        </p:txBody>
      </p:sp>
      <p:pic>
        <p:nvPicPr>
          <p:cNvPr id="57" name="Image 5" descr="preencoded.png">    </p:cNvPr>
          <p:cNvPicPr>
            <a:picLocks noChangeAspect="1"/>
          </p:cNvPicPr>
          <p:nvPr/>
        </p:nvPicPr>
        <p:blipFill>
          <a:blip r:embed="rId6"/>
          <a:stretch>
            <a:fillRect/>
          </a:stretch>
        </p:blipFill>
        <p:spPr>
          <a:xfrm>
            <a:off x="1234440" y="6217920"/>
            <a:ext cx="182880" cy="182880"/>
          </a:xfrm>
          <a:prstGeom prst="rect">
            <a:avLst/>
          </a:prstGeom>
        </p:spPr>
      </p:pic>
      <p:sp>
        <p:nvSpPr>
          <p:cNvPr id="58" name="Text 50"/>
          <p:cNvSpPr txBox="1"/>
          <p:nvPr/>
        </p:nvSpPr>
        <p:spPr>
          <a:xfrm>
            <a:off x="1453896" y="6217920"/>
            <a:ext cx="914400" cy="18288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LatentView</a:t>
            </a:r>
            <a:endParaRPr lang="en-US" sz="950" dirty="0"/>
          </a:p>
        </p:txBody>
      </p:sp>
      <p:sp>
        <p:nvSpPr>
          <p:cNvPr id="59" name="Shape 51"/>
          <p:cNvSpPr/>
          <p:nvPr/>
        </p:nvSpPr>
        <p:spPr>
          <a:xfrm>
            <a:off x="8741664" y="1508760"/>
            <a:ext cx="0" cy="4526280"/>
          </a:xfrm>
          <a:prstGeom prst="line">
            <a:avLst/>
          </a:prstGeom>
          <a:noFill/>
          <a:ln w="9525">
            <a:solidFill>
              <a:srgbClr val="A9BCD6"/>
            </a:solidFill>
            <a:prstDash val="dash"/>
          </a:ln>
        </p:spPr>
      </p:sp>
      <p:sp>
        <p:nvSpPr>
          <p:cNvPr id="60" name="Shape 52"/>
          <p:cNvSpPr/>
          <p:nvPr/>
        </p:nvSpPr>
        <p:spPr>
          <a:xfrm>
            <a:off x="8851392" y="1508760"/>
            <a:ext cx="2926080" cy="4023360"/>
          </a:xfrm>
          <a:prstGeom prst="rect">
            <a:avLst/>
          </a:prstGeom>
          <a:solidFill>
            <a:srgbClr val="F3F3F3"/>
          </a:solidFill>
          <a:ln w="12700">
            <a:solidFill>
              <a:srgbClr val="F3F3F3"/>
            </a:solidFill>
            <a:prstDash val="solid"/>
          </a:ln>
        </p:spPr>
      </p:sp>
      <p:pic>
        <p:nvPicPr>
          <p:cNvPr id="61" name="Image 6" descr="preencoded.png">    </p:cNvPr>
          <p:cNvPicPr>
            <a:picLocks noChangeAspect="1"/>
          </p:cNvPicPr>
          <p:nvPr/>
        </p:nvPicPr>
        <p:blipFill>
          <a:blip r:embed="rId7"/>
          <a:stretch>
            <a:fillRect/>
          </a:stretch>
        </p:blipFill>
        <p:spPr>
          <a:xfrm>
            <a:off x="8906256" y="1572768"/>
            <a:ext cx="182880" cy="182880"/>
          </a:xfrm>
          <a:prstGeom prst="rect">
            <a:avLst/>
          </a:prstGeom>
        </p:spPr>
      </p:pic>
      <p:sp>
        <p:nvSpPr>
          <p:cNvPr id="62" name="Shape 53"/>
          <p:cNvSpPr/>
          <p:nvPr/>
        </p:nvSpPr>
        <p:spPr>
          <a:xfrm>
            <a:off x="9125712" y="1627632"/>
            <a:ext cx="2514600" cy="329184"/>
          </a:xfrm>
          <a:prstGeom prst="rect">
            <a:avLst/>
          </a:prstGeom>
          <a:ln w="9525">
            <a:solidFill>
              <a:srgbClr val="A9BCD6"/>
            </a:solidFill>
            <a:prstDash val="sysDot"/>
          </a:ln>
        </p:spPr>
      </p:sp>
      <p:sp>
        <p:nvSpPr>
          <p:cNvPr id="63" name="Text 54"/>
          <p:cNvSpPr txBox="1"/>
          <p:nvPr/>
        </p:nvSpPr>
        <p:spPr>
          <a:xfrm>
            <a:off x="9125712" y="1627632"/>
            <a:ext cx="2514600" cy="329184"/>
          </a:xfrm>
          <a:prstGeom prst="rect">
            <a:avLst/>
          </a:prstGeom>
          <a:noFill/>
          <a:ln/>
        </p:spPr>
        <p:txBody>
          <a:bodyPr wrap="square" lIns="0" tIns="0" rIns="0" bIns="0" rtlCol="0" anchor="ctr"/>
          <a:lstStyle/>
          <a:p>
            <a:pPr algn="ctr" indent="0" marL="0">
              <a:buNone/>
            </a:pPr>
            <a:r>
              <a:rPr lang="en-US" sz="1000" b="1" dirty="0">
                <a:solidFill>
                  <a:srgbClr val="1F4E9A"/>
                </a:solidFill>
                <a:latin typeface="Calibri" pitchFamily="34" charset="0"/>
                <a:ea typeface="Calibri" pitchFamily="34" charset="-122"/>
                <a:cs typeface="Calibri" pitchFamily="34" charset="-120"/>
              </a:rPr>
              <a:t>Access To Scalable analytics team</a:t>
            </a:r>
            <a:endParaRPr lang="en-US" sz="1000" dirty="0"/>
          </a:p>
        </p:txBody>
      </p:sp>
      <p:sp>
        <p:nvSpPr>
          <p:cNvPr id="64" name="Shape 55"/>
          <p:cNvSpPr/>
          <p:nvPr/>
        </p:nvSpPr>
        <p:spPr>
          <a:xfrm>
            <a:off x="9034272" y="2084832"/>
            <a:ext cx="2560320" cy="2139696"/>
          </a:xfrm>
          <a:prstGeom prst="rect">
            <a:avLst/>
          </a:prstGeom>
          <a:ln w="9525">
            <a:solidFill>
              <a:srgbClr val="A9BCD6"/>
            </a:solidFill>
            <a:prstDash val="sysDot"/>
          </a:ln>
        </p:spPr>
      </p:sp>
      <p:sp>
        <p:nvSpPr>
          <p:cNvPr id="65" name="Text 56"/>
          <p:cNvSpPr txBox="1"/>
          <p:nvPr/>
        </p:nvSpPr>
        <p:spPr>
          <a:xfrm>
            <a:off x="9034272" y="2121408"/>
            <a:ext cx="2560320" cy="256032"/>
          </a:xfrm>
          <a:prstGeom prst="rect">
            <a:avLst/>
          </a:prstGeom>
          <a:noFill/>
          <a:ln/>
        </p:spPr>
        <p:txBody>
          <a:bodyPr wrap="square" lIns="0" tIns="0" rIns="0" bIns="0" rtlCol="0" anchor="ctr"/>
          <a:lstStyle/>
          <a:p>
            <a:pPr algn="ctr" indent="0" marL="0">
              <a:buNone/>
            </a:pPr>
            <a:r>
              <a:rPr lang="en-US" sz="1150" b="1" dirty="0">
                <a:solidFill>
                  <a:srgbClr val="000000"/>
                </a:solidFill>
                <a:latin typeface="Calibri" pitchFamily="34" charset="0"/>
                <a:ea typeface="Calibri" pitchFamily="34" charset="-122"/>
                <a:cs typeface="Calibri" pitchFamily="34" charset="-120"/>
              </a:rPr>
              <a:t>Org Expertise</a:t>
            </a:r>
            <a:endParaRPr lang="en-US" sz="1150" dirty="0"/>
          </a:p>
        </p:txBody>
      </p:sp>
      <p:sp>
        <p:nvSpPr>
          <p:cNvPr id="66" name="Shape 57"/>
          <p:cNvSpPr/>
          <p:nvPr/>
        </p:nvSpPr>
        <p:spPr>
          <a:xfrm>
            <a:off x="9189720" y="2414016"/>
            <a:ext cx="2249424" cy="0"/>
          </a:xfrm>
          <a:prstGeom prst="line">
            <a:avLst/>
          </a:prstGeom>
          <a:noFill/>
          <a:ln w="9525">
            <a:solidFill>
              <a:srgbClr val="1F4E9A"/>
            </a:solidFill>
            <a:prstDash val="dash"/>
          </a:ln>
        </p:spPr>
      </p:sp>
      <p:sp>
        <p:nvSpPr>
          <p:cNvPr id="67" name="Shape 58"/>
          <p:cNvSpPr/>
          <p:nvPr/>
        </p:nvSpPr>
        <p:spPr>
          <a:xfrm>
            <a:off x="9125712" y="2505456"/>
            <a:ext cx="1170432" cy="457200"/>
          </a:xfrm>
          <a:prstGeom prst="roundRect">
            <a:avLst>
              <a:gd name="adj" fmla="val 16000"/>
            </a:avLst>
          </a:prstGeom>
          <a:solidFill>
            <a:srgbClr val="1F4E9A"/>
          </a:solidFill>
          <a:ln w="12700">
            <a:solidFill>
              <a:srgbClr val="1F4E9A"/>
            </a:solidFill>
            <a:prstDash val="solid"/>
          </a:ln>
        </p:spPr>
      </p:sp>
      <p:sp>
        <p:nvSpPr>
          <p:cNvPr id="68" name="Text 59"/>
          <p:cNvSpPr txBox="1"/>
          <p:nvPr/>
        </p:nvSpPr>
        <p:spPr>
          <a:xfrm>
            <a:off x="9162288"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DE Horizontal</a:t>
            </a:r>
            <a:endParaRPr lang="en-US" sz="850" dirty="0"/>
          </a:p>
        </p:txBody>
      </p:sp>
      <p:sp>
        <p:nvSpPr>
          <p:cNvPr id="69" name="Shape 60"/>
          <p:cNvSpPr/>
          <p:nvPr/>
        </p:nvSpPr>
        <p:spPr>
          <a:xfrm>
            <a:off x="10332720" y="2505456"/>
            <a:ext cx="1170432" cy="457200"/>
          </a:xfrm>
          <a:prstGeom prst="roundRect">
            <a:avLst>
              <a:gd name="adj" fmla="val 16000"/>
            </a:avLst>
          </a:prstGeom>
          <a:solidFill>
            <a:srgbClr val="1F4E9A"/>
          </a:solidFill>
          <a:ln w="12700">
            <a:solidFill>
              <a:srgbClr val="1F4E9A"/>
            </a:solidFill>
            <a:prstDash val="solid"/>
          </a:ln>
        </p:spPr>
      </p:sp>
      <p:sp>
        <p:nvSpPr>
          <p:cNvPr id="70" name="Text 61"/>
          <p:cNvSpPr txBox="1"/>
          <p:nvPr/>
        </p:nvSpPr>
        <p:spPr>
          <a:xfrm>
            <a:off x="10369296" y="2505456"/>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Data</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Science &amp; AI Horizontal</a:t>
            </a:r>
            <a:endParaRPr lang="en-US" sz="850" dirty="0"/>
          </a:p>
        </p:txBody>
      </p:sp>
      <p:sp>
        <p:nvSpPr>
          <p:cNvPr id="71" name="Shape 62"/>
          <p:cNvSpPr/>
          <p:nvPr/>
        </p:nvSpPr>
        <p:spPr>
          <a:xfrm>
            <a:off x="9125712" y="3035808"/>
            <a:ext cx="1170432" cy="457200"/>
          </a:xfrm>
          <a:prstGeom prst="roundRect">
            <a:avLst>
              <a:gd name="adj" fmla="val 16000"/>
            </a:avLst>
          </a:prstGeom>
          <a:solidFill>
            <a:srgbClr val="1F4E9A"/>
          </a:solidFill>
          <a:ln w="12700">
            <a:solidFill>
              <a:srgbClr val="1F4E9A"/>
            </a:solidFill>
            <a:prstDash val="solid"/>
          </a:ln>
        </p:spPr>
      </p:sp>
      <p:sp>
        <p:nvSpPr>
          <p:cNvPr id="72" name="Text 63"/>
          <p:cNvSpPr txBox="1"/>
          <p:nvPr/>
        </p:nvSpPr>
        <p:spPr>
          <a:xfrm>
            <a:off x="9162288"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BI</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Center of Excellence</a:t>
            </a:r>
            <a:endParaRPr lang="en-US" sz="850" dirty="0"/>
          </a:p>
        </p:txBody>
      </p:sp>
      <p:sp>
        <p:nvSpPr>
          <p:cNvPr id="73" name="Shape 64"/>
          <p:cNvSpPr/>
          <p:nvPr/>
        </p:nvSpPr>
        <p:spPr>
          <a:xfrm>
            <a:off x="10332720" y="3035808"/>
            <a:ext cx="1170432" cy="457200"/>
          </a:xfrm>
          <a:prstGeom prst="roundRect">
            <a:avLst>
              <a:gd name="adj" fmla="val 16000"/>
            </a:avLst>
          </a:prstGeom>
          <a:solidFill>
            <a:srgbClr val="1F4E9A"/>
          </a:solidFill>
          <a:ln w="12700">
            <a:solidFill>
              <a:srgbClr val="1F4E9A"/>
            </a:solidFill>
            <a:prstDash val="solid"/>
          </a:ln>
        </p:spPr>
      </p:sp>
      <p:sp>
        <p:nvSpPr>
          <p:cNvPr id="74" name="Text 65"/>
          <p:cNvSpPr txBox="1"/>
          <p:nvPr/>
        </p:nvSpPr>
        <p:spPr>
          <a:xfrm>
            <a:off x="10369296" y="3035808"/>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LatentView Supply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Chain CoE</a:t>
            </a:r>
            <a:endParaRPr lang="en-US" sz="850" dirty="0"/>
          </a:p>
        </p:txBody>
      </p:sp>
      <p:sp>
        <p:nvSpPr>
          <p:cNvPr id="75" name="Shape 66"/>
          <p:cNvSpPr/>
          <p:nvPr/>
        </p:nvSpPr>
        <p:spPr>
          <a:xfrm>
            <a:off x="9729216" y="3566160"/>
            <a:ext cx="1170432" cy="457200"/>
          </a:xfrm>
          <a:prstGeom prst="roundRect">
            <a:avLst>
              <a:gd name="adj" fmla="val 16000"/>
            </a:avLst>
          </a:prstGeom>
          <a:solidFill>
            <a:srgbClr val="1F4E9A"/>
          </a:solidFill>
          <a:ln w="12700">
            <a:solidFill>
              <a:srgbClr val="1F4E9A"/>
            </a:solidFill>
            <a:prstDash val="solid"/>
          </a:ln>
        </p:spPr>
      </p:sp>
      <p:sp>
        <p:nvSpPr>
          <p:cNvPr id="76" name="Text 67"/>
          <p:cNvSpPr txBox="1"/>
          <p:nvPr/>
        </p:nvSpPr>
        <p:spPr>
          <a:xfrm>
            <a:off x="9765792" y="3566160"/>
            <a:ext cx="1097280" cy="45720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Service Delivery</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Excellence</a:t>
            </a:r>
            <a:endParaRPr lang="en-US" sz="850" dirty="0"/>
          </a:p>
        </p:txBody>
      </p:sp>
      <p:sp>
        <p:nvSpPr>
          <p:cNvPr id="77" name="Shape 68"/>
          <p:cNvSpPr/>
          <p:nvPr/>
        </p:nvSpPr>
        <p:spPr>
          <a:xfrm>
            <a:off x="8988552" y="4389120"/>
            <a:ext cx="2651760" cy="896112"/>
          </a:xfrm>
          <a:prstGeom prst="roundRect">
            <a:avLst>
              <a:gd name="adj" fmla="val 10204"/>
            </a:avLst>
          </a:prstGeom>
          <a:solidFill>
            <a:srgbClr val="7A1F4B"/>
          </a:solidFill>
          <a:ln w="9525">
            <a:solidFill>
              <a:srgbClr val="3A0F24"/>
            </a:solidFill>
            <a:prstDash val="sysDot"/>
          </a:ln>
        </p:spPr>
      </p:sp>
      <p:sp>
        <p:nvSpPr>
          <p:cNvPr id="78" name="Text 69"/>
          <p:cNvSpPr txBox="1"/>
          <p:nvPr/>
        </p:nvSpPr>
        <p:spPr>
          <a:xfrm>
            <a:off x="9052560" y="4389120"/>
            <a:ext cx="2523744" cy="896112"/>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Buffer Pool of Trained Data Engineers, Data Scientists, Business Analysts &amp; BI developers for Contingency Management</a:t>
            </a:r>
            <a:endParaRPr lang="en-US" sz="950" dirty="0"/>
          </a:p>
        </p:txBody>
      </p:sp>
      <p:pic>
        <p:nvPicPr>
          <p:cNvPr id="79" name="Image 7" descr="preencoded.png">    </p:cNvPr>
          <p:cNvPicPr>
            <a:picLocks noChangeAspect="1"/>
          </p:cNvPicPr>
          <p:nvPr/>
        </p:nvPicPr>
        <p:blipFill>
          <a:blip r:embed="rId8"/>
          <a:stretch>
            <a:fillRect/>
          </a:stretch>
        </p:blipFill>
        <p:spPr>
          <a:xfrm>
            <a:off x="11430000" y="5120640"/>
            <a:ext cx="182880" cy="182880"/>
          </a:xfrm>
          <a:prstGeom prst="rect">
            <a:avLst/>
          </a:prstGeom>
        </p:spPr>
      </p:pic>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2026-10-13T07:11:46Z</dcterms:created>
  <dcterms:modified xsi:type="dcterms:W3CDTF">2026-10-13T07:11:46Z</dcterms:modified>
</cp:coreProperties>
</file>