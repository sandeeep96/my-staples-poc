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19b38e1-0826-62ce-93eb-5b01c7737478}">
          <p14:sldIdLst>
            <p14:sldId id="256"/>
          </p14:sldIdLst>
        </p14:section>
        <p14:section name="Summary" id="{fca41d64-af8d-1313-ae49-771ded819065}">
          <p14:sldIdLst>
            <p14:sldId id="257"/>
            <p14:sldId id="258"/>
          </p14:sldIdLst>
        </p14:section>
        <p14:section name="Demo" id="{3e95a0e1-a611-7a10-508e-c30ee7517ae5}">
          <p14:sldIdLst>
            <p14:sldId id="259"/>
          </p14:sldIdLst>
        </p14:section>
        <p14:section name="Next steps" id="{13fbaac7-2f22-37e5-1ddc-53b777f16278}">
          <p14:sldIdLst>
            <p14:sldId id="260"/>
            <p14:sldId id="261"/>
            <p14:sldId id="262"/>
            <p14:sldId id="263"/>
            <p14:sldId id="264"/>
          </p14:sldIdLst>
        </p14:section>
        <p14:section name="Appendix" id="{a328ede3-7208-59e6-853d-6f73ebd17dc0}">
          <p14:sldIdLst>
            <p14:sldId id="265"/>
            <p14:sldId id="266"/>
          </p14:sldIdLst>
        </p14:section>
        <p14:section name="Close" id="{d862c004-c2c0-da53-154f-e28199d039f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next-phase steps of slide 6 (same labels and headings), drawn from the first review's asks. First moves if asked: 1 Size: Agree the opportunity-$ formula and 2–3 pilot nodes; 2 Sense: Pull search logs and the search → PDP → order funnel; 3 Guard: Set the rules per zone with merchants (60 side-by-side pairs); 4 Target: Split picks by channel; draft the first category stories; 5 Recruit: Start with the 13 brands already on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heard in the first review, and how the engine answers each point. Read the left column in their words, then the PoC evidence, then what the next phase adds.
1 Size of the prize: the PoC ranks 74 safe picks out of 885 archetypes, but it measures assortment supply, not demand. The next phase turns each pick into opportunity dollars (slide 6) and stack-ranks to the vital ~20%.
2 Build the basket: every headline pick is anchored to something Staples already sells (desks, lunch bags, coffee, chairs); the final gate caps picks at 3–10 per node, so the output is curated by design.
3 Protect the core: Method 1 labels 4,103 of 16,512 competitor products (25%) as substitutes or undercuts of a Staples item; they are never recommended. Next, merchants set the limits per category zone (slide 8).
4 Adjacent first: hydration (water bottles) and travel/commute (backpacks, lunch bags) are already 3 of our 12 nodes; toys, luggage and tech accessories are a config entry each.
5 Channel: today's benchmark is the Staples.com catalog; Staples Business needs its own customer and fulfilment lens.
6 Incremental value: internal data cannot show what Staples does not carry; we bring the competitor side, measured with the same attribute instrument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of the prize: the next phase turns today's supply-side gap list into a demand-backed, dollar-ranked shortlist, built on the asks from the first review.
1 Size: competitor activity scaled to Staples velocity, times expected conversion and a modelled average unit retail, gives opportunity dollars per archetype; stack-rank and keep the ~20% of lifts that solve 80% of the problem.
2 Sense: null-search counts alone mislead because redirects hide unmet demand, so trace the funnel: search → product page → need met → conversion, and map each break point to an archetype.
3 Guard: the PoC already screens cannibalisation on supply (25% of competitor products held back). With Staples data, merchants set tighter cannibalisation, price and margin limits near core and freer rules in adjacent categories (slide 8); the first move is a calibration session on ~60 side-by-side pairs.
4 Target: split every opportunity by channel (Staples.com for SMB and consumers first; Staples Business later) and package it as a story for the merchant who owns the category (e.g. furniture, consumer electronics).
5 Recruit: 13 brands behind our picks already sell on Staples (at-A-Glance, BAGSMART, Bentgo, CamelBak, Ello, Excello, Fringe, High Sierra, La Crosse Technology, Mead, PlanAhead, STANLEY, Targus): quick wins. Wayfair's range is mostly house brands, so source the archetype, not the brand; rank independent competitor sellers by fit and performance.
Worked example (the backpacks case from the review): 31% of Amazon's backpacks are hiking/outdoor vs 5 of 379 at Staples. The gap is known today; velocity, conversion and AUR come from Staples data, so no dollar figure is shown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(same layout as the V11 growth-paths slide, cards re-aimed at the review's asks; keep this or slide 8, not both). Read left to right: sense the demand, size it, then act and learn.
- Search-funnel signals: null search alone is not enough because redirects can hide unmet demand; trace whether shoppers reach a product page, whether it meets the need, and where conversion breaks.
- Customer basket &amp; vertical intelligence: top customers, their business verticals and what they already buy show which complements are missing; Staples.com and Staples Business are analysed separately.
- Size of the prize: competitor activity scaled to Staples velocity, times conversion and a modelled AUR, stack-ranked to the vital ~20%.
- Sellers &amp; brands: 13 brands behind our picks already sell on Staples; for Wayfair's house brands we source the archetype; independent competitor sellers ranked by fit and performance.
- Adjacent launch &amp; learn: toys (e.g. waiting-room rewards), hydration, travel and luggage, tech accessories; data picks the subcategories so the first load is confident, not every item.
- Category stories: one story per merchant owner, so core-category gaps are raised with the merchant, not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(new; keep this or slide 7, not both). The review's point: the closer a category is to Staples' core office business, the less appetite to fragment the assortment; far from core, Staples can add more to grow and learn. The same gap can therefore mean different actions.
The zones are OUR DRAFT for merchants to correct; the counts are the PoC's recommended archetypes per node.
- Core office (start later): desks, planners, desk organizers, desk pads, partitions. Strict cannibalisation, price and margin floors; gaps such as luxe or smaller desks (Wayfair's range is 35% luxe vs 7% at Staples) go to the merchant as a conversation, not a list.
- Near-core (next): chairs, lamps, coffee organizers, lunch bags, clocks. Design-led looks that build today's basket.
- Adjacent (start first): water bottles (hydration) and backpacks (travel/commute) are already in scope; toys, luggage and tech accessories are the next config entries.
The engine already has the hooks: safety gates per method and a final gate per node; merchant rules become parameters per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Phased plan: LatentView supports phase by phase and adapts to Staples' roadmap rather than a fixed path, using Staples' existing data and tools and adding external data where it helps.
Phase 1 Launch stories: a guardrailed shortlist for the first Marketplace load, packaged as a story per category owner (built on today's PoC plus the merchant rules).
Phase 2 Size the prize: internal sales, search funnel, conversion, satisfaction and basket data turn gaps into opportunity dollars by channel.
Phase 3 Launch, learn &amp; scale: no Marketplace item is live yet, so after launch the actual performance decides where to expand.
Why more than a Copilot query on internal data: (1) the competitor side is external, internal tools can't see what Staples doesn't carry; (2) both sides are measured with one attribute instrument, so 885 archetypes are like-for-like; (3) cannibalisation is screened twice, independently; (4) it is an engine, re-runnable for any node or competitor.
Two workstreams (from the review): acquiring the product comes first; customer education and acquisition follow once the product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5–9 (what we heard, size of the prize, where to play, phased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2.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SIZE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Size of the prize per archetype</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SENSE</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Search-funnel demand</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GUARD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vs adjacent guardrails</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TARGET</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Channel &amp; stakeholder views</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RECRUIT</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Sellers &amp; brands to onboard</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What We Heard → How the Engine Answers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3977640"/>
                <a:gridCol w="4096512"/>
                <a:gridCol w="32918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we heard</a:t>
                      </a:r>
                      <a:endParaRPr lang="en-US" sz="125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PoC already gives</a:t>
                      </a:r>
                      <a:endParaRPr lang="en-US" sz="125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next phase adds</a:t>
                      </a:r>
                      <a:endParaRPr lang="en-US" sz="125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694944">
                <a:tc>
                  <a:txBody>
                    <a:bodyPr/>
                    <a:lstStyle/>
                    <a:p>
                      <a:pPr indent="0" marL="0">
                        <a:buNone/>
                      </a:pPr>
                      <a:r>
                        <a:rPr lang="en-US" sz="1150" b="1" dirty="0">
                          <a:solidFill>
                            <a:srgbClr val="13285B"/>
                          </a:solidFill>
                          <a:latin typeface="Calibri" pitchFamily="34" charset="0"/>
                          <a:ea typeface="Calibri" pitchFamily="34" charset="-122"/>
                          <a:cs typeface="Calibri" pitchFamily="34" charset="-120"/>
                        </a:rPr>
                        <a:t>Size of the prize</a:t>
                      </a:r>
                      <a:pPr indent="0" marL="0">
                        <a:buNone/>
                      </a:pPr>
                      <a:r>
                        <a:rPr lang="en-US" sz="1150" dirty="0">
                          <a:solidFill>
                            <a:srgbClr val="1F2937"/>
                          </a:solidFill>
                          <a:latin typeface="Calibri" pitchFamily="34" charset="0"/>
                          <a:ea typeface="Calibri" pitchFamily="34" charset="-122"/>
                          <a:cs typeface="Calibri" pitchFamily="34" charset="-120"/>
                        </a:rPr>
                        <a:t>, stack-ranked: the ~20% of lifts that solve 80%</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100" b="1" dirty="0">
                          <a:solidFill>
                            <a:srgbClr val="1F4E9A"/>
                          </a:solidFill>
                          <a:latin typeface="Calibri" pitchFamily="34" charset="0"/>
                          <a:ea typeface="Calibri" pitchFamily="34" charset="-122"/>
                          <a:cs typeface="Calibri" pitchFamily="34" charset="-120"/>
                        </a:rPr>
                        <a:t>74 safe picks</a:t>
                      </a:r>
                      <a:pPr indent="0" marL="0">
                        <a:buNone/>
                      </a:pPr>
                      <a:r>
                        <a:rPr lang="en-US" sz="1100" dirty="0">
                          <a:solidFill>
                            <a:srgbClr val="1F2937"/>
                          </a:solidFill>
                          <a:latin typeface="Calibri" pitchFamily="34" charset="0"/>
                          <a:ea typeface="Calibri" pitchFamily="34" charset="-122"/>
                          <a:cs typeface="Calibri" pitchFamily="34" charset="-120"/>
                        </a:rPr>
                        <a:t> from 885 archetypes, ranked by final score (supply view, not demand)</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100" b="1" dirty="0">
                          <a:solidFill>
                            <a:srgbClr val="2F6FD0"/>
                          </a:solidFill>
                          <a:latin typeface="Calibri" pitchFamily="34" charset="0"/>
                          <a:ea typeface="Calibri" pitchFamily="34" charset="-122"/>
                          <a:cs typeface="Calibri" pitchFamily="34" charset="-120"/>
                        </a:rPr>
                        <a:t>Opportunity $ per archetype: velocity × conversion × AUR</a:t>
                      </a:r>
                      <a:endParaRPr lang="en-US" sz="11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694944">
                <a:tc>
                  <a:txBody>
                    <a:bodyPr/>
                    <a:lstStyle/>
                    <a:p>
                      <a:pPr indent="0" marL="0">
                        <a:buNone/>
                      </a:pPr>
                      <a:r>
                        <a:rPr lang="en-US" sz="1150" b="1" dirty="0">
                          <a:solidFill>
                            <a:srgbClr val="13285B"/>
                          </a:solidFill>
                          <a:latin typeface="Calibri" pitchFamily="34" charset="0"/>
                          <a:ea typeface="Calibri" pitchFamily="34" charset="-122"/>
                          <a:cs typeface="Calibri" pitchFamily="34" charset="-120"/>
                        </a:rPr>
                        <a:t>Build the basket</a:t>
                      </a:r>
                      <a:pPr indent="0" marL="0">
                        <a:buNone/>
                      </a:pPr>
                      <a:r>
                        <a:rPr lang="en-US" sz="1150" dirty="0">
                          <a:solidFill>
                            <a:srgbClr val="1F2937"/>
                          </a:solidFill>
                          <a:latin typeface="Calibri" pitchFamily="34" charset="0"/>
                          <a:ea typeface="Calibri" pitchFamily="34" charset="-122"/>
                          <a:cs typeface="Calibri" pitchFamily="34" charset="-120"/>
                        </a:rPr>
                        <a:t> for today's customers: a curated middle ground, not an everything store</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Picks anchored to what Staples already sells; </a:t>
                      </a:r>
                      <a:pPr indent="0" marL="0">
                        <a:buNone/>
                      </a:pPr>
                      <a:r>
                        <a:rPr lang="en-US" sz="1100" b="1" dirty="0">
                          <a:solidFill>
                            <a:srgbClr val="1F4E9A"/>
                          </a:solidFill>
                          <a:latin typeface="Calibri" pitchFamily="34" charset="0"/>
                          <a:ea typeface="Calibri" pitchFamily="34" charset="-122"/>
                          <a:cs typeface="Calibri" pitchFamily="34" charset="-120"/>
                        </a:rPr>
                        <a:t>3–10 per node</a:t>
                      </a:r>
                      <a:pPr indent="0" marL="0">
                        <a:buNone/>
                      </a:pPr>
                      <a:r>
                        <a:rPr lang="en-US" sz="1100" dirty="0">
                          <a:solidFill>
                            <a:srgbClr val="1F2937"/>
                          </a:solidFill>
                          <a:latin typeface="Calibri" pitchFamily="34" charset="0"/>
                          <a:ea typeface="Calibri" pitchFamily="34" charset="-122"/>
                          <a:cs typeface="Calibri" pitchFamily="34" charset="-120"/>
                        </a:rPr>
                        <a:t>, ≤ 4 per attribute set</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100" b="1" dirty="0">
                          <a:solidFill>
                            <a:srgbClr val="2F6FD0"/>
                          </a:solidFill>
                          <a:latin typeface="Calibri" pitchFamily="34" charset="0"/>
                          <a:ea typeface="Calibri" pitchFamily="34" charset="-122"/>
                          <a:cs typeface="Calibri" pitchFamily="34" charset="-120"/>
                        </a:rPr>
                        <a:t>Basket-attach signals from customer baskets &amp; business verticals</a:t>
                      </a:r>
                      <a:endParaRPr lang="en-US" sz="11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694944">
                <a:tc>
                  <a:txBody>
                    <a:bodyPr/>
                    <a:lstStyle/>
                    <a:p>
                      <a:pPr indent="0" marL="0">
                        <a:buNone/>
                      </a:pPr>
                      <a:r>
                        <a:rPr lang="en-US" sz="1150" b="1" dirty="0">
                          <a:solidFill>
                            <a:srgbClr val="13285B"/>
                          </a:solidFill>
                          <a:latin typeface="Calibri" pitchFamily="34" charset="0"/>
                          <a:ea typeface="Calibri" pitchFamily="34" charset="-122"/>
                          <a:cs typeface="Calibri" pitchFamily="34" charset="-120"/>
                        </a:rPr>
                        <a:t>Protect the core</a:t>
                      </a:r>
                      <a:pPr indent="0" marL="0">
                        <a:buNone/>
                      </a:pPr>
                      <a:r>
                        <a:rPr lang="en-US" sz="1150" dirty="0">
                          <a:solidFill>
                            <a:srgbClr val="1F2937"/>
                          </a:solidFill>
                          <a:latin typeface="Calibri" pitchFamily="34" charset="0"/>
                          <a:ea typeface="Calibri" pitchFamily="34" charset="-122"/>
                          <a:cs typeface="Calibri" pitchFamily="34" charset="-120"/>
                        </a:rPr>
                        <a:t>: no top-line erosion just to lift unit velocity</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Safety gates hold back the </a:t>
                      </a:r>
                      <a:pPr indent="0" marL="0">
                        <a:buNone/>
                      </a:pPr>
                      <a:r>
                        <a:rPr lang="en-US" sz="1100" b="1" dirty="0">
                          <a:solidFill>
                            <a:srgbClr val="1F4E9A"/>
                          </a:solidFill>
                          <a:latin typeface="Calibri" pitchFamily="34" charset="0"/>
                          <a:ea typeface="Calibri" pitchFamily="34" charset="-122"/>
                          <a:cs typeface="Calibri" pitchFamily="34" charset="-120"/>
                        </a:rPr>
                        <a:t>25%</a:t>
                      </a:r>
                      <a:pPr indent="0" marL="0">
                        <a:buNone/>
                      </a:pPr>
                      <a:r>
                        <a:rPr lang="en-US" sz="1100" dirty="0">
                          <a:solidFill>
                            <a:srgbClr val="1F2937"/>
                          </a:solidFill>
                          <a:latin typeface="Calibri" pitchFamily="34" charset="0"/>
                          <a:ea typeface="Calibri" pitchFamily="34" charset="-122"/>
                          <a:cs typeface="Calibri" pitchFamily="34" charset="-120"/>
                        </a:rPr>
                        <a:t> of competitor products that would substitute or undercut a Staples item</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100" b="1" dirty="0">
                          <a:solidFill>
                            <a:srgbClr val="2F6FD0"/>
                          </a:solidFill>
                          <a:latin typeface="Calibri" pitchFamily="34" charset="0"/>
                          <a:ea typeface="Calibri" pitchFamily="34" charset="-122"/>
                          <a:cs typeface="Calibri" pitchFamily="34" charset="-120"/>
                        </a:rPr>
                        <a:t>Merchant-set guardrails, tighter the closer to core</a:t>
                      </a:r>
                      <a:endParaRPr lang="en-US" sz="11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694944">
                <a:tc>
                  <a:txBody>
                    <a:bodyPr/>
                    <a:lstStyle/>
                    <a:p>
                      <a:pPr indent="0" marL="0">
                        <a:buNone/>
                      </a:pPr>
                      <a:r>
                        <a:rPr lang="en-US" sz="1150" b="1" dirty="0">
                          <a:solidFill>
                            <a:srgbClr val="13285B"/>
                          </a:solidFill>
                          <a:latin typeface="Calibri" pitchFamily="34" charset="0"/>
                          <a:ea typeface="Calibri" pitchFamily="34" charset="-122"/>
                          <a:cs typeface="Calibri" pitchFamily="34" charset="-120"/>
                        </a:rPr>
                        <a:t>Adjacent first, core later</a:t>
                      </a:r>
                      <a:pPr indent="0" marL="0">
                        <a:buNone/>
                      </a:pPr>
                      <a:r>
                        <a:rPr lang="en-US" sz="1150" dirty="0">
                          <a:solidFill>
                            <a:srgbClr val="1F2937"/>
                          </a:solidFill>
                          <a:latin typeface="Calibri" pitchFamily="34" charset="0"/>
                          <a:ea typeface="Calibri" pitchFamily="34" charset="-122"/>
                          <a:cs typeface="Calibri" pitchFamily="34" charset="-120"/>
                        </a:rPr>
                        <a:t>: hydration, travel, toys, tech accessories</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Hydration and travel/commute are </a:t>
                      </a:r>
                      <a:pPr indent="0" marL="0">
                        <a:buNone/>
                      </a:pPr>
                      <a:r>
                        <a:rPr lang="en-US" sz="1100" b="1" dirty="0">
                          <a:solidFill>
                            <a:srgbClr val="1F4E9A"/>
                          </a:solidFill>
                          <a:latin typeface="Calibri" pitchFamily="34" charset="0"/>
                          <a:ea typeface="Calibri" pitchFamily="34" charset="-122"/>
                          <a:cs typeface="Calibri" pitchFamily="34" charset="-120"/>
                        </a:rPr>
                        <a:t>already in scope</a:t>
                      </a:r>
                      <a:pPr indent="0" marL="0">
                        <a:buNone/>
                      </a:pPr>
                      <a:r>
                        <a:rPr lang="en-US" sz="1100" dirty="0">
                          <a:solidFill>
                            <a:srgbClr val="1F2937"/>
                          </a:solidFill>
                          <a:latin typeface="Calibri" pitchFamily="34" charset="0"/>
                          <a:ea typeface="Calibri" pitchFamily="34" charset="-122"/>
                          <a:cs typeface="Calibri" pitchFamily="34" charset="-120"/>
                        </a:rPr>
                        <a:t>: water bottles, backpacks, lunch bags</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100" b="1" dirty="0">
                          <a:solidFill>
                            <a:srgbClr val="2F6FD0"/>
                          </a:solidFill>
                          <a:latin typeface="Calibri" pitchFamily="34" charset="0"/>
                          <a:ea typeface="Calibri" pitchFamily="34" charset="-122"/>
                          <a:cs typeface="Calibri" pitchFamily="34" charset="-120"/>
                        </a:rPr>
                        <a:t>Each new category is one config file: no new code</a:t>
                      </a:r>
                      <a:endParaRPr lang="en-US" sz="11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694944">
                <a:tc>
                  <a:txBody>
                    <a:bodyPr/>
                    <a:lstStyle/>
                    <a:p>
                      <a:pPr indent="0" marL="0">
                        <a:buNone/>
                      </a:pPr>
                      <a:r>
                        <a:rPr lang="en-US" sz="1150" b="1" dirty="0">
                          <a:solidFill>
                            <a:srgbClr val="13285B"/>
                          </a:solidFill>
                          <a:latin typeface="Calibri" pitchFamily="34" charset="0"/>
                          <a:ea typeface="Calibri" pitchFamily="34" charset="-122"/>
                          <a:cs typeface="Calibri" pitchFamily="34" charset="-120"/>
                        </a:rPr>
                        <a:t>Staples.com vs Staples Business</a:t>
                      </a:r>
                      <a:pPr indent="0" marL="0">
                        <a:buNone/>
                      </a:pPr>
                      <a:r>
                        <a:rPr lang="en-US" sz="1150" dirty="0">
                          <a:solidFill>
                            <a:srgbClr val="1F2937"/>
                          </a:solidFill>
                          <a:latin typeface="Calibri" pitchFamily="34" charset="0"/>
                          <a:ea typeface="Calibri" pitchFamily="34" charset="-122"/>
                          <a:cs typeface="Calibri" pitchFamily="34" charset="-120"/>
                        </a:rPr>
                        <a:t>: different customers, different channel</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Today's run benchmarks the </a:t>
                      </a:r>
                      <a:pPr indent="0" marL="0">
                        <a:buNone/>
                      </a:pPr>
                      <a:r>
                        <a:rPr lang="en-US" sz="1100" b="1" dirty="0">
                          <a:solidFill>
                            <a:srgbClr val="1F4E9A"/>
                          </a:solidFill>
                          <a:latin typeface="Calibri" pitchFamily="34" charset="0"/>
                          <a:ea typeface="Calibri" pitchFamily="34" charset="-122"/>
                          <a:cs typeface="Calibri" pitchFamily="34" charset="-120"/>
                        </a:rPr>
                        <a:t>Staples.com</a:t>
                      </a:r>
                      <a:pPr indent="0" marL="0">
                        <a:buNone/>
                      </a:pPr>
                      <a:r>
                        <a:rPr lang="en-US" sz="1100" dirty="0">
                          <a:solidFill>
                            <a:srgbClr val="1F2937"/>
                          </a:solidFill>
                          <a:latin typeface="Calibri" pitchFamily="34" charset="0"/>
                          <a:ea typeface="Calibri" pitchFamily="34" charset="-122"/>
                          <a:cs typeface="Calibri" pitchFamily="34" charset="-120"/>
                        </a:rPr>
                        <a:t> catalog</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100" b="1" dirty="0">
                          <a:solidFill>
                            <a:srgbClr val="2F6FD0"/>
                          </a:solidFill>
                          <a:latin typeface="Calibri" pitchFamily="34" charset="0"/>
                          <a:ea typeface="Calibri" pitchFamily="34" charset="-122"/>
                          <a:cs typeface="Calibri" pitchFamily="34" charset="-120"/>
                        </a:rPr>
                        <a:t>Every opportunity tagged by channel and customer segment</a:t>
                      </a:r>
                      <a:endParaRPr lang="en-US" sz="11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694944">
                <a:tc>
                  <a:txBody>
                    <a:bodyPr/>
                    <a:lstStyle/>
                    <a:p>
                      <a:pPr indent="0" marL="0">
                        <a:buNone/>
                      </a:pPr>
                      <a:r>
                        <a:rPr lang="en-US" sz="1150" b="1" dirty="0">
                          <a:solidFill>
                            <a:srgbClr val="13285B"/>
                          </a:solidFill>
                          <a:latin typeface="Calibri" pitchFamily="34" charset="0"/>
                          <a:ea typeface="Calibri" pitchFamily="34" charset="-122"/>
                          <a:cs typeface="Calibri" pitchFamily="34" charset="-120"/>
                        </a:rPr>
                        <a:t>Beyond internal reporting</a:t>
                      </a:r>
                      <a:pPr indent="0" marL="0">
                        <a:buNone/>
                      </a:pPr>
                      <a:r>
                        <a:rPr lang="en-US" sz="1150" dirty="0">
                          <a:solidFill>
                            <a:srgbClr val="1F2937"/>
                          </a:solidFill>
                          <a:latin typeface="Calibri" pitchFamily="34" charset="0"/>
                          <a:ea typeface="Calibri" pitchFamily="34" charset="-122"/>
                          <a:cs typeface="Calibri" pitchFamily="34" charset="-120"/>
                        </a:rPr>
                        <a:t>: what can't be done with internal data alone?</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100" b="1" dirty="0">
                          <a:solidFill>
                            <a:srgbClr val="1F4E9A"/>
                          </a:solidFill>
                          <a:latin typeface="Calibri" pitchFamily="34" charset="0"/>
                          <a:ea typeface="Calibri" pitchFamily="34" charset="-122"/>
                          <a:cs typeface="Calibri" pitchFamily="34" charset="-120"/>
                        </a:rPr>
                        <a:t>16.5K competitor families</a:t>
                      </a:r>
                      <a:pPr indent="0" marL="0">
                        <a:buNone/>
                      </a:pPr>
                      <a:r>
                        <a:rPr lang="en-US" sz="1100" dirty="0">
                          <a:solidFill>
                            <a:srgbClr val="1F2937"/>
                          </a:solidFill>
                          <a:latin typeface="Calibri" pitchFamily="34" charset="0"/>
                          <a:ea typeface="Calibri" pitchFamily="34" charset="-122"/>
                          <a:cs typeface="Calibri" pitchFamily="34" charset="-120"/>
                        </a:rPr>
                        <a:t> matched attribute by attribute to Staples' 3.4K</a:t>
                      </a:r>
                      <a:endParaRPr lang="en-US" sz="12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100" b="1" dirty="0">
                          <a:solidFill>
                            <a:srgbClr val="2F6FD0"/>
                          </a:solidFill>
                          <a:latin typeface="Calibri" pitchFamily="34" charset="0"/>
                          <a:ea typeface="Calibri" pitchFamily="34" charset="-122"/>
                          <a:cs typeface="Calibri" pitchFamily="34" charset="-120"/>
                        </a:rPr>
                        <a:t>A repeatable engine and a phased plan</a:t>
                      </a:r>
                      <a:endParaRPr lang="en-US" sz="1100" dirty="0">
                        <a:latin typeface="Calibri" charset="0"/>
                        <a:ea typeface="Calibri" charset="0"/>
                        <a:cs typeface="Calibri" charset="0"/>
                      </a:endParaRPr>
                    </a:p>
                  </a:txBody>
                  <a:tcPr marL="109728" marR="109728" marT="36576" marB="36576"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833872"/>
            <a:ext cx="11365992" cy="475488"/>
          </a:xfrm>
          <a:prstGeom prst="roundRect">
            <a:avLst>
              <a:gd name="adj" fmla="val 15385"/>
            </a:avLst>
          </a:prstGeom>
          <a:solidFill>
            <a:srgbClr val="13285B"/>
          </a:solidFill>
          <a:ln w="12700">
            <a:solidFill>
              <a:srgbClr val="13285B"/>
            </a:solidFill>
            <a:prstDash val="solid"/>
          </a:ln>
        </p:spPr>
      </p:sp>
      <p:sp>
        <p:nvSpPr>
          <p:cNvPr id="5" name="Text 2"/>
          <p:cNvSpPr txBox="1"/>
          <p:nvPr/>
        </p:nvSpPr>
        <p:spPr>
          <a:xfrm>
            <a:off x="566928" y="5833872"/>
            <a:ext cx="155448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AGREED START</a:t>
            </a:r>
            <a:endParaRPr lang="en-US" sz="1200" dirty="0"/>
          </a:p>
        </p:txBody>
      </p:sp>
      <p:sp>
        <p:nvSpPr>
          <p:cNvPr id="6" name="Text 3"/>
          <p:cNvSpPr txBox="1"/>
          <p:nvPr/>
        </p:nvSpPr>
        <p:spPr>
          <a:xfrm>
            <a:off x="2103120" y="5833872"/>
            <a:ext cx="955548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Acquire the product first: build the basket for existing Staples customers, start adjacent, scale on evidence after launch.</a:t>
            </a:r>
            <a:endParaRPr lang="en-US" sz="12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From Assortment Gaps to Size of the Prize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Today's gap list, turned into </a:t>
            </a:r>
            <a:pPr algn="ctr" indent="0" marL="0">
              <a:buNone/>
            </a:pPr>
            <a:r>
              <a:rPr lang="en-US" sz="1150" b="1" dirty="0">
                <a:solidFill>
                  <a:srgbClr val="13285B"/>
                </a:solidFill>
                <a:latin typeface="Calibri" pitchFamily="34" charset="0"/>
                <a:ea typeface="Calibri" pitchFamily="34" charset="-122"/>
                <a:cs typeface="Calibri" pitchFamily="34" charset="-120"/>
              </a:rPr>
              <a:t>opportunity dollars</a:t>
            </a:r>
            <a:pPr algn="ctr" indent="0" marL="0">
              <a:buNone/>
            </a:pPr>
            <a:r>
              <a:rPr lang="en-US" sz="1150" dirty="0">
                <a:solidFill>
                  <a:srgbClr val="1F2937"/>
                </a:solidFill>
                <a:latin typeface="Calibri" pitchFamily="34" charset="0"/>
                <a:ea typeface="Calibri" pitchFamily="34" charset="-122"/>
                <a:cs typeface="Calibri" pitchFamily="34" charset="-120"/>
              </a:rPr>
              <a:t>, inside </a:t>
            </a:r>
            <a:pPr algn="ctr" indent="0" marL="0">
              <a:buNone/>
            </a:pPr>
            <a:r>
              <a:rPr lang="en-US" sz="1150" b="1" dirty="0">
                <a:solidFill>
                  <a:srgbClr val="13285B"/>
                </a:solidFill>
                <a:latin typeface="Calibri" pitchFamily="34" charset="0"/>
                <a:ea typeface="Calibri" pitchFamily="34" charset="-122"/>
                <a:cs typeface="Calibri" pitchFamily="34" charset="-120"/>
              </a:rPr>
              <a:t>merchant guardrails</a:t>
            </a:r>
            <a:pPr algn="ctr" indent="0" marL="0">
              <a:buNone/>
            </a:pPr>
            <a:r>
              <a:rPr lang="en-US" sz="1150" dirty="0">
                <a:solidFill>
                  <a:srgbClr val="1F2937"/>
                </a:solidFill>
                <a:latin typeface="Calibri" pitchFamily="34" charset="0"/>
                <a:ea typeface="Calibri" pitchFamily="34" charset="-122"/>
                <a:cs typeface="Calibri" pitchFamily="34" charset="-120"/>
              </a:rPr>
              <a:t>, for the </a:t>
            </a:r>
            <a:pPr algn="ctr" indent="0" marL="0">
              <a:buNone/>
            </a:pPr>
            <a:r>
              <a:rPr lang="en-US" sz="1150" b="1" dirty="0">
                <a:solidFill>
                  <a:srgbClr val="13285B"/>
                </a:solidFill>
                <a:latin typeface="Calibri" pitchFamily="34" charset="0"/>
                <a:ea typeface="Calibri" pitchFamily="34" charset="-122"/>
                <a:cs typeface="Calibri" pitchFamily="34" charset="-120"/>
              </a:rPr>
              <a:t>right channel and owner</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72768"/>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755648"/>
            <a:ext cx="347472" cy="347472"/>
          </a:xfrm>
          <a:prstGeom prst="rect">
            <a:avLst/>
          </a:prstGeom>
        </p:spPr>
      </p:pic>
      <p:sp>
        <p:nvSpPr>
          <p:cNvPr id="7" name="Text 4"/>
          <p:cNvSpPr txBox="1"/>
          <p:nvPr/>
        </p:nvSpPr>
        <p:spPr>
          <a:xfrm>
            <a:off x="960120" y="1627632"/>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SIZE</a:t>
            </a:r>
            <a:endParaRPr lang="en-US" sz="1050" dirty="0"/>
          </a:p>
        </p:txBody>
      </p:sp>
      <p:sp>
        <p:nvSpPr>
          <p:cNvPr id="8" name="Text 5"/>
          <p:cNvSpPr txBox="1"/>
          <p:nvPr/>
        </p:nvSpPr>
        <p:spPr>
          <a:xfrm>
            <a:off x="960120" y="1847088"/>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Size of the prize per archetype</a:t>
            </a:r>
            <a:endParaRPr lang="en-US" sz="1100" dirty="0"/>
          </a:p>
        </p:txBody>
      </p:sp>
      <p:sp>
        <p:nvSpPr>
          <p:cNvPr id="9" name="Shape 6"/>
          <p:cNvSpPr/>
          <p:nvPr/>
        </p:nvSpPr>
        <p:spPr>
          <a:xfrm>
            <a:off x="411480" y="2340864"/>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414016"/>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a:t>
            </a:r>
            <a:endParaRPr lang="en-US" sz="1000" dirty="0"/>
          </a:p>
        </p:txBody>
      </p:sp>
      <p:sp>
        <p:nvSpPr>
          <p:cNvPr id="11" name="Text 8"/>
          <p:cNvSpPr txBox="1"/>
          <p:nvPr/>
        </p:nvSpPr>
        <p:spPr>
          <a:xfrm>
            <a:off x="502920" y="2852928"/>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Scale competitor activity to Staples velocity</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Times expected conversion &amp; modelled AUR = opportunity $</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Stack-rank: the ~20% of lifts that solve 80%</a:t>
            </a:r>
            <a:endParaRPr lang="en-US" sz="1000" dirty="0"/>
          </a:p>
        </p:txBody>
      </p:sp>
      <p:sp>
        <p:nvSpPr>
          <p:cNvPr id="12" name="Shape 9"/>
          <p:cNvSpPr/>
          <p:nvPr/>
        </p:nvSpPr>
        <p:spPr>
          <a:xfrm>
            <a:off x="484632" y="4352544"/>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39826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553712"/>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velocity · conversion · AUR</a:t>
            </a:r>
            <a:endParaRPr lang="en-US" sz="950" dirty="0"/>
          </a:p>
        </p:txBody>
      </p:sp>
      <p:sp>
        <p:nvSpPr>
          <p:cNvPr id="15" name="Shape 12"/>
          <p:cNvSpPr/>
          <p:nvPr/>
        </p:nvSpPr>
        <p:spPr>
          <a:xfrm>
            <a:off x="484632" y="4992624"/>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03834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193792"/>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A $-ranked shortlist, not a long list</a:t>
            </a:r>
            <a:endParaRPr lang="en-US" sz="1050" dirty="0"/>
          </a:p>
        </p:txBody>
      </p:sp>
      <p:sp>
        <p:nvSpPr>
          <p:cNvPr id="18" name="Shape 15"/>
          <p:cNvSpPr/>
          <p:nvPr/>
        </p:nvSpPr>
        <p:spPr>
          <a:xfrm>
            <a:off x="2732227" y="1572768"/>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755648"/>
            <a:ext cx="347472" cy="347472"/>
          </a:xfrm>
          <a:prstGeom prst="rect">
            <a:avLst/>
          </a:prstGeom>
        </p:spPr>
      </p:pic>
      <p:sp>
        <p:nvSpPr>
          <p:cNvPr id="20" name="Text 16"/>
          <p:cNvSpPr txBox="1"/>
          <p:nvPr/>
        </p:nvSpPr>
        <p:spPr>
          <a:xfrm>
            <a:off x="3280867" y="1627632"/>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SENSE</a:t>
            </a:r>
            <a:endParaRPr lang="en-US" sz="1050" dirty="0"/>
          </a:p>
        </p:txBody>
      </p:sp>
      <p:sp>
        <p:nvSpPr>
          <p:cNvPr id="21" name="Text 17"/>
          <p:cNvSpPr txBox="1"/>
          <p:nvPr/>
        </p:nvSpPr>
        <p:spPr>
          <a:xfrm>
            <a:off x="3280867" y="1847088"/>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Search-funnel demand</a:t>
            </a:r>
            <a:endParaRPr lang="en-US" sz="1100" dirty="0"/>
          </a:p>
        </p:txBody>
      </p:sp>
      <p:sp>
        <p:nvSpPr>
          <p:cNvPr id="22" name="Shape 18"/>
          <p:cNvSpPr/>
          <p:nvPr/>
        </p:nvSpPr>
        <p:spPr>
          <a:xfrm>
            <a:off x="2732227" y="2340864"/>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414016"/>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do shoppers look, and leave?</a:t>
            </a:r>
            <a:endParaRPr lang="en-US" sz="1000" dirty="0"/>
          </a:p>
        </p:txBody>
      </p:sp>
      <p:sp>
        <p:nvSpPr>
          <p:cNvPr id="24" name="Text 20"/>
          <p:cNvSpPr txBox="1"/>
          <p:nvPr/>
        </p:nvSpPr>
        <p:spPr>
          <a:xfrm>
            <a:off x="2823667" y="2852928"/>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Null &amp; poor searches, incl. redirects that hide demand</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Trace search → PDP → need met → conversion</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Map each break point to an archetype</a:t>
            </a:r>
            <a:endParaRPr lang="en-US" sz="1000" dirty="0"/>
          </a:p>
        </p:txBody>
      </p:sp>
      <p:sp>
        <p:nvSpPr>
          <p:cNvPr id="25" name="Shape 21"/>
          <p:cNvSpPr/>
          <p:nvPr/>
        </p:nvSpPr>
        <p:spPr>
          <a:xfrm>
            <a:off x="2805379" y="4352544"/>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39826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553712"/>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Search logs · PDP &amp; funnel data</a:t>
            </a:r>
            <a:endParaRPr lang="en-US" sz="950" dirty="0"/>
          </a:p>
        </p:txBody>
      </p:sp>
      <p:sp>
        <p:nvSpPr>
          <p:cNvPr id="28" name="Shape 24"/>
          <p:cNvSpPr/>
          <p:nvPr/>
        </p:nvSpPr>
        <p:spPr>
          <a:xfrm>
            <a:off x="2805379" y="4992624"/>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03834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193792"/>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Unmet demand, evidenced</a:t>
            </a:r>
            <a:endParaRPr lang="en-US" sz="1050" dirty="0"/>
          </a:p>
        </p:txBody>
      </p:sp>
      <p:sp>
        <p:nvSpPr>
          <p:cNvPr id="31" name="Shape 27"/>
          <p:cNvSpPr/>
          <p:nvPr/>
        </p:nvSpPr>
        <p:spPr>
          <a:xfrm>
            <a:off x="5052974" y="1572768"/>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755648"/>
            <a:ext cx="347472" cy="347472"/>
          </a:xfrm>
          <a:prstGeom prst="rect">
            <a:avLst/>
          </a:prstGeom>
        </p:spPr>
      </p:pic>
      <p:sp>
        <p:nvSpPr>
          <p:cNvPr id="33" name="Text 28"/>
          <p:cNvSpPr txBox="1"/>
          <p:nvPr/>
        </p:nvSpPr>
        <p:spPr>
          <a:xfrm>
            <a:off x="5601614" y="1627632"/>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GUARD</a:t>
            </a:r>
            <a:endParaRPr lang="en-US" sz="1050" dirty="0"/>
          </a:p>
        </p:txBody>
      </p:sp>
      <p:sp>
        <p:nvSpPr>
          <p:cNvPr id="34" name="Text 29"/>
          <p:cNvSpPr txBox="1"/>
          <p:nvPr/>
        </p:nvSpPr>
        <p:spPr>
          <a:xfrm>
            <a:off x="5601614" y="1847088"/>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vs adjacent guardrails</a:t>
            </a:r>
            <a:endParaRPr lang="en-US" sz="1100" dirty="0"/>
          </a:p>
        </p:txBody>
      </p:sp>
      <p:sp>
        <p:nvSpPr>
          <p:cNvPr id="35" name="Shape 30"/>
          <p:cNvSpPr/>
          <p:nvPr/>
        </p:nvSpPr>
        <p:spPr>
          <a:xfrm>
            <a:off x="5052974" y="2340864"/>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414016"/>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How far can each category stretch?</a:t>
            </a:r>
            <a:endParaRPr lang="en-US" sz="1000" dirty="0"/>
          </a:p>
        </p:txBody>
      </p:sp>
      <p:sp>
        <p:nvSpPr>
          <p:cNvPr id="37" name="Text 32"/>
          <p:cNvSpPr txBox="1"/>
          <p:nvPr/>
        </p:nvSpPr>
        <p:spPr>
          <a:xfrm>
            <a:off x="5144414" y="2852928"/>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Tighter cannibalisation, price &amp; margin floors near core</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Freer grow-and-learn rules in adjacent categories</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Merchant rules plug into today's safety gates</a:t>
            </a:r>
            <a:endParaRPr lang="en-US" sz="1000" dirty="0"/>
          </a:p>
        </p:txBody>
      </p:sp>
      <p:sp>
        <p:nvSpPr>
          <p:cNvPr id="38" name="Shape 33"/>
          <p:cNvSpPr/>
          <p:nvPr/>
        </p:nvSpPr>
        <p:spPr>
          <a:xfrm>
            <a:off x="5126126" y="4352544"/>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39826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553712"/>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41" name="Shape 36"/>
          <p:cNvSpPr/>
          <p:nvPr/>
        </p:nvSpPr>
        <p:spPr>
          <a:xfrm>
            <a:off x="5126126" y="4992624"/>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03834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193792"/>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Curated, not an everything store</a:t>
            </a:r>
            <a:endParaRPr lang="en-US" sz="1050" dirty="0"/>
          </a:p>
        </p:txBody>
      </p:sp>
      <p:sp>
        <p:nvSpPr>
          <p:cNvPr id="44" name="Shape 39"/>
          <p:cNvSpPr/>
          <p:nvPr/>
        </p:nvSpPr>
        <p:spPr>
          <a:xfrm>
            <a:off x="7373722" y="1572768"/>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755648"/>
            <a:ext cx="347472" cy="347472"/>
          </a:xfrm>
          <a:prstGeom prst="rect">
            <a:avLst/>
          </a:prstGeom>
        </p:spPr>
      </p:pic>
      <p:sp>
        <p:nvSpPr>
          <p:cNvPr id="46" name="Text 40"/>
          <p:cNvSpPr txBox="1"/>
          <p:nvPr/>
        </p:nvSpPr>
        <p:spPr>
          <a:xfrm>
            <a:off x="7922362" y="1627632"/>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TARGET</a:t>
            </a:r>
            <a:endParaRPr lang="en-US" sz="1050" dirty="0"/>
          </a:p>
        </p:txBody>
      </p:sp>
      <p:sp>
        <p:nvSpPr>
          <p:cNvPr id="47" name="Text 41"/>
          <p:cNvSpPr txBox="1"/>
          <p:nvPr/>
        </p:nvSpPr>
        <p:spPr>
          <a:xfrm>
            <a:off x="7922362" y="1847088"/>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Channel &amp; stakeholder views</a:t>
            </a:r>
            <a:endParaRPr lang="en-US" sz="1100" dirty="0"/>
          </a:p>
        </p:txBody>
      </p:sp>
      <p:sp>
        <p:nvSpPr>
          <p:cNvPr id="48" name="Shape 42"/>
          <p:cNvSpPr/>
          <p:nvPr/>
        </p:nvSpPr>
        <p:spPr>
          <a:xfrm>
            <a:off x="7373722" y="2340864"/>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414016"/>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is it for, and who owns it?</a:t>
            </a:r>
            <a:endParaRPr lang="en-US" sz="1000" dirty="0"/>
          </a:p>
        </p:txBody>
      </p:sp>
      <p:sp>
        <p:nvSpPr>
          <p:cNvPr id="50" name="Text 44"/>
          <p:cNvSpPr txBox="1"/>
          <p:nvPr/>
        </p:nvSpPr>
        <p:spPr>
          <a:xfrm>
            <a:off x="7465162" y="2852928"/>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Staples.com (SMB + consumers) vs Staples Business</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Basket fit for today's customers first</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One category story per merchant owner</a:t>
            </a:r>
            <a:endParaRPr lang="en-US" sz="1000" dirty="0"/>
          </a:p>
        </p:txBody>
      </p:sp>
      <p:sp>
        <p:nvSpPr>
          <p:cNvPr id="51" name="Shape 45"/>
          <p:cNvSpPr/>
          <p:nvPr/>
        </p:nvSpPr>
        <p:spPr>
          <a:xfrm>
            <a:off x="7446874" y="4352544"/>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39826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553712"/>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Customer segments · baskets · channel</a:t>
            </a:r>
            <a:endParaRPr lang="en-US" sz="950" dirty="0"/>
          </a:p>
        </p:txBody>
      </p:sp>
      <p:sp>
        <p:nvSpPr>
          <p:cNvPr id="54" name="Shape 48"/>
          <p:cNvSpPr/>
          <p:nvPr/>
        </p:nvSpPr>
        <p:spPr>
          <a:xfrm>
            <a:off x="7446874" y="4992624"/>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03834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193792"/>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Stories each merchant can act on</a:t>
            </a:r>
            <a:endParaRPr lang="en-US" sz="1050" dirty="0"/>
          </a:p>
        </p:txBody>
      </p:sp>
      <p:sp>
        <p:nvSpPr>
          <p:cNvPr id="57" name="Shape 51"/>
          <p:cNvSpPr/>
          <p:nvPr/>
        </p:nvSpPr>
        <p:spPr>
          <a:xfrm>
            <a:off x="9694469" y="1572768"/>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755648"/>
            <a:ext cx="347472" cy="347472"/>
          </a:xfrm>
          <a:prstGeom prst="rect">
            <a:avLst/>
          </a:prstGeom>
        </p:spPr>
      </p:pic>
      <p:sp>
        <p:nvSpPr>
          <p:cNvPr id="59" name="Text 52"/>
          <p:cNvSpPr txBox="1"/>
          <p:nvPr/>
        </p:nvSpPr>
        <p:spPr>
          <a:xfrm>
            <a:off x="10243109" y="1627632"/>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RECRUIT</a:t>
            </a:r>
            <a:endParaRPr lang="en-US" sz="1050" dirty="0"/>
          </a:p>
        </p:txBody>
      </p:sp>
      <p:sp>
        <p:nvSpPr>
          <p:cNvPr id="60" name="Text 53"/>
          <p:cNvSpPr txBox="1"/>
          <p:nvPr/>
        </p:nvSpPr>
        <p:spPr>
          <a:xfrm>
            <a:off x="10243109" y="1847088"/>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Sellers &amp; brands to onboard</a:t>
            </a:r>
            <a:endParaRPr lang="en-US" sz="1100" dirty="0"/>
          </a:p>
        </p:txBody>
      </p:sp>
      <p:sp>
        <p:nvSpPr>
          <p:cNvPr id="61" name="Shape 54"/>
          <p:cNvSpPr/>
          <p:nvPr/>
        </p:nvSpPr>
        <p:spPr>
          <a:xfrm>
            <a:off x="9694469" y="2340864"/>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414016"/>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a:t>
            </a:r>
            <a:endParaRPr lang="en-US" sz="1000" dirty="0"/>
          </a:p>
        </p:txBody>
      </p:sp>
      <p:sp>
        <p:nvSpPr>
          <p:cNvPr id="63" name="Text 56"/>
          <p:cNvSpPr txBox="1"/>
          <p:nvPr/>
        </p:nvSpPr>
        <p:spPr>
          <a:xfrm>
            <a:off x="9785909" y="2852928"/>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13 brands behind our picks already sell on Staples</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House brands: source the archetype, not the brand</a:t>
            </a:r>
            <a:endParaRPr lang="en-US" sz="1000" dirty="0"/>
          </a:p>
          <a:p>
            <a:pPr marL="114300" indent="-1143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Rank independent sellers by fit &amp; performance</a:t>
            </a:r>
            <a:endParaRPr lang="en-US" sz="1000" dirty="0"/>
          </a:p>
        </p:txBody>
      </p:sp>
      <p:sp>
        <p:nvSpPr>
          <p:cNvPr id="64" name="Shape 57"/>
          <p:cNvSpPr/>
          <p:nvPr/>
        </p:nvSpPr>
        <p:spPr>
          <a:xfrm>
            <a:off x="9767621" y="4352544"/>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39826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553712"/>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data · competitor sellers</a:t>
            </a:r>
            <a:endParaRPr lang="en-US" sz="950" dirty="0"/>
          </a:p>
        </p:txBody>
      </p:sp>
      <p:sp>
        <p:nvSpPr>
          <p:cNvPr id="67" name="Shape 60"/>
          <p:cNvSpPr/>
          <p:nvPr/>
        </p:nvSpPr>
        <p:spPr>
          <a:xfrm>
            <a:off x="9767621" y="4992624"/>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038344"/>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193792"/>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A recruit list per archetype</a:t>
            </a:r>
            <a:endParaRPr lang="en-US" sz="1050" dirty="0"/>
          </a:p>
        </p:txBody>
      </p:sp>
      <p:sp>
        <p:nvSpPr>
          <p:cNvPr id="70" name="Shape 63"/>
          <p:cNvSpPr/>
          <p:nvPr/>
        </p:nvSpPr>
        <p:spPr>
          <a:xfrm>
            <a:off x="411480" y="5852160"/>
            <a:ext cx="11365992" cy="548640"/>
          </a:xfrm>
          <a:prstGeom prst="roundRect">
            <a:avLst>
              <a:gd name="adj" fmla="val 13333"/>
            </a:avLst>
          </a:prstGeom>
          <a:solidFill>
            <a:srgbClr val="13285B"/>
          </a:solidFill>
          <a:ln w="12700">
            <a:solidFill>
              <a:srgbClr val="13285B"/>
            </a:solidFill>
            <a:prstDash val="solid"/>
          </a:ln>
        </p:spPr>
      </p:sp>
      <p:sp>
        <p:nvSpPr>
          <p:cNvPr id="71" name="Text 64"/>
          <p:cNvSpPr txBox="1"/>
          <p:nvPr/>
        </p:nvSpPr>
        <p:spPr>
          <a:xfrm>
            <a:off x="548640" y="5852160"/>
            <a:ext cx="1874520" cy="548640"/>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WORKED EXAMPLE</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hiking / outdoor backpacks</a:t>
            </a:r>
            <a:endParaRPr lang="en-US" sz="1000" dirty="0"/>
          </a:p>
        </p:txBody>
      </p:sp>
      <p:sp>
        <p:nvSpPr>
          <p:cNvPr id="72" name="Shape 65"/>
          <p:cNvSpPr/>
          <p:nvPr/>
        </p:nvSpPr>
        <p:spPr>
          <a:xfrm>
            <a:off x="2487168" y="5925312"/>
            <a:ext cx="2514600" cy="402336"/>
          </a:xfrm>
          <a:prstGeom prst="roundRect">
            <a:avLst>
              <a:gd name="adj" fmla="val 13636"/>
            </a:avLst>
          </a:prstGeom>
          <a:solidFill>
            <a:srgbClr val="F5A623"/>
          </a:solidFill>
          <a:ln w="12700">
            <a:solidFill>
              <a:srgbClr val="F5A623"/>
            </a:solidFill>
            <a:prstDash val="solid"/>
          </a:ln>
        </p:spPr>
      </p:sp>
      <p:sp>
        <p:nvSpPr>
          <p:cNvPr id="73" name="Text 66"/>
          <p:cNvSpPr txBox="1"/>
          <p:nvPr/>
        </p:nvSpPr>
        <p:spPr>
          <a:xfrm>
            <a:off x="2542032" y="5925312"/>
            <a:ext cx="2404872" cy="402336"/>
          </a:xfrm>
          <a:prstGeom prst="rect">
            <a:avLst/>
          </a:prstGeom>
          <a:noFill/>
          <a:ln/>
        </p:spPr>
        <p:txBody>
          <a:bodyPr wrap="square" lIns="0" tIns="0" rIns="0" bIns="0" rtlCol="0" anchor="ctr"/>
          <a:lstStyle/>
          <a:p>
            <a:pPr algn="ctr" indent="0" marL="0">
              <a:buNone/>
            </a:pPr>
            <a:r>
              <a:rPr lang="en-US" sz="950" b="1" dirty="0">
                <a:solidFill>
                  <a:srgbClr val="13285B"/>
                </a:solidFill>
                <a:latin typeface="Calibri" pitchFamily="34" charset="0"/>
                <a:ea typeface="Calibri" pitchFamily="34" charset="-122"/>
                <a:cs typeface="Calibri" pitchFamily="34" charset="-120"/>
              </a:rPr>
              <a:t>Gap: 31% at Amazon vs 5 of 379 at Staples</a:t>
            </a:r>
            <a:endParaRPr lang="en-US" sz="950" dirty="0"/>
          </a:p>
          <a:p>
            <a:pPr algn="ctr" indent="0" marL="0">
              <a:buNone/>
            </a:pPr>
            <a:r>
              <a:rPr lang="en-US" sz="800" i="1" dirty="0">
                <a:solidFill>
                  <a:srgbClr val="13285B"/>
                </a:solidFill>
                <a:latin typeface="Calibri" pitchFamily="34" charset="0"/>
                <a:ea typeface="Calibri" pitchFamily="34" charset="-122"/>
                <a:cs typeface="Calibri" pitchFamily="34" charset="-120"/>
              </a:rPr>
              <a:t>PoC today</a:t>
            </a:r>
            <a:endParaRPr lang="en-US" sz="950" dirty="0"/>
          </a:p>
        </p:txBody>
      </p:sp>
      <p:sp>
        <p:nvSpPr>
          <p:cNvPr id="74" name="Text 67"/>
          <p:cNvSpPr txBox="1"/>
          <p:nvPr/>
        </p:nvSpPr>
        <p:spPr>
          <a:xfrm>
            <a:off x="5001768" y="5852160"/>
            <a:ext cx="164592"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5" name="Shape 68"/>
          <p:cNvSpPr/>
          <p:nvPr/>
        </p:nvSpPr>
        <p:spPr>
          <a:xfrm>
            <a:off x="5166360" y="5925312"/>
            <a:ext cx="1463040" cy="402336"/>
          </a:xfrm>
          <a:prstGeom prst="roundRect">
            <a:avLst>
              <a:gd name="adj" fmla="val 13636"/>
            </a:avLst>
          </a:prstGeom>
          <a:solidFill>
            <a:srgbClr val="1F4E9A"/>
          </a:solidFill>
          <a:ln w="12700">
            <a:solidFill>
              <a:srgbClr val="1F4E9A"/>
            </a:solidFill>
            <a:prstDash val="solid"/>
          </a:ln>
        </p:spPr>
      </p:sp>
      <p:sp>
        <p:nvSpPr>
          <p:cNvPr id="76" name="Text 69"/>
          <p:cNvSpPr txBox="1"/>
          <p:nvPr/>
        </p:nvSpPr>
        <p:spPr>
          <a:xfrm>
            <a:off x="5221224" y="5925312"/>
            <a:ext cx="1353312"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Staples backpack velocity</a:t>
            </a:r>
            <a:endParaRPr lang="en-US" sz="950" dirty="0"/>
          </a:p>
          <a:p>
            <a:pPr algn="ctr" indent="0" marL="0">
              <a:buNone/>
            </a:pPr>
            <a:r>
              <a:rPr lang="en-US" sz="800" i="1" dirty="0">
                <a:solidFill>
                  <a:srgbClr val="CADCFC"/>
                </a:solidFill>
                <a:latin typeface="Calibri" pitchFamily="34" charset="0"/>
                <a:ea typeface="Calibri" pitchFamily="34" charset="-122"/>
                <a:cs typeface="Calibri" pitchFamily="34" charset="-120"/>
              </a:rPr>
              <a:t>Staples data</a:t>
            </a:r>
            <a:endParaRPr lang="en-US" sz="950" dirty="0"/>
          </a:p>
        </p:txBody>
      </p:sp>
      <p:sp>
        <p:nvSpPr>
          <p:cNvPr id="77" name="Text 70"/>
          <p:cNvSpPr txBox="1"/>
          <p:nvPr/>
        </p:nvSpPr>
        <p:spPr>
          <a:xfrm>
            <a:off x="6629400" y="5852160"/>
            <a:ext cx="164592"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8" name="Shape 71"/>
          <p:cNvSpPr/>
          <p:nvPr/>
        </p:nvSpPr>
        <p:spPr>
          <a:xfrm>
            <a:off x="6793992" y="5925312"/>
            <a:ext cx="1325880" cy="402336"/>
          </a:xfrm>
          <a:prstGeom prst="roundRect">
            <a:avLst>
              <a:gd name="adj" fmla="val 13636"/>
            </a:avLst>
          </a:prstGeom>
          <a:solidFill>
            <a:srgbClr val="1F4E9A"/>
          </a:solidFill>
          <a:ln w="12700">
            <a:solidFill>
              <a:srgbClr val="1F4E9A"/>
            </a:solidFill>
            <a:prstDash val="solid"/>
          </a:ln>
        </p:spPr>
      </p:sp>
      <p:sp>
        <p:nvSpPr>
          <p:cNvPr id="79" name="Text 72"/>
          <p:cNvSpPr txBox="1"/>
          <p:nvPr/>
        </p:nvSpPr>
        <p:spPr>
          <a:xfrm>
            <a:off x="6848856" y="5925312"/>
            <a:ext cx="1216152"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Expected conversion</a:t>
            </a:r>
            <a:endParaRPr lang="en-US" sz="950" dirty="0"/>
          </a:p>
          <a:p>
            <a:pPr algn="ctr" indent="0" marL="0">
              <a:buNone/>
            </a:pPr>
            <a:r>
              <a:rPr lang="en-US" sz="800" i="1" dirty="0">
                <a:solidFill>
                  <a:srgbClr val="CADCFC"/>
                </a:solidFill>
                <a:latin typeface="Calibri" pitchFamily="34" charset="0"/>
                <a:ea typeface="Calibri" pitchFamily="34" charset="-122"/>
                <a:cs typeface="Calibri" pitchFamily="34" charset="-120"/>
              </a:rPr>
              <a:t>Staples data</a:t>
            </a:r>
            <a:endParaRPr lang="en-US" sz="950" dirty="0"/>
          </a:p>
        </p:txBody>
      </p:sp>
      <p:sp>
        <p:nvSpPr>
          <p:cNvPr id="80" name="Text 73"/>
          <p:cNvSpPr txBox="1"/>
          <p:nvPr/>
        </p:nvSpPr>
        <p:spPr>
          <a:xfrm>
            <a:off x="8119872" y="5852160"/>
            <a:ext cx="164592"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1" name="Shape 74"/>
          <p:cNvSpPr/>
          <p:nvPr/>
        </p:nvSpPr>
        <p:spPr>
          <a:xfrm>
            <a:off x="8284464" y="5925312"/>
            <a:ext cx="1691640" cy="402336"/>
          </a:xfrm>
          <a:prstGeom prst="roundRect">
            <a:avLst>
              <a:gd name="adj" fmla="val 13636"/>
            </a:avLst>
          </a:prstGeom>
          <a:solidFill>
            <a:srgbClr val="1F4E9A"/>
          </a:solidFill>
          <a:ln w="12700">
            <a:solidFill>
              <a:srgbClr val="1F4E9A"/>
            </a:solidFill>
            <a:prstDash val="solid"/>
          </a:ln>
        </p:spPr>
      </p:sp>
      <p:sp>
        <p:nvSpPr>
          <p:cNvPr id="82" name="Text 75"/>
          <p:cNvSpPr txBox="1"/>
          <p:nvPr/>
        </p:nvSpPr>
        <p:spPr>
          <a:xfrm>
            <a:off x="8339328" y="5925312"/>
            <a:ext cx="1581912"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AUR (start: Amazon median $23)</a:t>
            </a:r>
            <a:endParaRPr lang="en-US" sz="950" dirty="0"/>
          </a:p>
          <a:p>
            <a:pPr algn="ctr" indent="0" marL="0">
              <a:buNone/>
            </a:pPr>
            <a:r>
              <a:rPr lang="en-US" sz="800" i="1" dirty="0">
                <a:solidFill>
                  <a:srgbClr val="CADCFC"/>
                </a:solidFill>
                <a:latin typeface="Calibri" pitchFamily="34" charset="0"/>
                <a:ea typeface="Calibri" pitchFamily="34" charset="-122"/>
                <a:cs typeface="Calibri" pitchFamily="34" charset="-120"/>
              </a:rPr>
              <a:t>modelled</a:t>
            </a:r>
            <a:endParaRPr lang="en-US" sz="950" dirty="0"/>
          </a:p>
        </p:txBody>
      </p:sp>
      <p:sp>
        <p:nvSpPr>
          <p:cNvPr id="83" name="Text 76"/>
          <p:cNvSpPr txBox="1"/>
          <p:nvPr/>
        </p:nvSpPr>
        <p:spPr>
          <a:xfrm>
            <a:off x="9976104" y="5852160"/>
            <a:ext cx="164592"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4" name="Shape 77"/>
          <p:cNvSpPr/>
          <p:nvPr/>
        </p:nvSpPr>
        <p:spPr>
          <a:xfrm>
            <a:off x="10140696" y="5925312"/>
            <a:ext cx="1371600" cy="402336"/>
          </a:xfrm>
          <a:prstGeom prst="roundRect">
            <a:avLst>
              <a:gd name="adj" fmla="val 13636"/>
            </a:avLst>
          </a:prstGeom>
          <a:solidFill>
            <a:srgbClr val="1E8E5A"/>
          </a:solidFill>
          <a:ln w="12700">
            <a:solidFill>
              <a:srgbClr val="1E8E5A"/>
            </a:solidFill>
            <a:prstDash val="solid"/>
          </a:ln>
        </p:spPr>
      </p:sp>
      <p:sp>
        <p:nvSpPr>
          <p:cNvPr id="85" name="Text 78"/>
          <p:cNvSpPr txBox="1"/>
          <p:nvPr/>
        </p:nvSpPr>
        <p:spPr>
          <a:xfrm>
            <a:off x="10195560" y="5925312"/>
            <a:ext cx="1261872" cy="40233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Opportunity $</a:t>
            </a:r>
            <a:endParaRPr lang="en-US" sz="950" dirty="0"/>
          </a:p>
          <a:p>
            <a:pPr algn="ctr" indent="0" marL="0">
              <a:buNone/>
            </a:pPr>
            <a:r>
              <a:rPr lang="en-US" sz="800" i="1" dirty="0">
                <a:solidFill>
                  <a:srgbClr val="CADCFC"/>
                </a:solidFill>
                <a:latin typeface="Calibri" pitchFamily="34" charset="0"/>
                <a:ea typeface="Calibri" pitchFamily="34" charset="-122"/>
                <a:cs typeface="Calibri" pitchFamily="34" charset="-120"/>
              </a:rPr>
              <a:t>rank, keep the top 20%</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Six paths, each answering a question raised in our first review: </a:t>
            </a:r>
            <a:pPr algn="ctr" indent="0" marL="0">
              <a:buNone/>
            </a:pPr>
            <a:r>
              <a:rPr lang="en-US" sz="1150" b="1" dirty="0">
                <a:solidFill>
                  <a:srgbClr val="13285B"/>
                </a:solidFill>
                <a:latin typeface="Calibri" pitchFamily="34" charset="0"/>
                <a:ea typeface="Calibri" pitchFamily="34" charset="-122"/>
                <a:cs typeface="Calibri" pitchFamily="34" charset="-120"/>
              </a:rPr>
              <a:t>sense</a:t>
            </a:r>
            <a:pPr algn="ctr" indent="0" marL="0">
              <a:buNone/>
            </a:pPr>
            <a:r>
              <a:rPr lang="en-US" sz="1150" dirty="0">
                <a:solidFill>
                  <a:srgbClr val="1F2937"/>
                </a:solidFill>
                <a:latin typeface="Calibri" pitchFamily="34" charset="0"/>
                <a:ea typeface="Calibri" pitchFamily="34" charset="-122"/>
                <a:cs typeface="Calibri" pitchFamily="34" charset="-120"/>
              </a:rPr>
              <a:t> the demand, </a:t>
            </a:r>
            <a:pPr algn="ctr" indent="0" marL="0">
              <a:buNone/>
            </a:pPr>
            <a:r>
              <a:rPr lang="en-US" sz="1150" b="1" dirty="0">
                <a:solidFill>
                  <a:srgbClr val="13285B"/>
                </a:solidFill>
                <a:latin typeface="Calibri" pitchFamily="34" charset="0"/>
                <a:ea typeface="Calibri" pitchFamily="34" charset="-122"/>
                <a:cs typeface="Calibri" pitchFamily="34" charset="-120"/>
              </a:rPr>
              <a:t>size</a:t>
            </a:r>
            <a:pPr algn="ctr" indent="0" marL="0">
              <a:buNone/>
            </a:pPr>
            <a:r>
              <a:rPr lang="en-US" sz="1150" dirty="0">
                <a:solidFill>
                  <a:srgbClr val="1F2937"/>
                </a:solidFill>
                <a:latin typeface="Calibri" pitchFamily="34" charset="0"/>
                <a:ea typeface="Calibri" pitchFamily="34" charset="-122"/>
                <a:cs typeface="Calibri" pitchFamily="34" charset="-120"/>
              </a:rPr>
              <a:t> it, then </a:t>
            </a:r>
            <a:pPr algn="ctr" indent="0" marL="0">
              <a:buNone/>
            </a:pPr>
            <a:r>
              <a:rPr lang="en-US" sz="1150" b="1" dirty="0">
                <a:solidFill>
                  <a:srgbClr val="13285B"/>
                </a:solidFill>
                <a:latin typeface="Calibri" pitchFamily="34" charset="0"/>
                <a:ea typeface="Calibri" pitchFamily="34" charset="-122"/>
                <a:cs typeface="Calibri" pitchFamily="34" charset="-120"/>
              </a:rPr>
              <a:t>act and learn</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Search-funnel signals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look, and leave?</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Null &amp; poor searches, incl. hidden redirects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Trace search → PDP → need met → conversion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each break point to an archetype</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data</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Unmet demand, evidenced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Customer basket &amp; vertical intelligence</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is missing from today's baskets?</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Profile top customers and their business verticals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complements missing from their baskets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Staples.com vs Staples Business, kept apart</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segments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for existing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PRIORITISE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Size of the prize</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gaps are worth the most?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Competitor activity scaled to Staples velocity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Times expected conversion &amp; modelled AUR</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Stack-rank to the ~20% that solve 80%</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 conversion · price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A $-ranked opportunity landscape</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Sellers &amp; brands to recruit</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should supply each gap?</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with the 13 brands already on Staples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competitor sellers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House brands: source the archetype instead</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Seller data + competitor crawls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A recruit list per archetype</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&amp; LEARN</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Adjacent launch &amp; learn</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adjacent categories first?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Toys, hydration, travel &amp; luggage, tech accessories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pick the subcategories, not the whole aisle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Launch, measure, then scale what works</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 sales after launch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A confident first assortment</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Category stories per merchant</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acts on it?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One story per category owner (furniture, 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Core gaps shared with merchants, not around them</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Same engine, refreshed by monthly re-crawls</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Category ownership · channel</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Decisions owners sign up to</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Where to Play: Core vs Adjacent Guardrails</a:t>
            </a:r>
            <a:endParaRPr lang="en-US" sz="2800" dirty="0"/>
          </a:p>
        </p:txBody>
      </p:sp>
      <p:sp>
        <p:nvSpPr>
          <p:cNvPr id="3" name="Shape 1"/>
          <p:cNvSpPr/>
          <p:nvPr/>
        </p:nvSpPr>
        <p:spPr>
          <a:xfrm>
            <a:off x="411480" y="1097280"/>
            <a:ext cx="11365992" cy="457200"/>
          </a:xfrm>
          <a:prstGeom prst="roundRect">
            <a:avLst>
              <a:gd name="adj" fmla="val 16000"/>
            </a:avLst>
          </a:prstGeom>
          <a:solidFill>
            <a:srgbClr val="EEF3FB"/>
          </a:solidFill>
          <a:ln w="12700">
            <a:solidFill>
              <a:srgbClr val="EEF3FB"/>
            </a:solidFill>
            <a:prstDash val="solid"/>
          </a:ln>
        </p:spPr>
      </p:sp>
      <p:sp>
        <p:nvSpPr>
          <p:cNvPr id="4" name="Text 2"/>
          <p:cNvSpPr txBox="1"/>
          <p:nvPr/>
        </p:nvSpPr>
        <p:spPr>
          <a:xfrm>
            <a:off x="548640" y="1097280"/>
            <a:ext cx="11091672" cy="457200"/>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Closer to core → </a:t>
            </a:r>
            <a:pPr algn="ctr" indent="0" marL="0">
              <a:buNone/>
            </a:pPr>
            <a:r>
              <a:rPr lang="en-US" sz="1150" b="1" dirty="0">
                <a:solidFill>
                  <a:srgbClr val="13285B"/>
                </a:solidFill>
                <a:latin typeface="Calibri" pitchFamily="34" charset="0"/>
                <a:ea typeface="Calibri" pitchFamily="34" charset="-122"/>
                <a:cs typeface="Calibri" pitchFamily="34" charset="-120"/>
              </a:rPr>
              <a:t>less appetite to broaden</a:t>
            </a:r>
            <a:pPr algn="ctr" indent="0" marL="0">
              <a:buNone/>
            </a:pPr>
            <a:r>
              <a:rPr lang="en-US" sz="1150" dirty="0">
                <a:solidFill>
                  <a:srgbClr val="1F2937"/>
                </a:solidFill>
                <a:latin typeface="Calibri" pitchFamily="34" charset="0"/>
                <a:ea typeface="Calibri" pitchFamily="34" charset="-122"/>
                <a:cs typeface="Calibri" pitchFamily="34" charset="-120"/>
              </a:rPr>
              <a:t>. Same gap, different action, depending on </a:t>
            </a:r>
            <a:pPr algn="ctr" indent="0" marL="0">
              <a:buNone/>
            </a:pPr>
            <a:r>
              <a:rPr lang="en-US" sz="1150" b="1" dirty="0">
                <a:solidFill>
                  <a:srgbClr val="13285B"/>
                </a:solidFill>
                <a:latin typeface="Calibri" pitchFamily="34" charset="0"/>
                <a:ea typeface="Calibri" pitchFamily="34" charset="-122"/>
                <a:cs typeface="Calibri" pitchFamily="34" charset="-120"/>
              </a:rPr>
              <a:t>proximity, customer and channel</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19072"/>
            <a:ext cx="3630168" cy="548640"/>
          </a:xfrm>
          <a:prstGeom prst="roundRect">
            <a:avLst>
              <a:gd name="adj" fmla="val 13333"/>
            </a:avLst>
          </a:prstGeom>
          <a:solidFill>
            <a:srgbClr val="13285B"/>
          </a:solidFill>
          <a:ln w="12700">
            <a:solidFill>
              <a:srgbClr val="13285B"/>
            </a:solidFill>
            <a:prstDash val="solid"/>
          </a:ln>
        </p:spPr>
      </p:sp>
      <p:sp>
        <p:nvSpPr>
          <p:cNvPr id="6" name="Text 4"/>
          <p:cNvSpPr txBox="1"/>
          <p:nvPr/>
        </p:nvSpPr>
        <p:spPr>
          <a:xfrm>
            <a:off x="576072" y="1719072"/>
            <a:ext cx="2258568" cy="5486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CORE OFFICE</a:t>
            </a:r>
            <a:endParaRPr lang="en-US" sz="1400" dirty="0"/>
          </a:p>
        </p:txBody>
      </p:sp>
      <p:sp>
        <p:nvSpPr>
          <p:cNvPr id="7" name="Shape 5"/>
          <p:cNvSpPr/>
          <p:nvPr/>
        </p:nvSpPr>
        <p:spPr>
          <a:xfrm>
            <a:off x="2779776" y="1856232"/>
            <a:ext cx="1133856" cy="274320"/>
          </a:xfrm>
          <a:prstGeom prst="roundRect">
            <a:avLst>
              <a:gd name="adj" fmla="val 50000"/>
            </a:avLst>
          </a:prstGeom>
          <a:solidFill>
            <a:srgbClr val="F5A623"/>
          </a:solidFill>
          <a:ln w="12700">
            <a:solidFill>
              <a:srgbClr val="F5A623"/>
            </a:solidFill>
            <a:prstDash val="solid"/>
          </a:ln>
        </p:spPr>
      </p:sp>
      <p:sp>
        <p:nvSpPr>
          <p:cNvPr id="8" name="Text 6"/>
          <p:cNvSpPr txBox="1"/>
          <p:nvPr/>
        </p:nvSpPr>
        <p:spPr>
          <a:xfrm>
            <a:off x="2779776" y="1856232"/>
            <a:ext cx="1133856" cy="274320"/>
          </a:xfrm>
          <a:prstGeom prst="rect">
            <a:avLst/>
          </a:prstGeom>
          <a:noFill/>
          <a:ln/>
        </p:spPr>
        <p:txBody>
          <a:bodyPr wrap="square" lIns="0" tIns="0" rIns="0" bIns="0" rtlCol="0" anchor="ctr"/>
          <a:lstStyle/>
          <a:p>
            <a:pPr algn="ctr" indent="0" marL="0">
              <a:buNone/>
            </a:pPr>
            <a:r>
              <a:rPr lang="en-US" sz="900" b="1" dirty="0">
                <a:solidFill>
                  <a:srgbClr val="13285B"/>
                </a:solidFill>
                <a:latin typeface="Calibri" pitchFamily="34" charset="0"/>
                <a:ea typeface="Calibri" pitchFamily="34" charset="-122"/>
                <a:cs typeface="Calibri" pitchFamily="34" charset="-120"/>
              </a:rPr>
              <a:t>START LATER</a:t>
            </a:r>
            <a:endParaRPr lang="en-US" sz="900" dirty="0"/>
          </a:p>
        </p:txBody>
      </p:sp>
      <p:sp>
        <p:nvSpPr>
          <p:cNvPr id="9" name="Shape 7"/>
          <p:cNvSpPr/>
          <p:nvPr/>
        </p:nvSpPr>
        <p:spPr>
          <a:xfrm>
            <a:off x="4078224" y="1865376"/>
            <a:ext cx="164592" cy="256032"/>
          </a:xfrm>
          <a:prstGeom prst="rightArrow">
            <a:avLst/>
          </a:prstGeom>
          <a:solidFill>
            <a:srgbClr val="A9C3EE"/>
          </a:solidFill>
          <a:ln w="12700">
            <a:solidFill>
              <a:srgbClr val="A9C3EE"/>
            </a:solidFill>
            <a:prstDash val="solid"/>
          </a:ln>
        </p:spPr>
      </p:sp>
      <p:sp>
        <p:nvSpPr>
          <p:cNvPr id="10" name="Shape 8"/>
          <p:cNvSpPr/>
          <p:nvPr/>
        </p:nvSpPr>
        <p:spPr>
          <a:xfrm>
            <a:off x="411480" y="2359152"/>
            <a:ext cx="3630168" cy="3310128"/>
          </a:xfrm>
          <a:prstGeom prst="roundRect">
            <a:avLst>
              <a:gd name="adj" fmla="val 2210"/>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Text 9"/>
          <p:cNvSpPr txBox="1"/>
          <p:nvPr/>
        </p:nvSpPr>
        <p:spPr>
          <a:xfrm>
            <a:off x="576072" y="2450592"/>
            <a:ext cx="3300984" cy="310896"/>
          </a:xfrm>
          <a:prstGeom prst="rect">
            <a:avLst/>
          </a:prstGeom>
          <a:noFill/>
          <a:ln/>
        </p:spPr>
        <p:txBody>
          <a:bodyPr wrap="square" lIns="0" tIns="0" rIns="0" bIns="0" rtlCol="0" anchor="ctr"/>
          <a:lstStyle/>
          <a:p>
            <a:pPr indent="0" marL="0">
              <a:buNone/>
            </a:pPr>
            <a:r>
              <a:rPr lang="en-US" sz="1400" b="1" dirty="0">
                <a:solidFill>
                  <a:srgbClr val="13285B"/>
                </a:solidFill>
                <a:latin typeface="Calibri" pitchFamily="34" charset="0"/>
                <a:ea typeface="Calibri" pitchFamily="34" charset="-122"/>
                <a:cs typeface="Calibri" pitchFamily="34" charset="-120"/>
              </a:rPr>
              <a:t>Protect the top line</a:t>
            </a:r>
            <a:endParaRPr lang="en-US" sz="1400" dirty="0"/>
          </a:p>
        </p:txBody>
      </p:sp>
      <p:sp>
        <p:nvSpPr>
          <p:cNvPr id="12" name="Text 10"/>
          <p:cNvSpPr txBox="1"/>
          <p:nvPr/>
        </p:nvSpPr>
        <p:spPr>
          <a:xfrm>
            <a:off x="539496" y="2816352"/>
            <a:ext cx="3355848" cy="82296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Strict cannibalisation, price &amp; margin floors</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Gaps raised with the category merchant</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Narrow, high-confidence adds only</a:t>
            </a:r>
            <a:endParaRPr lang="en-US" sz="1050" dirty="0"/>
          </a:p>
        </p:txBody>
      </p:sp>
      <p:sp>
        <p:nvSpPr>
          <p:cNvPr id="13" name="Shape 11"/>
          <p:cNvSpPr/>
          <p:nvPr/>
        </p:nvSpPr>
        <p:spPr>
          <a:xfrm>
            <a:off x="502920" y="3730752"/>
            <a:ext cx="3447288" cy="1481328"/>
          </a:xfrm>
          <a:prstGeom prst="roundRect">
            <a:avLst>
              <a:gd name="adj" fmla="val 3704"/>
            </a:avLst>
          </a:prstGeom>
          <a:solidFill>
            <a:srgbClr val="EEF3FB"/>
          </a:solidFill>
          <a:ln w="12700">
            <a:solidFill>
              <a:srgbClr val="EEF3FB"/>
            </a:solidFill>
            <a:prstDash val="solid"/>
          </a:ln>
        </p:spPr>
      </p:sp>
      <p:sp>
        <p:nvSpPr>
          <p:cNvPr id="14" name="Text 12"/>
          <p:cNvSpPr txBox="1"/>
          <p:nvPr/>
        </p:nvSpPr>
        <p:spPr>
          <a:xfrm>
            <a:off x="594360" y="3785616"/>
            <a:ext cx="3264408"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POC NODES (DRAFT) · 28 PICKS</a:t>
            </a:r>
            <a:endParaRPr lang="en-US" sz="800" dirty="0"/>
          </a:p>
        </p:txBody>
      </p:sp>
      <p:sp>
        <p:nvSpPr>
          <p:cNvPr id="15" name="Shape 13"/>
          <p:cNvSpPr/>
          <p:nvPr/>
        </p:nvSpPr>
        <p:spPr>
          <a:xfrm>
            <a:off x="594360" y="4041648"/>
            <a:ext cx="256032" cy="256032"/>
          </a:xfrm>
          <a:prstGeom prst="ellipse">
            <a:avLst/>
          </a:prstGeom>
          <a:solidFill>
            <a:srgbClr val="13285B"/>
          </a:solidFill>
          <a:ln w="12700">
            <a:solidFill>
              <a:srgbClr val="13285B"/>
            </a:solidFill>
            <a:prstDash val="solid"/>
          </a:ln>
        </p:spPr>
      </p:sp>
      <p:pic>
        <p:nvPicPr>
          <p:cNvPr id="16" name="Image 0" descr="preencoded.png">    </p:cNvPr>
          <p:cNvPicPr>
            <a:picLocks noChangeAspect="1"/>
          </p:cNvPicPr>
          <p:nvPr/>
        </p:nvPicPr>
        <p:blipFill>
          <a:blip r:embed="rId1"/>
          <a:stretch>
            <a:fillRect/>
          </a:stretch>
        </p:blipFill>
        <p:spPr>
          <a:xfrm>
            <a:off x="650687" y="4097975"/>
            <a:ext cx="143378" cy="143378"/>
          </a:xfrm>
          <a:prstGeom prst="rect">
            <a:avLst/>
          </a:prstGeom>
        </p:spPr>
      </p:pic>
      <p:sp>
        <p:nvSpPr>
          <p:cNvPr id="17" name="Text 14"/>
          <p:cNvSpPr txBox="1"/>
          <p:nvPr/>
        </p:nvSpPr>
        <p:spPr>
          <a:xfrm>
            <a:off x="905256" y="4041648"/>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Office Desks (7)</a:t>
            </a:r>
            <a:endParaRPr lang="en-US" sz="950" dirty="0"/>
          </a:p>
        </p:txBody>
      </p:sp>
      <p:sp>
        <p:nvSpPr>
          <p:cNvPr id="18" name="Shape 15"/>
          <p:cNvSpPr/>
          <p:nvPr/>
        </p:nvSpPr>
        <p:spPr>
          <a:xfrm>
            <a:off x="2226564" y="4041648"/>
            <a:ext cx="256032" cy="256032"/>
          </a:xfrm>
          <a:prstGeom prst="ellipse">
            <a:avLst/>
          </a:prstGeom>
          <a:solidFill>
            <a:srgbClr val="13285B"/>
          </a:solidFill>
          <a:ln w="12700">
            <a:solidFill>
              <a:srgbClr val="13285B"/>
            </a:solidFill>
            <a:prstDash val="solid"/>
          </a:ln>
        </p:spPr>
      </p:sp>
      <p:pic>
        <p:nvPicPr>
          <p:cNvPr id="19" name="Image 1" descr="preencoded.png">    </p:cNvPr>
          <p:cNvPicPr>
            <a:picLocks noChangeAspect="1"/>
          </p:cNvPicPr>
          <p:nvPr/>
        </p:nvPicPr>
        <p:blipFill>
          <a:blip r:embed="rId2"/>
          <a:stretch>
            <a:fillRect/>
          </a:stretch>
        </p:blipFill>
        <p:spPr>
          <a:xfrm>
            <a:off x="2282891" y="4097975"/>
            <a:ext cx="143378" cy="143378"/>
          </a:xfrm>
          <a:prstGeom prst="rect">
            <a:avLst/>
          </a:prstGeom>
        </p:spPr>
      </p:pic>
      <p:sp>
        <p:nvSpPr>
          <p:cNvPr id="20" name="Text 16"/>
          <p:cNvSpPr txBox="1"/>
          <p:nvPr/>
        </p:nvSpPr>
        <p:spPr>
          <a:xfrm>
            <a:off x="2537460" y="4041648"/>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Planners (7)</a:t>
            </a:r>
            <a:endParaRPr lang="en-US" sz="950" dirty="0"/>
          </a:p>
        </p:txBody>
      </p:sp>
      <p:sp>
        <p:nvSpPr>
          <p:cNvPr id="21" name="Shape 17"/>
          <p:cNvSpPr/>
          <p:nvPr/>
        </p:nvSpPr>
        <p:spPr>
          <a:xfrm>
            <a:off x="594360" y="4370832"/>
            <a:ext cx="256032" cy="256032"/>
          </a:xfrm>
          <a:prstGeom prst="ellipse">
            <a:avLst/>
          </a:prstGeom>
          <a:solidFill>
            <a:srgbClr val="13285B"/>
          </a:solidFill>
          <a:ln w="12700">
            <a:solidFill>
              <a:srgbClr val="13285B"/>
            </a:solidFill>
            <a:prstDash val="solid"/>
          </a:ln>
        </p:spPr>
      </p:sp>
      <p:pic>
        <p:nvPicPr>
          <p:cNvPr id="22" name="Image 2" descr="preencoded.png">    </p:cNvPr>
          <p:cNvPicPr>
            <a:picLocks noChangeAspect="1"/>
          </p:cNvPicPr>
          <p:nvPr/>
        </p:nvPicPr>
        <p:blipFill>
          <a:blip r:embed="rId3"/>
          <a:stretch>
            <a:fillRect/>
          </a:stretch>
        </p:blipFill>
        <p:spPr>
          <a:xfrm>
            <a:off x="650687" y="4427159"/>
            <a:ext cx="143378" cy="143378"/>
          </a:xfrm>
          <a:prstGeom prst="rect">
            <a:avLst/>
          </a:prstGeom>
        </p:spPr>
      </p:pic>
      <p:sp>
        <p:nvSpPr>
          <p:cNvPr id="23" name="Text 18"/>
          <p:cNvSpPr txBox="1"/>
          <p:nvPr/>
        </p:nvSpPr>
        <p:spPr>
          <a:xfrm>
            <a:off x="905256" y="4370832"/>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Desk Organizers (4)</a:t>
            </a:r>
            <a:endParaRPr lang="en-US" sz="950" dirty="0"/>
          </a:p>
        </p:txBody>
      </p:sp>
      <p:sp>
        <p:nvSpPr>
          <p:cNvPr id="24" name="Shape 19"/>
          <p:cNvSpPr/>
          <p:nvPr/>
        </p:nvSpPr>
        <p:spPr>
          <a:xfrm>
            <a:off x="2226564" y="4370832"/>
            <a:ext cx="256032" cy="256032"/>
          </a:xfrm>
          <a:prstGeom prst="ellipse">
            <a:avLst/>
          </a:prstGeom>
          <a:solidFill>
            <a:srgbClr val="13285B"/>
          </a:solidFill>
          <a:ln w="12700">
            <a:solidFill>
              <a:srgbClr val="13285B"/>
            </a:solidFill>
            <a:prstDash val="solid"/>
          </a:ln>
        </p:spPr>
      </p:sp>
      <p:pic>
        <p:nvPicPr>
          <p:cNvPr id="25" name="Image 3" descr="preencoded.png">    </p:cNvPr>
          <p:cNvPicPr>
            <a:picLocks noChangeAspect="1"/>
          </p:cNvPicPr>
          <p:nvPr/>
        </p:nvPicPr>
        <p:blipFill>
          <a:blip r:embed="rId4"/>
          <a:stretch>
            <a:fillRect/>
          </a:stretch>
        </p:blipFill>
        <p:spPr>
          <a:xfrm>
            <a:off x="2282891" y="4427159"/>
            <a:ext cx="143378" cy="143378"/>
          </a:xfrm>
          <a:prstGeom prst="rect">
            <a:avLst/>
          </a:prstGeom>
        </p:spPr>
      </p:pic>
      <p:sp>
        <p:nvSpPr>
          <p:cNvPr id="26" name="Text 20"/>
          <p:cNvSpPr txBox="1"/>
          <p:nvPr/>
        </p:nvSpPr>
        <p:spPr>
          <a:xfrm>
            <a:off x="2537460" y="4370832"/>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Desk Pads (3)</a:t>
            </a:r>
            <a:endParaRPr lang="en-US" sz="950" dirty="0"/>
          </a:p>
        </p:txBody>
      </p:sp>
      <p:sp>
        <p:nvSpPr>
          <p:cNvPr id="27" name="Shape 21"/>
          <p:cNvSpPr/>
          <p:nvPr/>
        </p:nvSpPr>
        <p:spPr>
          <a:xfrm>
            <a:off x="594360" y="4700016"/>
            <a:ext cx="256032" cy="256032"/>
          </a:xfrm>
          <a:prstGeom prst="ellipse">
            <a:avLst/>
          </a:prstGeom>
          <a:solidFill>
            <a:srgbClr val="13285B"/>
          </a:solidFill>
          <a:ln w="12700">
            <a:solidFill>
              <a:srgbClr val="13285B"/>
            </a:solidFill>
            <a:prstDash val="solid"/>
          </a:ln>
        </p:spPr>
      </p:sp>
      <p:pic>
        <p:nvPicPr>
          <p:cNvPr id="28" name="Image 4" descr="preencoded.png">    </p:cNvPr>
          <p:cNvPicPr>
            <a:picLocks noChangeAspect="1"/>
          </p:cNvPicPr>
          <p:nvPr/>
        </p:nvPicPr>
        <p:blipFill>
          <a:blip r:embed="rId5"/>
          <a:stretch>
            <a:fillRect/>
          </a:stretch>
        </p:blipFill>
        <p:spPr>
          <a:xfrm>
            <a:off x="650687" y="4756343"/>
            <a:ext cx="143378" cy="143378"/>
          </a:xfrm>
          <a:prstGeom prst="rect">
            <a:avLst/>
          </a:prstGeom>
        </p:spPr>
      </p:pic>
      <p:sp>
        <p:nvSpPr>
          <p:cNvPr id="29" name="Text 22"/>
          <p:cNvSpPr txBox="1"/>
          <p:nvPr/>
        </p:nvSpPr>
        <p:spPr>
          <a:xfrm>
            <a:off x="905256" y="4700016"/>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Partitions (7)</a:t>
            </a:r>
            <a:endParaRPr lang="en-US" sz="950" dirty="0"/>
          </a:p>
        </p:txBody>
      </p:sp>
      <p:sp>
        <p:nvSpPr>
          <p:cNvPr id="30" name="Text 23"/>
          <p:cNvSpPr txBox="1"/>
          <p:nvPr/>
        </p:nvSpPr>
        <p:spPr>
          <a:xfrm>
            <a:off x="576072" y="5285232"/>
            <a:ext cx="3300984" cy="310896"/>
          </a:xfrm>
          <a:prstGeom prst="rect">
            <a:avLst/>
          </a:prstGeom>
          <a:noFill/>
          <a:ln/>
        </p:spPr>
        <p:txBody>
          <a:bodyPr wrap="square" lIns="0" tIns="0" rIns="0" bIns="0" rtlCol="0" anchor="ctr"/>
          <a:lstStyle/>
          <a:p>
            <a:pPr indent="0" marL="0">
              <a:buNone/>
            </a:pPr>
            <a:r>
              <a:rPr lang="en-US" sz="1050" i="1" dirty="0">
                <a:solidFill>
                  <a:srgbClr val="2F6FD0"/>
                </a:solidFill>
                <a:latin typeface="Calibri" pitchFamily="34" charset="0"/>
                <a:ea typeface="Calibri" pitchFamily="34" charset="-122"/>
                <a:cs typeface="Calibri" pitchFamily="34" charset="-120"/>
              </a:rPr>
              <a:t>e.g. luxe or smaller desks (under 40")</a:t>
            </a:r>
            <a:endParaRPr lang="en-US" sz="1050" dirty="0"/>
          </a:p>
        </p:txBody>
      </p:sp>
      <p:sp>
        <p:nvSpPr>
          <p:cNvPr id="31" name="Shape 24"/>
          <p:cNvSpPr/>
          <p:nvPr/>
        </p:nvSpPr>
        <p:spPr>
          <a:xfrm>
            <a:off x="4279392" y="1719072"/>
            <a:ext cx="3630168" cy="548640"/>
          </a:xfrm>
          <a:prstGeom prst="roundRect">
            <a:avLst>
              <a:gd name="adj" fmla="val 13333"/>
            </a:avLst>
          </a:prstGeom>
          <a:solidFill>
            <a:srgbClr val="2F6FD0"/>
          </a:solidFill>
          <a:ln w="12700">
            <a:solidFill>
              <a:srgbClr val="2F6FD0"/>
            </a:solidFill>
            <a:prstDash val="solid"/>
          </a:ln>
        </p:spPr>
      </p:sp>
      <p:sp>
        <p:nvSpPr>
          <p:cNvPr id="32" name="Text 25"/>
          <p:cNvSpPr txBox="1"/>
          <p:nvPr/>
        </p:nvSpPr>
        <p:spPr>
          <a:xfrm>
            <a:off x="4443984" y="1719072"/>
            <a:ext cx="2258568" cy="5486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NEAR-CORE</a:t>
            </a:r>
            <a:endParaRPr lang="en-US" sz="1400" dirty="0"/>
          </a:p>
        </p:txBody>
      </p:sp>
      <p:sp>
        <p:nvSpPr>
          <p:cNvPr id="33" name="Shape 26"/>
          <p:cNvSpPr/>
          <p:nvPr/>
        </p:nvSpPr>
        <p:spPr>
          <a:xfrm>
            <a:off x="6647688" y="1856232"/>
            <a:ext cx="1133856" cy="274320"/>
          </a:xfrm>
          <a:prstGeom prst="roundRect">
            <a:avLst>
              <a:gd name="adj" fmla="val 50000"/>
            </a:avLst>
          </a:prstGeom>
          <a:solidFill>
            <a:srgbClr val="F5A623"/>
          </a:solidFill>
          <a:ln w="12700">
            <a:solidFill>
              <a:srgbClr val="F5A623"/>
            </a:solidFill>
            <a:prstDash val="solid"/>
          </a:ln>
        </p:spPr>
      </p:sp>
      <p:sp>
        <p:nvSpPr>
          <p:cNvPr id="34" name="Text 27"/>
          <p:cNvSpPr txBox="1"/>
          <p:nvPr/>
        </p:nvSpPr>
        <p:spPr>
          <a:xfrm>
            <a:off x="6647688" y="1856232"/>
            <a:ext cx="1133856" cy="274320"/>
          </a:xfrm>
          <a:prstGeom prst="rect">
            <a:avLst/>
          </a:prstGeom>
          <a:noFill/>
          <a:ln/>
        </p:spPr>
        <p:txBody>
          <a:bodyPr wrap="square" lIns="0" tIns="0" rIns="0" bIns="0" rtlCol="0" anchor="ctr"/>
          <a:lstStyle/>
          <a:p>
            <a:pPr algn="ctr" indent="0" marL="0">
              <a:buNone/>
            </a:pPr>
            <a:r>
              <a:rPr lang="en-US" sz="900" b="1" dirty="0">
                <a:solidFill>
                  <a:srgbClr val="13285B"/>
                </a:solidFill>
                <a:latin typeface="Calibri" pitchFamily="34" charset="0"/>
                <a:ea typeface="Calibri" pitchFamily="34" charset="-122"/>
                <a:cs typeface="Calibri" pitchFamily="34" charset="-120"/>
              </a:rPr>
              <a:t>START NEXT</a:t>
            </a:r>
            <a:endParaRPr lang="en-US" sz="900" dirty="0"/>
          </a:p>
        </p:txBody>
      </p:sp>
      <p:sp>
        <p:nvSpPr>
          <p:cNvPr id="35" name="Shape 28"/>
          <p:cNvSpPr/>
          <p:nvPr/>
        </p:nvSpPr>
        <p:spPr>
          <a:xfrm>
            <a:off x="7946136" y="1865376"/>
            <a:ext cx="164592" cy="256032"/>
          </a:xfrm>
          <a:prstGeom prst="rightArrow">
            <a:avLst/>
          </a:prstGeom>
          <a:solidFill>
            <a:srgbClr val="A9C3EE"/>
          </a:solidFill>
          <a:ln w="12700">
            <a:solidFill>
              <a:srgbClr val="A9C3EE"/>
            </a:solidFill>
            <a:prstDash val="solid"/>
          </a:ln>
        </p:spPr>
      </p:sp>
      <p:sp>
        <p:nvSpPr>
          <p:cNvPr id="36" name="Shape 29"/>
          <p:cNvSpPr/>
          <p:nvPr/>
        </p:nvSpPr>
        <p:spPr>
          <a:xfrm>
            <a:off x="4279392" y="2359152"/>
            <a:ext cx="3630168" cy="3310128"/>
          </a:xfrm>
          <a:prstGeom prst="roundRect">
            <a:avLst>
              <a:gd name="adj" fmla="val 2210"/>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7" name="Text 30"/>
          <p:cNvSpPr txBox="1"/>
          <p:nvPr/>
        </p:nvSpPr>
        <p:spPr>
          <a:xfrm>
            <a:off x="4443984" y="2450592"/>
            <a:ext cx="3300984" cy="310896"/>
          </a:xfrm>
          <a:prstGeom prst="rect">
            <a:avLst/>
          </a:prstGeom>
          <a:noFill/>
          <a:ln/>
        </p:spPr>
        <p:txBody>
          <a:bodyPr wrap="square" lIns="0" tIns="0" rIns="0" bIns="0" rtlCol="0" anchor="ctr"/>
          <a:lstStyle/>
          <a:p>
            <a:pPr indent="0" marL="0">
              <a:buNone/>
            </a:pPr>
            <a:r>
              <a:rPr lang="en-US" sz="1400" b="1" dirty="0">
                <a:solidFill>
                  <a:srgbClr val="13285B"/>
                </a:solidFill>
                <a:latin typeface="Calibri" pitchFamily="34" charset="0"/>
                <a:ea typeface="Calibri" pitchFamily="34" charset="-122"/>
                <a:cs typeface="Calibri" pitchFamily="34" charset="-120"/>
              </a:rPr>
              <a:t>Build the basket</a:t>
            </a:r>
            <a:endParaRPr lang="en-US" sz="1400" dirty="0"/>
          </a:p>
        </p:txBody>
      </p:sp>
      <p:sp>
        <p:nvSpPr>
          <p:cNvPr id="38" name="Text 31"/>
          <p:cNvSpPr txBox="1"/>
          <p:nvPr/>
        </p:nvSpPr>
        <p:spPr>
          <a:xfrm>
            <a:off x="4407408" y="2816352"/>
            <a:ext cx="3355848" cy="82296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Design-led looks Staples lacks today</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Capped picks per node and per attribute set</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Basket fit for existing customers</a:t>
            </a:r>
            <a:endParaRPr lang="en-US" sz="1050" dirty="0"/>
          </a:p>
        </p:txBody>
      </p:sp>
      <p:sp>
        <p:nvSpPr>
          <p:cNvPr id="39" name="Shape 32"/>
          <p:cNvSpPr/>
          <p:nvPr/>
        </p:nvSpPr>
        <p:spPr>
          <a:xfrm>
            <a:off x="4370832" y="3730752"/>
            <a:ext cx="3447288" cy="1481328"/>
          </a:xfrm>
          <a:prstGeom prst="roundRect">
            <a:avLst>
              <a:gd name="adj" fmla="val 3704"/>
            </a:avLst>
          </a:prstGeom>
          <a:solidFill>
            <a:srgbClr val="EEF3FB"/>
          </a:solidFill>
          <a:ln w="12700">
            <a:solidFill>
              <a:srgbClr val="EEF3FB"/>
            </a:solidFill>
            <a:prstDash val="solid"/>
          </a:ln>
        </p:spPr>
      </p:sp>
      <p:sp>
        <p:nvSpPr>
          <p:cNvPr id="40" name="Text 33"/>
          <p:cNvSpPr txBox="1"/>
          <p:nvPr/>
        </p:nvSpPr>
        <p:spPr>
          <a:xfrm>
            <a:off x="4462272" y="3785616"/>
            <a:ext cx="3264408"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POC NODES (DRAFT) · 34 PICKS</a:t>
            </a:r>
            <a:endParaRPr lang="en-US" sz="800" dirty="0"/>
          </a:p>
        </p:txBody>
      </p:sp>
      <p:sp>
        <p:nvSpPr>
          <p:cNvPr id="41" name="Shape 34"/>
          <p:cNvSpPr/>
          <p:nvPr/>
        </p:nvSpPr>
        <p:spPr>
          <a:xfrm>
            <a:off x="4462272" y="4041648"/>
            <a:ext cx="256032" cy="256032"/>
          </a:xfrm>
          <a:prstGeom prst="ellipse">
            <a:avLst/>
          </a:prstGeom>
          <a:solidFill>
            <a:srgbClr val="2F6FD0"/>
          </a:solidFill>
          <a:ln w="12700">
            <a:solidFill>
              <a:srgbClr val="2F6FD0"/>
            </a:solidFill>
            <a:prstDash val="solid"/>
          </a:ln>
        </p:spPr>
      </p:sp>
      <p:pic>
        <p:nvPicPr>
          <p:cNvPr id="42" name="Image 5" descr="preencoded.png">    </p:cNvPr>
          <p:cNvPicPr>
            <a:picLocks noChangeAspect="1"/>
          </p:cNvPicPr>
          <p:nvPr/>
        </p:nvPicPr>
        <p:blipFill>
          <a:blip r:embed="rId6"/>
          <a:stretch>
            <a:fillRect/>
          </a:stretch>
        </p:blipFill>
        <p:spPr>
          <a:xfrm>
            <a:off x="4518599" y="4097975"/>
            <a:ext cx="143378" cy="143378"/>
          </a:xfrm>
          <a:prstGeom prst="rect">
            <a:avLst/>
          </a:prstGeom>
        </p:spPr>
      </p:pic>
      <p:sp>
        <p:nvSpPr>
          <p:cNvPr id="43" name="Text 35"/>
          <p:cNvSpPr txBox="1"/>
          <p:nvPr/>
        </p:nvSpPr>
        <p:spPr>
          <a:xfrm>
            <a:off x="4773168" y="4041648"/>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Accent Chairs (7)</a:t>
            </a:r>
            <a:endParaRPr lang="en-US" sz="950" dirty="0"/>
          </a:p>
        </p:txBody>
      </p:sp>
      <p:sp>
        <p:nvSpPr>
          <p:cNvPr id="44" name="Shape 36"/>
          <p:cNvSpPr/>
          <p:nvPr/>
        </p:nvSpPr>
        <p:spPr>
          <a:xfrm>
            <a:off x="6094476" y="4041648"/>
            <a:ext cx="256032" cy="256032"/>
          </a:xfrm>
          <a:prstGeom prst="ellipse">
            <a:avLst/>
          </a:prstGeom>
          <a:solidFill>
            <a:srgbClr val="2F6FD0"/>
          </a:solidFill>
          <a:ln w="12700">
            <a:solidFill>
              <a:srgbClr val="2F6FD0"/>
            </a:solidFill>
            <a:prstDash val="solid"/>
          </a:ln>
        </p:spPr>
      </p:sp>
      <p:pic>
        <p:nvPicPr>
          <p:cNvPr id="45" name="Image 6" descr="preencoded.png">    </p:cNvPr>
          <p:cNvPicPr>
            <a:picLocks noChangeAspect="1"/>
          </p:cNvPicPr>
          <p:nvPr/>
        </p:nvPicPr>
        <p:blipFill>
          <a:blip r:embed="rId7"/>
          <a:stretch>
            <a:fillRect/>
          </a:stretch>
        </p:blipFill>
        <p:spPr>
          <a:xfrm>
            <a:off x="6150803" y="4097975"/>
            <a:ext cx="143378" cy="143378"/>
          </a:xfrm>
          <a:prstGeom prst="rect">
            <a:avLst/>
          </a:prstGeom>
        </p:spPr>
      </p:pic>
      <p:sp>
        <p:nvSpPr>
          <p:cNvPr id="46" name="Text 37"/>
          <p:cNvSpPr txBox="1"/>
          <p:nvPr/>
        </p:nvSpPr>
        <p:spPr>
          <a:xfrm>
            <a:off x="6405372" y="4041648"/>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Desk Lamps (8)</a:t>
            </a:r>
            <a:endParaRPr lang="en-US" sz="950" dirty="0"/>
          </a:p>
        </p:txBody>
      </p:sp>
      <p:sp>
        <p:nvSpPr>
          <p:cNvPr id="47" name="Shape 38"/>
          <p:cNvSpPr/>
          <p:nvPr/>
        </p:nvSpPr>
        <p:spPr>
          <a:xfrm>
            <a:off x="4462272" y="4370832"/>
            <a:ext cx="256032" cy="256032"/>
          </a:xfrm>
          <a:prstGeom prst="ellipse">
            <a:avLst/>
          </a:prstGeom>
          <a:solidFill>
            <a:srgbClr val="2F6FD0"/>
          </a:solidFill>
          <a:ln w="12700">
            <a:solidFill>
              <a:srgbClr val="2F6FD0"/>
            </a:solidFill>
            <a:prstDash val="solid"/>
          </a:ln>
        </p:spPr>
      </p:sp>
      <p:pic>
        <p:nvPicPr>
          <p:cNvPr id="48" name="Image 7" descr="preencoded.png">    </p:cNvPr>
          <p:cNvPicPr>
            <a:picLocks noChangeAspect="1"/>
          </p:cNvPicPr>
          <p:nvPr/>
        </p:nvPicPr>
        <p:blipFill>
          <a:blip r:embed="rId8"/>
          <a:stretch>
            <a:fillRect/>
          </a:stretch>
        </p:blipFill>
        <p:spPr>
          <a:xfrm>
            <a:off x="4518599" y="4427159"/>
            <a:ext cx="143378" cy="143378"/>
          </a:xfrm>
          <a:prstGeom prst="rect">
            <a:avLst/>
          </a:prstGeom>
        </p:spPr>
      </p:pic>
      <p:sp>
        <p:nvSpPr>
          <p:cNvPr id="49" name="Text 39"/>
          <p:cNvSpPr txBox="1"/>
          <p:nvPr/>
        </p:nvSpPr>
        <p:spPr>
          <a:xfrm>
            <a:off x="4773168" y="4370832"/>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Coffee Organizers (4)</a:t>
            </a:r>
            <a:endParaRPr lang="en-US" sz="950" dirty="0"/>
          </a:p>
        </p:txBody>
      </p:sp>
      <p:sp>
        <p:nvSpPr>
          <p:cNvPr id="50" name="Shape 40"/>
          <p:cNvSpPr/>
          <p:nvPr/>
        </p:nvSpPr>
        <p:spPr>
          <a:xfrm>
            <a:off x="6094476" y="4370832"/>
            <a:ext cx="256032" cy="256032"/>
          </a:xfrm>
          <a:prstGeom prst="ellipse">
            <a:avLst/>
          </a:prstGeom>
          <a:solidFill>
            <a:srgbClr val="2F6FD0"/>
          </a:solidFill>
          <a:ln w="12700">
            <a:solidFill>
              <a:srgbClr val="2F6FD0"/>
            </a:solidFill>
            <a:prstDash val="solid"/>
          </a:ln>
        </p:spPr>
      </p:sp>
      <p:pic>
        <p:nvPicPr>
          <p:cNvPr id="51" name="Image 8" descr="preencoded.png">    </p:cNvPr>
          <p:cNvPicPr>
            <a:picLocks noChangeAspect="1"/>
          </p:cNvPicPr>
          <p:nvPr/>
        </p:nvPicPr>
        <p:blipFill>
          <a:blip r:embed="rId9"/>
          <a:stretch>
            <a:fillRect/>
          </a:stretch>
        </p:blipFill>
        <p:spPr>
          <a:xfrm>
            <a:off x="6150803" y="4427159"/>
            <a:ext cx="143378" cy="143378"/>
          </a:xfrm>
          <a:prstGeom prst="rect">
            <a:avLst/>
          </a:prstGeom>
        </p:spPr>
      </p:pic>
      <p:sp>
        <p:nvSpPr>
          <p:cNvPr id="52" name="Text 41"/>
          <p:cNvSpPr txBox="1"/>
          <p:nvPr/>
        </p:nvSpPr>
        <p:spPr>
          <a:xfrm>
            <a:off x="6405372" y="4370832"/>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Lunch Bags (7)</a:t>
            </a:r>
            <a:endParaRPr lang="en-US" sz="950" dirty="0"/>
          </a:p>
        </p:txBody>
      </p:sp>
      <p:sp>
        <p:nvSpPr>
          <p:cNvPr id="53" name="Shape 42"/>
          <p:cNvSpPr/>
          <p:nvPr/>
        </p:nvSpPr>
        <p:spPr>
          <a:xfrm>
            <a:off x="4462272" y="4700016"/>
            <a:ext cx="256032" cy="256032"/>
          </a:xfrm>
          <a:prstGeom prst="ellipse">
            <a:avLst/>
          </a:prstGeom>
          <a:solidFill>
            <a:srgbClr val="2F6FD0"/>
          </a:solidFill>
          <a:ln w="12700">
            <a:solidFill>
              <a:srgbClr val="2F6FD0"/>
            </a:solidFill>
            <a:prstDash val="solid"/>
          </a:ln>
        </p:spPr>
      </p:sp>
      <p:pic>
        <p:nvPicPr>
          <p:cNvPr id="54" name="Image 9" descr="preencoded.png">    </p:cNvPr>
          <p:cNvPicPr>
            <a:picLocks noChangeAspect="1"/>
          </p:cNvPicPr>
          <p:nvPr/>
        </p:nvPicPr>
        <p:blipFill>
          <a:blip r:embed="rId10"/>
          <a:stretch>
            <a:fillRect/>
          </a:stretch>
        </p:blipFill>
        <p:spPr>
          <a:xfrm>
            <a:off x="4518599" y="4756343"/>
            <a:ext cx="143378" cy="143378"/>
          </a:xfrm>
          <a:prstGeom prst="rect">
            <a:avLst/>
          </a:prstGeom>
        </p:spPr>
      </p:pic>
      <p:sp>
        <p:nvSpPr>
          <p:cNvPr id="55" name="Text 43"/>
          <p:cNvSpPr txBox="1"/>
          <p:nvPr/>
        </p:nvSpPr>
        <p:spPr>
          <a:xfrm>
            <a:off x="4773168" y="4700016"/>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Clocks (8)</a:t>
            </a:r>
            <a:endParaRPr lang="en-US" sz="950" dirty="0"/>
          </a:p>
        </p:txBody>
      </p:sp>
      <p:sp>
        <p:nvSpPr>
          <p:cNvPr id="56" name="Text 44"/>
          <p:cNvSpPr txBox="1"/>
          <p:nvPr/>
        </p:nvSpPr>
        <p:spPr>
          <a:xfrm>
            <a:off x="4443984" y="5285232"/>
            <a:ext cx="3300984" cy="310896"/>
          </a:xfrm>
          <a:prstGeom prst="rect">
            <a:avLst/>
          </a:prstGeom>
          <a:noFill/>
          <a:ln/>
        </p:spPr>
        <p:txBody>
          <a:bodyPr wrap="square" lIns="0" tIns="0" rIns="0" bIns="0" rtlCol="0" anchor="ctr"/>
          <a:lstStyle/>
          <a:p>
            <a:pPr indent="0" marL="0">
              <a:buNone/>
            </a:pPr>
            <a:r>
              <a:rPr lang="en-US" sz="1050" i="1" dirty="0">
                <a:solidFill>
                  <a:srgbClr val="2F6FD0"/>
                </a:solidFill>
                <a:latin typeface="Calibri" pitchFamily="34" charset="0"/>
                <a:ea typeface="Calibri" pitchFamily="34" charset="-122"/>
                <a:cs typeface="Calibri" pitchFamily="34" charset="-120"/>
              </a:rPr>
              <a:t>e.g. commuter bento, K-Cup drawers, barrel chair</a:t>
            </a:r>
            <a:endParaRPr lang="en-US" sz="1050" dirty="0"/>
          </a:p>
        </p:txBody>
      </p:sp>
      <p:sp>
        <p:nvSpPr>
          <p:cNvPr id="57" name="Shape 45"/>
          <p:cNvSpPr/>
          <p:nvPr/>
        </p:nvSpPr>
        <p:spPr>
          <a:xfrm>
            <a:off x="8147304" y="1719072"/>
            <a:ext cx="3630168" cy="548640"/>
          </a:xfrm>
          <a:prstGeom prst="roundRect">
            <a:avLst>
              <a:gd name="adj" fmla="val 13333"/>
            </a:avLst>
          </a:prstGeom>
          <a:solidFill>
            <a:srgbClr val="8FB0E8"/>
          </a:solidFill>
          <a:ln w="12700">
            <a:solidFill>
              <a:srgbClr val="8FB0E8"/>
            </a:solidFill>
            <a:prstDash val="solid"/>
          </a:ln>
        </p:spPr>
      </p:sp>
      <p:sp>
        <p:nvSpPr>
          <p:cNvPr id="58" name="Text 46"/>
          <p:cNvSpPr txBox="1"/>
          <p:nvPr/>
        </p:nvSpPr>
        <p:spPr>
          <a:xfrm>
            <a:off x="8311896" y="1719072"/>
            <a:ext cx="2258568" cy="548640"/>
          </a:xfrm>
          <a:prstGeom prst="rect">
            <a:avLst/>
          </a:prstGeom>
          <a:noFill/>
          <a:ln/>
        </p:spPr>
        <p:txBody>
          <a:bodyPr wrap="square" lIns="0" tIns="0" rIns="0" bIns="0" rtlCol="0" anchor="ctr"/>
          <a:lstStyle/>
          <a:p>
            <a:pPr indent="0" marL="0">
              <a:buNone/>
            </a:pPr>
            <a:r>
              <a:rPr lang="en-US" sz="1400" b="1" spc="100" kern="0" dirty="0">
                <a:solidFill>
                  <a:srgbClr val="13285B"/>
                </a:solidFill>
                <a:latin typeface="Calibri" pitchFamily="34" charset="0"/>
                <a:ea typeface="Calibri" pitchFamily="34" charset="-122"/>
                <a:cs typeface="Calibri" pitchFamily="34" charset="-120"/>
              </a:rPr>
              <a:t>ADJACENT</a:t>
            </a:r>
            <a:endParaRPr lang="en-US" sz="1400" dirty="0"/>
          </a:p>
        </p:txBody>
      </p:sp>
      <p:sp>
        <p:nvSpPr>
          <p:cNvPr id="59" name="Shape 47"/>
          <p:cNvSpPr/>
          <p:nvPr/>
        </p:nvSpPr>
        <p:spPr>
          <a:xfrm>
            <a:off x="10515600" y="1856232"/>
            <a:ext cx="1133856" cy="274320"/>
          </a:xfrm>
          <a:prstGeom prst="roundRect">
            <a:avLst>
              <a:gd name="adj" fmla="val 50000"/>
            </a:avLst>
          </a:prstGeom>
          <a:solidFill>
            <a:srgbClr val="F5A623"/>
          </a:solidFill>
          <a:ln w="12700">
            <a:solidFill>
              <a:srgbClr val="F5A623"/>
            </a:solidFill>
            <a:prstDash val="solid"/>
          </a:ln>
        </p:spPr>
      </p:sp>
      <p:sp>
        <p:nvSpPr>
          <p:cNvPr id="60" name="Text 48"/>
          <p:cNvSpPr txBox="1"/>
          <p:nvPr/>
        </p:nvSpPr>
        <p:spPr>
          <a:xfrm>
            <a:off x="10515600" y="1856232"/>
            <a:ext cx="1133856" cy="274320"/>
          </a:xfrm>
          <a:prstGeom prst="rect">
            <a:avLst/>
          </a:prstGeom>
          <a:noFill/>
          <a:ln/>
        </p:spPr>
        <p:txBody>
          <a:bodyPr wrap="square" lIns="0" tIns="0" rIns="0" bIns="0" rtlCol="0" anchor="ctr"/>
          <a:lstStyle/>
          <a:p>
            <a:pPr algn="ctr" indent="0" marL="0">
              <a:buNone/>
            </a:pPr>
            <a:r>
              <a:rPr lang="en-US" sz="900" b="1" dirty="0">
                <a:solidFill>
                  <a:srgbClr val="13285B"/>
                </a:solidFill>
                <a:latin typeface="Calibri" pitchFamily="34" charset="0"/>
                <a:ea typeface="Calibri" pitchFamily="34" charset="-122"/>
                <a:cs typeface="Calibri" pitchFamily="34" charset="-120"/>
              </a:rPr>
              <a:t>START FIRST</a:t>
            </a:r>
            <a:endParaRPr lang="en-US" sz="900" dirty="0"/>
          </a:p>
        </p:txBody>
      </p:sp>
      <p:sp>
        <p:nvSpPr>
          <p:cNvPr id="61" name="Shape 49"/>
          <p:cNvSpPr/>
          <p:nvPr/>
        </p:nvSpPr>
        <p:spPr>
          <a:xfrm>
            <a:off x="8147304" y="2359152"/>
            <a:ext cx="3630168" cy="3310128"/>
          </a:xfrm>
          <a:prstGeom prst="roundRect">
            <a:avLst>
              <a:gd name="adj" fmla="val 2210"/>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2" name="Text 50"/>
          <p:cNvSpPr txBox="1"/>
          <p:nvPr/>
        </p:nvSpPr>
        <p:spPr>
          <a:xfrm>
            <a:off x="8311896" y="2450592"/>
            <a:ext cx="3300984" cy="310896"/>
          </a:xfrm>
          <a:prstGeom prst="rect">
            <a:avLst/>
          </a:prstGeom>
          <a:noFill/>
          <a:ln/>
        </p:spPr>
        <p:txBody>
          <a:bodyPr wrap="square" lIns="0" tIns="0" rIns="0" bIns="0" rtlCol="0" anchor="ctr"/>
          <a:lstStyle/>
          <a:p>
            <a:pPr indent="0" marL="0">
              <a:buNone/>
            </a:pPr>
            <a:r>
              <a:rPr lang="en-US" sz="1400" b="1" dirty="0">
                <a:solidFill>
                  <a:srgbClr val="13285B"/>
                </a:solidFill>
                <a:latin typeface="Calibri" pitchFamily="34" charset="0"/>
                <a:ea typeface="Calibri" pitchFamily="34" charset="-122"/>
                <a:cs typeface="Calibri" pitchFamily="34" charset="-120"/>
              </a:rPr>
              <a:t>Grow &amp; learn</a:t>
            </a:r>
            <a:endParaRPr lang="en-US" sz="1400" dirty="0"/>
          </a:p>
        </p:txBody>
      </p:sp>
      <p:sp>
        <p:nvSpPr>
          <p:cNvPr id="63" name="Text 51"/>
          <p:cNvSpPr txBox="1"/>
          <p:nvPr/>
        </p:nvSpPr>
        <p:spPr>
          <a:xfrm>
            <a:off x="8275320" y="2816352"/>
            <a:ext cx="3355848" cy="822960"/>
          </a:xfrm>
          <a:prstGeom prst="rect">
            <a:avLst/>
          </a:prstGeom>
          <a:noFill/>
          <a:ln/>
        </p:spPr>
        <p:txBody>
          <a:bodyPr wrap="square" lIns="0" tIns="0" rIns="0" bIns="0" rtlCol="0" anchor="t"/>
          <a:lstStyle/>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Broader adds; signals choose the subcategories</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Launch, measure, then scale</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Low 1P overlap, so lighter gates</a:t>
            </a:r>
            <a:endParaRPr lang="en-US" sz="1050" dirty="0"/>
          </a:p>
        </p:txBody>
      </p:sp>
      <p:sp>
        <p:nvSpPr>
          <p:cNvPr id="64" name="Shape 52"/>
          <p:cNvSpPr/>
          <p:nvPr/>
        </p:nvSpPr>
        <p:spPr>
          <a:xfrm>
            <a:off x="8238744" y="3730752"/>
            <a:ext cx="3447288" cy="1481328"/>
          </a:xfrm>
          <a:prstGeom prst="roundRect">
            <a:avLst>
              <a:gd name="adj" fmla="val 3704"/>
            </a:avLst>
          </a:prstGeom>
          <a:solidFill>
            <a:srgbClr val="EEF3FB"/>
          </a:solidFill>
          <a:ln w="12700">
            <a:solidFill>
              <a:srgbClr val="EEF3FB"/>
            </a:solidFill>
            <a:prstDash val="solid"/>
          </a:ln>
        </p:spPr>
      </p:sp>
      <p:sp>
        <p:nvSpPr>
          <p:cNvPr id="65" name="Text 53"/>
          <p:cNvSpPr txBox="1"/>
          <p:nvPr/>
        </p:nvSpPr>
        <p:spPr>
          <a:xfrm>
            <a:off x="8330184" y="3785616"/>
            <a:ext cx="3264408" cy="182880"/>
          </a:xfrm>
          <a:prstGeom prst="rect">
            <a:avLst/>
          </a:prstGeom>
          <a:noFill/>
          <a:ln/>
        </p:spPr>
        <p:txBody>
          <a:bodyPr wrap="square" lIns="0" tIns="0" rIns="0" bIns="0" rtlCol="0" anchor="t"/>
          <a:lstStyle/>
          <a:p>
            <a:pPr indent="0" marL="0">
              <a:buNone/>
            </a:pPr>
            <a:r>
              <a:rPr lang="en-US" sz="800" b="1" spc="100" kern="0" dirty="0">
                <a:solidFill>
                  <a:srgbClr val="F5A623"/>
                </a:solidFill>
                <a:latin typeface="Calibri" pitchFamily="34" charset="0"/>
                <a:ea typeface="Calibri" pitchFamily="34" charset="-122"/>
                <a:cs typeface="Calibri" pitchFamily="34" charset="-120"/>
              </a:rPr>
              <a:t>POC NODES (DRAFT) · 12 PICKS</a:t>
            </a:r>
            <a:endParaRPr lang="en-US" sz="800" dirty="0"/>
          </a:p>
        </p:txBody>
      </p:sp>
      <p:sp>
        <p:nvSpPr>
          <p:cNvPr id="66" name="Shape 54"/>
          <p:cNvSpPr/>
          <p:nvPr/>
        </p:nvSpPr>
        <p:spPr>
          <a:xfrm>
            <a:off x="8330184" y="4041648"/>
            <a:ext cx="256032" cy="256032"/>
          </a:xfrm>
          <a:prstGeom prst="ellipse">
            <a:avLst/>
          </a:prstGeom>
          <a:solidFill>
            <a:srgbClr val="2F6FD0"/>
          </a:solidFill>
          <a:ln w="12700">
            <a:solidFill>
              <a:srgbClr val="2F6FD0"/>
            </a:solidFill>
            <a:prstDash val="solid"/>
          </a:ln>
        </p:spPr>
      </p:sp>
      <p:pic>
        <p:nvPicPr>
          <p:cNvPr id="67" name="Image 10" descr="preencoded.png">    </p:cNvPr>
          <p:cNvPicPr>
            <a:picLocks noChangeAspect="1"/>
          </p:cNvPicPr>
          <p:nvPr/>
        </p:nvPicPr>
        <p:blipFill>
          <a:blip r:embed="rId11"/>
          <a:stretch>
            <a:fillRect/>
          </a:stretch>
        </p:blipFill>
        <p:spPr>
          <a:xfrm>
            <a:off x="8386511" y="4097975"/>
            <a:ext cx="143378" cy="143378"/>
          </a:xfrm>
          <a:prstGeom prst="rect">
            <a:avLst/>
          </a:prstGeom>
        </p:spPr>
      </p:pic>
      <p:sp>
        <p:nvSpPr>
          <p:cNvPr id="68" name="Text 55"/>
          <p:cNvSpPr txBox="1"/>
          <p:nvPr/>
        </p:nvSpPr>
        <p:spPr>
          <a:xfrm>
            <a:off x="8641080" y="4041648"/>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Water Bottles (7)</a:t>
            </a:r>
            <a:endParaRPr lang="en-US" sz="950" dirty="0"/>
          </a:p>
        </p:txBody>
      </p:sp>
      <p:sp>
        <p:nvSpPr>
          <p:cNvPr id="69" name="Shape 56"/>
          <p:cNvSpPr/>
          <p:nvPr/>
        </p:nvSpPr>
        <p:spPr>
          <a:xfrm>
            <a:off x="9962388" y="4041648"/>
            <a:ext cx="256032" cy="256032"/>
          </a:xfrm>
          <a:prstGeom prst="ellipse">
            <a:avLst/>
          </a:prstGeom>
          <a:solidFill>
            <a:srgbClr val="2F6FD0"/>
          </a:solidFill>
          <a:ln w="12700">
            <a:solidFill>
              <a:srgbClr val="2F6FD0"/>
            </a:solidFill>
            <a:prstDash val="solid"/>
          </a:ln>
        </p:spPr>
      </p:sp>
      <p:pic>
        <p:nvPicPr>
          <p:cNvPr id="70" name="Image 11" descr="preencoded.png">    </p:cNvPr>
          <p:cNvPicPr>
            <a:picLocks noChangeAspect="1"/>
          </p:cNvPicPr>
          <p:nvPr/>
        </p:nvPicPr>
        <p:blipFill>
          <a:blip r:embed="rId12"/>
          <a:stretch>
            <a:fillRect/>
          </a:stretch>
        </p:blipFill>
        <p:spPr>
          <a:xfrm>
            <a:off x="10018715" y="4097975"/>
            <a:ext cx="143378" cy="143378"/>
          </a:xfrm>
          <a:prstGeom prst="rect">
            <a:avLst/>
          </a:prstGeom>
        </p:spPr>
      </p:pic>
      <p:sp>
        <p:nvSpPr>
          <p:cNvPr id="71" name="Text 57"/>
          <p:cNvSpPr txBox="1"/>
          <p:nvPr/>
        </p:nvSpPr>
        <p:spPr>
          <a:xfrm>
            <a:off x="10273284" y="4041648"/>
            <a:ext cx="1303020" cy="256032"/>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Backpacks (5)</a:t>
            </a:r>
            <a:endParaRPr lang="en-US" sz="950" dirty="0"/>
          </a:p>
        </p:txBody>
      </p:sp>
      <p:sp>
        <p:nvSpPr>
          <p:cNvPr id="72" name="Text 58"/>
          <p:cNvSpPr txBox="1"/>
          <p:nvPr/>
        </p:nvSpPr>
        <p:spPr>
          <a:xfrm>
            <a:off x="8330184" y="4754880"/>
            <a:ext cx="3264408" cy="365760"/>
          </a:xfrm>
          <a:prstGeom prst="rect">
            <a:avLst/>
          </a:prstGeom>
          <a:noFill/>
          <a:ln/>
        </p:spPr>
        <p:txBody>
          <a:bodyPr wrap="square" lIns="0" tIns="0" rIns="0" bIns="0" rtlCol="0" anchor="ctr"/>
          <a:lstStyle/>
          <a:p>
            <a:pPr indent="0" marL="0">
              <a:buNone/>
            </a:pPr>
            <a:r>
              <a:rPr lang="en-US" sz="1000" b="1" dirty="0">
                <a:solidFill>
                  <a:srgbClr val="2F6FD0"/>
                </a:solidFill>
                <a:latin typeface="Calibri" pitchFamily="34" charset="0"/>
                <a:ea typeface="Calibri" pitchFamily="34" charset="-122"/>
                <a:cs typeface="Calibri" pitchFamily="34" charset="-120"/>
              </a:rPr>
              <a:t>Next: toys · luggage · tech accessories</a:t>
            </a:r>
            <a:endParaRPr lang="en-US" sz="1000" dirty="0"/>
          </a:p>
        </p:txBody>
      </p:sp>
      <p:sp>
        <p:nvSpPr>
          <p:cNvPr id="73" name="Text 59"/>
          <p:cNvSpPr txBox="1"/>
          <p:nvPr/>
        </p:nvSpPr>
        <p:spPr>
          <a:xfrm>
            <a:off x="8311896" y="5285232"/>
            <a:ext cx="3300984" cy="310896"/>
          </a:xfrm>
          <a:prstGeom prst="rect">
            <a:avLst/>
          </a:prstGeom>
          <a:noFill/>
          <a:ln/>
        </p:spPr>
        <p:txBody>
          <a:bodyPr wrap="square" lIns="0" tIns="0" rIns="0" bIns="0" rtlCol="0" anchor="ctr"/>
          <a:lstStyle/>
          <a:p>
            <a:pPr indent="0" marL="0">
              <a:buNone/>
            </a:pPr>
            <a:r>
              <a:rPr lang="en-US" sz="1050" i="1" dirty="0">
                <a:solidFill>
                  <a:srgbClr val="2F6FD0"/>
                </a:solidFill>
                <a:latin typeface="Calibri" pitchFamily="34" charset="0"/>
                <a:ea typeface="Calibri" pitchFamily="34" charset="-122"/>
                <a:cs typeface="Calibri" pitchFamily="34" charset="-120"/>
              </a:rPr>
              <a:t>e.g. hiking daypacks, hydration</a:t>
            </a:r>
            <a:endParaRPr lang="en-US" sz="1050" dirty="0"/>
          </a:p>
        </p:txBody>
      </p:sp>
      <p:sp>
        <p:nvSpPr>
          <p:cNvPr id="74" name="Shape 60"/>
          <p:cNvSpPr/>
          <p:nvPr/>
        </p:nvSpPr>
        <p:spPr>
          <a:xfrm>
            <a:off x="411480" y="5779008"/>
            <a:ext cx="11365992" cy="530352"/>
          </a:xfrm>
          <a:prstGeom prst="roundRect">
            <a:avLst>
              <a:gd name="adj" fmla="val 13793"/>
            </a:avLst>
          </a:prstGeom>
          <a:solidFill>
            <a:srgbClr val="13285B"/>
          </a:solidFill>
          <a:ln w="12700">
            <a:solidFill>
              <a:srgbClr val="13285B"/>
            </a:solidFill>
            <a:prstDash val="solid"/>
          </a:ln>
        </p:spPr>
      </p:sp>
      <p:sp>
        <p:nvSpPr>
          <p:cNvPr id="75" name="Text 61"/>
          <p:cNvSpPr txBox="1"/>
          <p:nvPr/>
        </p:nvSpPr>
        <p:spPr>
          <a:xfrm>
            <a:off x="566928" y="5779008"/>
            <a:ext cx="1188720" cy="530352"/>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TO AGREE</a:t>
            </a:r>
            <a:endParaRPr lang="en-US" sz="1200" dirty="0"/>
          </a:p>
        </p:txBody>
      </p:sp>
      <p:sp>
        <p:nvSpPr>
          <p:cNvPr id="76" name="Text 62"/>
          <p:cNvSpPr txBox="1"/>
          <p:nvPr/>
        </p:nvSpPr>
        <p:spPr>
          <a:xfrm>
            <a:off x="1737360" y="5779008"/>
            <a:ext cx="9921240" cy="53035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Zones are our draft. Merchants set the zone of each category and its limits; the engine applies them on every run, for Staples.com first and Staples Business later.</a:t>
            </a:r>
            <a:endParaRPr lang="en-US" sz="11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Phased Plan, and Why It Is More Than a Copilot Query</a:t>
            </a:r>
            <a:endParaRPr lang="en-US" sz="2800" dirty="0"/>
          </a:p>
        </p:txBody>
      </p:sp>
      <p:sp>
        <p:nvSpPr>
          <p:cNvPr id="3" name="Text 1"/>
          <p:cNvSpPr txBox="1"/>
          <p:nvPr/>
        </p:nvSpPr>
        <p:spPr>
          <a:xfrm>
            <a:off x="411480" y="1143000"/>
            <a:ext cx="6858000"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PHASED SUPPORT: ADAPTS TO STAPLES' ROADMAP</a:t>
            </a:r>
            <a:endParaRPr lang="en-US" sz="1200" dirty="0"/>
          </a:p>
        </p:txBody>
      </p:sp>
      <p:sp>
        <p:nvSpPr>
          <p:cNvPr id="4" name="Shape 2"/>
          <p:cNvSpPr/>
          <p:nvPr/>
        </p:nvSpPr>
        <p:spPr>
          <a:xfrm>
            <a:off x="411480" y="1527048"/>
            <a:ext cx="2164080" cy="868680"/>
          </a:xfrm>
          <a:prstGeom prst="roundRect">
            <a:avLst>
              <a:gd name="adj" fmla="val 8421"/>
            </a:avLst>
          </a:prstGeom>
          <a:solidFill>
            <a:srgbClr val="1F4E9A"/>
          </a:solidFill>
          <a:ln w="12700">
            <a:solidFill>
              <a:srgbClr val="1F4E9A"/>
            </a:solidFill>
            <a:prstDash val="solid"/>
          </a:ln>
        </p:spPr>
      </p:sp>
      <p:pic>
        <p:nvPicPr>
          <p:cNvPr id="5" name="Image 0" descr="preencoded.png">    </p:cNvPr>
          <p:cNvPicPr>
            <a:picLocks noChangeAspect="1"/>
          </p:cNvPicPr>
          <p:nvPr/>
        </p:nvPicPr>
        <p:blipFill>
          <a:blip r:embed="rId1"/>
          <a:stretch>
            <a:fillRect/>
          </a:stretch>
        </p:blipFill>
        <p:spPr>
          <a:xfrm>
            <a:off x="539496" y="1655064"/>
            <a:ext cx="310896" cy="310896"/>
          </a:xfrm>
          <a:prstGeom prst="rect">
            <a:avLst/>
          </a:prstGeom>
        </p:spPr>
      </p:pic>
      <p:sp>
        <p:nvSpPr>
          <p:cNvPr id="6" name="Text 3"/>
          <p:cNvSpPr txBox="1"/>
          <p:nvPr/>
        </p:nvSpPr>
        <p:spPr>
          <a:xfrm>
            <a:off x="960120" y="1618488"/>
            <a:ext cx="1524000" cy="274320"/>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PHASE 1</a:t>
            </a:r>
            <a:endParaRPr lang="en-US" sz="1000" dirty="0"/>
          </a:p>
        </p:txBody>
      </p:sp>
      <p:sp>
        <p:nvSpPr>
          <p:cNvPr id="7" name="Text 4"/>
          <p:cNvSpPr txBox="1"/>
          <p:nvPr/>
        </p:nvSpPr>
        <p:spPr>
          <a:xfrm>
            <a:off x="539496" y="2002536"/>
            <a:ext cx="1908048"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LAUNCH STORIES</a:t>
            </a:r>
            <a:endParaRPr lang="en-US" sz="1250" dirty="0"/>
          </a:p>
        </p:txBody>
      </p:sp>
      <p:sp>
        <p:nvSpPr>
          <p:cNvPr id="8" name="Shape 5"/>
          <p:cNvSpPr/>
          <p:nvPr/>
        </p:nvSpPr>
        <p:spPr>
          <a:xfrm>
            <a:off x="2584704" y="1828800"/>
            <a:ext cx="164592" cy="256032"/>
          </a:xfrm>
          <a:prstGeom prst="rightArrow">
            <a:avLst/>
          </a:prstGeom>
          <a:solidFill>
            <a:srgbClr val="A9C3EE"/>
          </a:solidFill>
          <a:ln w="12700">
            <a:solidFill>
              <a:srgbClr val="A9C3EE"/>
            </a:solidFill>
            <a:prstDash val="solid"/>
          </a:ln>
        </p:spPr>
      </p:sp>
      <p:sp>
        <p:nvSpPr>
          <p:cNvPr id="9" name="Shape 6"/>
          <p:cNvSpPr/>
          <p:nvPr/>
        </p:nvSpPr>
        <p:spPr>
          <a:xfrm>
            <a:off x="411480" y="2487168"/>
            <a:ext cx="2164080" cy="2331720"/>
          </a:xfrm>
          <a:prstGeom prst="roundRect">
            <a:avLst>
              <a:gd name="adj" fmla="val 3380"/>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0" name="Text 7"/>
          <p:cNvSpPr txBox="1"/>
          <p:nvPr/>
        </p:nvSpPr>
        <p:spPr>
          <a:xfrm>
            <a:off x="521208" y="2596896"/>
            <a:ext cx="1944624" cy="1417320"/>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Guardrailed shortlist for the first Marketplace load</a:t>
            </a:r>
            <a:endParaRPr lang="en-US" sz="1150" dirty="0"/>
          </a:p>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One category story per merchant owner</a:t>
            </a:r>
            <a:endParaRPr lang="en-US" sz="1150" dirty="0"/>
          </a:p>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Built on today's PoC + merchant rules</a:t>
            </a:r>
            <a:endParaRPr lang="en-US" sz="1150" dirty="0"/>
          </a:p>
        </p:txBody>
      </p:sp>
      <p:sp>
        <p:nvSpPr>
          <p:cNvPr id="11" name="Shape 8"/>
          <p:cNvSpPr/>
          <p:nvPr/>
        </p:nvSpPr>
        <p:spPr>
          <a:xfrm>
            <a:off x="484632" y="4087368"/>
            <a:ext cx="2017776" cy="658368"/>
          </a:xfrm>
          <a:prstGeom prst="roundRect">
            <a:avLst>
              <a:gd name="adj" fmla="val 8333"/>
            </a:avLst>
          </a:prstGeom>
          <a:solidFill>
            <a:srgbClr val="DCE7F8"/>
          </a:solidFill>
          <a:ln w="12700">
            <a:solidFill>
              <a:srgbClr val="DCE7F8"/>
            </a:solidFill>
            <a:prstDash val="solid"/>
          </a:ln>
        </p:spPr>
      </p:sp>
      <p:sp>
        <p:nvSpPr>
          <p:cNvPr id="12" name="Text 9"/>
          <p:cNvSpPr txBox="1"/>
          <p:nvPr/>
        </p:nvSpPr>
        <p:spPr>
          <a:xfrm>
            <a:off x="557784" y="4133088"/>
            <a:ext cx="1889760"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3" name="Text 10"/>
          <p:cNvSpPr txBox="1"/>
          <p:nvPr/>
        </p:nvSpPr>
        <p:spPr>
          <a:xfrm>
            <a:off x="557784" y="4297680"/>
            <a:ext cx="1889760" cy="402336"/>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confident initial assortment</a:t>
            </a:r>
            <a:endParaRPr lang="en-US" sz="1100" dirty="0"/>
          </a:p>
        </p:txBody>
      </p:sp>
      <p:sp>
        <p:nvSpPr>
          <p:cNvPr id="14" name="Shape 11"/>
          <p:cNvSpPr/>
          <p:nvPr/>
        </p:nvSpPr>
        <p:spPr>
          <a:xfrm>
            <a:off x="2758440" y="1527048"/>
            <a:ext cx="2164080" cy="868680"/>
          </a:xfrm>
          <a:prstGeom prst="roundRect">
            <a:avLst>
              <a:gd name="adj" fmla="val 8421"/>
            </a:avLst>
          </a:prstGeom>
          <a:solidFill>
            <a:srgbClr val="2F6FD0"/>
          </a:solidFill>
          <a:ln w="12700">
            <a:solidFill>
              <a:srgbClr val="2F6FD0"/>
            </a:solidFill>
            <a:prstDash val="solid"/>
          </a:ln>
        </p:spPr>
      </p:sp>
      <p:pic>
        <p:nvPicPr>
          <p:cNvPr id="15" name="Image 1" descr="preencoded.png">    </p:cNvPr>
          <p:cNvPicPr>
            <a:picLocks noChangeAspect="1"/>
          </p:cNvPicPr>
          <p:nvPr/>
        </p:nvPicPr>
        <p:blipFill>
          <a:blip r:embed="rId2"/>
          <a:stretch>
            <a:fillRect/>
          </a:stretch>
        </p:blipFill>
        <p:spPr>
          <a:xfrm>
            <a:off x="2886456" y="1655064"/>
            <a:ext cx="310896" cy="310896"/>
          </a:xfrm>
          <a:prstGeom prst="rect">
            <a:avLst/>
          </a:prstGeom>
        </p:spPr>
      </p:pic>
      <p:sp>
        <p:nvSpPr>
          <p:cNvPr id="16" name="Text 12"/>
          <p:cNvSpPr txBox="1"/>
          <p:nvPr/>
        </p:nvSpPr>
        <p:spPr>
          <a:xfrm>
            <a:off x="3307080" y="1618488"/>
            <a:ext cx="1524000" cy="274320"/>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PHASE 2</a:t>
            </a:r>
            <a:endParaRPr lang="en-US" sz="1000" dirty="0"/>
          </a:p>
        </p:txBody>
      </p:sp>
      <p:sp>
        <p:nvSpPr>
          <p:cNvPr id="17" name="Text 13"/>
          <p:cNvSpPr txBox="1"/>
          <p:nvPr/>
        </p:nvSpPr>
        <p:spPr>
          <a:xfrm>
            <a:off x="2886456" y="2002536"/>
            <a:ext cx="1908048"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a:t>
            </a:r>
            <a:endParaRPr lang="en-US" sz="1250" dirty="0"/>
          </a:p>
        </p:txBody>
      </p:sp>
      <p:sp>
        <p:nvSpPr>
          <p:cNvPr id="18" name="Shape 14"/>
          <p:cNvSpPr/>
          <p:nvPr/>
        </p:nvSpPr>
        <p:spPr>
          <a:xfrm>
            <a:off x="4931664" y="1828800"/>
            <a:ext cx="164592" cy="256032"/>
          </a:xfrm>
          <a:prstGeom prst="rightArrow">
            <a:avLst/>
          </a:prstGeom>
          <a:solidFill>
            <a:srgbClr val="A9C3EE"/>
          </a:solidFill>
          <a:ln w="12700">
            <a:solidFill>
              <a:srgbClr val="A9C3EE"/>
            </a:solidFill>
            <a:prstDash val="solid"/>
          </a:ln>
        </p:spPr>
      </p:sp>
      <p:sp>
        <p:nvSpPr>
          <p:cNvPr id="19" name="Shape 15"/>
          <p:cNvSpPr/>
          <p:nvPr/>
        </p:nvSpPr>
        <p:spPr>
          <a:xfrm>
            <a:off x="2758440" y="2487168"/>
            <a:ext cx="2164080" cy="2331720"/>
          </a:xfrm>
          <a:prstGeom prst="roundRect">
            <a:avLst>
              <a:gd name="adj" fmla="val 3380"/>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Text 16"/>
          <p:cNvSpPr txBox="1"/>
          <p:nvPr/>
        </p:nvSpPr>
        <p:spPr>
          <a:xfrm>
            <a:off x="2868168" y="2596896"/>
            <a:ext cx="1944624" cy="1417320"/>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Join sales, search funnel, conversion &amp; baskets</a:t>
            </a:r>
            <a:endParaRPr lang="en-US" sz="1150" dirty="0"/>
          </a:p>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Opportunity $ per archetype, by channel</a:t>
            </a:r>
            <a:endParaRPr lang="en-US" sz="1150" dirty="0"/>
          </a:p>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Stack-rank to the vital ~20%</a:t>
            </a:r>
            <a:endParaRPr lang="en-US" sz="1150" dirty="0"/>
          </a:p>
        </p:txBody>
      </p:sp>
      <p:sp>
        <p:nvSpPr>
          <p:cNvPr id="21" name="Shape 17"/>
          <p:cNvSpPr/>
          <p:nvPr/>
        </p:nvSpPr>
        <p:spPr>
          <a:xfrm>
            <a:off x="2831592" y="4087368"/>
            <a:ext cx="2017776" cy="658368"/>
          </a:xfrm>
          <a:prstGeom prst="roundRect">
            <a:avLst>
              <a:gd name="adj" fmla="val 8333"/>
            </a:avLst>
          </a:prstGeom>
          <a:solidFill>
            <a:srgbClr val="DCE7F8"/>
          </a:solidFill>
          <a:ln w="12700">
            <a:solidFill>
              <a:srgbClr val="DCE7F8"/>
            </a:solidFill>
            <a:prstDash val="solid"/>
          </a:ln>
        </p:spPr>
      </p:sp>
      <p:sp>
        <p:nvSpPr>
          <p:cNvPr id="22" name="Text 18"/>
          <p:cNvSpPr txBox="1"/>
          <p:nvPr/>
        </p:nvSpPr>
        <p:spPr>
          <a:xfrm>
            <a:off x="2904744" y="4133088"/>
            <a:ext cx="1889760"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3" name="Text 19"/>
          <p:cNvSpPr txBox="1"/>
          <p:nvPr/>
        </p:nvSpPr>
        <p:spPr>
          <a:xfrm>
            <a:off x="2904744" y="4297680"/>
            <a:ext cx="1889760" cy="402336"/>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a:t>
            </a:r>
            <a:endParaRPr lang="en-US" sz="1100" dirty="0"/>
          </a:p>
        </p:txBody>
      </p:sp>
      <p:sp>
        <p:nvSpPr>
          <p:cNvPr id="24" name="Shape 20"/>
          <p:cNvSpPr/>
          <p:nvPr/>
        </p:nvSpPr>
        <p:spPr>
          <a:xfrm>
            <a:off x="5105400" y="1527048"/>
            <a:ext cx="2164080" cy="868680"/>
          </a:xfrm>
          <a:prstGeom prst="roundRect">
            <a:avLst>
              <a:gd name="adj" fmla="val 8421"/>
            </a:avLst>
          </a:prstGeom>
          <a:solidFill>
            <a:srgbClr val="13285B"/>
          </a:solidFill>
          <a:ln w="12700">
            <a:solidFill>
              <a:srgbClr val="13285B"/>
            </a:solidFill>
            <a:prstDash val="solid"/>
          </a:ln>
        </p:spPr>
      </p:sp>
      <p:pic>
        <p:nvPicPr>
          <p:cNvPr id="25" name="Image 2" descr="preencoded.png">    </p:cNvPr>
          <p:cNvPicPr>
            <a:picLocks noChangeAspect="1"/>
          </p:cNvPicPr>
          <p:nvPr/>
        </p:nvPicPr>
        <p:blipFill>
          <a:blip r:embed="rId3"/>
          <a:stretch>
            <a:fillRect/>
          </a:stretch>
        </p:blipFill>
        <p:spPr>
          <a:xfrm>
            <a:off x="5233416" y="1655064"/>
            <a:ext cx="310896" cy="310896"/>
          </a:xfrm>
          <a:prstGeom prst="rect">
            <a:avLst/>
          </a:prstGeom>
        </p:spPr>
      </p:pic>
      <p:sp>
        <p:nvSpPr>
          <p:cNvPr id="26" name="Text 21"/>
          <p:cNvSpPr txBox="1"/>
          <p:nvPr/>
        </p:nvSpPr>
        <p:spPr>
          <a:xfrm>
            <a:off x="5654040" y="1618488"/>
            <a:ext cx="1524000" cy="274320"/>
          </a:xfrm>
          <a:prstGeom prst="rect">
            <a:avLst/>
          </a:prstGeom>
          <a:noFill/>
          <a:ln/>
        </p:spPr>
        <p:txBody>
          <a:bodyPr wrap="square" lIns="0" tIns="0" rIns="0" bIns="0" rtlCol="0" anchor="ctr"/>
          <a:lstStyle/>
          <a:p>
            <a:pPr indent="0" marL="0">
              <a:buNone/>
            </a:pPr>
            <a:r>
              <a:rPr lang="en-US" sz="1000" b="1" spc="100" kern="0" dirty="0">
                <a:solidFill>
                  <a:srgbClr val="F5A623"/>
                </a:solidFill>
                <a:latin typeface="Calibri" pitchFamily="34" charset="0"/>
                <a:ea typeface="Calibri" pitchFamily="34" charset="-122"/>
                <a:cs typeface="Calibri" pitchFamily="34" charset="-120"/>
              </a:rPr>
              <a:t>PHASE 3</a:t>
            </a:r>
            <a:endParaRPr lang="en-US" sz="1000" dirty="0"/>
          </a:p>
        </p:txBody>
      </p:sp>
      <p:sp>
        <p:nvSpPr>
          <p:cNvPr id="27" name="Text 22"/>
          <p:cNvSpPr txBox="1"/>
          <p:nvPr/>
        </p:nvSpPr>
        <p:spPr>
          <a:xfrm>
            <a:off x="5233416" y="2002536"/>
            <a:ext cx="1908048"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LAUNCH, LEARN &amp; SCALE</a:t>
            </a:r>
            <a:endParaRPr lang="en-US" sz="1250" dirty="0"/>
          </a:p>
        </p:txBody>
      </p:sp>
      <p:sp>
        <p:nvSpPr>
          <p:cNvPr id="28" name="Shape 23"/>
          <p:cNvSpPr/>
          <p:nvPr/>
        </p:nvSpPr>
        <p:spPr>
          <a:xfrm>
            <a:off x="5105400" y="2487168"/>
            <a:ext cx="2164080" cy="2331720"/>
          </a:xfrm>
          <a:prstGeom prst="roundRect">
            <a:avLst>
              <a:gd name="adj" fmla="val 3380"/>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9" name="Text 24"/>
          <p:cNvSpPr txBox="1"/>
          <p:nvPr/>
        </p:nvSpPr>
        <p:spPr>
          <a:xfrm>
            <a:off x="5215128" y="2596896"/>
            <a:ext cx="1944624" cy="1417320"/>
          </a:xfrm>
          <a:prstGeom prst="rect">
            <a:avLst/>
          </a:prstGeom>
          <a:noFill/>
          <a:ln/>
        </p:spPr>
        <p:txBody>
          <a:bodyPr wrap="square" lIns="0" tIns="0" rIns="0" bIns="0" rtlCol="0" anchor="t"/>
          <a:lstStyle/>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Track live performance per archetype</a:t>
            </a:r>
            <a:endParaRPr lang="en-US" sz="1150" dirty="0"/>
          </a:p>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Expand adjacent categories on evidence</a:t>
            </a:r>
            <a:endParaRPr lang="en-US" sz="1150" dirty="0"/>
          </a:p>
          <a:p>
            <a:pPr marL="127000" indent="-1270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Vet seller listings; monthly re-crawls</a:t>
            </a:r>
            <a:endParaRPr lang="en-US" sz="1150" dirty="0"/>
          </a:p>
        </p:txBody>
      </p:sp>
      <p:sp>
        <p:nvSpPr>
          <p:cNvPr id="30" name="Shape 25"/>
          <p:cNvSpPr/>
          <p:nvPr/>
        </p:nvSpPr>
        <p:spPr>
          <a:xfrm>
            <a:off x="5178552" y="4087368"/>
            <a:ext cx="2017776" cy="658368"/>
          </a:xfrm>
          <a:prstGeom prst="roundRect">
            <a:avLst>
              <a:gd name="adj" fmla="val 8333"/>
            </a:avLst>
          </a:prstGeom>
          <a:solidFill>
            <a:srgbClr val="DCE7F8"/>
          </a:solidFill>
          <a:ln w="12700">
            <a:solidFill>
              <a:srgbClr val="DCE7F8"/>
            </a:solidFill>
            <a:prstDash val="solid"/>
          </a:ln>
        </p:spPr>
      </p:sp>
      <p:sp>
        <p:nvSpPr>
          <p:cNvPr id="31" name="Text 26"/>
          <p:cNvSpPr txBox="1"/>
          <p:nvPr/>
        </p:nvSpPr>
        <p:spPr>
          <a:xfrm>
            <a:off x="5251704" y="4133088"/>
            <a:ext cx="1889760"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2" name="Text 27"/>
          <p:cNvSpPr txBox="1"/>
          <p:nvPr/>
        </p:nvSpPr>
        <p:spPr>
          <a:xfrm>
            <a:off x="5251704" y="4297680"/>
            <a:ext cx="1889760" cy="402336"/>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Scale what works, drop what doesn't</a:t>
            </a:r>
            <a:endParaRPr lang="en-US" sz="1100" dirty="0"/>
          </a:p>
        </p:txBody>
      </p:sp>
      <p:sp>
        <p:nvSpPr>
          <p:cNvPr id="33" name="Shape 28"/>
          <p:cNvSpPr/>
          <p:nvPr/>
        </p:nvSpPr>
        <p:spPr>
          <a:xfrm>
            <a:off x="7543800" y="1143000"/>
            <a:ext cx="4233672" cy="5166360"/>
          </a:xfrm>
          <a:prstGeom prst="roundRect">
            <a:avLst>
              <a:gd name="adj" fmla="val 2160"/>
            </a:avLst>
          </a:prstGeom>
          <a:solidFill>
            <a:srgbClr val="13285B"/>
          </a:solidFill>
          <a:ln w="12700">
            <a:solidFill>
              <a:srgbClr val="13285B"/>
            </a:solidFill>
            <a:prstDash val="solid"/>
          </a:ln>
        </p:spPr>
      </p:sp>
      <p:sp>
        <p:nvSpPr>
          <p:cNvPr id="34" name="Text 29"/>
          <p:cNvSpPr txBox="1"/>
          <p:nvPr/>
        </p:nvSpPr>
        <p:spPr>
          <a:xfrm>
            <a:off x="7744968" y="1252728"/>
            <a:ext cx="3831336" cy="310896"/>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WHAT INTERNAL DATA ALONE CAN'T DO</a:t>
            </a:r>
            <a:endParaRPr lang="en-US" sz="1200" dirty="0"/>
          </a:p>
        </p:txBody>
      </p:sp>
      <p:sp>
        <p:nvSpPr>
          <p:cNvPr id="35" name="Shape 30"/>
          <p:cNvSpPr/>
          <p:nvPr/>
        </p:nvSpPr>
        <p:spPr>
          <a:xfrm>
            <a:off x="7744968" y="1746504"/>
            <a:ext cx="457200" cy="457200"/>
          </a:xfrm>
          <a:prstGeom prst="ellipse">
            <a:avLst/>
          </a:prstGeom>
          <a:solidFill>
            <a:srgbClr val="2F6FD0"/>
          </a:solidFill>
          <a:ln w="12700">
            <a:solidFill>
              <a:srgbClr val="2F6FD0"/>
            </a:solidFill>
            <a:prstDash val="solid"/>
          </a:ln>
        </p:spPr>
      </p:sp>
      <p:pic>
        <p:nvPicPr>
          <p:cNvPr id="36" name="Image 3" descr="preencoded.png">    </p:cNvPr>
          <p:cNvPicPr>
            <a:picLocks noChangeAspect="1"/>
          </p:cNvPicPr>
          <p:nvPr/>
        </p:nvPicPr>
        <p:blipFill>
          <a:blip r:embed="rId4"/>
          <a:stretch>
            <a:fillRect/>
          </a:stretch>
        </p:blipFill>
        <p:spPr>
          <a:xfrm>
            <a:off x="7845552" y="1847088"/>
            <a:ext cx="256032" cy="256032"/>
          </a:xfrm>
          <a:prstGeom prst="rect">
            <a:avLst/>
          </a:prstGeom>
        </p:spPr>
      </p:pic>
      <p:sp>
        <p:nvSpPr>
          <p:cNvPr id="37" name="Text 31"/>
          <p:cNvSpPr txBox="1"/>
          <p:nvPr/>
        </p:nvSpPr>
        <p:spPr>
          <a:xfrm>
            <a:off x="8330184" y="1709928"/>
            <a:ext cx="3264408"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Sees outside Staples</a:t>
            </a:r>
            <a:endParaRPr lang="en-US" sz="1250" dirty="0"/>
          </a:p>
        </p:txBody>
      </p:sp>
      <p:sp>
        <p:nvSpPr>
          <p:cNvPr id="38" name="Text 32"/>
          <p:cNvSpPr txBox="1"/>
          <p:nvPr/>
        </p:nvSpPr>
        <p:spPr>
          <a:xfrm>
            <a:off x="8330184" y="2020824"/>
            <a:ext cx="3264408" cy="64008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Competitor assortment (16.5K families today): internal data can't show what Staples doesn't carry</a:t>
            </a:r>
            <a:endParaRPr lang="en-US" sz="1050" dirty="0"/>
          </a:p>
        </p:txBody>
      </p:sp>
      <p:sp>
        <p:nvSpPr>
          <p:cNvPr id="39" name="Shape 33"/>
          <p:cNvSpPr/>
          <p:nvPr/>
        </p:nvSpPr>
        <p:spPr>
          <a:xfrm>
            <a:off x="7744968" y="2862072"/>
            <a:ext cx="457200" cy="457200"/>
          </a:xfrm>
          <a:prstGeom prst="ellipse">
            <a:avLst/>
          </a:prstGeom>
          <a:solidFill>
            <a:srgbClr val="2F6FD0"/>
          </a:solidFill>
          <a:ln w="12700">
            <a:solidFill>
              <a:srgbClr val="2F6FD0"/>
            </a:solidFill>
            <a:prstDash val="solid"/>
          </a:ln>
        </p:spPr>
      </p:sp>
      <p:pic>
        <p:nvPicPr>
          <p:cNvPr id="40" name="Image 4" descr="preencoded.png">    </p:cNvPr>
          <p:cNvPicPr>
            <a:picLocks noChangeAspect="1"/>
          </p:cNvPicPr>
          <p:nvPr/>
        </p:nvPicPr>
        <p:blipFill>
          <a:blip r:embed="rId5"/>
          <a:stretch>
            <a:fillRect/>
          </a:stretch>
        </p:blipFill>
        <p:spPr>
          <a:xfrm>
            <a:off x="7845552" y="2962656"/>
            <a:ext cx="256032" cy="256032"/>
          </a:xfrm>
          <a:prstGeom prst="rect">
            <a:avLst/>
          </a:prstGeom>
        </p:spPr>
      </p:pic>
      <p:sp>
        <p:nvSpPr>
          <p:cNvPr id="41" name="Text 34"/>
          <p:cNvSpPr txBox="1"/>
          <p:nvPr/>
        </p:nvSpPr>
        <p:spPr>
          <a:xfrm>
            <a:off x="8330184" y="2825496"/>
            <a:ext cx="3264408"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Same yardstick on both sides</a:t>
            </a:r>
            <a:endParaRPr lang="en-US" sz="1250" dirty="0"/>
          </a:p>
        </p:txBody>
      </p:sp>
      <p:sp>
        <p:nvSpPr>
          <p:cNvPr id="42" name="Text 35"/>
          <p:cNvSpPr txBox="1"/>
          <p:nvPr/>
        </p:nvSpPr>
        <p:spPr>
          <a:xfrm>
            <a:off x="8330184" y="3136392"/>
            <a:ext cx="3264408" cy="64008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885 archetypes from one attribute extractor run on Staples and competitors</a:t>
            </a:r>
            <a:endParaRPr lang="en-US" sz="1050" dirty="0"/>
          </a:p>
        </p:txBody>
      </p:sp>
      <p:sp>
        <p:nvSpPr>
          <p:cNvPr id="43" name="Shape 36"/>
          <p:cNvSpPr/>
          <p:nvPr/>
        </p:nvSpPr>
        <p:spPr>
          <a:xfrm>
            <a:off x="7744968" y="3977640"/>
            <a:ext cx="457200" cy="457200"/>
          </a:xfrm>
          <a:prstGeom prst="ellipse">
            <a:avLst/>
          </a:prstGeom>
          <a:solidFill>
            <a:srgbClr val="2F6FD0"/>
          </a:solidFill>
          <a:ln w="12700">
            <a:solidFill>
              <a:srgbClr val="2F6FD0"/>
            </a:solidFill>
            <a:prstDash val="solid"/>
          </a:ln>
        </p:spPr>
      </p:sp>
      <p:pic>
        <p:nvPicPr>
          <p:cNvPr id="44" name="Image 5" descr="preencoded.png">    </p:cNvPr>
          <p:cNvPicPr>
            <a:picLocks noChangeAspect="1"/>
          </p:cNvPicPr>
          <p:nvPr/>
        </p:nvPicPr>
        <p:blipFill>
          <a:blip r:embed="rId6"/>
          <a:stretch>
            <a:fillRect/>
          </a:stretch>
        </p:blipFill>
        <p:spPr>
          <a:xfrm>
            <a:off x="7845552" y="4078224"/>
            <a:ext cx="256032" cy="256032"/>
          </a:xfrm>
          <a:prstGeom prst="rect">
            <a:avLst/>
          </a:prstGeom>
        </p:spPr>
      </p:pic>
      <p:sp>
        <p:nvSpPr>
          <p:cNvPr id="45" name="Text 37"/>
          <p:cNvSpPr txBox="1"/>
          <p:nvPr/>
        </p:nvSpPr>
        <p:spPr>
          <a:xfrm>
            <a:off x="8330184" y="3941064"/>
            <a:ext cx="3264408"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Cannibalisation-safe by design</a:t>
            </a:r>
            <a:endParaRPr lang="en-US" sz="1250" dirty="0"/>
          </a:p>
        </p:txBody>
      </p:sp>
      <p:sp>
        <p:nvSpPr>
          <p:cNvPr id="46" name="Text 38"/>
          <p:cNvSpPr txBox="1"/>
          <p:nvPr/>
        </p:nvSpPr>
        <p:spPr>
          <a:xfrm>
            <a:off x="8330184" y="4251960"/>
            <a:ext cx="3264408" cy="64008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Two independent methods, each with its own safety gate; 74 picks survive</a:t>
            </a:r>
            <a:endParaRPr lang="en-US" sz="1050" dirty="0"/>
          </a:p>
        </p:txBody>
      </p:sp>
      <p:sp>
        <p:nvSpPr>
          <p:cNvPr id="47" name="Shape 39"/>
          <p:cNvSpPr/>
          <p:nvPr/>
        </p:nvSpPr>
        <p:spPr>
          <a:xfrm>
            <a:off x="7744968" y="5093208"/>
            <a:ext cx="457200" cy="457200"/>
          </a:xfrm>
          <a:prstGeom prst="ellipse">
            <a:avLst/>
          </a:prstGeom>
          <a:solidFill>
            <a:srgbClr val="2F6FD0"/>
          </a:solidFill>
          <a:ln w="12700">
            <a:solidFill>
              <a:srgbClr val="2F6FD0"/>
            </a:solidFill>
            <a:prstDash val="solid"/>
          </a:ln>
        </p:spPr>
      </p:sp>
      <p:pic>
        <p:nvPicPr>
          <p:cNvPr id="48" name="Image 6" descr="preencoded.png">    </p:cNvPr>
          <p:cNvPicPr>
            <a:picLocks noChangeAspect="1"/>
          </p:cNvPicPr>
          <p:nvPr/>
        </p:nvPicPr>
        <p:blipFill>
          <a:blip r:embed="rId7"/>
          <a:stretch>
            <a:fillRect/>
          </a:stretch>
        </p:blipFill>
        <p:spPr>
          <a:xfrm>
            <a:off x="7845552" y="5193792"/>
            <a:ext cx="256032" cy="256032"/>
          </a:xfrm>
          <a:prstGeom prst="rect">
            <a:avLst/>
          </a:prstGeom>
        </p:spPr>
      </p:pic>
      <p:sp>
        <p:nvSpPr>
          <p:cNvPr id="49" name="Text 40"/>
          <p:cNvSpPr txBox="1"/>
          <p:nvPr/>
        </p:nvSpPr>
        <p:spPr>
          <a:xfrm>
            <a:off x="8330184" y="5056632"/>
            <a:ext cx="3264408"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 repeatable engine</a:t>
            </a:r>
            <a:endParaRPr lang="en-US" sz="1250" dirty="0"/>
          </a:p>
        </p:txBody>
      </p:sp>
      <p:sp>
        <p:nvSpPr>
          <p:cNvPr id="50" name="Text 41"/>
          <p:cNvSpPr txBox="1"/>
          <p:nvPr/>
        </p:nvSpPr>
        <p:spPr>
          <a:xfrm>
            <a:off x="8330184" y="5367528"/>
            <a:ext cx="3264408" cy="64008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New node or competitor = config; re-run monthly as markets move</a:t>
            </a:r>
            <a:endParaRPr lang="en-US" sz="1050" dirty="0"/>
          </a:p>
        </p:txBody>
      </p:sp>
      <p:sp>
        <p:nvSpPr>
          <p:cNvPr id="51" name="Shape 42"/>
          <p:cNvSpPr/>
          <p:nvPr/>
        </p:nvSpPr>
        <p:spPr>
          <a:xfrm>
            <a:off x="411480" y="4937760"/>
            <a:ext cx="6858000" cy="1371600"/>
          </a:xfrm>
          <a:prstGeom prst="roundRect">
            <a:avLst>
              <a:gd name="adj" fmla="val 5333"/>
            </a:avLst>
          </a:prstGeom>
          <a:solidFill>
            <a:srgbClr val="EEF3FB"/>
          </a:solidFill>
          <a:ln w="12700">
            <a:solidFill>
              <a:srgbClr val="EEF3FB"/>
            </a:solidFill>
            <a:prstDash val="solid"/>
          </a:ln>
        </p:spPr>
      </p:sp>
      <p:sp>
        <p:nvSpPr>
          <p:cNvPr id="52" name="Text 43"/>
          <p:cNvSpPr txBox="1"/>
          <p:nvPr/>
        </p:nvSpPr>
        <p:spPr>
          <a:xfrm>
            <a:off x="576072" y="5010912"/>
            <a:ext cx="6528816" cy="1225296"/>
          </a:xfrm>
          <a:prstGeom prst="rect">
            <a:avLst/>
          </a:prstGeom>
          <a:noFill/>
          <a:ln/>
        </p:spPr>
        <p:txBody>
          <a:bodyPr wrap="square" lIns="0" tIns="0" rIns="0" bIns="0" rtlCol="0" anchor="ctr"/>
          <a:lstStyle/>
          <a:p>
            <a:pPr indent="0" marL="0">
              <a:spcAft>
                <a:spcPts val="400"/>
              </a:spcAft>
              <a:buNone/>
            </a:pPr>
            <a:r>
              <a:rPr lang="en-US" sz="1000" b="1" spc="100" kern="0" dirty="0">
                <a:solidFill>
                  <a:srgbClr val="F5A623"/>
                </a:solidFill>
                <a:latin typeface="Calibri" pitchFamily="34" charset="0"/>
                <a:ea typeface="Calibri" pitchFamily="34" charset="-122"/>
                <a:cs typeface="Calibri" pitchFamily="34" charset="-120"/>
              </a:rPr>
              <a:t>TWO WORKSTREAMS</a:t>
            </a:r>
            <a:endParaRPr lang="en-US" sz="1100" dirty="0"/>
          </a:p>
          <a:p>
            <a:pPr indent="0" marL="0">
              <a:spcAft>
                <a:spcPts val="400"/>
              </a:spcAft>
              <a:buNone/>
            </a:pPr>
            <a:r>
              <a:rPr lang="en-US" sz="1100" b="1" dirty="0">
                <a:solidFill>
                  <a:srgbClr val="13285B"/>
                </a:solidFill>
                <a:latin typeface="Calibri" pitchFamily="34" charset="0"/>
                <a:ea typeface="Calibri" pitchFamily="34" charset="-122"/>
                <a:cs typeface="Calibri" pitchFamily="34" charset="-120"/>
              </a:rPr>
              <a:t>1 · Acquire the product </a:t>
            </a:r>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(assortment, brands, sellers): where this engine works, and first.</a:t>
            </a:r>
            <a:endParaRPr lang="en-US" sz="1100" dirty="0"/>
          </a:p>
          <a:p>
            <a:pPr indent="0" marL="0">
              <a:spcAft>
                <a:spcPts val="400"/>
              </a:spcAft>
              <a:buNone/>
            </a:pPr>
            <a:r>
              <a:rPr lang="en-US" sz="1100" b="1" dirty="0">
                <a:solidFill>
                  <a:srgbClr val="13285B"/>
                </a:solidFill>
                <a:latin typeface="Calibri" pitchFamily="34" charset="0"/>
                <a:ea typeface="Calibri" pitchFamily="34" charset="-122"/>
                <a:cs typeface="Calibri" pitchFamily="34" charset="-120"/>
              </a:rPr>
              <a:t>2 · Educate &amp; acquire the customer </a:t>
            </a:r>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(digital experience, off-site retail media): once the product is live.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2026-10-12T14:22:23Z</dcterms:created>
  <dcterms:modified xsi:type="dcterms:W3CDTF">2026-10-12T14:22:23Z</dcterms:modified>
</cp:coreProperties>
</file>