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427620-d4df-08de-2424-98107130e307}">
          <p14:sldIdLst>
            <p14:sldId id="256"/>
          </p14:sldIdLst>
        </p14:section>
        <p14:section name="Context" id="{2c890047-95a7-20d8-bcb6-3480f8dea8fb}">
          <p14:sldIdLst>
            <p14:sldId id="257"/>
            <p14:sldId id="258"/>
          </p14:sldIdLst>
        </p14:section>
        <p14:section name="Findings" id="{f7eff8bf-9463-bccd-7bbc-399cc39315e3}">
          <p14:sldIdLst>
            <p14:sldId id="259"/>
          </p14:sldIdLst>
        </p14:section>
        <p14:section name="Recommendations" id="{382d2e3f-5f46-a9de-8a38-432649679504}">
          <p14:sldIdLst>
            <p14:sldId id="260"/>
          </p14:sldIdLst>
        </p14:section>
        <p14:section name="Next steps" id="{5b4f0b0c-d44e-189a-9a9a-100858f9cec2}">
          <p14:sldIdLst>
            <p14:sldId id="261"/>
            <p14:sldId id="262"/>
          </p14:sldIdLst>
        </p14:section>
        <p14:section name="Close" id="{d5eda26e-1d23-10e9-927c-d281a6b727e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9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Staples Marketplace wants a curated catalogue for Q1 2027: core-adjacent "White Chair" extensions that compete with Wayfair and Amazon without diluting core B2B or cannibalising 1P sales, built on external data only.
Our approach: match products across retailers at product-family level, describe every product with the same 3-tier attribute set (function, look, lifestyle), group them into archetypes (combinations of 4–6 attributes), and score each archetype with two independent methods, each with its own cannibalisation gate.
Value: 87 recommended archetypes across the 9 nodes shown (99 across all 12 analysed), each with example SKUs shown beside the nearest Staples product, plus a seller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The deck shows the top 3 nodes per segment (the engine ran on 12).
Competitors (as per our research): each node is compared with its Primary competitor only: Wayfair, the leading online home-furnishing store, for furniture and décor; Amazon, the default everyday marketplace, for supplies, bags and kitchen.
Disclaimer: competitor files are convenience samples of scraped listing pages; Staples is close to a census. Every comparison is a share of each retailer's range with a credibility check, never a raw count. No internal sales, traffic or margin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every cell has the same form, category: share of that retailer's range (vs the compared retailer in the same node). Bullets 1-2 of the Staples column mirror the Wayfair column (furniture and décor nodes); bullet 3 mirrors the Amazon column (supplies, bags and kitchen nodes).
What Pat will recognise: Staples is a workplace assortment (corporate desks, reception seating, tackable panels, tech-enabled lamps, premium furniture prices). What may be new: how sharply the competitors split, Wayfair towards the home (living-room chairs, statement décor, folding screens, desks under $200) and Amazon towards the person and the activity (hiking and travel packs, gender-targeted products, guided journals, wood-tone kitchen storage, sub-$10 planners).
Caveat: Amazon listings carry only a title and a short subtitle, so feature-level shares there are lower bounds. Credibility = Bayesian probability that the share difference is real, 95% or more for every gap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two picks were chosen: walk each node's final ranking (both methods, each with its own cannibalisation gate), skip near-duplicates (the same product idea with only a modifier added) and skip any pick whose 'Staples lacks it' claim fails a check of the Staples catalogue (attributes and titles). The blue tag is the archetype's attribute combination (stated values; empty defaults such as 'Vibe: plain' are omitted). Each example is the recommended SKU priced closest to the archetype's competitor median unless another example matches the idea better; it is safe under the method(s) that recommended it.
Planners: #1 Minimal multi-year monthly planner [deepen; Strong] (archetype: Plain-cover monthly planner; full combination: Type: planner · Layout: monthly · Design: plain · Audience: general); example 2027-2029 Monthly Planner - 3 Year Calendar 2027-2028-2029 Monthly Pla $17.49; nearest Staples item: 2027 Blue Sky Enterprise 8" x 10" Calendar Year Monthly Plan | #3 Guided / daily journal [add; Gap-led] (archetype: Plain-cover daily journal/guided planner; full combination: Type: journal/guided · Layout: daily · Design: plain · Vibe: plain); example LEATHER VILLAGE Leather Bound Journal Key Lock, Distressed Brown 8x6. $29.99; nearest Staples item: 2027 AT-A-GLANCE Hardcover Diary, 5" x 7.5", Wide-Ruled, Red; skipped: R2 plain-cover weekly planner: same idea as R1 (only the date layout differs)
Backpacks: #1 Hiking / outdoor daypack (unisex) [add; Gap-led] (archetype: Women &amp; men hiking/outdoor backpack; full combination: Type: hiking/outdoor · Audience: women &amp; men · Vibe: plain · Outdoor: yes); example 25L Hiking Backpack for Men Women - Waterproof Daypack with Whistle &amp;  $27.16; nearest Staples item: Ergodyne® Chill-Its® GB5050 Hydration Bladder Replacement | #4 Travel / carry-on backpack (40L) [deepen; Gap-led] (archetype: Women &amp; men travel/carry-on backpack; full combination: Type: travel/carry-on · Audience: women &amp; men · Vibe: plain · Outdoor: not stated); example EMPSIGN 40L Travel Backpack for Women &amp; Men $39.99; nearest Staples item: Thule Subterra 2 Travel Pack Laptop Backpack, Medium, Vetive; skipped: R2-R3 hiking/outdoor backpacks: same idea as R1
Office Desks: #1 Design-led (luxe) computer desk [deepen; Vector-led] (archetype: Luxe rectangular computer desk; full combination: Type: computer · Shape: rectangular · Drawers: not stated · Luxe: yes); example Contemporary Home Office Computer Desk, 61" Height - Brown Laminate Sh $339.99; nearest Staples item: Flash Furniture Cambridge 48"W Single Pedestal Desk, White O | #2 Minimal remote-work desk with storage [add; Gap-led] (archetype: Remote workers sleek/minimal workstation desk; full combination: Type: workstation · Drawers: yes · Remote workers: yes · Sleek/minimal: yes); example Home Office Table With Grey Laminate Finish And Black Metal Base, 48"l $349.99; nearest Staples item: HON Mod 48"W Desk Shell, Slate Teak (HLPLDS4830.LSL1)
Accent Chairs: #1 Warm-tone leather / fabric armchair [deepen; Strong] (archetype: Armchair; full combination: Colour tone: warm-neutral · Form: armchair · Residential living: not stated · Natural/woven: not stated); example Pettengill Tufted Distressed Genuine Top-Grain Leather Accent Armchair $969.99; nearest Staples item: Flash Furniture Hercules Lacey Leather Accent Chair, Black ( | #3 Light-neutral swivel barrel chair [add; Gap-led] (archetype: Barrel chair; full combination: Colour tone: light-neutral · Form: barrel · Swivel: yes · Cozy/plush: not stated); example 360° Swivel Accent Chair, Velvet Upholstered Open-Back Swivel Barrel C $259.99; nearest Staples item: Flash Furniture Plastic/Poly Accent Chair, White (FH132DPPWH; skipped: R2 lounge/club chair: Staples already lists 12 lounge chairs (commercial vinyl / faux leather)
Desk Lamps: #1 Decor-grade shaded table lamp ($150+) [trade-up; Strong] (archetype: Shaded table-style desk lamp; full combination: Colour: grey · Form: shaded table-style · USB port: not stated · Residential living: not stated); example Waheed Stainless Steel Desk Lamp $151.80; nearest Staples item: OttLite Direct LED Desk Lamp, 18", Brass (CS01BS9-SHPR); note: Staples already has 55 shaded lamps (mostly under $100), so this is a price/design trade-up | #6 Glass / Tiffany-style statement lamp [add; Gap-led] (archetype: Glass/crystal novelty/sculptural desk lamp; full combination: Material: glass/crystal · Form: novelty/sculptural · USB port: not stated · Luxe: not stated · Residential living: not stated); example 18" High Tiffany Turning Leaf Desk Lamp $233.10; nearest Staples item: Mount-It! LED Desk Lamp, 16.54", Silver/White (TS-7009); skipped: R2/R4 residential luxe shaded lamps: same idea as R1; R3/R5 wood-base shaded lamps: Staples already sells 5 (Adesso Elmore, Roman)
Lunch Bags: #1 Stainless-steel commuter bento (adult) [add; Strong] (archetype: Travel/commute bento box; full combination: Type: bento box · Insulated: not stated · Leak-proof: not stated · Travel/commute: yes); example Stackable Stainless Steel Bento Box for Adults, 6 Cup with Snack Pod $38.95; nearest Staples item: Bentgo Bowl Plastic Insulated Bento Bowl, 2-Coompartment, Kh | #4 Cordless heated lunch box [deepen; Gap-led] (archetype: Travel/commute electric heated lunch bag / box; full combination: Type: electric heated · Dishwasher/microwave safe: not stated · Vibe: plain · Travel/commute: yes); example Cordless Electric Lunch Box, 18000mAh Rechargeable Self-Heating Lunch  $59.99; nearest Staples item: Thermos FUNtainer Food Jar Stainless Steel Insulated Food Ja; skipped: R2-R3 bento box: same idea as R1
Clocks: #1 Statement oversized wall clock [deepen; Strong] (archetype: Statement wall clock; full combination: Colour tone: pattern · Type: wall · Silent: not stated · Statement: yes); example Poinsettias Contemporary Fusion - Floral Oversized Wood Wall Clock $96.99; nearest Staples item: La Crosse Technology Red Digital LED Wall Clock with Indoor  | #4 Wood pendulum wall clock [add; Gap-led] (archetype: Wood pendulum clock; full combination: Material: wood · Type: pendulum · Statement: not stated · Corporate office: not stated); example Two-Tone Wavy Floral Pendulum Wooden Wall Clocks $309.99; nearest Staples item: La Crosse Clock 12" Dark Sierra Wood Analog Quartz Wall Cloc; skipped: R2-R3 patterned / floral wall clocks: same idea as R1
Partitions: #1 Decorative folding screen (under $150) [add; Strong] (archetype: Folding screen divider; full combination: Colour: beige/cream · Type: folding screen · Design: plain · Natural/woven: not stated); example Folding Room Divider Screen 8 Panel 5.6 ' Tall Privacy Screen Freestan $139.99; nearest Staples item: Luxor Freestanding 3-Panel Mobile Magnetic Whiteboard Room D | #4 Natural rattan / woven folding screen [add; Vector-led] (archetype: Natural/woven folding screen divider; full combination: Colour: beige/cream · Type: folding screen · Natural/woven: yes · Residential living: not stated); example bali &amp; pari Kiyoko Natural Rattan Room Divider - Handwoven Wicker Tri- $299.99; nearest Staples item: Luxor Freestanding 3-Panel Mobile Magnetic Whiteboard Room D; skipped: R2-R3 folding screen dividers: same idea as R1
Coffee Organizers: #1 Bamboo / wood K-Cup pod drawer [add; Strong] (archetype: Wood/bamboo K-Cup pod drawer coffee organizer; full combination: Material: wood/bamboo · Colour: brown/wood · Type: pod drawer · Pods: k-cup); example HTB K Cup Holder Compatible Coffee Pod Storage Drawer, Wood Brown $35.89; nearest Staples item: Keurig® K-Cycle® K-Cup® Pod Recycling &amp; Composting Program B | #4 Bamboo Nespresso pod drawer [add; Gap-led] (archetype: Wood/bamboo Nespresso pod drawer coffee organizer; full combination: Material: wood/bamboo · Colour: brown/wood · Type: pod drawer · Pods: nespresso); example Bamboo Coffee Pod Drawer Compatible with Nespresso Vertuo Capsule $42.99; nearest Staples item: Mind Reader 11 Compartment Wood Coffee Organizer, Brown (COM; skipped: R2 metal K-Cup pod drawer: Staples already sells a Keurig metal pod drawer; R3 K-Cup station organizer: priced at 0.36x Staples' nearest item (undercut risk) and Staples carries station organizers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full engagement: the PoC proves the engine on 9 nodes with external data only. Phase 2 adds Staples' internal data and every category; Phase 3 makes it an always-on engine.
(1) With internal data: demand-weighted prioritisation (join sales, traffic and search to archetypes; re-rank by expected GMV and commission); customer-segment targeting (profile SMB vs home buyers, RFM and basket mix, cluster and map to archetypes and to Hero / Probable / Non-Hero); automated seller-listing vetting (the same attribute and archetype engine scores every marketplace submission for fit, sales-weighted cannibalisation and price, feeding an approve / review / reject queue so curation scales beyond manual review).
(2) Beyond assortment gaps: search-gap mining (zero-result and high-exit searches mapped to archetypes feed recruiting); basket completion (market-basket analysis finds missing complements such as Back-to-School kits; target 1–2 attach items per order); always-on market radar (monthly crawls of more competitors, image-based design scoring, social and search trends, demand forecasting for Explore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next steps: calibrate thresholds with merchants (the decision tree and gates use weakly supervised thresholds until then), review the top picks with category managers, start seller outreach with brands that already sell on Staples, and pilot in 2–3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3.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mazon.com/dp/B0H3KZBZK7" TargetMode="External"/><Relationship Id="rId2" Type="http://schemas.openxmlformats.org/officeDocument/2006/relationships/hyperlink" Target="https://www.amazon.com/dp/B0H3KZBZK7" TargetMode="External"/><Relationship Id="rId3" Type="http://schemas.openxmlformats.org/officeDocument/2006/relationships/hyperlink" Target="https://www.amazon.com/dp/B08GJS2RTN" TargetMode="External"/><Relationship Id="rId4" Type="http://schemas.openxmlformats.org/officeDocument/2006/relationships/hyperlink" Target="https://www.amazon.com/dp/B08GJS2RTN" TargetMode="External"/><Relationship Id="rId5" Type="http://schemas.openxmlformats.org/officeDocument/2006/relationships/hyperlink" Target="https://www.amazon.com/dp/B0GF38Q254" TargetMode="External"/><Relationship Id="rId6" Type="http://schemas.openxmlformats.org/officeDocument/2006/relationships/hyperlink" Target="https://www.amazon.com/dp/B0GF38Q254" TargetMode="External"/><Relationship Id="rId7" Type="http://schemas.openxmlformats.org/officeDocument/2006/relationships/hyperlink" Target="https://www.amazon.com/dp/B0GTLKQ4BM" TargetMode="External"/><Relationship Id="rId8" Type="http://schemas.openxmlformats.org/officeDocument/2006/relationships/hyperlink" Target="https://www.amazon.com/dp/B0GTLKQ4BM" TargetMode="External"/><Relationship Id="rId9" Type="http://schemas.openxmlformats.org/officeDocument/2006/relationships/hyperlink" Target="https://www.wayfair.com/shop-product-type/pdp/inbox-zero-contemporary-home-office-computer-desk-61-height-brown-laminate-shelves-61h-leaning-desk-for-office-taupe-laminate-work-satisfaction-increase-w122093285.html" TargetMode="External"/><Relationship Id="rId10" Type="http://schemas.openxmlformats.org/officeDocument/2006/relationships/hyperlink" Target="https://www.wayfair.com/shop-product-type/pdp/inbox-zero-contemporary-home-office-computer-desk-61-height-brown-laminate-shelves-61h-leaning-desk-for-office-taupe-laminate-work-satisfaction-increase-w122093285.html" TargetMode="External"/><Relationship Id="rId11" Type="http://schemas.openxmlformats.org/officeDocument/2006/relationships/hyperlink" Target="https://www.wayfair.com/shop-product-type/pdp/gracie-oaks-home-office-table-with-grey-laminate-finish-and-black-metal-base-48l-workstation-for-office-48l-legs-storage-w121799809.html?piid=1416615713" TargetMode="External"/><Relationship Id="rId12" Type="http://schemas.openxmlformats.org/officeDocument/2006/relationships/hyperlink" Target="https://www.wayfair.com/shop-product-type/pdp/gracie-oaks-home-office-table-with-grey-laminate-finish-and-black-metal-base-48l-workstation-for-office-48l-legs-storage-w121799809.html?piid=1416615713" TargetMode="External"/><Relationship Id="rId13" Type="http://schemas.openxmlformats.org/officeDocument/2006/relationships/hyperlink" Target="https://www.wayfair.com/furniture/pdp/trent-austin-design-pettengill-tufted-distressed-genuine-top-grain-leather-accent-armchair-w009992004.html?piid=276744617" TargetMode="External"/><Relationship Id="rId14" Type="http://schemas.openxmlformats.org/officeDocument/2006/relationships/hyperlink" Target="https://www.wayfair.com/furniture/pdp/trent-austin-design-pettengill-tufted-distressed-genuine-top-grain-leather-accent-armchair-w009992004.html?piid=276744617" TargetMode="External"/><Relationship Id="rId15"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6"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7" Type="http://schemas.openxmlformats.org/officeDocument/2006/relationships/hyperlink" Target="https://www.wayfair.com/lighting/pdp/mercer41-waheed-stainless-steel-desk-lamp-w110461592.html?piid=1427026813" TargetMode="External"/><Relationship Id="rId18" Type="http://schemas.openxmlformats.org/officeDocument/2006/relationships/hyperlink" Target="https://www.wayfair.com/lighting/pdp/mercer41-waheed-stainless-steel-desk-lamp-w110461592.html?piid=1427026813" TargetMode="External"/><Relationship Id="rId19" Type="http://schemas.openxmlformats.org/officeDocument/2006/relationships/hyperlink" Target="https://www.wayfair.com/lighting/pdp/bloomsbury-market-tiffany-18-mahogany-bronze-desk-lamp-npqk5963.html" TargetMode="External"/><Relationship Id="rId20" Type="http://schemas.openxmlformats.org/officeDocument/2006/relationships/hyperlink" Target="https://www.wayfair.com/lighting/pdp/bloomsbury-market-tiffany-18-mahogany-bronze-desk-lamp-npqk5963.html" TargetMode="External"/><Relationship Id="rId21" Type="http://schemas.openxmlformats.org/officeDocument/2006/relationships/hyperlink" Target="https://www.amazon.com/dp/B0716B2ZFK" TargetMode="External"/><Relationship Id="rId22" Type="http://schemas.openxmlformats.org/officeDocument/2006/relationships/hyperlink" Target="https://www.amazon.com/dp/B0716B2ZFK" TargetMode="External"/><Relationship Id="rId23" Type="http://schemas.openxmlformats.org/officeDocument/2006/relationships/hyperlink" Target="https://www.amazon.com/dp/B0H2QG3YFG" TargetMode="External"/><Relationship Id="rId24" Type="http://schemas.openxmlformats.org/officeDocument/2006/relationships/hyperlink" Target="https://www.amazon.com/dp/B0H2QG3YFG" TargetMode="External"/><Relationship Id="rId25" Type="http://schemas.openxmlformats.org/officeDocument/2006/relationships/hyperlink" Target="https://www.wayfair.com/decor-pillows/pdp/east-urban-home-poinsettias-contemporary-fusion-floral-oversized-wood-wall-clock-w110228098.html?piid=1265712092" TargetMode="External"/><Relationship Id="rId26" Type="http://schemas.openxmlformats.org/officeDocument/2006/relationships/hyperlink" Target="https://www.wayfair.com/decor-pillows/pdp/east-urban-home-poinsettias-contemporary-fusion-floral-oversized-wood-wall-clock-w110228098.html?piid=1265712092" TargetMode="External"/><Relationship Id="rId27" Type="http://schemas.openxmlformats.org/officeDocument/2006/relationships/hyperlink" Target="https://www.wayfair.com/decor-pillows/pdp/dakota-fields-two-tone-wavy-floral-pendulum-wooden-wall-clocks-w123533345.html?piid=776711224" TargetMode="External"/><Relationship Id="rId28" Type="http://schemas.openxmlformats.org/officeDocument/2006/relationships/hyperlink" Target="https://www.wayfair.com/decor-pillows/pdp/dakota-fields-two-tone-wavy-floral-pendulum-wooden-wall-clocks-w123533345.html?piid=776711224" TargetMode="External"/><Relationship Id="rId29" Type="http://schemas.openxmlformats.org/officeDocument/2006/relationships/hyperlink" Target="https://www.wayfair.com/furniture/pdp/highland-dunes-folding-room-divider-screen-8-panel-56-tall-privacy-screen-freestanding-room-partition-beige-w123581307.html" TargetMode="External"/><Relationship Id="rId30" Type="http://schemas.openxmlformats.org/officeDocument/2006/relationships/hyperlink" Target="https://www.wayfair.com/furniture/pdp/highland-dunes-folding-room-divider-screen-8-panel-56-tall-privacy-screen-freestanding-room-partition-beige-w123581307.html" TargetMode="External"/><Relationship Id="rId31" Type="http://schemas.openxmlformats.org/officeDocument/2006/relationships/hyperlink" Target="https://www.wayfair.com/furniture/pdp/wholesale-interiors-bali-pari-kiyoko-natural-rattan-room-divider-handwoven-wicker-tri-fold-decorative-privacy-screen-with-woven-leaf-motif-w121919805.html" TargetMode="External"/><Relationship Id="rId32" Type="http://schemas.openxmlformats.org/officeDocument/2006/relationships/hyperlink" Target="https://www.wayfair.com/furniture/pdp/wholesale-interiors-bali-pari-kiyoko-natural-rattan-room-divider-handwoven-wicker-tri-fold-decorative-privacy-screen-with-woven-leaf-motif-w121919805.html" TargetMode="External"/><Relationship Id="rId33" Type="http://schemas.openxmlformats.org/officeDocument/2006/relationships/hyperlink" Target="https://www.amazon.com/dp/B0DBH21SRN" TargetMode="External"/><Relationship Id="rId34" Type="http://schemas.openxmlformats.org/officeDocument/2006/relationships/hyperlink" Target="https://www.amazon.com/dp/B0DBH21SRN" TargetMode="External"/><Relationship Id="rId35" Type="http://schemas.openxmlformats.org/officeDocument/2006/relationships/hyperlink" Target="https://www.amazon.com/dp/B0H74HQT7S" TargetMode="External"/><Relationship Id="rId36" Type="http://schemas.openxmlformats.org/officeDocument/2006/relationships/hyperlink" Target="https://www.amazon.com/dp/B0H74HQT7S" TargetMode="External"/><Relationship Id="rId37" Type="http://schemas.openxmlformats.org/officeDocument/2006/relationships/slideLayout" Target="../slideLayouts/slideLayout2.xml"/><Relationship Id="rId3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25880"/>
            <a:ext cx="6675120" cy="320040"/>
          </a:xfrm>
          <a:prstGeom prst="rect">
            <a:avLst/>
          </a:prstGeom>
          <a:noFill/>
          <a:ln/>
        </p:spPr>
        <p:txBody>
          <a:bodyPr wrap="square" lIns="0" tIns="0" rIns="0" bIns="0" rtlCol="0" anchor="t"/>
          <a:lstStyle/>
          <a:p>
            <a:pPr indent="0" marL="0">
              <a:buNone/>
            </a:pPr>
            <a:r>
              <a:rPr lang="en-US" sz="1400" b="1" spc="100" kern="0" dirty="0">
                <a:solidFill>
                  <a:srgbClr val="F5A623"/>
                </a:solidFill>
                <a:latin typeface="Calibri" pitchFamily="34" charset="0"/>
                <a:ea typeface="Calibri" pitchFamily="34" charset="-122"/>
                <a:cs typeface="Calibri" pitchFamily="34" charset="-120"/>
              </a:rPr>
              <a:t>PROOF OF CONCEPT  ·  Q1 2027 MARKETPLACE PLANNING</a:t>
            </a:r>
            <a:endParaRPr lang="en-US" sz="1400" dirty="0"/>
          </a:p>
        </p:txBody>
      </p:sp>
      <p:sp>
        <p:nvSpPr>
          <p:cNvPr id="3" name="Text 1"/>
          <p:cNvSpPr txBox="1"/>
          <p:nvPr/>
        </p:nvSpPr>
        <p:spPr>
          <a:xfrm>
            <a:off x="640080" y="1737360"/>
            <a:ext cx="6675120" cy="86868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4" name="Text 2"/>
          <p:cNvSpPr txBox="1"/>
          <p:nvPr/>
        </p:nvSpPr>
        <p:spPr>
          <a:xfrm>
            <a:off x="640080" y="260604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3429000"/>
            <a:ext cx="6309360" cy="868680"/>
          </a:xfrm>
          <a:prstGeom prst="rect">
            <a:avLst/>
          </a:prstGeom>
          <a:noFill/>
          <a:ln/>
        </p:spPr>
        <p:txBody>
          <a:bodyPr wrap="square" lIns="0" tIns="0" rIns="0" bIns="0" rtlCol="0" anchor="t"/>
          <a:lstStyle/>
          <a:p>
            <a:pPr indent="0" marL="0">
              <a:buNone/>
            </a:pPr>
            <a:r>
              <a:rPr lang="en-US" sz="1600" i="1" dirty="0">
                <a:solidFill>
                  <a:srgbClr val="E5ECF8"/>
                </a:solidFill>
                <a:latin typeface="Calibri" pitchFamily="34" charset="0"/>
                <a:ea typeface="Calibri" pitchFamily="34" charset="-122"/>
                <a:cs typeface="Calibri" pitchFamily="34" charset="-120"/>
              </a:rPr>
              <a:t>Which competitor products can Staples add through its marketplace, without cannibalising the assortment it already sells?</a:t>
            </a:r>
            <a:endParaRPr lang="en-US" sz="1600" dirty="0"/>
          </a:p>
        </p:txBody>
      </p:sp>
      <p:sp>
        <p:nvSpPr>
          <p:cNvPr id="6" name="Text 4"/>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7" name="Text 5"/>
          <p:cNvSpPr txBox="1"/>
          <p:nvPr/>
        </p:nvSpPr>
        <p:spPr>
          <a:xfrm>
            <a:off x="763524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8" name="Shape 6"/>
          <p:cNvSpPr/>
          <p:nvPr/>
        </p:nvSpPr>
        <p:spPr>
          <a:xfrm>
            <a:off x="7635240" y="1371600"/>
            <a:ext cx="1188720" cy="1280160"/>
          </a:xfrm>
          <a:prstGeom prst="roundRect">
            <a:avLst>
              <a:gd name="adj" fmla="val 9231"/>
            </a:avLst>
          </a:prstGeom>
          <a:solidFill>
            <a:srgbClr val="1C3A7A"/>
          </a:solidFill>
          <a:ln w="12700">
            <a:solidFill>
              <a:srgbClr val="1C3A7A"/>
            </a:solidFill>
            <a:prstDash val="solid"/>
          </a:ln>
        </p:spPr>
      </p:sp>
      <p:pic>
        <p:nvPicPr>
          <p:cNvPr id="9" name="Image 0" descr="preencoded.png">    </p:cNvPr>
          <p:cNvPicPr>
            <a:picLocks noChangeAspect="1"/>
          </p:cNvPicPr>
          <p:nvPr/>
        </p:nvPicPr>
        <p:blipFill>
          <a:blip r:embed="rId1"/>
          <a:stretch>
            <a:fillRect/>
          </a:stretch>
        </p:blipFill>
        <p:spPr>
          <a:xfrm>
            <a:off x="7973568" y="1536192"/>
            <a:ext cx="512064" cy="512064"/>
          </a:xfrm>
          <a:prstGeom prst="rect">
            <a:avLst/>
          </a:prstGeom>
        </p:spPr>
      </p:pic>
      <p:sp>
        <p:nvSpPr>
          <p:cNvPr id="10" name="Text 7"/>
          <p:cNvSpPr txBox="1"/>
          <p:nvPr/>
        </p:nvSpPr>
        <p:spPr>
          <a:xfrm>
            <a:off x="768096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1" name="Shape 8"/>
          <p:cNvSpPr/>
          <p:nvPr/>
        </p:nvSpPr>
        <p:spPr>
          <a:xfrm>
            <a:off x="7635240" y="2788920"/>
            <a:ext cx="1188720" cy="1280160"/>
          </a:xfrm>
          <a:prstGeom prst="roundRect">
            <a:avLst>
              <a:gd name="adj" fmla="val 9231"/>
            </a:avLst>
          </a:prstGeom>
          <a:solidFill>
            <a:srgbClr val="1C3A7A"/>
          </a:solidFill>
          <a:ln w="12700">
            <a:solidFill>
              <a:srgbClr val="1C3A7A"/>
            </a:solidFill>
            <a:prstDash val="solid"/>
          </a:ln>
        </p:spPr>
      </p:sp>
      <p:pic>
        <p:nvPicPr>
          <p:cNvPr id="12" name="Image 1" descr="preencoded.png">    </p:cNvPr>
          <p:cNvPicPr>
            <a:picLocks noChangeAspect="1"/>
          </p:cNvPicPr>
          <p:nvPr/>
        </p:nvPicPr>
        <p:blipFill>
          <a:blip r:embed="rId2"/>
          <a:stretch>
            <a:fillRect/>
          </a:stretch>
        </p:blipFill>
        <p:spPr>
          <a:xfrm>
            <a:off x="7973568" y="2953512"/>
            <a:ext cx="512064" cy="512064"/>
          </a:xfrm>
          <a:prstGeom prst="rect">
            <a:avLst/>
          </a:prstGeom>
        </p:spPr>
      </p:pic>
      <p:sp>
        <p:nvSpPr>
          <p:cNvPr id="13" name="Text 9"/>
          <p:cNvSpPr txBox="1"/>
          <p:nvPr/>
        </p:nvSpPr>
        <p:spPr>
          <a:xfrm>
            <a:off x="768096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4" name="Shape 10"/>
          <p:cNvSpPr/>
          <p:nvPr/>
        </p:nvSpPr>
        <p:spPr>
          <a:xfrm>
            <a:off x="7635240" y="4206240"/>
            <a:ext cx="1188720" cy="1280160"/>
          </a:xfrm>
          <a:prstGeom prst="roundRect">
            <a:avLst>
              <a:gd name="adj" fmla="val 9231"/>
            </a:avLst>
          </a:prstGeom>
          <a:solidFill>
            <a:srgbClr val="1C3A7A"/>
          </a:solidFill>
          <a:ln w="12700">
            <a:solidFill>
              <a:srgbClr val="1C3A7A"/>
            </a:solidFill>
            <a:prstDash val="solid"/>
          </a:ln>
        </p:spPr>
      </p:sp>
      <p:pic>
        <p:nvPicPr>
          <p:cNvPr id="15" name="Image 2" descr="preencoded.png">    </p:cNvPr>
          <p:cNvPicPr>
            <a:picLocks noChangeAspect="1"/>
          </p:cNvPicPr>
          <p:nvPr/>
        </p:nvPicPr>
        <p:blipFill>
          <a:blip r:embed="rId3"/>
          <a:stretch>
            <a:fillRect/>
          </a:stretch>
        </p:blipFill>
        <p:spPr>
          <a:xfrm>
            <a:off x="7973568" y="4370832"/>
            <a:ext cx="512064" cy="512064"/>
          </a:xfrm>
          <a:prstGeom prst="rect">
            <a:avLst/>
          </a:prstGeom>
        </p:spPr>
      </p:pic>
      <p:sp>
        <p:nvSpPr>
          <p:cNvPr id="16" name="Text 11"/>
          <p:cNvSpPr txBox="1"/>
          <p:nvPr/>
        </p:nvSpPr>
        <p:spPr>
          <a:xfrm>
            <a:off x="768096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7" name="Text 12"/>
          <p:cNvSpPr txBox="1"/>
          <p:nvPr/>
        </p:nvSpPr>
        <p:spPr>
          <a:xfrm>
            <a:off x="896112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18" name="Shape 13"/>
          <p:cNvSpPr/>
          <p:nvPr/>
        </p:nvSpPr>
        <p:spPr>
          <a:xfrm>
            <a:off x="8961120" y="1371600"/>
            <a:ext cx="1188720" cy="1280160"/>
          </a:xfrm>
          <a:prstGeom prst="roundRect">
            <a:avLst>
              <a:gd name="adj" fmla="val 9231"/>
            </a:avLst>
          </a:prstGeom>
          <a:solidFill>
            <a:srgbClr val="24498F"/>
          </a:solidFill>
          <a:ln w="12700">
            <a:solidFill>
              <a:srgbClr val="24498F"/>
            </a:solidFill>
            <a:prstDash val="solid"/>
          </a:ln>
        </p:spPr>
      </p:sp>
      <p:pic>
        <p:nvPicPr>
          <p:cNvPr id="19" name="Image 3" descr="preencoded.png">    </p:cNvPr>
          <p:cNvPicPr>
            <a:picLocks noChangeAspect="1"/>
          </p:cNvPicPr>
          <p:nvPr/>
        </p:nvPicPr>
        <p:blipFill>
          <a:blip r:embed="rId4"/>
          <a:stretch>
            <a:fillRect/>
          </a:stretch>
        </p:blipFill>
        <p:spPr>
          <a:xfrm>
            <a:off x="9299448" y="1536192"/>
            <a:ext cx="512064" cy="512064"/>
          </a:xfrm>
          <a:prstGeom prst="rect">
            <a:avLst/>
          </a:prstGeom>
        </p:spPr>
      </p:pic>
      <p:sp>
        <p:nvSpPr>
          <p:cNvPr id="20" name="Text 14"/>
          <p:cNvSpPr txBox="1"/>
          <p:nvPr/>
        </p:nvSpPr>
        <p:spPr>
          <a:xfrm>
            <a:off x="900684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1" name="Shape 15"/>
          <p:cNvSpPr/>
          <p:nvPr/>
        </p:nvSpPr>
        <p:spPr>
          <a:xfrm>
            <a:off x="8961120" y="2788920"/>
            <a:ext cx="1188720" cy="1280160"/>
          </a:xfrm>
          <a:prstGeom prst="roundRect">
            <a:avLst>
              <a:gd name="adj" fmla="val 9231"/>
            </a:avLst>
          </a:prstGeom>
          <a:solidFill>
            <a:srgbClr val="24498F"/>
          </a:solidFill>
          <a:ln w="12700">
            <a:solidFill>
              <a:srgbClr val="24498F"/>
            </a:solidFill>
            <a:prstDash val="solid"/>
          </a:ln>
        </p:spPr>
      </p:sp>
      <p:pic>
        <p:nvPicPr>
          <p:cNvPr id="22" name="Image 4" descr="preencoded.png">    </p:cNvPr>
          <p:cNvPicPr>
            <a:picLocks noChangeAspect="1"/>
          </p:cNvPicPr>
          <p:nvPr/>
        </p:nvPicPr>
        <p:blipFill>
          <a:blip r:embed="rId5"/>
          <a:stretch>
            <a:fillRect/>
          </a:stretch>
        </p:blipFill>
        <p:spPr>
          <a:xfrm>
            <a:off x="9299448" y="2953512"/>
            <a:ext cx="512064" cy="512064"/>
          </a:xfrm>
          <a:prstGeom prst="rect">
            <a:avLst/>
          </a:prstGeom>
        </p:spPr>
      </p:pic>
      <p:sp>
        <p:nvSpPr>
          <p:cNvPr id="23" name="Text 16"/>
          <p:cNvSpPr txBox="1"/>
          <p:nvPr/>
        </p:nvSpPr>
        <p:spPr>
          <a:xfrm>
            <a:off x="900684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4" name="Shape 17"/>
          <p:cNvSpPr/>
          <p:nvPr/>
        </p:nvSpPr>
        <p:spPr>
          <a:xfrm>
            <a:off x="8961120" y="4206240"/>
            <a:ext cx="1188720" cy="1280160"/>
          </a:xfrm>
          <a:prstGeom prst="roundRect">
            <a:avLst>
              <a:gd name="adj" fmla="val 9231"/>
            </a:avLst>
          </a:prstGeom>
          <a:solidFill>
            <a:srgbClr val="24498F"/>
          </a:solidFill>
          <a:ln w="12700">
            <a:solidFill>
              <a:srgbClr val="24498F"/>
            </a:solidFill>
            <a:prstDash val="solid"/>
          </a:ln>
        </p:spPr>
      </p:sp>
      <p:pic>
        <p:nvPicPr>
          <p:cNvPr id="25" name="Image 5" descr="preencoded.png">    </p:cNvPr>
          <p:cNvPicPr>
            <a:picLocks noChangeAspect="1"/>
          </p:cNvPicPr>
          <p:nvPr/>
        </p:nvPicPr>
        <p:blipFill>
          <a:blip r:embed="rId6"/>
          <a:stretch>
            <a:fillRect/>
          </a:stretch>
        </p:blipFill>
        <p:spPr>
          <a:xfrm>
            <a:off x="9299448" y="4370832"/>
            <a:ext cx="512064" cy="512064"/>
          </a:xfrm>
          <a:prstGeom prst="rect">
            <a:avLst/>
          </a:prstGeom>
        </p:spPr>
      </p:pic>
      <p:sp>
        <p:nvSpPr>
          <p:cNvPr id="26" name="Text 18"/>
          <p:cNvSpPr txBox="1"/>
          <p:nvPr/>
        </p:nvSpPr>
        <p:spPr>
          <a:xfrm>
            <a:off x="900684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27" name="Text 19"/>
          <p:cNvSpPr txBox="1"/>
          <p:nvPr/>
        </p:nvSpPr>
        <p:spPr>
          <a:xfrm>
            <a:off x="1028700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28" name="Shape 20"/>
          <p:cNvSpPr/>
          <p:nvPr/>
        </p:nvSpPr>
        <p:spPr>
          <a:xfrm>
            <a:off x="10287000" y="1371600"/>
            <a:ext cx="1188720" cy="1280160"/>
          </a:xfrm>
          <a:prstGeom prst="roundRect">
            <a:avLst>
              <a:gd name="adj" fmla="val 9231"/>
            </a:avLst>
          </a:prstGeom>
          <a:solidFill>
            <a:srgbClr val="2D5AA6"/>
          </a:solidFill>
          <a:ln w="12700">
            <a:solidFill>
              <a:srgbClr val="2D5AA6"/>
            </a:solidFill>
            <a:prstDash val="solid"/>
          </a:ln>
        </p:spPr>
      </p:sp>
      <p:pic>
        <p:nvPicPr>
          <p:cNvPr id="29" name="Image 6" descr="preencoded.png">    </p:cNvPr>
          <p:cNvPicPr>
            <a:picLocks noChangeAspect="1"/>
          </p:cNvPicPr>
          <p:nvPr/>
        </p:nvPicPr>
        <p:blipFill>
          <a:blip r:embed="rId7"/>
          <a:stretch>
            <a:fillRect/>
          </a:stretch>
        </p:blipFill>
        <p:spPr>
          <a:xfrm>
            <a:off x="10625328" y="1536192"/>
            <a:ext cx="512064" cy="512064"/>
          </a:xfrm>
          <a:prstGeom prst="rect">
            <a:avLst/>
          </a:prstGeom>
        </p:spPr>
      </p:pic>
      <p:sp>
        <p:nvSpPr>
          <p:cNvPr id="30" name="Text 21"/>
          <p:cNvSpPr txBox="1"/>
          <p:nvPr/>
        </p:nvSpPr>
        <p:spPr>
          <a:xfrm>
            <a:off x="1033272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1" name="Shape 22"/>
          <p:cNvSpPr/>
          <p:nvPr/>
        </p:nvSpPr>
        <p:spPr>
          <a:xfrm>
            <a:off x="10287000" y="2788920"/>
            <a:ext cx="1188720" cy="1280160"/>
          </a:xfrm>
          <a:prstGeom prst="roundRect">
            <a:avLst>
              <a:gd name="adj" fmla="val 9231"/>
            </a:avLst>
          </a:prstGeom>
          <a:solidFill>
            <a:srgbClr val="2D5AA6"/>
          </a:solidFill>
          <a:ln w="12700">
            <a:solidFill>
              <a:srgbClr val="2D5AA6"/>
            </a:solidFill>
            <a:prstDash val="solid"/>
          </a:ln>
        </p:spPr>
      </p:sp>
      <p:pic>
        <p:nvPicPr>
          <p:cNvPr id="32" name="Image 7" descr="preencoded.png">    </p:cNvPr>
          <p:cNvPicPr>
            <a:picLocks noChangeAspect="1"/>
          </p:cNvPicPr>
          <p:nvPr/>
        </p:nvPicPr>
        <p:blipFill>
          <a:blip r:embed="rId8"/>
          <a:stretch>
            <a:fillRect/>
          </a:stretch>
        </p:blipFill>
        <p:spPr>
          <a:xfrm>
            <a:off x="10625328" y="2953512"/>
            <a:ext cx="512064" cy="512064"/>
          </a:xfrm>
          <a:prstGeom prst="rect">
            <a:avLst/>
          </a:prstGeom>
        </p:spPr>
      </p:pic>
      <p:sp>
        <p:nvSpPr>
          <p:cNvPr id="33" name="Text 23"/>
          <p:cNvSpPr txBox="1"/>
          <p:nvPr/>
        </p:nvSpPr>
        <p:spPr>
          <a:xfrm>
            <a:off x="1033272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
        <p:nvSpPr>
          <p:cNvPr id="34" name="Shape 24"/>
          <p:cNvSpPr/>
          <p:nvPr/>
        </p:nvSpPr>
        <p:spPr>
          <a:xfrm>
            <a:off x="10287000" y="4206240"/>
            <a:ext cx="1188720" cy="1280160"/>
          </a:xfrm>
          <a:prstGeom prst="roundRect">
            <a:avLst>
              <a:gd name="adj" fmla="val 9231"/>
            </a:avLst>
          </a:prstGeom>
          <a:solidFill>
            <a:srgbClr val="2D5AA6"/>
          </a:solidFill>
          <a:ln w="12700">
            <a:solidFill>
              <a:srgbClr val="2D5AA6"/>
            </a:solidFill>
            <a:prstDash val="solid"/>
          </a:ln>
        </p:spPr>
      </p:sp>
      <p:pic>
        <p:nvPicPr>
          <p:cNvPr id="35" name="Image 8" descr="preencoded.png">    </p:cNvPr>
          <p:cNvPicPr>
            <a:picLocks noChangeAspect="1"/>
          </p:cNvPicPr>
          <p:nvPr/>
        </p:nvPicPr>
        <p:blipFill>
          <a:blip r:embed="rId9"/>
          <a:stretch>
            <a:fillRect/>
          </a:stretch>
        </p:blipFill>
        <p:spPr>
          <a:xfrm>
            <a:off x="10625328" y="4370832"/>
            <a:ext cx="512064" cy="512064"/>
          </a:xfrm>
          <a:prstGeom prst="rect">
            <a:avLst/>
          </a:prstGeom>
        </p:spPr>
      </p:pic>
      <p:sp>
        <p:nvSpPr>
          <p:cNvPr id="36" name="Text 25"/>
          <p:cNvSpPr txBox="1"/>
          <p:nvPr/>
        </p:nvSpPr>
        <p:spPr>
          <a:xfrm>
            <a:off x="1033272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Business Problem &amp; Our Approach</a:t>
            </a:r>
            <a:endParaRPr lang="en-US" sz="2800" dirty="0"/>
          </a:p>
        </p:txBody>
      </p:sp>
      <p:sp>
        <p:nvSpPr>
          <p:cNvPr id="3" name="Shape 1"/>
          <p:cNvSpPr/>
          <p:nvPr/>
        </p:nvSpPr>
        <p:spPr>
          <a:xfrm>
            <a:off x="411480" y="1188720"/>
            <a:ext cx="2377440" cy="548640"/>
          </a:xfrm>
          <a:prstGeom prst="roundRect">
            <a:avLst>
              <a:gd name="adj" fmla="val 16667"/>
            </a:avLst>
          </a:prstGeom>
          <a:solidFill>
            <a:srgbClr val="B9CEF2"/>
          </a:solidFill>
          <a:ln w="12700">
            <a:solidFill>
              <a:srgbClr val="B9CEF2"/>
            </a:solidFill>
            <a:prstDash val="solid"/>
          </a:ln>
        </p:spPr>
      </p:sp>
      <p:sp>
        <p:nvSpPr>
          <p:cNvPr id="4" name="Text 2"/>
          <p:cNvSpPr txBox="1"/>
          <p:nvPr/>
        </p:nvSpPr>
        <p:spPr>
          <a:xfrm>
            <a:off x="411480" y="1188720"/>
            <a:ext cx="2377440"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Business Problem</a:t>
            </a:r>
            <a:endParaRPr lang="en-US" sz="1600" dirty="0"/>
          </a:p>
        </p:txBody>
      </p:sp>
      <p:sp>
        <p:nvSpPr>
          <p:cNvPr id="5" name="Shape 3"/>
          <p:cNvSpPr/>
          <p:nvPr/>
        </p:nvSpPr>
        <p:spPr>
          <a:xfrm>
            <a:off x="1143000" y="1874520"/>
            <a:ext cx="914400" cy="914400"/>
          </a:xfrm>
          <a:prstGeom prst="ellipse">
            <a:avLst/>
          </a:prstGeom>
          <a:solidFill>
            <a:srgbClr val="EEF3FB"/>
          </a:solidFill>
          <a:ln w="25400">
            <a:solidFill>
              <a:srgbClr val="8FB0E8"/>
            </a:solidFill>
            <a:prstDash val="solid"/>
          </a:ln>
        </p:spPr>
      </p:sp>
      <p:pic>
        <p:nvPicPr>
          <p:cNvPr id="6" name="Image 0" descr="preencoded.png">    </p:cNvPr>
          <p:cNvPicPr>
            <a:picLocks noChangeAspect="1"/>
          </p:cNvPicPr>
          <p:nvPr/>
        </p:nvPicPr>
        <p:blipFill>
          <a:blip r:embed="rId1"/>
          <a:stretch>
            <a:fillRect/>
          </a:stretch>
        </p:blipFill>
        <p:spPr>
          <a:xfrm>
            <a:off x="1371600" y="2103120"/>
            <a:ext cx="457200" cy="457200"/>
          </a:xfrm>
          <a:prstGeom prst="rect">
            <a:avLst/>
          </a:prstGeom>
        </p:spPr>
      </p:pic>
      <p:sp>
        <p:nvSpPr>
          <p:cNvPr id="7" name="Shape 4"/>
          <p:cNvSpPr/>
          <p:nvPr/>
        </p:nvSpPr>
        <p:spPr>
          <a:xfrm>
            <a:off x="411480" y="2926080"/>
            <a:ext cx="2377440" cy="960120"/>
          </a:xfrm>
          <a:prstGeom prst="roundRect">
            <a:avLst>
              <a:gd name="adj" fmla="val 11429"/>
            </a:avLst>
          </a:prstGeom>
          <a:solidFill>
            <a:srgbClr val="DCE7F8"/>
          </a:solidFill>
          <a:ln w="12700">
            <a:solidFill>
              <a:srgbClr val="DCE7F8"/>
            </a:solidFill>
            <a:prstDash val="solid"/>
          </a:ln>
        </p:spPr>
      </p:sp>
      <p:sp>
        <p:nvSpPr>
          <p:cNvPr id="8" name="Text 5"/>
          <p:cNvSpPr txBox="1"/>
          <p:nvPr/>
        </p:nvSpPr>
        <p:spPr>
          <a:xfrm>
            <a:off x="548640" y="292608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Grow a </a:t>
            </a:r>
            <a:pPr algn="ctr" indent="0" marL="0">
              <a:buNone/>
            </a:pPr>
            <a:r>
              <a:rPr lang="en-US" sz="1200" b="1" dirty="0">
                <a:solidFill>
                  <a:srgbClr val="13285B"/>
                </a:solidFill>
                <a:latin typeface="Calibri" pitchFamily="34" charset="0"/>
                <a:ea typeface="Calibri" pitchFamily="34" charset="-122"/>
                <a:cs typeface="Calibri" pitchFamily="34" charset="-120"/>
              </a:rPr>
              <a:t>curated</a:t>
            </a:r>
            <a:pPr algn="ctr" indent="0" marL="0">
              <a:buNone/>
            </a:pPr>
            <a:r>
              <a:rPr lang="en-US" sz="1200" dirty="0">
                <a:solidFill>
                  <a:srgbClr val="13285B"/>
                </a:solidFill>
                <a:latin typeface="Calibri" pitchFamily="34" charset="0"/>
                <a:ea typeface="Calibri" pitchFamily="34" charset="-122"/>
                <a:cs typeface="Calibri" pitchFamily="34" charset="-120"/>
              </a:rPr>
              <a:t> marketplace that extends Staples' core, not a full-category dump</a:t>
            </a:r>
            <a:endParaRPr lang="en-US" sz="1200" dirty="0"/>
          </a:p>
        </p:txBody>
      </p:sp>
      <p:sp>
        <p:nvSpPr>
          <p:cNvPr id="9" name="Shape 6"/>
          <p:cNvSpPr/>
          <p:nvPr/>
        </p:nvSpPr>
        <p:spPr>
          <a:xfrm>
            <a:off x="411480" y="4023360"/>
            <a:ext cx="2377440" cy="960120"/>
          </a:xfrm>
          <a:prstGeom prst="roundRect">
            <a:avLst>
              <a:gd name="adj" fmla="val 11429"/>
            </a:avLst>
          </a:prstGeom>
          <a:solidFill>
            <a:srgbClr val="DCE7F8"/>
          </a:solidFill>
          <a:ln w="12700">
            <a:solidFill>
              <a:srgbClr val="DCE7F8"/>
            </a:solidFill>
            <a:prstDash val="solid"/>
          </a:ln>
        </p:spPr>
      </p:sp>
      <p:sp>
        <p:nvSpPr>
          <p:cNvPr id="10" name="Text 7"/>
          <p:cNvSpPr txBox="1"/>
          <p:nvPr/>
        </p:nvSpPr>
        <p:spPr>
          <a:xfrm>
            <a:off x="548640" y="402336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Protect 1P:</a:t>
            </a:r>
            <a:pPr algn="ctr" indent="0" marL="0">
              <a:buNone/>
            </a:pPr>
            <a:r>
              <a:rPr lang="en-US" sz="1200" dirty="0">
                <a:solidFill>
                  <a:srgbClr val="13285B"/>
                </a:solidFill>
                <a:latin typeface="Calibri" pitchFamily="34" charset="0"/>
                <a:ea typeface="Calibri" pitchFamily="34" charset="-122"/>
                <a:cs typeface="Calibri" pitchFamily="34" charset="-120"/>
              </a:rPr>
              <a:t> add only true whitespace that will not cannibalise what Staples already sells</a:t>
            </a:r>
            <a:endParaRPr lang="en-US" sz="1200" dirty="0"/>
          </a:p>
        </p:txBody>
      </p:sp>
      <p:sp>
        <p:nvSpPr>
          <p:cNvPr id="11" name="Shape 8"/>
          <p:cNvSpPr/>
          <p:nvPr/>
        </p:nvSpPr>
        <p:spPr>
          <a:xfrm>
            <a:off x="411480" y="5120640"/>
            <a:ext cx="2377440" cy="960120"/>
          </a:xfrm>
          <a:prstGeom prst="roundRect">
            <a:avLst>
              <a:gd name="adj" fmla="val 11429"/>
            </a:avLst>
          </a:prstGeom>
          <a:solidFill>
            <a:srgbClr val="DCE7F8"/>
          </a:solidFill>
          <a:ln w="12700">
            <a:solidFill>
              <a:srgbClr val="DCE7F8"/>
            </a:solidFill>
            <a:prstDash val="solid"/>
          </a:ln>
        </p:spPr>
      </p:sp>
      <p:sp>
        <p:nvSpPr>
          <p:cNvPr id="12" name="Text 9"/>
          <p:cNvSpPr txBox="1"/>
          <p:nvPr/>
        </p:nvSpPr>
        <p:spPr>
          <a:xfrm>
            <a:off x="548640" y="512064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Decide with </a:t>
            </a:r>
            <a:pPr algn="ctr" indent="0" marL="0">
              <a:buNone/>
            </a:pPr>
            <a:r>
              <a:rPr lang="en-US" sz="1200" b="1" dirty="0">
                <a:solidFill>
                  <a:srgbClr val="13285B"/>
                </a:solidFill>
                <a:latin typeface="Calibri" pitchFamily="34" charset="0"/>
                <a:ea typeface="Calibri" pitchFamily="34" charset="-122"/>
                <a:cs typeface="Calibri" pitchFamily="34" charset="-120"/>
              </a:rPr>
              <a:t>external data only:</a:t>
            </a:r>
            <a:pPr algn="ctr" indent="0" marL="0">
              <a:buNone/>
            </a:pPr>
            <a:r>
              <a:rPr lang="en-US" sz="1200" dirty="0">
                <a:solidFill>
                  <a:srgbClr val="13285B"/>
                </a:solidFill>
                <a:latin typeface="Calibri" pitchFamily="34" charset="0"/>
                <a:ea typeface="Calibri" pitchFamily="34" charset="-122"/>
                <a:cs typeface="Calibri" pitchFamily="34" charset="-120"/>
              </a:rPr>
              <a:t> Staples.com, Amazon and Wayfair listings</a:t>
            </a:r>
            <a:endParaRPr lang="en-US" sz="1200" dirty="0"/>
          </a:p>
        </p:txBody>
      </p:sp>
      <p:sp>
        <p:nvSpPr>
          <p:cNvPr id="13" name="Shape 10"/>
          <p:cNvSpPr/>
          <p:nvPr/>
        </p:nvSpPr>
        <p:spPr>
          <a:xfrm>
            <a:off x="3017520" y="1188720"/>
            <a:ext cx="6153912" cy="548640"/>
          </a:xfrm>
          <a:prstGeom prst="roundRect">
            <a:avLst>
              <a:gd name="adj" fmla="val 16667"/>
            </a:avLst>
          </a:prstGeom>
          <a:solidFill>
            <a:srgbClr val="B9CEF2"/>
          </a:solidFill>
          <a:ln w="12700">
            <a:solidFill>
              <a:srgbClr val="B9CEF2"/>
            </a:solidFill>
            <a:prstDash val="solid"/>
          </a:ln>
        </p:spPr>
      </p:sp>
      <p:sp>
        <p:nvSpPr>
          <p:cNvPr id="14" name="Text 11"/>
          <p:cNvSpPr txBox="1"/>
          <p:nvPr/>
        </p:nvSpPr>
        <p:spPr>
          <a:xfrm>
            <a:off x="3017520" y="1188720"/>
            <a:ext cx="6153912"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Solving What Matters: Gaps, Safety &amp; Sourcing</a:t>
            </a:r>
            <a:endParaRPr lang="en-US" sz="1600" dirty="0"/>
          </a:p>
        </p:txBody>
      </p:sp>
      <p:sp>
        <p:nvSpPr>
          <p:cNvPr id="15" name="Shape 12"/>
          <p:cNvSpPr/>
          <p:nvPr/>
        </p:nvSpPr>
        <p:spPr>
          <a:xfrm>
            <a:off x="3063240" y="1965960"/>
            <a:ext cx="566928" cy="566928"/>
          </a:xfrm>
          <a:prstGeom prst="ellipse">
            <a:avLst/>
          </a:prstGeom>
          <a:solidFill>
            <a:srgbClr val="1F4E9A"/>
          </a:solidFill>
          <a:ln w="12700">
            <a:solidFill>
              <a:srgbClr val="1F4E9A"/>
            </a:solidFill>
            <a:prstDash val="solid"/>
          </a:ln>
        </p:spPr>
      </p:sp>
      <p:pic>
        <p:nvPicPr>
          <p:cNvPr id="16" name="Image 1" descr="preencoded.png">    </p:cNvPr>
          <p:cNvPicPr>
            <a:picLocks noChangeAspect="1"/>
          </p:cNvPicPr>
          <p:nvPr/>
        </p:nvPicPr>
        <p:blipFill>
          <a:blip r:embed="rId2"/>
          <a:stretch>
            <a:fillRect/>
          </a:stretch>
        </p:blipFill>
        <p:spPr>
          <a:xfrm>
            <a:off x="3187964" y="2090684"/>
            <a:ext cx="317480" cy="317480"/>
          </a:xfrm>
          <a:prstGeom prst="rect">
            <a:avLst/>
          </a:prstGeom>
        </p:spPr>
      </p:pic>
      <p:sp>
        <p:nvSpPr>
          <p:cNvPr id="17" name="Text 13"/>
          <p:cNvSpPr txBox="1"/>
          <p:nvPr/>
        </p:nvSpPr>
        <p:spPr>
          <a:xfrm>
            <a:off x="2971800" y="25694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Who?</a:t>
            </a:r>
            <a:endParaRPr lang="en-US" sz="1200" dirty="0"/>
          </a:p>
        </p:txBody>
      </p:sp>
      <p:sp>
        <p:nvSpPr>
          <p:cNvPr id="18" name="Text 14"/>
          <p:cNvSpPr txBox="1"/>
          <p:nvPr/>
        </p:nvSpPr>
        <p:spPr>
          <a:xfrm>
            <a:off x="3794760" y="19202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Stakeholders</a:t>
            </a:r>
            <a:endParaRPr lang="en-US" sz="1400" dirty="0"/>
          </a:p>
        </p:txBody>
      </p:sp>
      <p:sp>
        <p:nvSpPr>
          <p:cNvPr id="19" name="Text 15"/>
          <p:cNvSpPr txBox="1"/>
          <p:nvPr/>
        </p:nvSpPr>
        <p:spPr>
          <a:xfrm>
            <a:off x="3794760" y="22585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Head of Staples Marketplace</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Category &amp; merchandising teams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Marketplace seller recruitment</a:t>
            </a:r>
            <a:endParaRPr lang="en-US" sz="1150" dirty="0"/>
          </a:p>
        </p:txBody>
      </p:sp>
      <p:sp>
        <p:nvSpPr>
          <p:cNvPr id="20" name="Shape 16"/>
          <p:cNvSpPr/>
          <p:nvPr/>
        </p:nvSpPr>
        <p:spPr>
          <a:xfrm>
            <a:off x="6185916" y="1965960"/>
            <a:ext cx="566928" cy="566928"/>
          </a:xfrm>
          <a:prstGeom prst="ellipse">
            <a:avLst/>
          </a:prstGeom>
          <a:solidFill>
            <a:srgbClr val="1F4E9A"/>
          </a:solidFill>
          <a:ln w="12700">
            <a:solidFill>
              <a:srgbClr val="1F4E9A"/>
            </a:solidFill>
            <a:prstDash val="solid"/>
          </a:ln>
        </p:spPr>
      </p:sp>
      <p:pic>
        <p:nvPicPr>
          <p:cNvPr id="21" name="Image 2" descr="preencoded.png">    </p:cNvPr>
          <p:cNvPicPr>
            <a:picLocks noChangeAspect="1"/>
          </p:cNvPicPr>
          <p:nvPr/>
        </p:nvPicPr>
        <p:blipFill>
          <a:blip r:embed="rId3"/>
          <a:stretch>
            <a:fillRect/>
          </a:stretch>
        </p:blipFill>
        <p:spPr>
          <a:xfrm>
            <a:off x="6310640" y="2090684"/>
            <a:ext cx="317480" cy="317480"/>
          </a:xfrm>
          <a:prstGeom prst="rect">
            <a:avLst/>
          </a:prstGeom>
        </p:spPr>
      </p:pic>
      <p:sp>
        <p:nvSpPr>
          <p:cNvPr id="22" name="Text 17"/>
          <p:cNvSpPr txBox="1"/>
          <p:nvPr/>
        </p:nvSpPr>
        <p:spPr>
          <a:xfrm>
            <a:off x="6094476" y="25694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What?</a:t>
            </a:r>
            <a:endParaRPr lang="en-US" sz="1200" dirty="0"/>
          </a:p>
        </p:txBody>
      </p:sp>
      <p:sp>
        <p:nvSpPr>
          <p:cNvPr id="23" name="Text 18"/>
          <p:cNvSpPr txBox="1"/>
          <p:nvPr/>
        </p:nvSpPr>
        <p:spPr>
          <a:xfrm>
            <a:off x="6917436" y="19202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Archetype gap engine</a:t>
            </a:r>
            <a:endParaRPr lang="en-US" sz="1400" dirty="0"/>
          </a:p>
        </p:txBody>
      </p:sp>
      <p:sp>
        <p:nvSpPr>
          <p:cNvPr id="24" name="Text 19"/>
          <p:cNvSpPr txBox="1"/>
          <p:nvPr/>
        </p:nvSpPr>
        <p:spPr>
          <a:xfrm>
            <a:off x="6917436" y="22585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For each Staples node, find the product archetypes the leading competitor carries that Staples lacks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Check every one for cannibalisation and fit</a:t>
            </a:r>
            <a:endParaRPr lang="en-US" sz="1150" dirty="0"/>
          </a:p>
        </p:txBody>
      </p:sp>
      <p:sp>
        <p:nvSpPr>
          <p:cNvPr id="25" name="Shape 20"/>
          <p:cNvSpPr/>
          <p:nvPr/>
        </p:nvSpPr>
        <p:spPr>
          <a:xfrm>
            <a:off x="3063240" y="3794760"/>
            <a:ext cx="566928" cy="566928"/>
          </a:xfrm>
          <a:prstGeom prst="ellipse">
            <a:avLst/>
          </a:prstGeom>
          <a:solidFill>
            <a:srgbClr val="1F4E9A"/>
          </a:solidFill>
          <a:ln w="12700">
            <a:solidFill>
              <a:srgbClr val="1F4E9A"/>
            </a:solidFill>
            <a:prstDash val="solid"/>
          </a:ln>
        </p:spPr>
      </p:sp>
      <p:pic>
        <p:nvPicPr>
          <p:cNvPr id="26" name="Image 3" descr="preencoded.png">    </p:cNvPr>
          <p:cNvPicPr>
            <a:picLocks noChangeAspect="1"/>
          </p:cNvPicPr>
          <p:nvPr/>
        </p:nvPicPr>
        <p:blipFill>
          <a:blip r:embed="rId4"/>
          <a:stretch>
            <a:fillRect/>
          </a:stretch>
        </p:blipFill>
        <p:spPr>
          <a:xfrm>
            <a:off x="3187964" y="3919484"/>
            <a:ext cx="317480" cy="317480"/>
          </a:xfrm>
          <a:prstGeom prst="rect">
            <a:avLst/>
          </a:prstGeom>
        </p:spPr>
      </p:pic>
      <p:sp>
        <p:nvSpPr>
          <p:cNvPr id="27" name="Text 21"/>
          <p:cNvSpPr txBox="1"/>
          <p:nvPr/>
        </p:nvSpPr>
        <p:spPr>
          <a:xfrm>
            <a:off x="2971800" y="43982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With?</a:t>
            </a:r>
            <a:endParaRPr lang="en-US" sz="1200" dirty="0"/>
          </a:p>
        </p:txBody>
      </p:sp>
      <p:sp>
        <p:nvSpPr>
          <p:cNvPr id="28" name="Text 22"/>
          <p:cNvSpPr txBox="1"/>
          <p:nvPr/>
        </p:nvSpPr>
        <p:spPr>
          <a:xfrm>
            <a:off x="3794760" y="37490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Engagement</a:t>
            </a:r>
            <a:endParaRPr lang="en-US" sz="1400" dirty="0"/>
          </a:p>
        </p:txBody>
      </p:sp>
      <p:sp>
        <p:nvSpPr>
          <p:cNvPr id="29" name="Text 23"/>
          <p:cNvSpPr txBox="1"/>
          <p:nvPr/>
        </p:nvSpPr>
        <p:spPr>
          <a:xfrm>
            <a:off x="3794760" y="40873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9 nodes chosen jointly across Hero, Probable and Non-Hero segments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Merchant calibration of thresholds (next step)</a:t>
            </a:r>
            <a:endParaRPr lang="en-US" sz="1150" dirty="0"/>
          </a:p>
        </p:txBody>
      </p:sp>
      <p:sp>
        <p:nvSpPr>
          <p:cNvPr id="30" name="Shape 24"/>
          <p:cNvSpPr/>
          <p:nvPr/>
        </p:nvSpPr>
        <p:spPr>
          <a:xfrm>
            <a:off x="6185916" y="3794760"/>
            <a:ext cx="566928" cy="566928"/>
          </a:xfrm>
          <a:prstGeom prst="ellipse">
            <a:avLst/>
          </a:prstGeom>
          <a:solidFill>
            <a:srgbClr val="1F4E9A"/>
          </a:solidFill>
          <a:ln w="12700">
            <a:solidFill>
              <a:srgbClr val="1F4E9A"/>
            </a:solidFill>
            <a:prstDash val="solid"/>
          </a:ln>
        </p:spPr>
      </p:sp>
      <p:pic>
        <p:nvPicPr>
          <p:cNvPr id="31" name="Image 4" descr="preencoded.png">    </p:cNvPr>
          <p:cNvPicPr>
            <a:picLocks noChangeAspect="1"/>
          </p:cNvPicPr>
          <p:nvPr/>
        </p:nvPicPr>
        <p:blipFill>
          <a:blip r:embed="rId5"/>
          <a:stretch>
            <a:fillRect/>
          </a:stretch>
        </p:blipFill>
        <p:spPr>
          <a:xfrm>
            <a:off x="6310640" y="3919484"/>
            <a:ext cx="317480" cy="317480"/>
          </a:xfrm>
          <a:prstGeom prst="rect">
            <a:avLst/>
          </a:prstGeom>
        </p:spPr>
      </p:pic>
      <p:sp>
        <p:nvSpPr>
          <p:cNvPr id="32" name="Text 25"/>
          <p:cNvSpPr txBox="1"/>
          <p:nvPr/>
        </p:nvSpPr>
        <p:spPr>
          <a:xfrm>
            <a:off x="6094476" y="43982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How?</a:t>
            </a:r>
            <a:endParaRPr lang="en-US" sz="1200" dirty="0"/>
          </a:p>
        </p:txBody>
      </p:sp>
      <p:sp>
        <p:nvSpPr>
          <p:cNvPr id="33" name="Text 26"/>
          <p:cNvSpPr txBox="1"/>
          <p:nvPr/>
        </p:nvSpPr>
        <p:spPr>
          <a:xfrm>
            <a:off x="6917436" y="37490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Key solution components</a:t>
            </a:r>
            <a:endParaRPr lang="en-US" sz="1400" dirty="0"/>
          </a:p>
        </p:txBody>
      </p:sp>
      <p:sp>
        <p:nvSpPr>
          <p:cNvPr id="34" name="Text 27"/>
          <p:cNvSpPr txBox="1"/>
          <p:nvPr/>
        </p:nvSpPr>
        <p:spPr>
          <a:xfrm>
            <a:off x="6917436" y="40873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Cross-retailer product-family matching</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3-tier attributes: function, look, lifestyle</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Archetypes of 4–6 attributes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Two scoring methods + safety gates</a:t>
            </a:r>
            <a:endParaRPr lang="en-US" sz="1150" dirty="0"/>
          </a:p>
        </p:txBody>
      </p:sp>
      <p:sp>
        <p:nvSpPr>
          <p:cNvPr id="35" name="Text 28"/>
          <p:cNvSpPr txBox="1"/>
          <p:nvPr/>
        </p:nvSpPr>
        <p:spPr>
          <a:xfrm>
            <a:off x="3017520" y="5559552"/>
            <a:ext cx="6153912" cy="237744"/>
          </a:xfrm>
          <a:prstGeom prst="rect">
            <a:avLst/>
          </a:prstGeom>
          <a:noFill/>
          <a:ln/>
        </p:spPr>
        <p:txBody>
          <a:bodyPr wrap="square" lIns="0" tIns="0" rIns="0" bIns="0" rtlCol="0" anchor="t"/>
          <a:lstStyle/>
          <a:p>
            <a:pPr algn="ctr" indent="0" marL="0">
              <a:buNone/>
            </a:pPr>
            <a:r>
              <a:rPr lang="en-US" sz="1100" b="1" dirty="0">
                <a:solidFill>
                  <a:srgbClr val="5B6475"/>
                </a:solidFill>
                <a:latin typeface="Calibri" pitchFamily="34" charset="0"/>
                <a:ea typeface="Calibri" pitchFamily="34" charset="-122"/>
                <a:cs typeface="Calibri" pitchFamily="34" charset="-120"/>
              </a:rPr>
              <a:t>Solution approach</a:t>
            </a:r>
            <a:endParaRPr lang="en-US" sz="1100" dirty="0"/>
          </a:p>
        </p:txBody>
      </p:sp>
      <p:sp>
        <p:nvSpPr>
          <p:cNvPr id="36" name="Shape 29"/>
          <p:cNvSpPr/>
          <p:nvPr/>
        </p:nvSpPr>
        <p:spPr>
          <a:xfrm>
            <a:off x="3017520" y="5815584"/>
            <a:ext cx="2161032" cy="530352"/>
          </a:xfrm>
          <a:prstGeom prst="homePlate">
            <a:avLst/>
          </a:prstGeom>
          <a:solidFill>
            <a:srgbClr val="2F5DAA"/>
          </a:solidFill>
          <a:ln w="12700">
            <a:solidFill>
              <a:srgbClr val="2F5DAA"/>
            </a:solidFill>
            <a:prstDash val="solid"/>
          </a:ln>
        </p:spPr>
      </p:sp>
      <p:sp>
        <p:nvSpPr>
          <p:cNvPr id="37" name="Text 30"/>
          <p:cNvSpPr txBox="1"/>
          <p:nvPr/>
        </p:nvSpPr>
        <p:spPr>
          <a:xfrm>
            <a:off x="3108960" y="5815584"/>
            <a:ext cx="179527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Extract &amp; Map</a:t>
            </a:r>
            <a:endParaRPr lang="en-US" sz="1200" dirty="0"/>
          </a:p>
        </p:txBody>
      </p:sp>
      <p:sp>
        <p:nvSpPr>
          <p:cNvPr id="38" name="Shape 31"/>
          <p:cNvSpPr/>
          <p:nvPr/>
        </p:nvSpPr>
        <p:spPr>
          <a:xfrm>
            <a:off x="5013960" y="5815584"/>
            <a:ext cx="2161032" cy="530352"/>
          </a:xfrm>
          <a:prstGeom prst="chevron">
            <a:avLst/>
          </a:prstGeom>
          <a:solidFill>
            <a:srgbClr val="5A82C8"/>
          </a:solidFill>
          <a:ln w="12700">
            <a:solidFill>
              <a:srgbClr val="5A82C8"/>
            </a:solidFill>
            <a:prstDash val="solid"/>
          </a:ln>
        </p:spPr>
      </p:sp>
      <p:sp>
        <p:nvSpPr>
          <p:cNvPr id="39" name="Text 32"/>
          <p:cNvSpPr txBox="1"/>
          <p:nvPr/>
        </p:nvSpPr>
        <p:spPr>
          <a:xfrm>
            <a:off x="5288280" y="5815584"/>
            <a:ext cx="170383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Attribute &amp; Archetype</a:t>
            </a:r>
            <a:endParaRPr lang="en-US" sz="1200" dirty="0"/>
          </a:p>
        </p:txBody>
      </p:sp>
      <p:sp>
        <p:nvSpPr>
          <p:cNvPr id="40" name="Shape 33"/>
          <p:cNvSpPr/>
          <p:nvPr/>
        </p:nvSpPr>
        <p:spPr>
          <a:xfrm>
            <a:off x="7065264" y="5815584"/>
            <a:ext cx="2161032" cy="530352"/>
          </a:xfrm>
          <a:prstGeom prst="chevron">
            <a:avLst/>
          </a:prstGeom>
          <a:solidFill>
            <a:srgbClr val="8FAEE0"/>
          </a:solidFill>
          <a:ln w="12700">
            <a:solidFill>
              <a:srgbClr val="8FAEE0"/>
            </a:solidFill>
            <a:prstDash val="solid"/>
          </a:ln>
        </p:spPr>
      </p:sp>
      <p:sp>
        <p:nvSpPr>
          <p:cNvPr id="41" name="Text 34"/>
          <p:cNvSpPr txBox="1"/>
          <p:nvPr/>
        </p:nvSpPr>
        <p:spPr>
          <a:xfrm>
            <a:off x="7339584" y="5815584"/>
            <a:ext cx="1703832" cy="530352"/>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Score, Gate &amp; Recommend</a:t>
            </a:r>
            <a:endParaRPr lang="en-US" sz="1200" dirty="0"/>
          </a:p>
        </p:txBody>
      </p:sp>
      <p:sp>
        <p:nvSpPr>
          <p:cNvPr id="42" name="Shape 35"/>
          <p:cNvSpPr/>
          <p:nvPr/>
        </p:nvSpPr>
        <p:spPr>
          <a:xfrm>
            <a:off x="9400032" y="1188720"/>
            <a:ext cx="2377440" cy="548640"/>
          </a:xfrm>
          <a:prstGeom prst="roundRect">
            <a:avLst>
              <a:gd name="adj" fmla="val 16667"/>
            </a:avLst>
          </a:prstGeom>
          <a:solidFill>
            <a:srgbClr val="B9CEF2"/>
          </a:solidFill>
          <a:ln w="12700">
            <a:solidFill>
              <a:srgbClr val="B9CEF2"/>
            </a:solidFill>
            <a:prstDash val="solid"/>
          </a:ln>
        </p:spPr>
      </p:sp>
      <p:sp>
        <p:nvSpPr>
          <p:cNvPr id="43" name="Text 36"/>
          <p:cNvSpPr txBox="1"/>
          <p:nvPr/>
        </p:nvSpPr>
        <p:spPr>
          <a:xfrm>
            <a:off x="9400032" y="1188720"/>
            <a:ext cx="2377440"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Value for Staples</a:t>
            </a:r>
            <a:endParaRPr lang="en-US" sz="1600" dirty="0"/>
          </a:p>
        </p:txBody>
      </p:sp>
      <p:sp>
        <p:nvSpPr>
          <p:cNvPr id="44" name="Shape 37"/>
          <p:cNvSpPr/>
          <p:nvPr/>
        </p:nvSpPr>
        <p:spPr>
          <a:xfrm>
            <a:off x="10131552" y="1874520"/>
            <a:ext cx="914400" cy="914400"/>
          </a:xfrm>
          <a:prstGeom prst="ellipse">
            <a:avLst/>
          </a:prstGeom>
          <a:solidFill>
            <a:srgbClr val="EEF3FB"/>
          </a:solidFill>
          <a:ln w="25400">
            <a:solidFill>
              <a:srgbClr val="8FB0E8"/>
            </a:solidFill>
            <a:prstDash val="solid"/>
          </a:ln>
        </p:spPr>
      </p:sp>
      <p:sp>
        <p:nvSpPr>
          <p:cNvPr id="45" name="Text 38"/>
          <p:cNvSpPr txBox="1"/>
          <p:nvPr/>
        </p:nvSpPr>
        <p:spPr>
          <a:xfrm>
            <a:off x="10131552" y="1947672"/>
            <a:ext cx="914400" cy="502920"/>
          </a:xfrm>
          <a:prstGeom prst="rect">
            <a:avLst/>
          </a:prstGeom>
          <a:noFill/>
          <a:ln/>
        </p:spPr>
        <p:txBody>
          <a:bodyPr wrap="square" lIns="0" tIns="0" rIns="0" bIns="0" rtlCol="0" anchor="ctr"/>
          <a:lstStyle/>
          <a:p>
            <a:pPr algn="ctr" indent="0" marL="0">
              <a:buNone/>
            </a:pPr>
            <a:r>
              <a:rPr lang="en-US" sz="2600" b="1" dirty="0">
                <a:solidFill>
                  <a:srgbClr val="13285B"/>
                </a:solidFill>
                <a:latin typeface="Calibri" pitchFamily="34" charset="0"/>
                <a:ea typeface="Calibri" pitchFamily="34" charset="-122"/>
                <a:cs typeface="Calibri" pitchFamily="34" charset="-120"/>
              </a:rPr>
              <a:t>87</a:t>
            </a:r>
            <a:endParaRPr lang="en-US" sz="2600" dirty="0"/>
          </a:p>
        </p:txBody>
      </p:sp>
      <p:sp>
        <p:nvSpPr>
          <p:cNvPr id="46" name="Text 39"/>
          <p:cNvSpPr txBox="1"/>
          <p:nvPr/>
        </p:nvSpPr>
        <p:spPr>
          <a:xfrm>
            <a:off x="10131552" y="2395728"/>
            <a:ext cx="914400" cy="2286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safe adds · 9 nodes</a:t>
            </a:r>
            <a:endParaRPr lang="en-US" sz="950" dirty="0"/>
          </a:p>
        </p:txBody>
      </p:sp>
      <p:sp>
        <p:nvSpPr>
          <p:cNvPr id="47" name="Shape 40"/>
          <p:cNvSpPr/>
          <p:nvPr/>
        </p:nvSpPr>
        <p:spPr>
          <a:xfrm>
            <a:off x="9400032" y="2926080"/>
            <a:ext cx="2377440" cy="960120"/>
          </a:xfrm>
          <a:prstGeom prst="roundRect">
            <a:avLst>
              <a:gd name="adj" fmla="val 11429"/>
            </a:avLst>
          </a:prstGeom>
          <a:solidFill>
            <a:srgbClr val="DCE7F8"/>
          </a:solidFill>
          <a:ln w="12700">
            <a:solidFill>
              <a:srgbClr val="DCE7F8"/>
            </a:solidFill>
            <a:prstDash val="solid"/>
          </a:ln>
        </p:spPr>
      </p:sp>
      <p:sp>
        <p:nvSpPr>
          <p:cNvPr id="48" name="Text 41"/>
          <p:cNvSpPr txBox="1"/>
          <p:nvPr/>
        </p:nvSpPr>
        <p:spPr>
          <a:xfrm>
            <a:off x="9537192" y="292608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A curated add-list per node, with </a:t>
            </a:r>
            <a:pPr algn="ctr" indent="0" marL="0">
              <a:buNone/>
            </a:pPr>
            <a:r>
              <a:rPr lang="en-US" sz="1200" b="1" dirty="0">
                <a:solidFill>
                  <a:srgbClr val="13285B"/>
                </a:solidFill>
                <a:latin typeface="Calibri" pitchFamily="34" charset="0"/>
                <a:ea typeface="Calibri" pitchFamily="34" charset="-122"/>
                <a:cs typeface="Calibri" pitchFamily="34" charset="-120"/>
              </a:rPr>
              <a:t>example SKUs</a:t>
            </a:r>
            <a:pPr algn="ctr" indent="0" marL="0">
              <a:buNone/>
            </a:pPr>
            <a:r>
              <a:rPr lang="en-US" sz="1200" dirty="0">
                <a:solidFill>
                  <a:srgbClr val="13285B"/>
                </a:solidFill>
                <a:latin typeface="Calibri" pitchFamily="34" charset="0"/>
                <a:ea typeface="Calibri" pitchFamily="34" charset="-122"/>
                <a:cs typeface="Calibri" pitchFamily="34" charset="-120"/>
              </a:rPr>
              <a:t> to list</a:t>
            </a:r>
            <a:endParaRPr lang="en-US" sz="1200" dirty="0"/>
          </a:p>
        </p:txBody>
      </p:sp>
      <p:sp>
        <p:nvSpPr>
          <p:cNvPr id="49" name="Shape 42"/>
          <p:cNvSpPr/>
          <p:nvPr/>
        </p:nvSpPr>
        <p:spPr>
          <a:xfrm>
            <a:off x="9400032" y="4023360"/>
            <a:ext cx="2377440" cy="960120"/>
          </a:xfrm>
          <a:prstGeom prst="roundRect">
            <a:avLst>
              <a:gd name="adj" fmla="val 11429"/>
            </a:avLst>
          </a:prstGeom>
          <a:solidFill>
            <a:srgbClr val="DCE7F8"/>
          </a:solidFill>
          <a:ln w="12700">
            <a:solidFill>
              <a:srgbClr val="DCE7F8"/>
            </a:solidFill>
            <a:prstDash val="solid"/>
          </a:ln>
        </p:spPr>
      </p:sp>
      <p:sp>
        <p:nvSpPr>
          <p:cNvPr id="50" name="Text 43"/>
          <p:cNvSpPr txBox="1"/>
          <p:nvPr/>
        </p:nvSpPr>
        <p:spPr>
          <a:xfrm>
            <a:off x="9537192" y="402336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1P protected:</a:t>
            </a:r>
            <a:pPr algn="ctr" indent="0" marL="0">
              <a:buNone/>
            </a:pPr>
            <a:r>
              <a:rPr lang="en-US" sz="1200" dirty="0">
                <a:solidFill>
                  <a:srgbClr val="13285B"/>
                </a:solidFill>
                <a:latin typeface="Calibri" pitchFamily="34" charset="0"/>
                <a:ea typeface="Calibri" pitchFamily="34" charset="-122"/>
                <a:cs typeface="Calibri" pitchFamily="34" charset="-120"/>
              </a:rPr>
              <a:t> every pick passes a cannibalisation gate</a:t>
            </a:r>
            <a:endParaRPr lang="en-US" sz="1200" dirty="0"/>
          </a:p>
        </p:txBody>
      </p:sp>
      <p:sp>
        <p:nvSpPr>
          <p:cNvPr id="51" name="Shape 44"/>
          <p:cNvSpPr/>
          <p:nvPr/>
        </p:nvSpPr>
        <p:spPr>
          <a:xfrm>
            <a:off x="9400032" y="5120640"/>
            <a:ext cx="2377440" cy="960120"/>
          </a:xfrm>
          <a:prstGeom prst="roundRect">
            <a:avLst>
              <a:gd name="adj" fmla="val 11429"/>
            </a:avLst>
          </a:prstGeom>
          <a:solidFill>
            <a:srgbClr val="DCE7F8"/>
          </a:solidFill>
          <a:ln w="12700">
            <a:solidFill>
              <a:srgbClr val="DCE7F8"/>
            </a:solidFill>
            <a:prstDash val="solid"/>
          </a:ln>
        </p:spPr>
      </p:sp>
      <p:sp>
        <p:nvSpPr>
          <p:cNvPr id="52" name="Text 45"/>
          <p:cNvSpPr txBox="1"/>
          <p:nvPr/>
        </p:nvSpPr>
        <p:spPr>
          <a:xfrm>
            <a:off x="9537192" y="512064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11 brands</a:t>
            </a:r>
            <a:pPr algn="ctr" indent="0" marL="0">
              <a:buNone/>
            </a:pPr>
            <a:r>
              <a:rPr lang="en-US" sz="1200" dirty="0">
                <a:solidFill>
                  <a:srgbClr val="13285B"/>
                </a:solidFill>
                <a:latin typeface="Calibri" pitchFamily="34" charset="0"/>
                <a:ea typeface="Calibri" pitchFamily="34" charset="-122"/>
                <a:cs typeface="Calibri" pitchFamily="34" charset="-120"/>
              </a:rPr>
              <a:t> already on Staples: quick-win seller leads</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Current Scope (PoC): 9 Focus Nodes Across 3 Segments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7406640" cy="914400"/>
        </p:xfrm>
        <a:graphic>
          <a:graphicData uri="http://schemas.openxmlformats.org/drawingml/2006/table">
            <a:tbl>
              <a:tblPr/>
              <a:tblGrid>
                <a:gridCol w="1737360"/>
                <a:gridCol w="4114800"/>
                <a:gridCol w="15544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521208">
                <a:tc row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Office Supplies &gt; Calendars &amp; Planners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Bags, Backpacks &amp; Luggage &gt; Backpacks &amp; Laptop Bags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521208">
                <a:tc row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Chairs &amp; Seating</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Lamps &amp; Lighting</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Bags, Backpacks &amp; Luggage &gt; Totes &amp; Handbags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521208">
                <a:tc rowSpan="3">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Decor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Cubicle &amp; Panel Systems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521208">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bl>
          </a:graphicData>
        </a:graphic>
      </p:graphicFrame>
      <p:sp>
        <p:nvSpPr>
          <p:cNvPr id="4" name="Shape 1"/>
          <p:cNvSpPr/>
          <p:nvPr/>
        </p:nvSpPr>
        <p:spPr>
          <a:xfrm>
            <a:off x="8046720" y="1188720"/>
            <a:ext cx="3730752" cy="2148840"/>
          </a:xfrm>
          <a:prstGeom prst="roundRect">
            <a:avLst>
              <a:gd name="adj" fmla="val 4255"/>
            </a:avLst>
          </a:prstGeom>
          <a:solidFill>
            <a:srgbClr val="EEF3FB"/>
          </a:solidFill>
          <a:ln w="12700">
            <a:solidFill>
              <a:srgbClr val="EEF3FB"/>
            </a:solidFill>
            <a:prstDash val="solid"/>
          </a:ln>
        </p:spPr>
      </p:sp>
      <p:sp>
        <p:nvSpPr>
          <p:cNvPr id="5" name="Text 2"/>
          <p:cNvSpPr txBox="1"/>
          <p:nvPr/>
        </p:nvSpPr>
        <p:spPr>
          <a:xfrm>
            <a:off x="8211312" y="1261872"/>
            <a:ext cx="3456432"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Why these segments?</a:t>
            </a:r>
            <a:endParaRPr lang="en-US" sz="1400" dirty="0"/>
          </a:p>
        </p:txBody>
      </p:sp>
      <p:sp>
        <p:nvSpPr>
          <p:cNvPr id="6" name="Text 3"/>
          <p:cNvSpPr txBox="1"/>
          <p:nvPr/>
        </p:nvSpPr>
        <p:spPr>
          <a:xfrm>
            <a:off x="8211312" y="1591056"/>
            <a:ext cx="3429000" cy="1700784"/>
          </a:xfrm>
          <a:prstGeom prst="rect">
            <a:avLst/>
          </a:prstGeom>
          <a:noFill/>
          <a:ln/>
        </p:spPr>
        <p:txBody>
          <a:bodyPr wrap="square" lIns="0" tIns="0" rIns="0" bIns="0" rtlCol="0" anchor="t"/>
          <a:lstStyle/>
          <a:p>
            <a:pPr indent="0" marL="0">
              <a:spcAft>
                <a:spcPts val="500"/>
              </a:spcAft>
              <a:buNone/>
            </a:pPr>
            <a:r>
              <a:rPr lang="en-US" sz="1100" b="1" dirty="0">
                <a:solidFill>
                  <a:srgbClr val="13285B"/>
                </a:solidFill>
                <a:latin typeface="Calibri" pitchFamily="34" charset="0"/>
                <a:ea typeface="Calibri" pitchFamily="34" charset="-122"/>
                <a:cs typeface="Calibri" pitchFamily="34" charset="-120"/>
              </a:rPr>
              <a:t>Hero · EXTEND:</a:t>
            </a:r>
            <a:pPr indent="0" marL="0">
              <a:spcAft>
                <a:spcPts val="500"/>
              </a:spcAft>
              <a:buNone/>
            </a:pPr>
            <a:r>
              <a:rPr lang="en-US" sz="1100" dirty="0">
                <a:solidFill>
                  <a:srgbClr val="1F2937"/>
                </a:solidFill>
                <a:latin typeface="Calibri" pitchFamily="34" charset="0"/>
                <a:ea typeface="Calibri" pitchFamily="34" charset="-122"/>
                <a:cs typeface="Calibri" pitchFamily="34" charset="-120"/>
              </a:rPr>
              <a:t> Staples' top-performing categories (as per our research). Extend them with design-led variants without diluting the core.</a:t>
            </a:r>
            <a:endParaRPr lang="en-US" sz="1200" dirty="0"/>
          </a:p>
          <a:p>
            <a:pPr indent="0" marL="0">
              <a:spcAft>
                <a:spcPts val="500"/>
              </a:spcAft>
              <a:buNone/>
            </a:pPr>
            <a:r>
              <a:rPr lang="en-US" sz="1100" b="1" dirty="0">
                <a:solidFill>
                  <a:srgbClr val="13285B"/>
                </a:solidFill>
                <a:latin typeface="Calibri" pitchFamily="34" charset="0"/>
                <a:ea typeface="Calibri" pitchFamily="34" charset="-122"/>
                <a:cs typeface="Calibri" pitchFamily="34" charset="-120"/>
              </a:rPr>
              <a:t>Probable Hero · BUILD:</a:t>
            </a:r>
            <a:pPr indent="0" marL="0">
              <a:spcAft>
                <a:spcPts val="500"/>
              </a:spcAft>
              <a:buNone/>
            </a:pPr>
            <a:r>
              <a:rPr lang="en-US" sz="1100" dirty="0">
                <a:solidFill>
                  <a:srgbClr val="1F2937"/>
                </a:solidFill>
                <a:latin typeface="Calibri" pitchFamily="34" charset="0"/>
                <a:ea typeface="Calibri" pitchFamily="34" charset="-122"/>
                <a:cs typeface="Calibri" pitchFamily="34" charset="-120"/>
              </a:rPr>
              <a:t> a good market where Staples can improve its position (as per our research). Build depth and range.</a:t>
            </a:r>
            <a:endParaRPr lang="en-US" sz="1200" dirty="0"/>
          </a:p>
          <a:p>
            <a:pPr indent="0" marL="0">
              <a:spcAft>
                <a:spcPts val="500"/>
              </a:spcAft>
              <a:buNone/>
            </a:pPr>
            <a:r>
              <a:rPr lang="en-US" sz="1100" b="1" dirty="0">
                <a:solidFill>
                  <a:srgbClr val="13285B"/>
                </a:solidFill>
                <a:latin typeface="Calibri" pitchFamily="34" charset="0"/>
                <a:ea typeface="Calibri" pitchFamily="34" charset="-122"/>
                <a:cs typeface="Calibri" pitchFamily="34" charset="-120"/>
              </a:rPr>
              <a:t>Non-Hero · EXPLORE:</a:t>
            </a:r>
            <a:pPr indent="0" marL="0">
              <a:spcAft>
                <a:spcPts val="500"/>
              </a:spcAft>
              <a:buNone/>
            </a:pPr>
            <a:r>
              <a:rPr lang="en-US" sz="1100" dirty="0">
                <a:solidFill>
                  <a:srgbClr val="1F2937"/>
                </a:solidFill>
                <a:latin typeface="Calibri" pitchFamily="34" charset="0"/>
                <a:ea typeface="Calibri" pitchFamily="34" charset="-122"/>
                <a:cs typeface="Calibri" pitchFamily="34" charset="-120"/>
              </a:rPr>
              <a:t> a smaller Staples presence today (as per our research). Explore through marketplace sellers at near-zero 1P risk.</a:t>
            </a:r>
            <a:endParaRPr lang="en-US" sz="1200" dirty="0"/>
          </a:p>
        </p:txBody>
      </p:sp>
      <p:sp>
        <p:nvSpPr>
          <p:cNvPr id="7" name="Shape 4"/>
          <p:cNvSpPr/>
          <p:nvPr/>
        </p:nvSpPr>
        <p:spPr>
          <a:xfrm>
            <a:off x="8046720" y="3447288"/>
            <a:ext cx="3730752" cy="1828800"/>
          </a:xfrm>
          <a:prstGeom prst="roundRect">
            <a:avLst>
              <a:gd name="adj" fmla="val 5000"/>
            </a:avLst>
          </a:prstGeom>
          <a:solidFill>
            <a:srgbClr val="EEF3FB"/>
          </a:solidFill>
          <a:ln w="12700">
            <a:solidFill>
              <a:srgbClr val="EEF3FB"/>
            </a:solidFill>
            <a:prstDash val="solid"/>
          </a:ln>
        </p:spPr>
      </p:sp>
      <p:sp>
        <p:nvSpPr>
          <p:cNvPr id="8" name="Text 5"/>
          <p:cNvSpPr txBox="1"/>
          <p:nvPr/>
        </p:nvSpPr>
        <p:spPr>
          <a:xfrm>
            <a:off x="8211312" y="3520440"/>
            <a:ext cx="3456432"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Why these competitors?</a:t>
            </a:r>
            <a:endParaRPr lang="en-US" sz="1400" dirty="0"/>
          </a:p>
        </p:txBody>
      </p:sp>
      <p:sp>
        <p:nvSpPr>
          <p:cNvPr id="9" name="Text 6"/>
          <p:cNvSpPr txBox="1"/>
          <p:nvPr/>
        </p:nvSpPr>
        <p:spPr>
          <a:xfrm>
            <a:off x="8211312" y="3831336"/>
            <a:ext cx="3429000" cy="1417320"/>
          </a:xfrm>
          <a:prstGeom prst="rect">
            <a:avLst/>
          </a:prstGeom>
          <a:noFill/>
          <a:ln/>
        </p:spPr>
        <p:txBody>
          <a:bodyPr wrap="square" lIns="0" tIns="0" rIns="0" bIns="0" rtlCol="0" anchor="t"/>
          <a:lstStyle/>
          <a:p>
            <a:pPr indent="0" marL="0">
              <a:spcAft>
                <a:spcPts val="400"/>
              </a:spcAft>
              <a:buNone/>
            </a:pPr>
            <a:r>
              <a:rPr lang="en-US" sz="1050" i="1" dirty="0">
                <a:solidFill>
                  <a:srgbClr val="5B6475"/>
                </a:solidFill>
                <a:latin typeface="Calibri" pitchFamily="34" charset="0"/>
                <a:ea typeface="Calibri" pitchFamily="34" charset="-122"/>
                <a:cs typeface="Calibri" pitchFamily="34" charset="-120"/>
              </a:rPr>
              <a:t>Each node is benchmarked against the retailer that sets the shopper's expectation for it (as per our research)</a:t>
            </a:r>
            <a:endParaRPr lang="en-US" sz="1050" dirty="0"/>
          </a:p>
          <a:p>
            <a:pPr indent="0" marL="0">
              <a:spcAft>
                <a:spcPts val="400"/>
              </a:spcAft>
              <a:buNone/>
            </a:pPr>
            <a:r>
              <a:rPr lang="en-US" sz="1050" b="1" dirty="0">
                <a:solidFill>
                  <a:srgbClr val="7F187F"/>
                </a:solidFill>
                <a:latin typeface="Calibri" pitchFamily="34" charset="0"/>
                <a:ea typeface="Calibri" pitchFamily="34" charset="-122"/>
                <a:cs typeface="Calibri" pitchFamily="34" charset="-120"/>
              </a:rPr>
              <a:t>Wayfair</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 · furniture &amp; décor (5 nodes): the leading online home-furnishing store; it wins the design-led home and home-office shopper Staples wants</a:t>
            </a:r>
            <a:endParaRPr lang="en-US" sz="1050" dirty="0"/>
          </a:p>
          <a:p>
            <a:pPr indent="0" marL="0">
              <a:spcAft>
                <a:spcPts val="400"/>
              </a:spcAft>
              <a:buNone/>
            </a:pPr>
            <a:r>
              <a:rPr lang="en-US" sz="1050" b="1" dirty="0">
                <a:solidFill>
                  <a:srgbClr val="C45500"/>
                </a:solidFill>
                <a:latin typeface="Calibri" pitchFamily="34" charset="0"/>
                <a:ea typeface="Calibri" pitchFamily="34" charset="-122"/>
                <a:cs typeface="Calibri" pitchFamily="34" charset="-120"/>
              </a:rPr>
              <a:t>Amazon</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 · supplies, bags &amp; kitchen (4 nodes): the default everyday marketplace; it sets the bar for breadth, niche variants and price</a:t>
            </a:r>
            <a:endParaRPr lang="en-US" sz="1050" dirty="0"/>
          </a:p>
        </p:txBody>
      </p:sp>
      <p:sp>
        <p:nvSpPr>
          <p:cNvPr id="10" name="Shape 7"/>
          <p:cNvSpPr/>
          <p:nvPr/>
        </p:nvSpPr>
        <p:spPr>
          <a:xfrm>
            <a:off x="8046720" y="5367528"/>
            <a:ext cx="3730752" cy="896112"/>
          </a:xfrm>
          <a:prstGeom prst="roundRect">
            <a:avLst>
              <a:gd name="adj" fmla="val 10204"/>
            </a:avLst>
          </a:prstGeom>
          <a:solidFill>
            <a:srgbClr val="FFF4E0"/>
          </a:solidFill>
          <a:ln w="12700">
            <a:solidFill>
              <a:srgbClr val="F5A623"/>
            </a:solidFill>
            <a:prstDash val="solid"/>
          </a:ln>
        </p:spPr>
      </p:sp>
      <p:pic>
        <p:nvPicPr>
          <p:cNvPr id="11" name="Image 0" descr="preencoded.png">    </p:cNvPr>
          <p:cNvPicPr>
            <a:picLocks noChangeAspect="1"/>
          </p:cNvPicPr>
          <p:nvPr/>
        </p:nvPicPr>
        <p:blipFill>
          <a:blip r:embed="rId1"/>
          <a:stretch>
            <a:fillRect/>
          </a:stretch>
        </p:blipFill>
        <p:spPr>
          <a:xfrm>
            <a:off x="8211312" y="5440680"/>
            <a:ext cx="219456" cy="219456"/>
          </a:xfrm>
          <a:prstGeom prst="rect">
            <a:avLst/>
          </a:prstGeom>
        </p:spPr>
      </p:pic>
      <p:sp>
        <p:nvSpPr>
          <p:cNvPr id="12" name="Text 8"/>
          <p:cNvSpPr txBox="1"/>
          <p:nvPr/>
        </p:nvSpPr>
        <p:spPr>
          <a:xfrm>
            <a:off x="8503920" y="5422392"/>
            <a:ext cx="2743200" cy="256032"/>
          </a:xfrm>
          <a:prstGeom prst="rect">
            <a:avLst/>
          </a:prstGeom>
          <a:noFill/>
          <a:ln/>
        </p:spPr>
        <p:txBody>
          <a:bodyPr wrap="square" lIns="0" tIns="0" rIns="0" bIns="0" rtlCol="0" anchor="t"/>
          <a:lstStyle/>
          <a:p>
            <a:pPr indent="0" marL="0">
              <a:buNone/>
            </a:pPr>
            <a:r>
              <a:rPr lang="en-US" sz="1200" b="1" dirty="0">
                <a:solidFill>
                  <a:srgbClr val="8A5A00"/>
                </a:solidFill>
                <a:latin typeface="Calibri" pitchFamily="34" charset="0"/>
                <a:ea typeface="Calibri" pitchFamily="34" charset="-122"/>
                <a:cs typeface="Calibri" pitchFamily="34" charset="-120"/>
              </a:rPr>
              <a:t>Data disclaimer</a:t>
            </a:r>
            <a:endParaRPr lang="en-US" sz="1200" dirty="0"/>
          </a:p>
        </p:txBody>
      </p:sp>
      <p:sp>
        <p:nvSpPr>
          <p:cNvPr id="13" name="Text 9"/>
          <p:cNvSpPr txBox="1"/>
          <p:nvPr/>
        </p:nvSpPr>
        <p:spPr>
          <a:xfrm>
            <a:off x="8211312" y="5687568"/>
            <a:ext cx="3429000" cy="548640"/>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Competitor data are scraped samples (16,072 competitor vs 2,778 Staples product families), not full catalogues. We compare shares of range, never raw counts. No sales or margin data used.</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Insights: How Staples, Wayfair and Amazon Assortments Differ</a:t>
            </a:r>
            <a:endParaRPr lang="en-US" sz="2800" dirty="0"/>
          </a:p>
        </p:txBody>
      </p:sp>
      <p:sp>
        <p:nvSpPr>
          <p:cNvPr id="3" name="Shape 1"/>
          <p:cNvSpPr/>
          <p:nvPr/>
        </p:nvSpPr>
        <p:spPr>
          <a:xfrm>
            <a:off x="1929384" y="1115568"/>
            <a:ext cx="3246120" cy="402336"/>
          </a:xfrm>
          <a:prstGeom prst="roundRect">
            <a:avLst>
              <a:gd name="adj" fmla="val 13636"/>
            </a:avLst>
          </a:prstGeom>
          <a:solidFill>
            <a:srgbClr val="CC0000"/>
          </a:solidFill>
          <a:ln w="12700">
            <a:solidFill>
              <a:srgbClr val="CC0000"/>
            </a:solidFill>
            <a:prstDash val="solid"/>
          </a:ln>
        </p:spPr>
      </p:sp>
      <p:sp>
        <p:nvSpPr>
          <p:cNvPr id="4" name="Text 2"/>
          <p:cNvSpPr txBox="1"/>
          <p:nvPr/>
        </p:nvSpPr>
        <p:spPr>
          <a:xfrm>
            <a:off x="1929384" y="1115568"/>
            <a:ext cx="32461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STAPLES</a:t>
            </a:r>
            <a:pPr algn="ctr" indent="0" marL="0">
              <a:buNone/>
            </a:pPr>
            <a:r>
              <a:rPr lang="en-US" sz="1100" dirty="0">
                <a:solidFill>
                  <a:srgbClr val="FFFFFF"/>
                </a:solidFill>
                <a:latin typeface="Calibri" pitchFamily="34" charset="0"/>
                <a:ea typeface="Calibri" pitchFamily="34" charset="-122"/>
                <a:cs typeface="Calibri" pitchFamily="34" charset="-120"/>
              </a:rPr>
              <a:t>  built for the workplace</a:t>
            </a:r>
            <a:endParaRPr lang="en-US" sz="1400" dirty="0"/>
          </a:p>
        </p:txBody>
      </p:sp>
      <p:sp>
        <p:nvSpPr>
          <p:cNvPr id="5" name="Shape 3"/>
          <p:cNvSpPr/>
          <p:nvPr/>
        </p:nvSpPr>
        <p:spPr>
          <a:xfrm>
            <a:off x="5230368" y="1115568"/>
            <a:ext cx="3246120" cy="402336"/>
          </a:xfrm>
          <a:prstGeom prst="roundRect">
            <a:avLst>
              <a:gd name="adj" fmla="val 13636"/>
            </a:avLst>
          </a:prstGeom>
          <a:solidFill>
            <a:srgbClr val="7F187F"/>
          </a:solidFill>
          <a:ln w="12700">
            <a:solidFill>
              <a:srgbClr val="7F187F"/>
            </a:solidFill>
            <a:prstDash val="solid"/>
          </a:ln>
        </p:spPr>
      </p:sp>
      <p:sp>
        <p:nvSpPr>
          <p:cNvPr id="6" name="Text 4"/>
          <p:cNvSpPr txBox="1"/>
          <p:nvPr/>
        </p:nvSpPr>
        <p:spPr>
          <a:xfrm>
            <a:off x="5230368" y="1115568"/>
            <a:ext cx="32461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WAYFAIR</a:t>
            </a:r>
            <a:pPr algn="ctr" indent="0" marL="0">
              <a:buNone/>
            </a:pPr>
            <a:r>
              <a:rPr lang="en-US" sz="1100" dirty="0">
                <a:solidFill>
                  <a:srgbClr val="FFFFFF"/>
                </a:solidFill>
                <a:latin typeface="Calibri" pitchFamily="34" charset="0"/>
                <a:ea typeface="Calibri" pitchFamily="34" charset="-122"/>
                <a:cs typeface="Calibri" pitchFamily="34" charset="-120"/>
              </a:rPr>
              <a:t>  built for the home · 5 nodes</a:t>
            </a:r>
            <a:endParaRPr lang="en-US" sz="1400" dirty="0"/>
          </a:p>
        </p:txBody>
      </p:sp>
      <p:sp>
        <p:nvSpPr>
          <p:cNvPr id="7" name="Shape 5"/>
          <p:cNvSpPr/>
          <p:nvPr/>
        </p:nvSpPr>
        <p:spPr>
          <a:xfrm>
            <a:off x="8531352" y="1115568"/>
            <a:ext cx="3246120" cy="402336"/>
          </a:xfrm>
          <a:prstGeom prst="roundRect">
            <a:avLst>
              <a:gd name="adj" fmla="val 13636"/>
            </a:avLst>
          </a:prstGeom>
          <a:solidFill>
            <a:srgbClr val="FF9900"/>
          </a:solidFill>
          <a:ln w="12700">
            <a:solidFill>
              <a:srgbClr val="FF9900"/>
            </a:solidFill>
            <a:prstDash val="solid"/>
          </a:ln>
        </p:spPr>
      </p:sp>
      <p:sp>
        <p:nvSpPr>
          <p:cNvPr id="8" name="Text 6"/>
          <p:cNvSpPr txBox="1"/>
          <p:nvPr/>
        </p:nvSpPr>
        <p:spPr>
          <a:xfrm>
            <a:off x="8531352" y="1115568"/>
            <a:ext cx="3246120" cy="402336"/>
          </a:xfrm>
          <a:prstGeom prst="rect">
            <a:avLst/>
          </a:prstGeom>
          <a:noFill/>
          <a:ln/>
        </p:spPr>
        <p:txBody>
          <a:bodyPr wrap="square" lIns="0" tIns="0" rIns="0" bIns="0"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AMAZON</a:t>
            </a:r>
            <a:pPr algn="ctr" indent="0" marL="0">
              <a:buNone/>
            </a:pPr>
            <a:r>
              <a:rPr lang="en-US" sz="1100" dirty="0">
                <a:solidFill>
                  <a:srgbClr val="232F3E"/>
                </a:solidFill>
                <a:latin typeface="Calibri" pitchFamily="34" charset="0"/>
                <a:ea typeface="Calibri" pitchFamily="34" charset="-122"/>
                <a:cs typeface="Calibri" pitchFamily="34" charset="-120"/>
              </a:rPr>
              <a:t>  built for the person · 4 nodes</a:t>
            </a:r>
            <a:endParaRPr lang="en-US" sz="1400" dirty="0"/>
          </a:p>
        </p:txBody>
      </p:sp>
      <p:sp>
        <p:nvSpPr>
          <p:cNvPr id="9" name="Shape 7"/>
          <p:cNvSpPr/>
          <p:nvPr/>
        </p:nvSpPr>
        <p:spPr>
          <a:xfrm>
            <a:off x="411480" y="1572768"/>
            <a:ext cx="1463040" cy="896112"/>
          </a:xfrm>
          <a:prstGeom prst="roundRect">
            <a:avLst>
              <a:gd name="adj" fmla="val 6122"/>
            </a:avLst>
          </a:prstGeom>
          <a:solidFill>
            <a:srgbClr val="1F4E9A"/>
          </a:solidFill>
          <a:ln w="12700">
            <a:solidFill>
              <a:srgbClr val="1F4E9A"/>
            </a:solidFill>
            <a:prstDash val="solid"/>
          </a:ln>
        </p:spPr>
      </p:sp>
      <p:sp>
        <p:nvSpPr>
          <p:cNvPr id="10" name="Text 8"/>
          <p:cNvSpPr txBox="1"/>
          <p:nvPr/>
        </p:nvSpPr>
        <p:spPr>
          <a:xfrm>
            <a:off x="521208" y="1572768"/>
            <a:ext cx="1280160" cy="8961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Core customer</a:t>
            </a:r>
            <a:endParaRPr lang="en-US" sz="1250" dirty="0"/>
          </a:p>
        </p:txBody>
      </p:sp>
      <p:sp>
        <p:nvSpPr>
          <p:cNvPr id="11" name="Shape 9"/>
          <p:cNvSpPr/>
          <p:nvPr/>
        </p:nvSpPr>
        <p:spPr>
          <a:xfrm>
            <a:off x="1929384" y="1572768"/>
            <a:ext cx="3246120" cy="896112"/>
          </a:xfrm>
          <a:prstGeom prst="roundRect">
            <a:avLst>
              <a:gd name="adj" fmla="val 6122"/>
            </a:avLst>
          </a:prstGeom>
          <a:solidFill>
            <a:srgbClr val="EEF3FB"/>
          </a:solidFill>
          <a:ln w="6350">
            <a:solidFill>
              <a:srgbClr val="C9D3E3"/>
            </a:solidFill>
            <a:prstDash val="solid"/>
          </a:ln>
        </p:spPr>
      </p:sp>
      <p:sp>
        <p:nvSpPr>
          <p:cNvPr id="12" name="Text 10"/>
          <p:cNvSpPr txBox="1"/>
          <p:nvPr/>
        </p:nvSpPr>
        <p:spPr>
          <a:xfrm>
            <a:off x="2039112" y="1618488"/>
            <a:ext cx="3063240" cy="219456"/>
          </a:xfrm>
          <a:prstGeom prst="rect">
            <a:avLst/>
          </a:prstGeom>
          <a:noFill/>
          <a:ln/>
        </p:spPr>
        <p:txBody>
          <a:bodyPr wrap="square" lIns="0" tIns="0" rIns="0" bIns="0" rtlCol="0" anchor="t"/>
          <a:lstStyle/>
          <a:p>
            <a:pPr indent="0" marL="0">
              <a:buNone/>
            </a:pPr>
            <a:r>
              <a:rPr lang="en-US" sz="1150" b="1" dirty="0">
                <a:solidFill>
                  <a:srgbClr val="CC0000"/>
                </a:solidFill>
                <a:latin typeface="Calibri" pitchFamily="34" charset="0"/>
                <a:ea typeface="Calibri" pitchFamily="34" charset="-122"/>
                <a:cs typeface="Calibri" pitchFamily="34" charset="-120"/>
              </a:rPr>
              <a:t>The workplace</a:t>
            </a:r>
            <a:endParaRPr lang="en-US" sz="1150" dirty="0"/>
          </a:p>
        </p:txBody>
      </p:sp>
      <p:sp>
        <p:nvSpPr>
          <p:cNvPr id="13" name="Text 11"/>
          <p:cNvSpPr txBox="1"/>
          <p:nvPr/>
        </p:nvSpPr>
        <p:spPr>
          <a:xfrm>
            <a:off x="2039112" y="1847088"/>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81%</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corporate offices (vs 50%)</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57%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reception/lobby (vs 1%)</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62%</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laptop/work bags (vs 12%)</a:t>
            </a:r>
            <a:endParaRPr lang="en-US" sz="1200" dirty="0"/>
          </a:p>
        </p:txBody>
      </p:sp>
      <p:sp>
        <p:nvSpPr>
          <p:cNvPr id="14" name="Shape 12"/>
          <p:cNvSpPr/>
          <p:nvPr/>
        </p:nvSpPr>
        <p:spPr>
          <a:xfrm>
            <a:off x="5230368" y="1572768"/>
            <a:ext cx="3246120" cy="896112"/>
          </a:xfrm>
          <a:prstGeom prst="roundRect">
            <a:avLst>
              <a:gd name="adj" fmla="val 6122"/>
            </a:avLst>
          </a:prstGeom>
          <a:solidFill>
            <a:srgbClr val="EEF3FB"/>
          </a:solidFill>
          <a:ln w="6350">
            <a:solidFill>
              <a:srgbClr val="C9D3E3"/>
            </a:solidFill>
            <a:prstDash val="solid"/>
          </a:ln>
        </p:spPr>
      </p:sp>
      <p:sp>
        <p:nvSpPr>
          <p:cNvPr id="15" name="Text 13"/>
          <p:cNvSpPr txBox="1"/>
          <p:nvPr/>
        </p:nvSpPr>
        <p:spPr>
          <a:xfrm>
            <a:off x="5340096" y="1618488"/>
            <a:ext cx="3063240" cy="219456"/>
          </a:xfrm>
          <a:prstGeom prst="rect">
            <a:avLst/>
          </a:prstGeom>
          <a:noFill/>
          <a:ln/>
        </p:spPr>
        <p:txBody>
          <a:bodyPr wrap="square" lIns="0" tIns="0" rIns="0" bIns="0" rtlCol="0" anchor="t"/>
          <a:lstStyle/>
          <a:p>
            <a:pPr indent="0" marL="0">
              <a:buNone/>
            </a:pPr>
            <a:r>
              <a:rPr lang="en-US" sz="1150" b="1" dirty="0">
                <a:solidFill>
                  <a:srgbClr val="7F187F"/>
                </a:solidFill>
                <a:latin typeface="Calibri" pitchFamily="34" charset="0"/>
                <a:ea typeface="Calibri" pitchFamily="34" charset="-122"/>
                <a:cs typeface="Calibri" pitchFamily="34" charset="-120"/>
              </a:rPr>
              <a:t>The home</a:t>
            </a:r>
            <a:endParaRPr lang="en-US" sz="1150" dirty="0"/>
          </a:p>
        </p:txBody>
      </p:sp>
      <p:sp>
        <p:nvSpPr>
          <p:cNvPr id="16" name="Text 14"/>
          <p:cNvSpPr txBox="1"/>
          <p:nvPr/>
        </p:nvSpPr>
        <p:spPr>
          <a:xfrm>
            <a:off x="5340096" y="1847088"/>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52%</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home offices (vs 19%)</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38%</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living rooms (vs 7%)</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 lamps: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42%</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living rooms (vs 12%)</a:t>
            </a:r>
            <a:endParaRPr lang="en-US" sz="1200" dirty="0"/>
          </a:p>
        </p:txBody>
      </p:sp>
      <p:sp>
        <p:nvSpPr>
          <p:cNvPr id="17" name="Shape 15"/>
          <p:cNvSpPr/>
          <p:nvPr/>
        </p:nvSpPr>
        <p:spPr>
          <a:xfrm>
            <a:off x="8531352" y="1572768"/>
            <a:ext cx="3246120" cy="896112"/>
          </a:xfrm>
          <a:prstGeom prst="roundRect">
            <a:avLst>
              <a:gd name="adj" fmla="val 6122"/>
            </a:avLst>
          </a:prstGeom>
          <a:solidFill>
            <a:srgbClr val="EEF3FB"/>
          </a:solidFill>
          <a:ln w="6350">
            <a:solidFill>
              <a:srgbClr val="C9D3E3"/>
            </a:solidFill>
            <a:prstDash val="solid"/>
          </a:ln>
        </p:spPr>
      </p:sp>
      <p:sp>
        <p:nvSpPr>
          <p:cNvPr id="18" name="Text 16"/>
          <p:cNvSpPr txBox="1"/>
          <p:nvPr/>
        </p:nvSpPr>
        <p:spPr>
          <a:xfrm>
            <a:off x="8641080" y="1618488"/>
            <a:ext cx="3063240" cy="219456"/>
          </a:xfrm>
          <a:prstGeom prst="rect">
            <a:avLst/>
          </a:prstGeom>
          <a:noFill/>
          <a:ln/>
        </p:spPr>
        <p:txBody>
          <a:bodyPr wrap="square" lIns="0" tIns="0" rIns="0" bIns="0" rtlCol="0" anchor="t"/>
          <a:lstStyle/>
          <a:p>
            <a:pPr indent="0" marL="0">
              <a:buNone/>
            </a:pPr>
            <a:r>
              <a:rPr lang="en-US" sz="1150" b="1" dirty="0">
                <a:solidFill>
                  <a:srgbClr val="C45500"/>
                </a:solidFill>
                <a:latin typeface="Calibri" pitchFamily="34" charset="0"/>
                <a:ea typeface="Calibri" pitchFamily="34" charset="-122"/>
                <a:cs typeface="Calibri" pitchFamily="34" charset="-120"/>
              </a:rPr>
              <a:t>The person &amp; the activity</a:t>
            </a:r>
            <a:endParaRPr lang="en-US" sz="1150" dirty="0"/>
          </a:p>
        </p:txBody>
      </p:sp>
      <p:sp>
        <p:nvSpPr>
          <p:cNvPr id="19" name="Text 17"/>
          <p:cNvSpPr txBox="1"/>
          <p:nvPr/>
        </p:nvSpPr>
        <p:spPr>
          <a:xfrm>
            <a:off x="8641080" y="1847088"/>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40%</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hiking/outdoor (vs 1%)</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33% / 36%</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men's / women's (vs 2% / 9%)</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Lunch bags: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made for women (vs 4%)</a:t>
            </a:r>
            <a:endParaRPr lang="en-US" sz="1200" dirty="0"/>
          </a:p>
        </p:txBody>
      </p:sp>
      <p:sp>
        <p:nvSpPr>
          <p:cNvPr id="20" name="Shape 18"/>
          <p:cNvSpPr/>
          <p:nvPr/>
        </p:nvSpPr>
        <p:spPr>
          <a:xfrm>
            <a:off x="411480" y="2505456"/>
            <a:ext cx="1463040" cy="896112"/>
          </a:xfrm>
          <a:prstGeom prst="roundRect">
            <a:avLst>
              <a:gd name="adj" fmla="val 6122"/>
            </a:avLst>
          </a:prstGeom>
          <a:solidFill>
            <a:srgbClr val="1F4E9A"/>
          </a:solidFill>
          <a:ln w="12700">
            <a:solidFill>
              <a:srgbClr val="1F4E9A"/>
            </a:solidFill>
            <a:prstDash val="solid"/>
          </a:ln>
        </p:spPr>
      </p:sp>
      <p:sp>
        <p:nvSpPr>
          <p:cNvPr id="21" name="Text 19"/>
          <p:cNvSpPr txBox="1"/>
          <p:nvPr/>
        </p:nvSpPr>
        <p:spPr>
          <a:xfrm>
            <a:off x="521208" y="2505456"/>
            <a:ext cx="1280160" cy="8961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Design &amp; look</a:t>
            </a:r>
            <a:endParaRPr lang="en-US" sz="1250" dirty="0"/>
          </a:p>
        </p:txBody>
      </p:sp>
      <p:sp>
        <p:nvSpPr>
          <p:cNvPr id="22" name="Shape 20"/>
          <p:cNvSpPr/>
          <p:nvPr/>
        </p:nvSpPr>
        <p:spPr>
          <a:xfrm>
            <a:off x="1929384" y="2505456"/>
            <a:ext cx="3246120" cy="896112"/>
          </a:xfrm>
          <a:prstGeom prst="roundRect">
            <a:avLst>
              <a:gd name="adj" fmla="val 6122"/>
            </a:avLst>
          </a:prstGeom>
          <a:solidFill>
            <a:srgbClr val="FFFFFF"/>
          </a:solidFill>
          <a:ln w="6350">
            <a:solidFill>
              <a:srgbClr val="C9D3E3"/>
            </a:solidFill>
            <a:prstDash val="solid"/>
          </a:ln>
        </p:spPr>
      </p:sp>
      <p:sp>
        <p:nvSpPr>
          <p:cNvPr id="23" name="Text 21"/>
          <p:cNvSpPr txBox="1"/>
          <p:nvPr/>
        </p:nvSpPr>
        <p:spPr>
          <a:xfrm>
            <a:off x="2039112" y="2551176"/>
            <a:ext cx="3063240" cy="219456"/>
          </a:xfrm>
          <a:prstGeom prst="rect">
            <a:avLst/>
          </a:prstGeom>
          <a:noFill/>
          <a:ln/>
        </p:spPr>
        <p:txBody>
          <a:bodyPr wrap="square" lIns="0" tIns="0" rIns="0" bIns="0" rtlCol="0" anchor="t"/>
          <a:lstStyle/>
          <a:p>
            <a:pPr indent="0" marL="0">
              <a:buNone/>
            </a:pPr>
            <a:r>
              <a:rPr lang="en-US" sz="1150" b="1" dirty="0">
                <a:solidFill>
                  <a:srgbClr val="CC0000"/>
                </a:solidFill>
                <a:latin typeface="Calibri" pitchFamily="34" charset="0"/>
                <a:ea typeface="Calibri" pitchFamily="34" charset="-122"/>
                <a:cs typeface="Calibri" pitchFamily="34" charset="-120"/>
              </a:rPr>
              <a:t>Dark &amp; utilitarian</a:t>
            </a:r>
            <a:endParaRPr lang="en-US" sz="1150" dirty="0"/>
          </a:p>
        </p:txBody>
      </p:sp>
      <p:sp>
        <p:nvSpPr>
          <p:cNvPr id="24" name="Text 22"/>
          <p:cNvSpPr txBox="1"/>
          <p:nvPr/>
        </p:nvSpPr>
        <p:spPr>
          <a:xfrm>
            <a:off x="2039112" y="2779776"/>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48%</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black (vs 8%)</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Clocks: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60%</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plastic/resin (vs 5%)</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84%</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black (vs 14%)</a:t>
            </a:r>
            <a:endParaRPr lang="en-US" sz="1200" dirty="0"/>
          </a:p>
        </p:txBody>
      </p:sp>
      <p:sp>
        <p:nvSpPr>
          <p:cNvPr id="25" name="Shape 23"/>
          <p:cNvSpPr/>
          <p:nvPr/>
        </p:nvSpPr>
        <p:spPr>
          <a:xfrm>
            <a:off x="5230368" y="2505456"/>
            <a:ext cx="3246120" cy="896112"/>
          </a:xfrm>
          <a:prstGeom prst="roundRect">
            <a:avLst>
              <a:gd name="adj" fmla="val 6122"/>
            </a:avLst>
          </a:prstGeom>
          <a:solidFill>
            <a:srgbClr val="FFFFFF"/>
          </a:solidFill>
          <a:ln w="6350">
            <a:solidFill>
              <a:srgbClr val="C9D3E3"/>
            </a:solidFill>
            <a:prstDash val="solid"/>
          </a:ln>
        </p:spPr>
      </p:sp>
      <p:sp>
        <p:nvSpPr>
          <p:cNvPr id="26" name="Text 24"/>
          <p:cNvSpPr txBox="1"/>
          <p:nvPr/>
        </p:nvSpPr>
        <p:spPr>
          <a:xfrm>
            <a:off x="5340096" y="2551176"/>
            <a:ext cx="3063240" cy="219456"/>
          </a:xfrm>
          <a:prstGeom prst="rect">
            <a:avLst/>
          </a:prstGeom>
          <a:noFill/>
          <a:ln/>
        </p:spPr>
        <p:txBody>
          <a:bodyPr wrap="square" lIns="0" tIns="0" rIns="0" bIns="0" rtlCol="0" anchor="t"/>
          <a:lstStyle/>
          <a:p>
            <a:pPr indent="0" marL="0">
              <a:buNone/>
            </a:pPr>
            <a:r>
              <a:rPr lang="en-US" sz="1150" b="1" dirty="0">
                <a:solidFill>
                  <a:srgbClr val="7F187F"/>
                </a:solidFill>
                <a:latin typeface="Calibri" pitchFamily="34" charset="0"/>
                <a:ea typeface="Calibri" pitchFamily="34" charset="-122"/>
                <a:cs typeface="Calibri" pitchFamily="34" charset="-120"/>
              </a:rPr>
              <a:t>Light, soft &amp; natural</a:t>
            </a:r>
            <a:endParaRPr lang="en-US" sz="1150" dirty="0"/>
          </a:p>
        </p:txBody>
      </p:sp>
      <p:sp>
        <p:nvSpPr>
          <p:cNvPr id="27" name="Text 25"/>
          <p:cNvSpPr txBox="1"/>
          <p:nvPr/>
        </p:nvSpPr>
        <p:spPr>
          <a:xfrm>
            <a:off x="5340096" y="2779776"/>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27%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light-neutral (vs 6%)</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Clocks: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statement pieces (vs 9%)</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Screens: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32%</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natural/woven (vs 2%)</a:t>
            </a:r>
            <a:endParaRPr lang="en-US" sz="1200" dirty="0"/>
          </a:p>
        </p:txBody>
      </p:sp>
      <p:sp>
        <p:nvSpPr>
          <p:cNvPr id="28" name="Shape 26"/>
          <p:cNvSpPr/>
          <p:nvPr/>
        </p:nvSpPr>
        <p:spPr>
          <a:xfrm>
            <a:off x="8531352" y="2505456"/>
            <a:ext cx="3246120" cy="896112"/>
          </a:xfrm>
          <a:prstGeom prst="roundRect">
            <a:avLst>
              <a:gd name="adj" fmla="val 6122"/>
            </a:avLst>
          </a:prstGeom>
          <a:solidFill>
            <a:srgbClr val="FFFFFF"/>
          </a:solidFill>
          <a:ln w="6350">
            <a:solidFill>
              <a:srgbClr val="C9D3E3"/>
            </a:solidFill>
            <a:prstDash val="solid"/>
          </a:ln>
        </p:spPr>
      </p:sp>
      <p:sp>
        <p:nvSpPr>
          <p:cNvPr id="29" name="Text 27"/>
          <p:cNvSpPr txBox="1"/>
          <p:nvPr/>
        </p:nvSpPr>
        <p:spPr>
          <a:xfrm>
            <a:off x="8641080" y="2551176"/>
            <a:ext cx="3063240" cy="219456"/>
          </a:xfrm>
          <a:prstGeom prst="rect">
            <a:avLst/>
          </a:prstGeom>
          <a:noFill/>
          <a:ln/>
        </p:spPr>
        <p:txBody>
          <a:bodyPr wrap="square" lIns="0" tIns="0" rIns="0" bIns="0" rtlCol="0" anchor="t"/>
          <a:lstStyle/>
          <a:p>
            <a:pPr indent="0" marL="0">
              <a:buNone/>
            </a:pPr>
            <a:r>
              <a:rPr lang="en-US" sz="1150" b="1" dirty="0">
                <a:solidFill>
                  <a:srgbClr val="C45500"/>
                </a:solidFill>
                <a:latin typeface="Calibri" pitchFamily="34" charset="0"/>
                <a:ea typeface="Calibri" pitchFamily="34" charset="-122"/>
                <a:cs typeface="Calibri" pitchFamily="34" charset="-120"/>
              </a:rPr>
              <a:t>Warm, premium materials</a:t>
            </a:r>
            <a:endParaRPr lang="en-US" sz="1150" dirty="0"/>
          </a:p>
        </p:txBody>
      </p:sp>
      <p:sp>
        <p:nvSpPr>
          <p:cNvPr id="30" name="Text 28"/>
          <p:cNvSpPr txBox="1"/>
          <p:nvPr/>
        </p:nvSpPr>
        <p:spPr>
          <a:xfrm>
            <a:off x="8641080" y="2779776"/>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77%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wood-tone (vs 2%)</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Lunch boxes: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46%</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stainless steel (vs 15%)</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Planners: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24%</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leather-bound (vs 0%)</a:t>
            </a:r>
            <a:endParaRPr lang="en-US" sz="1200" dirty="0"/>
          </a:p>
        </p:txBody>
      </p:sp>
      <p:sp>
        <p:nvSpPr>
          <p:cNvPr id="31" name="Shape 29"/>
          <p:cNvSpPr/>
          <p:nvPr/>
        </p:nvSpPr>
        <p:spPr>
          <a:xfrm>
            <a:off x="411480" y="3438144"/>
            <a:ext cx="1463040" cy="896112"/>
          </a:xfrm>
          <a:prstGeom prst="roundRect">
            <a:avLst>
              <a:gd name="adj" fmla="val 6122"/>
            </a:avLst>
          </a:prstGeom>
          <a:solidFill>
            <a:srgbClr val="1F4E9A"/>
          </a:solidFill>
          <a:ln w="12700">
            <a:solidFill>
              <a:srgbClr val="1F4E9A"/>
            </a:solidFill>
            <a:prstDash val="solid"/>
          </a:ln>
        </p:spPr>
      </p:sp>
      <p:sp>
        <p:nvSpPr>
          <p:cNvPr id="32" name="Text 30"/>
          <p:cNvSpPr txBox="1"/>
          <p:nvPr/>
        </p:nvSpPr>
        <p:spPr>
          <a:xfrm>
            <a:off x="521208" y="3438144"/>
            <a:ext cx="1280160" cy="8961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Where they go deeper</a:t>
            </a:r>
            <a:endParaRPr lang="en-US" sz="1250" dirty="0"/>
          </a:p>
        </p:txBody>
      </p:sp>
      <p:sp>
        <p:nvSpPr>
          <p:cNvPr id="33" name="Shape 31"/>
          <p:cNvSpPr/>
          <p:nvPr/>
        </p:nvSpPr>
        <p:spPr>
          <a:xfrm>
            <a:off x="1929384" y="3438144"/>
            <a:ext cx="3246120" cy="896112"/>
          </a:xfrm>
          <a:prstGeom prst="roundRect">
            <a:avLst>
              <a:gd name="adj" fmla="val 6122"/>
            </a:avLst>
          </a:prstGeom>
          <a:solidFill>
            <a:srgbClr val="EEF3FB"/>
          </a:solidFill>
          <a:ln w="6350">
            <a:solidFill>
              <a:srgbClr val="C9D3E3"/>
            </a:solidFill>
            <a:prstDash val="solid"/>
          </a:ln>
        </p:spPr>
      </p:sp>
      <p:sp>
        <p:nvSpPr>
          <p:cNvPr id="34" name="Text 32"/>
          <p:cNvSpPr txBox="1"/>
          <p:nvPr/>
        </p:nvSpPr>
        <p:spPr>
          <a:xfrm>
            <a:off x="2039112" y="3483864"/>
            <a:ext cx="3063240" cy="219456"/>
          </a:xfrm>
          <a:prstGeom prst="rect">
            <a:avLst/>
          </a:prstGeom>
          <a:noFill/>
          <a:ln/>
        </p:spPr>
        <p:txBody>
          <a:bodyPr wrap="square" lIns="0" tIns="0" rIns="0" bIns="0" rtlCol="0" anchor="t"/>
          <a:lstStyle/>
          <a:p>
            <a:pPr indent="0" marL="0">
              <a:buNone/>
            </a:pPr>
            <a:r>
              <a:rPr lang="en-US" sz="1150" b="1" dirty="0">
                <a:solidFill>
                  <a:srgbClr val="CC0000"/>
                </a:solidFill>
                <a:latin typeface="Calibri" pitchFamily="34" charset="0"/>
                <a:ea typeface="Calibri" pitchFamily="34" charset="-122"/>
                <a:cs typeface="Calibri" pitchFamily="34" charset="-120"/>
              </a:rPr>
              <a:t>Function formats</a:t>
            </a:r>
            <a:endParaRPr lang="en-US" sz="1150" dirty="0"/>
          </a:p>
        </p:txBody>
      </p:sp>
      <p:sp>
        <p:nvSpPr>
          <p:cNvPr id="35" name="Text 33"/>
          <p:cNvSpPr txBox="1"/>
          <p:nvPr/>
        </p:nvSpPr>
        <p:spPr>
          <a:xfrm>
            <a:off x="2039112" y="3712464"/>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68%</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guest/side chairs (vs 14%)</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83%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tackable panels (vs 2%)</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53%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60–72" wide (vs 16%)</a:t>
            </a:r>
            <a:endParaRPr lang="en-US" sz="1200" dirty="0"/>
          </a:p>
        </p:txBody>
      </p:sp>
      <p:sp>
        <p:nvSpPr>
          <p:cNvPr id="36" name="Shape 34"/>
          <p:cNvSpPr/>
          <p:nvPr/>
        </p:nvSpPr>
        <p:spPr>
          <a:xfrm>
            <a:off x="5230368" y="3438144"/>
            <a:ext cx="3246120" cy="896112"/>
          </a:xfrm>
          <a:prstGeom prst="roundRect">
            <a:avLst>
              <a:gd name="adj" fmla="val 6122"/>
            </a:avLst>
          </a:prstGeom>
          <a:solidFill>
            <a:srgbClr val="EEF3FB"/>
          </a:solidFill>
          <a:ln w="6350">
            <a:solidFill>
              <a:srgbClr val="C9D3E3"/>
            </a:solidFill>
            <a:prstDash val="solid"/>
          </a:ln>
        </p:spPr>
      </p:sp>
      <p:sp>
        <p:nvSpPr>
          <p:cNvPr id="37" name="Text 35"/>
          <p:cNvSpPr txBox="1"/>
          <p:nvPr/>
        </p:nvSpPr>
        <p:spPr>
          <a:xfrm>
            <a:off x="5340096" y="3483864"/>
            <a:ext cx="3063240" cy="219456"/>
          </a:xfrm>
          <a:prstGeom prst="rect">
            <a:avLst/>
          </a:prstGeom>
          <a:noFill/>
          <a:ln/>
        </p:spPr>
        <p:txBody>
          <a:bodyPr wrap="square" lIns="0" tIns="0" rIns="0" bIns="0" rtlCol="0" anchor="t"/>
          <a:lstStyle/>
          <a:p>
            <a:pPr indent="0" marL="0">
              <a:buNone/>
            </a:pPr>
            <a:r>
              <a:rPr lang="en-US" sz="1150" b="1" dirty="0">
                <a:solidFill>
                  <a:srgbClr val="7F187F"/>
                </a:solidFill>
                <a:latin typeface="Calibri" pitchFamily="34" charset="0"/>
                <a:ea typeface="Calibri" pitchFamily="34" charset="-122"/>
                <a:cs typeface="Calibri" pitchFamily="34" charset="-120"/>
              </a:rPr>
              <a:t>Home formats</a:t>
            </a:r>
            <a:endParaRPr lang="en-US" sz="1150" dirty="0"/>
          </a:p>
        </p:txBody>
      </p:sp>
      <p:sp>
        <p:nvSpPr>
          <p:cNvPr id="38" name="Text 36"/>
          <p:cNvSpPr txBox="1"/>
          <p:nvPr/>
        </p:nvSpPr>
        <p:spPr>
          <a:xfrm>
            <a:off x="5340096" y="3712464"/>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36%</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armchairs (vs 10%)</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74%</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folding screens (vs 49%)</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40" wide (vs 4%)</a:t>
            </a:r>
            <a:endParaRPr lang="en-US" sz="1200" dirty="0"/>
          </a:p>
        </p:txBody>
      </p:sp>
      <p:sp>
        <p:nvSpPr>
          <p:cNvPr id="39" name="Shape 37"/>
          <p:cNvSpPr/>
          <p:nvPr/>
        </p:nvSpPr>
        <p:spPr>
          <a:xfrm>
            <a:off x="8531352" y="3438144"/>
            <a:ext cx="3246120" cy="896112"/>
          </a:xfrm>
          <a:prstGeom prst="roundRect">
            <a:avLst>
              <a:gd name="adj" fmla="val 6122"/>
            </a:avLst>
          </a:prstGeom>
          <a:solidFill>
            <a:srgbClr val="EEF3FB"/>
          </a:solidFill>
          <a:ln w="6350">
            <a:solidFill>
              <a:srgbClr val="C9D3E3"/>
            </a:solidFill>
            <a:prstDash val="solid"/>
          </a:ln>
        </p:spPr>
      </p:sp>
      <p:sp>
        <p:nvSpPr>
          <p:cNvPr id="40" name="Text 38"/>
          <p:cNvSpPr txBox="1"/>
          <p:nvPr/>
        </p:nvSpPr>
        <p:spPr>
          <a:xfrm>
            <a:off x="8641080" y="3483864"/>
            <a:ext cx="3063240" cy="219456"/>
          </a:xfrm>
          <a:prstGeom prst="rect">
            <a:avLst/>
          </a:prstGeom>
          <a:noFill/>
          <a:ln/>
        </p:spPr>
        <p:txBody>
          <a:bodyPr wrap="square" lIns="0" tIns="0" rIns="0" bIns="0" rtlCol="0" anchor="t"/>
          <a:lstStyle/>
          <a:p>
            <a:pPr indent="0" marL="0">
              <a:buNone/>
            </a:pPr>
            <a:r>
              <a:rPr lang="en-US" sz="1150" b="1" dirty="0">
                <a:solidFill>
                  <a:srgbClr val="C45500"/>
                </a:solidFill>
                <a:latin typeface="Calibri" pitchFamily="34" charset="0"/>
                <a:ea typeface="Calibri" pitchFamily="34" charset="-122"/>
                <a:cs typeface="Calibri" pitchFamily="34" charset="-120"/>
              </a:rPr>
              <a:t>Niche needs</a:t>
            </a:r>
            <a:endParaRPr lang="en-US" sz="1150" dirty="0"/>
          </a:p>
        </p:txBody>
      </p:sp>
      <p:sp>
        <p:nvSpPr>
          <p:cNvPr id="41" name="Text 39"/>
          <p:cNvSpPr txBox="1"/>
          <p:nvPr/>
        </p:nvSpPr>
        <p:spPr>
          <a:xfrm>
            <a:off x="8641080" y="3712464"/>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Planners: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17%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guided journals (vs 0%)</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33%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Nespresso (vs 3%)</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28%</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travel/carry-on (vs 6%)</a:t>
            </a:r>
            <a:endParaRPr lang="en-US" sz="1200" dirty="0"/>
          </a:p>
        </p:txBody>
      </p:sp>
      <p:sp>
        <p:nvSpPr>
          <p:cNvPr id="42" name="Shape 40"/>
          <p:cNvSpPr/>
          <p:nvPr/>
        </p:nvSpPr>
        <p:spPr>
          <a:xfrm>
            <a:off x="411480" y="4370832"/>
            <a:ext cx="1463040" cy="896112"/>
          </a:xfrm>
          <a:prstGeom prst="roundRect">
            <a:avLst>
              <a:gd name="adj" fmla="val 6122"/>
            </a:avLst>
          </a:prstGeom>
          <a:solidFill>
            <a:srgbClr val="1F4E9A"/>
          </a:solidFill>
          <a:ln w="12700">
            <a:solidFill>
              <a:srgbClr val="1F4E9A"/>
            </a:solidFill>
            <a:prstDash val="solid"/>
          </a:ln>
        </p:spPr>
      </p:sp>
      <p:sp>
        <p:nvSpPr>
          <p:cNvPr id="43" name="Text 41"/>
          <p:cNvSpPr txBox="1"/>
          <p:nvPr/>
        </p:nvSpPr>
        <p:spPr>
          <a:xfrm>
            <a:off x="521208" y="4370832"/>
            <a:ext cx="1280160" cy="8961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Price ladder</a:t>
            </a:r>
            <a:endParaRPr lang="en-US" sz="1250" dirty="0"/>
          </a:p>
        </p:txBody>
      </p:sp>
      <p:sp>
        <p:nvSpPr>
          <p:cNvPr id="44" name="Shape 42"/>
          <p:cNvSpPr/>
          <p:nvPr/>
        </p:nvSpPr>
        <p:spPr>
          <a:xfrm>
            <a:off x="1929384" y="4370832"/>
            <a:ext cx="3246120" cy="896112"/>
          </a:xfrm>
          <a:prstGeom prst="roundRect">
            <a:avLst>
              <a:gd name="adj" fmla="val 6122"/>
            </a:avLst>
          </a:prstGeom>
          <a:solidFill>
            <a:srgbClr val="FFFFFF"/>
          </a:solidFill>
          <a:ln w="6350">
            <a:solidFill>
              <a:srgbClr val="C9D3E3"/>
            </a:solidFill>
            <a:prstDash val="solid"/>
          </a:ln>
        </p:spPr>
      </p:sp>
      <p:sp>
        <p:nvSpPr>
          <p:cNvPr id="45" name="Text 43"/>
          <p:cNvSpPr txBox="1"/>
          <p:nvPr/>
        </p:nvSpPr>
        <p:spPr>
          <a:xfrm>
            <a:off x="2039112" y="4416552"/>
            <a:ext cx="3063240" cy="219456"/>
          </a:xfrm>
          <a:prstGeom prst="rect">
            <a:avLst/>
          </a:prstGeom>
          <a:noFill/>
          <a:ln/>
        </p:spPr>
        <p:txBody>
          <a:bodyPr wrap="square" lIns="0" tIns="0" rIns="0" bIns="0" rtlCol="0" anchor="t"/>
          <a:lstStyle/>
          <a:p>
            <a:pPr indent="0" marL="0">
              <a:buNone/>
            </a:pPr>
            <a:r>
              <a:rPr lang="en-US" sz="1150" b="1" dirty="0">
                <a:solidFill>
                  <a:srgbClr val="CC0000"/>
                </a:solidFill>
                <a:latin typeface="Calibri" pitchFamily="34" charset="0"/>
                <a:ea typeface="Calibri" pitchFamily="34" charset="-122"/>
                <a:cs typeface="Calibri" pitchFamily="34" charset="-120"/>
              </a:rPr>
              <a:t>Premium in furniture</a:t>
            </a:r>
            <a:endParaRPr lang="en-US" sz="1150" dirty="0"/>
          </a:p>
        </p:txBody>
      </p:sp>
      <p:sp>
        <p:nvSpPr>
          <p:cNvPr id="46" name="Text 44"/>
          <p:cNvSpPr txBox="1"/>
          <p:nvPr/>
        </p:nvSpPr>
        <p:spPr>
          <a:xfrm>
            <a:off x="2039112" y="4645152"/>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median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$729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(vs $286)</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Partitions: median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$1,581</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(vs $330)</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Planners: median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$20</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(vs $13)</a:t>
            </a:r>
            <a:endParaRPr lang="en-US" sz="1200" dirty="0"/>
          </a:p>
        </p:txBody>
      </p:sp>
      <p:sp>
        <p:nvSpPr>
          <p:cNvPr id="47" name="Shape 45"/>
          <p:cNvSpPr/>
          <p:nvPr/>
        </p:nvSpPr>
        <p:spPr>
          <a:xfrm>
            <a:off x="5230368" y="4370832"/>
            <a:ext cx="3246120" cy="896112"/>
          </a:xfrm>
          <a:prstGeom prst="roundRect">
            <a:avLst>
              <a:gd name="adj" fmla="val 6122"/>
            </a:avLst>
          </a:prstGeom>
          <a:solidFill>
            <a:srgbClr val="FFFFFF"/>
          </a:solidFill>
          <a:ln w="6350">
            <a:solidFill>
              <a:srgbClr val="C9D3E3"/>
            </a:solidFill>
            <a:prstDash val="solid"/>
          </a:ln>
        </p:spPr>
      </p:sp>
      <p:sp>
        <p:nvSpPr>
          <p:cNvPr id="48" name="Text 46"/>
          <p:cNvSpPr txBox="1"/>
          <p:nvPr/>
        </p:nvSpPr>
        <p:spPr>
          <a:xfrm>
            <a:off x="5340096" y="4416552"/>
            <a:ext cx="3063240" cy="219456"/>
          </a:xfrm>
          <a:prstGeom prst="rect">
            <a:avLst/>
          </a:prstGeom>
          <a:noFill/>
          <a:ln/>
        </p:spPr>
        <p:txBody>
          <a:bodyPr wrap="square" lIns="0" tIns="0" rIns="0" bIns="0" rtlCol="0" anchor="t"/>
          <a:lstStyle/>
          <a:p>
            <a:pPr indent="0" marL="0">
              <a:buNone/>
            </a:pPr>
            <a:r>
              <a:rPr lang="en-US" sz="1150" b="1" dirty="0">
                <a:solidFill>
                  <a:srgbClr val="7F187F"/>
                </a:solidFill>
                <a:latin typeface="Calibri" pitchFamily="34" charset="0"/>
                <a:ea typeface="Calibri" pitchFamily="34" charset="-122"/>
                <a:cs typeface="Calibri" pitchFamily="34" charset="-120"/>
              </a:rPr>
              <a:t>Entry-price furniture, premium décor</a:t>
            </a:r>
            <a:endParaRPr lang="en-US" sz="1150" dirty="0"/>
          </a:p>
        </p:txBody>
      </p:sp>
      <p:sp>
        <p:nvSpPr>
          <p:cNvPr id="49" name="Text 47"/>
          <p:cNvSpPr txBox="1"/>
          <p:nvPr/>
        </p:nvSpPr>
        <p:spPr>
          <a:xfrm>
            <a:off x="5340096" y="4645152"/>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29%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$200 (vs 7%)</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28%</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$150 (vs 3%)</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Clocks: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25%</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at $125+ (vs 2%)</a:t>
            </a:r>
            <a:endParaRPr lang="en-US" sz="1200" dirty="0"/>
          </a:p>
        </p:txBody>
      </p:sp>
      <p:sp>
        <p:nvSpPr>
          <p:cNvPr id="50" name="Shape 48"/>
          <p:cNvSpPr/>
          <p:nvPr/>
        </p:nvSpPr>
        <p:spPr>
          <a:xfrm>
            <a:off x="8531352" y="4370832"/>
            <a:ext cx="3246120" cy="896112"/>
          </a:xfrm>
          <a:prstGeom prst="roundRect">
            <a:avLst>
              <a:gd name="adj" fmla="val 6122"/>
            </a:avLst>
          </a:prstGeom>
          <a:solidFill>
            <a:srgbClr val="FFFFFF"/>
          </a:solidFill>
          <a:ln w="6350">
            <a:solidFill>
              <a:srgbClr val="C9D3E3"/>
            </a:solidFill>
            <a:prstDash val="solid"/>
          </a:ln>
        </p:spPr>
      </p:sp>
      <p:sp>
        <p:nvSpPr>
          <p:cNvPr id="51" name="Text 49"/>
          <p:cNvSpPr txBox="1"/>
          <p:nvPr/>
        </p:nvSpPr>
        <p:spPr>
          <a:xfrm>
            <a:off x="8641080" y="4416552"/>
            <a:ext cx="3063240" cy="219456"/>
          </a:xfrm>
          <a:prstGeom prst="rect">
            <a:avLst/>
          </a:prstGeom>
          <a:noFill/>
          <a:ln/>
        </p:spPr>
        <p:txBody>
          <a:bodyPr wrap="square" lIns="0" tIns="0" rIns="0" bIns="0" rtlCol="0" anchor="t"/>
          <a:lstStyle/>
          <a:p>
            <a:pPr indent="0" marL="0">
              <a:buNone/>
            </a:pPr>
            <a:r>
              <a:rPr lang="en-US" sz="1150" b="1" dirty="0">
                <a:solidFill>
                  <a:srgbClr val="C45500"/>
                </a:solidFill>
                <a:latin typeface="Calibri" pitchFamily="34" charset="0"/>
                <a:ea typeface="Calibri" pitchFamily="34" charset="-122"/>
                <a:cs typeface="Calibri" pitchFamily="34" charset="-120"/>
              </a:rPr>
              <a:t>Cheaper everyday supplies</a:t>
            </a:r>
            <a:endParaRPr lang="en-US" sz="1150" dirty="0"/>
          </a:p>
        </p:txBody>
      </p:sp>
      <p:sp>
        <p:nvSpPr>
          <p:cNvPr id="52" name="Text 50"/>
          <p:cNvSpPr txBox="1"/>
          <p:nvPr/>
        </p:nvSpPr>
        <p:spPr>
          <a:xfrm>
            <a:off x="8641080" y="4645152"/>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Planners: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41%</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$10 (vs 12%)</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17%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$15 (vs 0%)</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Lunch bags: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27%</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under $15 (vs 14%)</a:t>
            </a:r>
            <a:endParaRPr lang="en-US" sz="1200" dirty="0"/>
          </a:p>
        </p:txBody>
      </p:sp>
      <p:sp>
        <p:nvSpPr>
          <p:cNvPr id="53" name="Shape 51"/>
          <p:cNvSpPr/>
          <p:nvPr/>
        </p:nvSpPr>
        <p:spPr>
          <a:xfrm>
            <a:off x="411480" y="5303520"/>
            <a:ext cx="1463040" cy="896112"/>
          </a:xfrm>
          <a:prstGeom prst="roundRect">
            <a:avLst>
              <a:gd name="adj" fmla="val 6122"/>
            </a:avLst>
          </a:prstGeom>
          <a:solidFill>
            <a:srgbClr val="1F4E9A"/>
          </a:solidFill>
          <a:ln w="12700">
            <a:solidFill>
              <a:srgbClr val="1F4E9A"/>
            </a:solidFill>
            <a:prstDash val="solid"/>
          </a:ln>
        </p:spPr>
      </p:sp>
      <p:sp>
        <p:nvSpPr>
          <p:cNvPr id="54" name="Text 52"/>
          <p:cNvSpPr txBox="1"/>
          <p:nvPr/>
        </p:nvSpPr>
        <p:spPr>
          <a:xfrm>
            <a:off x="521208" y="5303520"/>
            <a:ext cx="1280160" cy="8961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Feature story</a:t>
            </a:r>
            <a:endParaRPr lang="en-US" sz="1250" dirty="0"/>
          </a:p>
        </p:txBody>
      </p:sp>
      <p:sp>
        <p:nvSpPr>
          <p:cNvPr id="55" name="Shape 53"/>
          <p:cNvSpPr/>
          <p:nvPr/>
        </p:nvSpPr>
        <p:spPr>
          <a:xfrm>
            <a:off x="1929384" y="5303520"/>
            <a:ext cx="3246120" cy="896112"/>
          </a:xfrm>
          <a:prstGeom prst="roundRect">
            <a:avLst>
              <a:gd name="adj" fmla="val 6122"/>
            </a:avLst>
          </a:prstGeom>
          <a:solidFill>
            <a:srgbClr val="EEF3FB"/>
          </a:solidFill>
          <a:ln w="6350">
            <a:solidFill>
              <a:srgbClr val="C9D3E3"/>
            </a:solidFill>
            <a:prstDash val="solid"/>
          </a:ln>
        </p:spPr>
      </p:sp>
      <p:sp>
        <p:nvSpPr>
          <p:cNvPr id="56" name="Text 54"/>
          <p:cNvSpPr txBox="1"/>
          <p:nvPr/>
        </p:nvSpPr>
        <p:spPr>
          <a:xfrm>
            <a:off x="2039112" y="5349240"/>
            <a:ext cx="3063240" cy="219456"/>
          </a:xfrm>
          <a:prstGeom prst="rect">
            <a:avLst/>
          </a:prstGeom>
          <a:noFill/>
          <a:ln/>
        </p:spPr>
        <p:txBody>
          <a:bodyPr wrap="square" lIns="0" tIns="0" rIns="0" bIns="0" rtlCol="0" anchor="t"/>
          <a:lstStyle/>
          <a:p>
            <a:pPr indent="0" marL="0">
              <a:buNone/>
            </a:pPr>
            <a:r>
              <a:rPr lang="en-US" sz="1150" b="1" dirty="0">
                <a:solidFill>
                  <a:srgbClr val="CC0000"/>
                </a:solidFill>
                <a:latin typeface="Calibri" pitchFamily="34" charset="0"/>
                <a:ea typeface="Calibri" pitchFamily="34" charset="-122"/>
                <a:cs typeface="Calibri" pitchFamily="34" charset="-120"/>
              </a:rPr>
              <a:t>Tech &amp; practicality</a:t>
            </a:r>
            <a:endParaRPr lang="en-US" sz="1150" dirty="0"/>
          </a:p>
        </p:txBody>
      </p:sp>
      <p:sp>
        <p:nvSpPr>
          <p:cNvPr id="57" name="Text 55"/>
          <p:cNvSpPr txBox="1"/>
          <p:nvPr/>
        </p:nvSpPr>
        <p:spPr>
          <a:xfrm>
            <a:off x="2039112" y="5577840"/>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 lamps: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83%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with USB ports (vs 18%)</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 lamps: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49%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dimmable (vs 16%)</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Lunch bags: </a:t>
            </a:r>
            <a:pPr indent="0" marL="0">
              <a:spcAft>
                <a:spcPts val="100"/>
              </a:spcAft>
              <a:buNone/>
            </a:pPr>
            <a:r>
              <a:rPr lang="en-US" sz="1050" b="1" dirty="0">
                <a:solidFill>
                  <a:srgbClr val="CC0000"/>
                </a:solidFill>
                <a:latin typeface="Calibri" pitchFamily="34" charset="0"/>
                <a:ea typeface="Calibri" pitchFamily="34" charset="-122"/>
                <a:cs typeface="Calibri" pitchFamily="34" charset="-120"/>
              </a:rPr>
              <a:t>90%</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sustainability claims (vs 41%)</a:t>
            </a:r>
            <a:endParaRPr lang="en-US" sz="1200" dirty="0"/>
          </a:p>
        </p:txBody>
      </p:sp>
      <p:sp>
        <p:nvSpPr>
          <p:cNvPr id="58" name="Shape 56"/>
          <p:cNvSpPr/>
          <p:nvPr/>
        </p:nvSpPr>
        <p:spPr>
          <a:xfrm>
            <a:off x="5230368" y="5303520"/>
            <a:ext cx="3246120" cy="896112"/>
          </a:xfrm>
          <a:prstGeom prst="roundRect">
            <a:avLst>
              <a:gd name="adj" fmla="val 6122"/>
            </a:avLst>
          </a:prstGeom>
          <a:solidFill>
            <a:srgbClr val="EEF3FB"/>
          </a:solidFill>
          <a:ln w="6350">
            <a:solidFill>
              <a:srgbClr val="C9D3E3"/>
            </a:solidFill>
            <a:prstDash val="solid"/>
          </a:ln>
        </p:spPr>
      </p:sp>
      <p:sp>
        <p:nvSpPr>
          <p:cNvPr id="59" name="Text 57"/>
          <p:cNvSpPr txBox="1"/>
          <p:nvPr/>
        </p:nvSpPr>
        <p:spPr>
          <a:xfrm>
            <a:off x="5340096" y="5349240"/>
            <a:ext cx="3063240" cy="219456"/>
          </a:xfrm>
          <a:prstGeom prst="rect">
            <a:avLst/>
          </a:prstGeom>
          <a:noFill/>
          <a:ln/>
        </p:spPr>
        <p:txBody>
          <a:bodyPr wrap="square" lIns="0" tIns="0" rIns="0" bIns="0" rtlCol="0" anchor="t"/>
          <a:lstStyle/>
          <a:p>
            <a:pPr indent="0" marL="0">
              <a:buNone/>
            </a:pPr>
            <a:r>
              <a:rPr lang="en-US" sz="1150" b="1" dirty="0">
                <a:solidFill>
                  <a:srgbClr val="7F187F"/>
                </a:solidFill>
                <a:latin typeface="Calibri" pitchFamily="34" charset="0"/>
                <a:ea typeface="Calibri" pitchFamily="34" charset="-122"/>
                <a:cs typeface="Calibri" pitchFamily="34" charset="-120"/>
              </a:rPr>
              <a:t>Mood &amp; styling words</a:t>
            </a:r>
            <a:endParaRPr lang="en-US" sz="1150" dirty="0"/>
          </a:p>
        </p:txBody>
      </p:sp>
      <p:sp>
        <p:nvSpPr>
          <p:cNvPr id="60" name="Text 58"/>
          <p:cNvSpPr txBox="1"/>
          <p:nvPr/>
        </p:nvSpPr>
        <p:spPr>
          <a:xfrm>
            <a:off x="5340096" y="5577840"/>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35%</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described as "luxe" (vs 7%)</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33%</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cozy/plush (vs 13%)</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Screens: </a:t>
            </a:r>
            <a:pPr indent="0" marL="0">
              <a:spcAft>
                <a:spcPts val="100"/>
              </a:spcAft>
              <a:buNone/>
            </a:pPr>
            <a:r>
              <a:rPr lang="en-US" sz="1050" b="1" dirty="0">
                <a:solidFill>
                  <a:srgbClr val="7F187F"/>
                </a:solidFill>
                <a:latin typeface="Calibri" pitchFamily="34" charset="0"/>
                <a:ea typeface="Calibri" pitchFamily="34" charset="-122"/>
                <a:cs typeface="Calibri" pitchFamily="34" charset="-120"/>
              </a:rPr>
              <a:t>21%</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print/photo designs (vs 0%)</a:t>
            </a:r>
            <a:endParaRPr lang="en-US" sz="1200" dirty="0"/>
          </a:p>
        </p:txBody>
      </p:sp>
      <p:sp>
        <p:nvSpPr>
          <p:cNvPr id="61" name="Shape 59"/>
          <p:cNvSpPr/>
          <p:nvPr/>
        </p:nvSpPr>
        <p:spPr>
          <a:xfrm>
            <a:off x="8531352" y="5303520"/>
            <a:ext cx="3246120" cy="896112"/>
          </a:xfrm>
          <a:prstGeom prst="roundRect">
            <a:avLst>
              <a:gd name="adj" fmla="val 6122"/>
            </a:avLst>
          </a:prstGeom>
          <a:solidFill>
            <a:srgbClr val="EEF3FB"/>
          </a:solidFill>
          <a:ln w="6350">
            <a:solidFill>
              <a:srgbClr val="C9D3E3"/>
            </a:solidFill>
            <a:prstDash val="solid"/>
          </a:ln>
        </p:spPr>
      </p:sp>
      <p:sp>
        <p:nvSpPr>
          <p:cNvPr id="62" name="Text 60"/>
          <p:cNvSpPr txBox="1"/>
          <p:nvPr/>
        </p:nvSpPr>
        <p:spPr>
          <a:xfrm>
            <a:off x="8641080" y="5349240"/>
            <a:ext cx="3063240" cy="219456"/>
          </a:xfrm>
          <a:prstGeom prst="rect">
            <a:avLst/>
          </a:prstGeom>
          <a:noFill/>
          <a:ln/>
        </p:spPr>
        <p:txBody>
          <a:bodyPr wrap="square" lIns="0" tIns="0" rIns="0" bIns="0" rtlCol="0" anchor="t"/>
          <a:lstStyle/>
          <a:p>
            <a:pPr indent="0" marL="0">
              <a:buNone/>
            </a:pPr>
            <a:r>
              <a:rPr lang="en-US" sz="1150" b="1" dirty="0">
                <a:solidFill>
                  <a:srgbClr val="C45500"/>
                </a:solidFill>
                <a:latin typeface="Calibri" pitchFamily="34" charset="0"/>
                <a:ea typeface="Calibri" pitchFamily="34" charset="-122"/>
                <a:cs typeface="Calibri" pitchFamily="34" charset="-120"/>
              </a:rPr>
              <a:t>Use-case led</a:t>
            </a:r>
            <a:endParaRPr lang="en-US" sz="1150" dirty="0"/>
          </a:p>
        </p:txBody>
      </p:sp>
      <p:sp>
        <p:nvSpPr>
          <p:cNvPr id="63" name="Text 61"/>
          <p:cNvSpPr txBox="1"/>
          <p:nvPr/>
        </p:nvSpPr>
        <p:spPr>
          <a:xfrm>
            <a:off x="8641080" y="5577840"/>
            <a:ext cx="3081528" cy="585216"/>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25%</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for outdoor use (vs 3%)</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Planners: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29%</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daily layouts (vs 9%)</a:t>
            </a:r>
            <a:endParaRPr lang="en-US" sz="120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50" b="1" dirty="0">
                <a:solidFill>
                  <a:srgbClr val="C45500"/>
                </a:solidFill>
                <a:latin typeface="Calibri" pitchFamily="34" charset="0"/>
                <a:ea typeface="Calibri" pitchFamily="34" charset="-122"/>
                <a:cs typeface="Calibri" pitchFamily="34" charset="-120"/>
              </a:rPr>
              <a:t>52%</a:t>
            </a:r>
            <a:pPr indent="0" marL="0">
              <a:spcAft>
                <a:spcPts val="100"/>
              </a:spcAft>
              <a:buNone/>
            </a:pPr>
            <a:r>
              <a:rPr lang="en-US" sz="1050" dirty="0">
                <a:solidFill>
                  <a:srgbClr val="1F2937"/>
                </a:solidFill>
                <a:latin typeface="Calibri" pitchFamily="34" charset="0"/>
                <a:ea typeface="Calibri" pitchFamily="34" charset="-122"/>
                <a:cs typeface="Calibri" pitchFamily="34" charset="-120"/>
              </a:rPr>
              <a:t> hold 30–49 pods (vs 28%)</a:t>
            </a:r>
            <a:endParaRPr lang="en-US" sz="1200" dirty="0"/>
          </a:p>
        </p:txBody>
      </p:sp>
      <p:sp>
        <p:nvSpPr>
          <p:cNvPr id="64" name="Text 62"/>
          <p:cNvSpPr txBox="1"/>
          <p:nvPr/>
        </p:nvSpPr>
        <p:spPr>
          <a:xfrm>
            <a:off x="411480" y="6272784"/>
            <a:ext cx="11365992" cy="182880"/>
          </a:xfrm>
          <a:prstGeom prst="rect">
            <a:avLst/>
          </a:prstGeom>
          <a:noFill/>
          <a:ln/>
        </p:spPr>
        <p:txBody>
          <a:bodyPr wrap="square" lIns="0" tIns="0" rIns="0" bIns="0" rtlCol="0" anchor="t"/>
          <a:lstStyle/>
          <a:p>
            <a:pPr indent="0" marL="0">
              <a:buNone/>
            </a:pPr>
            <a:r>
              <a:rPr lang="en-US" sz="850" i="1" dirty="0">
                <a:solidFill>
                  <a:srgbClr val="5B6475"/>
                </a:solidFill>
                <a:latin typeface="Calibri" pitchFamily="34" charset="0"/>
                <a:ea typeface="Calibri" pitchFamily="34" charset="-122"/>
                <a:cs typeface="Calibri" pitchFamily="34" charset="-120"/>
              </a:rPr>
              <a:t>Shares = % of each retailer's product families in the node  ·  (vs …) = the compared retailer in the same node  ·  every gap shown is statistically credible (≥ 95%)  ·  Amazon text is short, so its feature shares are lower bounds</a:t>
            </a:r>
            <a:endParaRPr lang="en-US" sz="8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Recommendations: Top 2 Archetypes to Add per Node</a:t>
            </a:r>
            <a:endParaRPr lang="en-US" sz="2800" dirty="0"/>
          </a:p>
        </p:txBody>
      </p:sp>
      <p:sp>
        <p:nvSpPr>
          <p:cNvPr id="3" name="Shape 1"/>
          <p:cNvSpPr/>
          <p:nvPr/>
        </p:nvSpPr>
        <p:spPr>
          <a:xfrm>
            <a:off x="411480" y="1051560"/>
            <a:ext cx="3739896" cy="329184"/>
          </a:xfrm>
          <a:prstGeom prst="roundRect">
            <a:avLst>
              <a:gd name="adj" fmla="val 16667"/>
            </a:avLst>
          </a:prstGeom>
          <a:solidFill>
            <a:srgbClr val="13285B"/>
          </a:solidFill>
          <a:ln w="12700">
            <a:solidFill>
              <a:srgbClr val="13285B"/>
            </a:solidFill>
            <a:prstDash val="solid"/>
          </a:ln>
        </p:spPr>
      </p:sp>
      <p:sp>
        <p:nvSpPr>
          <p:cNvPr id="4" name="Text 2"/>
          <p:cNvSpPr txBox="1"/>
          <p:nvPr/>
        </p:nvSpPr>
        <p:spPr>
          <a:xfrm>
            <a:off x="411480" y="1051560"/>
            <a:ext cx="3739896"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HERO · EXTEND</a:t>
            </a:r>
            <a:endParaRPr lang="en-US" sz="1250" dirty="0"/>
          </a:p>
        </p:txBody>
      </p:sp>
      <p:sp>
        <p:nvSpPr>
          <p:cNvPr id="5" name="Shape 3"/>
          <p:cNvSpPr/>
          <p:nvPr/>
        </p:nvSpPr>
        <p:spPr>
          <a:xfrm>
            <a:off x="411480" y="1417320"/>
            <a:ext cx="3739896" cy="1600200"/>
          </a:xfrm>
          <a:prstGeom prst="roundRect">
            <a:avLst>
              <a:gd name="adj" fmla="val 4571"/>
            </a:avLst>
          </a:prstGeom>
          <a:solidFill>
            <a:srgbClr val="FFFFFF"/>
          </a:solidFill>
          <a:ln w="9525">
            <a:solidFill>
              <a:srgbClr val="C9D3E3"/>
            </a:solidFill>
            <a:prstDash val="solid"/>
          </a:ln>
        </p:spPr>
      </p:sp>
      <p:sp>
        <p:nvSpPr>
          <p:cNvPr id="6" name="Text 4"/>
          <p:cNvSpPr txBox="1"/>
          <p:nvPr/>
        </p:nvSpPr>
        <p:spPr>
          <a:xfrm>
            <a:off x="521208" y="1453896"/>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Planners &amp; Personal Organizers</a:t>
            </a:r>
            <a:endParaRPr lang="en-US" sz="1250" dirty="0"/>
          </a:p>
        </p:txBody>
      </p:sp>
      <p:sp>
        <p:nvSpPr>
          <p:cNvPr id="7" name="Shape 5"/>
          <p:cNvSpPr/>
          <p:nvPr/>
        </p:nvSpPr>
        <p:spPr>
          <a:xfrm>
            <a:off x="3282696" y="1472184"/>
            <a:ext cx="777240" cy="201168"/>
          </a:xfrm>
          <a:prstGeom prst="roundRect">
            <a:avLst>
              <a:gd name="adj" fmla="val 50000"/>
            </a:avLst>
          </a:prstGeom>
          <a:solidFill>
            <a:srgbClr val="C45500"/>
          </a:solidFill>
          <a:ln w="12700">
            <a:solidFill>
              <a:srgbClr val="C45500"/>
            </a:solidFill>
            <a:prstDash val="solid"/>
          </a:ln>
        </p:spPr>
      </p:sp>
      <p:sp>
        <p:nvSpPr>
          <p:cNvPr id="8" name="Text 6"/>
          <p:cNvSpPr txBox="1"/>
          <p:nvPr/>
        </p:nvSpPr>
        <p:spPr>
          <a:xfrm>
            <a:off x="3282696" y="1472184"/>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9" name="Text 7"/>
          <p:cNvSpPr txBox="1"/>
          <p:nvPr/>
        </p:nvSpPr>
        <p:spPr>
          <a:xfrm>
            <a:off x="521208" y="170078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 invalidUrl="" action="" tgtFrame="" tooltip="Open example on Amazon" history="1" highlightClick="0" endSnd="0">
                  <a:extLst>
                    <a:ext uri="{A12FA001-AC4F-418D-AE19-62706E023703}">
                      <ahyp:hlinkClr xmlns:ahyp="http://schemas.microsoft.com/office/drawing/2018/hyperlinkcolor" val="tx"/>
                    </a:ext>
                  </a:extLst>
                </a:hlinkClick>
              </a:rPr>
              <a:t>Minimal multi-year monthly planner</a:t>
            </a:r>
            <a:endParaRPr lang="en-US" sz="1100" dirty="0"/>
          </a:p>
        </p:txBody>
      </p:sp>
      <p:sp>
        <p:nvSpPr>
          <p:cNvPr id="10" name="Shape 8"/>
          <p:cNvSpPr/>
          <p:nvPr/>
        </p:nvSpPr>
        <p:spPr>
          <a:xfrm>
            <a:off x="3346704" y="1709928"/>
            <a:ext cx="694944" cy="164592"/>
          </a:xfrm>
          <a:prstGeom prst="roundRect">
            <a:avLst>
              <a:gd name="adj" fmla="val 50000"/>
            </a:avLst>
          </a:prstGeom>
          <a:solidFill>
            <a:srgbClr val="B86E00"/>
          </a:solidFill>
          <a:ln w="12700">
            <a:solidFill>
              <a:srgbClr val="B86E00"/>
            </a:solidFill>
            <a:prstDash val="solid"/>
          </a:ln>
        </p:spPr>
      </p:sp>
      <p:sp>
        <p:nvSpPr>
          <p:cNvPr id="11" name="Text 9"/>
          <p:cNvSpPr txBox="1"/>
          <p:nvPr/>
        </p:nvSpPr>
        <p:spPr>
          <a:xfrm>
            <a:off x="3346704" y="170992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12" name="Shape 10"/>
          <p:cNvSpPr/>
          <p:nvPr/>
        </p:nvSpPr>
        <p:spPr>
          <a:xfrm>
            <a:off x="521208" y="1897380"/>
            <a:ext cx="3520440" cy="164592"/>
          </a:xfrm>
          <a:prstGeom prst="roundRect">
            <a:avLst>
              <a:gd name="adj" fmla="val 27778"/>
            </a:avLst>
          </a:prstGeom>
          <a:solidFill>
            <a:srgbClr val="E8EFFB"/>
          </a:solidFill>
          <a:ln w="12700">
            <a:solidFill>
              <a:srgbClr val="E8EFFB"/>
            </a:solidFill>
            <a:prstDash val="solid"/>
          </a:ln>
        </p:spPr>
      </p:sp>
      <p:sp>
        <p:nvSpPr>
          <p:cNvPr id="13" name="Text 11"/>
          <p:cNvSpPr txBox="1"/>
          <p:nvPr/>
        </p:nvSpPr>
        <p:spPr>
          <a:xfrm>
            <a:off x="557784" y="1897380"/>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planner · Layout: monthly · Design: plain</a:t>
            </a:r>
            <a:endParaRPr lang="en-US" sz="900" dirty="0"/>
          </a:p>
        </p:txBody>
      </p:sp>
      <p:sp>
        <p:nvSpPr>
          <p:cNvPr id="14" name="Text 12"/>
          <p:cNvSpPr txBox="1"/>
          <p:nvPr/>
        </p:nvSpPr>
        <p:spPr>
          <a:xfrm>
            <a:off x="521208" y="207111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Plain designs: Staples 37% vs Amazon 78%</a:t>
            </a:r>
            <a:endParaRPr lang="en-US" sz="900" dirty="0"/>
          </a:p>
        </p:txBody>
      </p:sp>
      <p:sp>
        <p:nvSpPr>
          <p:cNvPr id="15" name="Text 13"/>
          <p:cNvSpPr txBox="1"/>
          <p:nvPr/>
        </p:nvSpPr>
        <p:spPr>
          <a:xfrm>
            <a:off x="521208" y="220370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 invalidUrl="" action="" tgtFrame="" tooltip="2027-2029 Monthly Planner - 3 Year Calendar 2027-2028-2029 Monthly Planner" history="1" highlightClick="0" endSnd="0">
                  <a:extLst>
                    <a:ext uri="{A12FA001-AC4F-418D-AE19-62706E023703}">
                      <ahyp:hlinkClr xmlns:ahyp="http://schemas.microsoft.com/office/drawing/2018/hyperlinkcolor" val="tx"/>
                    </a:ext>
                  </a:extLst>
                </a:hlinkClick>
              </a:rPr>
              <a:t>2027-2029 Monthly Planner - 3 Year Calendar… · $17.49 ↗</a:t>
            </a:r>
            <a:endParaRPr lang="en-US" sz="900" dirty="0"/>
          </a:p>
        </p:txBody>
      </p:sp>
      <p:sp>
        <p:nvSpPr>
          <p:cNvPr id="16" name="Shape 14"/>
          <p:cNvSpPr/>
          <p:nvPr/>
        </p:nvSpPr>
        <p:spPr>
          <a:xfrm>
            <a:off x="521208" y="2336292"/>
            <a:ext cx="3520440" cy="0"/>
          </a:xfrm>
          <a:prstGeom prst="line">
            <a:avLst/>
          </a:prstGeom>
          <a:noFill/>
          <a:ln w="9525">
            <a:solidFill>
              <a:srgbClr val="E3E8F0"/>
            </a:solidFill>
            <a:prstDash val="solid"/>
          </a:ln>
        </p:spPr>
      </p:sp>
      <p:sp>
        <p:nvSpPr>
          <p:cNvPr id="17" name="Text 15"/>
          <p:cNvSpPr txBox="1"/>
          <p:nvPr/>
        </p:nvSpPr>
        <p:spPr>
          <a:xfrm>
            <a:off x="521208" y="2359152"/>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 invalidUrl="" action="" tgtFrame="" tooltip="Open example on Amazon" history="1" highlightClick="0" endSnd="0">
                  <a:extLst>
                    <a:ext uri="{A12FA001-AC4F-418D-AE19-62706E023703}">
                      <ahyp:hlinkClr xmlns:ahyp="http://schemas.microsoft.com/office/drawing/2018/hyperlinkcolor" val="tx"/>
                    </a:ext>
                  </a:extLst>
                </a:hlinkClick>
              </a:rPr>
              <a:t>Guided / daily journal</a:t>
            </a:r>
            <a:endParaRPr lang="en-US" sz="1100" dirty="0"/>
          </a:p>
        </p:txBody>
      </p:sp>
      <p:sp>
        <p:nvSpPr>
          <p:cNvPr id="18" name="Shape 16"/>
          <p:cNvSpPr/>
          <p:nvPr/>
        </p:nvSpPr>
        <p:spPr>
          <a:xfrm>
            <a:off x="3346704" y="2368296"/>
            <a:ext cx="694944" cy="164592"/>
          </a:xfrm>
          <a:prstGeom prst="roundRect">
            <a:avLst>
              <a:gd name="adj" fmla="val 50000"/>
            </a:avLst>
          </a:prstGeom>
          <a:solidFill>
            <a:srgbClr val="1E8E5A"/>
          </a:solidFill>
          <a:ln w="12700">
            <a:solidFill>
              <a:srgbClr val="1E8E5A"/>
            </a:solidFill>
            <a:prstDash val="solid"/>
          </a:ln>
        </p:spPr>
      </p:sp>
      <p:sp>
        <p:nvSpPr>
          <p:cNvPr id="19" name="Text 17"/>
          <p:cNvSpPr txBox="1"/>
          <p:nvPr/>
        </p:nvSpPr>
        <p:spPr>
          <a:xfrm>
            <a:off x="3346704" y="2368296"/>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20" name="Shape 18"/>
          <p:cNvSpPr/>
          <p:nvPr/>
        </p:nvSpPr>
        <p:spPr>
          <a:xfrm>
            <a:off x="521208" y="2555748"/>
            <a:ext cx="3520440" cy="164592"/>
          </a:xfrm>
          <a:prstGeom prst="roundRect">
            <a:avLst>
              <a:gd name="adj" fmla="val 27778"/>
            </a:avLst>
          </a:prstGeom>
          <a:solidFill>
            <a:srgbClr val="E8EFFB"/>
          </a:solidFill>
          <a:ln w="12700">
            <a:solidFill>
              <a:srgbClr val="E8EFFB"/>
            </a:solidFill>
            <a:prstDash val="solid"/>
          </a:ln>
        </p:spPr>
      </p:sp>
      <p:sp>
        <p:nvSpPr>
          <p:cNvPr id="21" name="Text 19"/>
          <p:cNvSpPr txBox="1"/>
          <p:nvPr/>
        </p:nvSpPr>
        <p:spPr>
          <a:xfrm>
            <a:off x="557784" y="2555748"/>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journal/guided · Layout: daily · Design: plain</a:t>
            </a:r>
            <a:endParaRPr lang="en-US" sz="900" dirty="0"/>
          </a:p>
        </p:txBody>
      </p:sp>
      <p:sp>
        <p:nvSpPr>
          <p:cNvPr id="22" name="Text 20"/>
          <p:cNvSpPr txBox="1"/>
          <p:nvPr/>
        </p:nvSpPr>
        <p:spPr>
          <a:xfrm>
            <a:off x="521208" y="272948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Staples 2 of 805 · Amazon 17% of range</a:t>
            </a:r>
            <a:endParaRPr lang="en-US" sz="900" dirty="0"/>
          </a:p>
        </p:txBody>
      </p:sp>
      <p:sp>
        <p:nvSpPr>
          <p:cNvPr id="23" name="Text 21"/>
          <p:cNvSpPr txBox="1"/>
          <p:nvPr/>
        </p:nvSpPr>
        <p:spPr>
          <a:xfrm>
            <a:off x="521208" y="286207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4" invalidUrl="" action="" tgtFrame="" tooltip="LEATHER VILLAGE Leather Bound Journal Key Lock, Distressed Brown 8x6." history="1" highlightClick="0" endSnd="0">
                  <a:extLst>
                    <a:ext uri="{A12FA001-AC4F-418D-AE19-62706E023703}">
                      <ahyp:hlinkClr xmlns:ahyp="http://schemas.microsoft.com/office/drawing/2018/hyperlinkcolor" val="tx"/>
                    </a:ext>
                  </a:extLst>
                </a:hlinkClick>
              </a:rPr>
              <a:t>LEATHER VILLAGE Leather Bound Journal Key… · $29.99 ↗</a:t>
            </a:r>
            <a:endParaRPr lang="en-US" sz="900" dirty="0"/>
          </a:p>
        </p:txBody>
      </p:sp>
      <p:sp>
        <p:nvSpPr>
          <p:cNvPr id="24" name="Shape 22"/>
          <p:cNvSpPr/>
          <p:nvPr/>
        </p:nvSpPr>
        <p:spPr>
          <a:xfrm>
            <a:off x="411480" y="3054096"/>
            <a:ext cx="3739896" cy="1600200"/>
          </a:xfrm>
          <a:prstGeom prst="roundRect">
            <a:avLst>
              <a:gd name="adj" fmla="val 4571"/>
            </a:avLst>
          </a:prstGeom>
          <a:solidFill>
            <a:srgbClr val="FFFFFF"/>
          </a:solidFill>
          <a:ln w="9525">
            <a:solidFill>
              <a:srgbClr val="C9D3E3"/>
            </a:solidFill>
            <a:prstDash val="solid"/>
          </a:ln>
        </p:spPr>
      </p:sp>
      <p:sp>
        <p:nvSpPr>
          <p:cNvPr id="25" name="Text 23"/>
          <p:cNvSpPr txBox="1"/>
          <p:nvPr/>
        </p:nvSpPr>
        <p:spPr>
          <a:xfrm>
            <a:off x="521208" y="3090672"/>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Backpacks</a:t>
            </a:r>
            <a:endParaRPr lang="en-US" sz="1250" dirty="0"/>
          </a:p>
        </p:txBody>
      </p:sp>
      <p:sp>
        <p:nvSpPr>
          <p:cNvPr id="26" name="Shape 24"/>
          <p:cNvSpPr/>
          <p:nvPr/>
        </p:nvSpPr>
        <p:spPr>
          <a:xfrm>
            <a:off x="3282696" y="3108960"/>
            <a:ext cx="777240" cy="201168"/>
          </a:xfrm>
          <a:prstGeom prst="roundRect">
            <a:avLst>
              <a:gd name="adj" fmla="val 50000"/>
            </a:avLst>
          </a:prstGeom>
          <a:solidFill>
            <a:srgbClr val="C45500"/>
          </a:solidFill>
          <a:ln w="12700">
            <a:solidFill>
              <a:srgbClr val="C45500"/>
            </a:solidFill>
            <a:prstDash val="solid"/>
          </a:ln>
        </p:spPr>
      </p:sp>
      <p:sp>
        <p:nvSpPr>
          <p:cNvPr id="27" name="Text 25"/>
          <p:cNvSpPr txBox="1"/>
          <p:nvPr/>
        </p:nvSpPr>
        <p:spPr>
          <a:xfrm>
            <a:off x="3282696" y="3108960"/>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28" name="Text 26"/>
          <p:cNvSpPr txBox="1"/>
          <p:nvPr/>
        </p:nvSpPr>
        <p:spPr>
          <a:xfrm>
            <a:off x="521208" y="3337560"/>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5" invalidUrl="" action="" tgtFrame="" tooltip="Open example on Amazon" history="1" highlightClick="0" endSnd="0">
                  <a:extLst>
                    <a:ext uri="{A12FA001-AC4F-418D-AE19-62706E023703}">
                      <ahyp:hlinkClr xmlns:ahyp="http://schemas.microsoft.com/office/drawing/2018/hyperlinkcolor" val="tx"/>
                    </a:ext>
                  </a:extLst>
                </a:hlinkClick>
              </a:rPr>
              <a:t>Hiking / outdoor daypack (unisex)</a:t>
            </a:r>
            <a:endParaRPr lang="en-US" sz="1100" dirty="0"/>
          </a:p>
        </p:txBody>
      </p:sp>
      <p:sp>
        <p:nvSpPr>
          <p:cNvPr id="29" name="Shape 27"/>
          <p:cNvSpPr/>
          <p:nvPr/>
        </p:nvSpPr>
        <p:spPr>
          <a:xfrm>
            <a:off x="3346704" y="3346704"/>
            <a:ext cx="694944" cy="164592"/>
          </a:xfrm>
          <a:prstGeom prst="roundRect">
            <a:avLst>
              <a:gd name="adj" fmla="val 50000"/>
            </a:avLst>
          </a:prstGeom>
          <a:solidFill>
            <a:srgbClr val="1E8E5A"/>
          </a:solidFill>
          <a:ln w="12700">
            <a:solidFill>
              <a:srgbClr val="1E8E5A"/>
            </a:solidFill>
            <a:prstDash val="solid"/>
          </a:ln>
        </p:spPr>
      </p:sp>
      <p:sp>
        <p:nvSpPr>
          <p:cNvPr id="30" name="Text 28"/>
          <p:cNvSpPr txBox="1"/>
          <p:nvPr/>
        </p:nvSpPr>
        <p:spPr>
          <a:xfrm>
            <a:off x="3346704" y="3346704"/>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31" name="Shape 29"/>
          <p:cNvSpPr/>
          <p:nvPr/>
        </p:nvSpPr>
        <p:spPr>
          <a:xfrm>
            <a:off x="521208" y="3534156"/>
            <a:ext cx="3520440" cy="164592"/>
          </a:xfrm>
          <a:prstGeom prst="roundRect">
            <a:avLst>
              <a:gd name="adj" fmla="val 27778"/>
            </a:avLst>
          </a:prstGeom>
          <a:solidFill>
            <a:srgbClr val="E8EFFB"/>
          </a:solidFill>
          <a:ln w="12700">
            <a:solidFill>
              <a:srgbClr val="E8EFFB"/>
            </a:solidFill>
            <a:prstDash val="solid"/>
          </a:ln>
        </p:spPr>
      </p:sp>
      <p:sp>
        <p:nvSpPr>
          <p:cNvPr id="32" name="Text 30"/>
          <p:cNvSpPr txBox="1"/>
          <p:nvPr/>
        </p:nvSpPr>
        <p:spPr>
          <a:xfrm>
            <a:off x="557784" y="3534156"/>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hiking/outdoor · Audience: women &amp; men · Outdoor: yes</a:t>
            </a:r>
            <a:endParaRPr lang="en-US" sz="900" dirty="0"/>
          </a:p>
        </p:txBody>
      </p:sp>
      <p:sp>
        <p:nvSpPr>
          <p:cNvPr id="33" name="Text 31"/>
          <p:cNvSpPr txBox="1"/>
          <p:nvPr/>
        </p:nvSpPr>
        <p:spPr>
          <a:xfrm>
            <a:off x="521208" y="370789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Hiking packs: Staples 1% vs Amazon 40%</a:t>
            </a:r>
            <a:endParaRPr lang="en-US" sz="900" dirty="0"/>
          </a:p>
        </p:txBody>
      </p:sp>
      <p:sp>
        <p:nvSpPr>
          <p:cNvPr id="34" name="Text 32"/>
          <p:cNvSpPr txBox="1"/>
          <p:nvPr/>
        </p:nvSpPr>
        <p:spPr>
          <a:xfrm>
            <a:off x="521208" y="384048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6" invalidUrl="" action="" tgtFrame="" tooltip="25L Hiking Backpack for Men Women - Waterproof Daypack with Whistle &amp; Anti Theft Zippers &amp; Multi Compartments for Camping, Travel &amp; Outdoor Day Hikes (Black)" history="1" highlightClick="0" endSnd="0">
                  <a:extLst>
                    <a:ext uri="{A12FA001-AC4F-418D-AE19-62706E023703}">
                      <ahyp:hlinkClr xmlns:ahyp="http://schemas.microsoft.com/office/drawing/2018/hyperlinkcolor" val="tx"/>
                    </a:ext>
                  </a:extLst>
                </a:hlinkClick>
              </a:rPr>
              <a:t>25L Hiking Backpack for Men Women … · $27.16 ↗</a:t>
            </a:r>
            <a:endParaRPr lang="en-US" sz="900" dirty="0"/>
          </a:p>
        </p:txBody>
      </p:sp>
      <p:sp>
        <p:nvSpPr>
          <p:cNvPr id="35" name="Shape 33"/>
          <p:cNvSpPr/>
          <p:nvPr/>
        </p:nvSpPr>
        <p:spPr>
          <a:xfrm>
            <a:off x="521208" y="3973068"/>
            <a:ext cx="3520440" cy="0"/>
          </a:xfrm>
          <a:prstGeom prst="line">
            <a:avLst/>
          </a:prstGeom>
          <a:noFill/>
          <a:ln w="9525">
            <a:solidFill>
              <a:srgbClr val="E3E8F0"/>
            </a:solidFill>
            <a:prstDash val="solid"/>
          </a:ln>
        </p:spPr>
      </p:sp>
      <p:sp>
        <p:nvSpPr>
          <p:cNvPr id="36" name="Text 34"/>
          <p:cNvSpPr txBox="1"/>
          <p:nvPr/>
        </p:nvSpPr>
        <p:spPr>
          <a:xfrm>
            <a:off x="521208" y="3995928"/>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7" invalidUrl="" action="" tgtFrame="" tooltip="Open example on Amazon" history="1" highlightClick="0" endSnd="0">
                  <a:extLst>
                    <a:ext uri="{A12FA001-AC4F-418D-AE19-62706E023703}">
                      <ahyp:hlinkClr xmlns:ahyp="http://schemas.microsoft.com/office/drawing/2018/hyperlinkcolor" val="tx"/>
                    </a:ext>
                  </a:extLst>
                </a:hlinkClick>
              </a:rPr>
              <a:t>Travel / carry-on backpack (40L)</a:t>
            </a:r>
            <a:endParaRPr lang="en-US" sz="1100" dirty="0"/>
          </a:p>
        </p:txBody>
      </p:sp>
      <p:sp>
        <p:nvSpPr>
          <p:cNvPr id="37" name="Shape 35"/>
          <p:cNvSpPr/>
          <p:nvPr/>
        </p:nvSpPr>
        <p:spPr>
          <a:xfrm>
            <a:off x="3346704" y="4005072"/>
            <a:ext cx="694944" cy="164592"/>
          </a:xfrm>
          <a:prstGeom prst="roundRect">
            <a:avLst>
              <a:gd name="adj" fmla="val 50000"/>
            </a:avLst>
          </a:prstGeom>
          <a:solidFill>
            <a:srgbClr val="B86E00"/>
          </a:solidFill>
          <a:ln w="12700">
            <a:solidFill>
              <a:srgbClr val="B86E00"/>
            </a:solidFill>
            <a:prstDash val="solid"/>
          </a:ln>
        </p:spPr>
      </p:sp>
      <p:sp>
        <p:nvSpPr>
          <p:cNvPr id="38" name="Text 36"/>
          <p:cNvSpPr txBox="1"/>
          <p:nvPr/>
        </p:nvSpPr>
        <p:spPr>
          <a:xfrm>
            <a:off x="3346704" y="4005072"/>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39" name="Shape 37"/>
          <p:cNvSpPr/>
          <p:nvPr/>
        </p:nvSpPr>
        <p:spPr>
          <a:xfrm>
            <a:off x="521208" y="4192524"/>
            <a:ext cx="3520440" cy="164592"/>
          </a:xfrm>
          <a:prstGeom prst="roundRect">
            <a:avLst>
              <a:gd name="adj" fmla="val 27778"/>
            </a:avLst>
          </a:prstGeom>
          <a:solidFill>
            <a:srgbClr val="E8EFFB"/>
          </a:solidFill>
          <a:ln w="12700">
            <a:solidFill>
              <a:srgbClr val="E8EFFB"/>
            </a:solidFill>
            <a:prstDash val="solid"/>
          </a:ln>
        </p:spPr>
      </p:sp>
      <p:sp>
        <p:nvSpPr>
          <p:cNvPr id="40" name="Text 38"/>
          <p:cNvSpPr txBox="1"/>
          <p:nvPr/>
        </p:nvSpPr>
        <p:spPr>
          <a:xfrm>
            <a:off x="557784" y="4192524"/>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travel/carry-on · Audience: women &amp; men</a:t>
            </a:r>
            <a:endParaRPr lang="en-US" sz="900" dirty="0"/>
          </a:p>
        </p:txBody>
      </p:sp>
      <p:sp>
        <p:nvSpPr>
          <p:cNvPr id="41" name="Text 39"/>
          <p:cNvSpPr txBox="1"/>
          <p:nvPr/>
        </p:nvSpPr>
        <p:spPr>
          <a:xfrm>
            <a:off x="521208" y="436626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Travel packs: Staples 6% vs Amazon 28%</a:t>
            </a:r>
            <a:endParaRPr lang="en-US" sz="900" dirty="0"/>
          </a:p>
        </p:txBody>
      </p:sp>
      <p:sp>
        <p:nvSpPr>
          <p:cNvPr id="42" name="Text 40"/>
          <p:cNvSpPr txBox="1"/>
          <p:nvPr/>
        </p:nvSpPr>
        <p:spPr>
          <a:xfrm>
            <a:off x="521208" y="449884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8" invalidUrl="" action="" tgtFrame="" tooltip="EMPSIGN 40L Travel Backpack for Women &amp; Men" history="1" highlightClick="0" endSnd="0">
                  <a:extLst>
                    <a:ext uri="{A12FA001-AC4F-418D-AE19-62706E023703}">
                      <ahyp:hlinkClr xmlns:ahyp="http://schemas.microsoft.com/office/drawing/2018/hyperlinkcolor" val="tx"/>
                    </a:ext>
                  </a:extLst>
                </a:hlinkClick>
              </a:rPr>
              <a:t>EMPSIGN 40L Travel Backpack for Women &amp; Men · $39.99 ↗</a:t>
            </a:r>
            <a:endParaRPr lang="en-US" sz="900" dirty="0"/>
          </a:p>
        </p:txBody>
      </p:sp>
      <p:sp>
        <p:nvSpPr>
          <p:cNvPr id="43" name="Shape 41"/>
          <p:cNvSpPr/>
          <p:nvPr/>
        </p:nvSpPr>
        <p:spPr>
          <a:xfrm>
            <a:off x="411480" y="4690872"/>
            <a:ext cx="3739896" cy="1600200"/>
          </a:xfrm>
          <a:prstGeom prst="roundRect">
            <a:avLst>
              <a:gd name="adj" fmla="val 4571"/>
            </a:avLst>
          </a:prstGeom>
          <a:solidFill>
            <a:srgbClr val="FFFFFF"/>
          </a:solidFill>
          <a:ln w="9525">
            <a:solidFill>
              <a:srgbClr val="C9D3E3"/>
            </a:solidFill>
            <a:prstDash val="solid"/>
          </a:ln>
        </p:spPr>
      </p:sp>
      <p:sp>
        <p:nvSpPr>
          <p:cNvPr id="44" name="Text 42"/>
          <p:cNvSpPr txBox="1"/>
          <p:nvPr/>
        </p:nvSpPr>
        <p:spPr>
          <a:xfrm>
            <a:off x="521208" y="4727448"/>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Office Desks</a:t>
            </a:r>
            <a:endParaRPr lang="en-US" sz="1250" dirty="0"/>
          </a:p>
        </p:txBody>
      </p:sp>
      <p:sp>
        <p:nvSpPr>
          <p:cNvPr id="45" name="Shape 43"/>
          <p:cNvSpPr/>
          <p:nvPr/>
        </p:nvSpPr>
        <p:spPr>
          <a:xfrm>
            <a:off x="3282696" y="4745736"/>
            <a:ext cx="777240" cy="201168"/>
          </a:xfrm>
          <a:prstGeom prst="roundRect">
            <a:avLst>
              <a:gd name="adj" fmla="val 50000"/>
            </a:avLst>
          </a:prstGeom>
          <a:solidFill>
            <a:srgbClr val="7F187F"/>
          </a:solidFill>
          <a:ln w="12700">
            <a:solidFill>
              <a:srgbClr val="7F187F"/>
            </a:solidFill>
            <a:prstDash val="solid"/>
          </a:ln>
        </p:spPr>
      </p:sp>
      <p:sp>
        <p:nvSpPr>
          <p:cNvPr id="46" name="Text 44"/>
          <p:cNvSpPr txBox="1"/>
          <p:nvPr/>
        </p:nvSpPr>
        <p:spPr>
          <a:xfrm>
            <a:off x="3282696" y="4745736"/>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47" name="Text 45"/>
          <p:cNvSpPr txBox="1"/>
          <p:nvPr/>
        </p:nvSpPr>
        <p:spPr>
          <a:xfrm>
            <a:off x="521208" y="4974336"/>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9" invalidUrl="" action="" tgtFrame="" tooltip="Open example on Wayfair" history="1" highlightClick="0" endSnd="0">
                  <a:extLst>
                    <a:ext uri="{A12FA001-AC4F-418D-AE19-62706E023703}">
                      <ahyp:hlinkClr xmlns:ahyp="http://schemas.microsoft.com/office/drawing/2018/hyperlinkcolor" val="tx"/>
                    </a:ext>
                  </a:extLst>
                </a:hlinkClick>
              </a:rPr>
              <a:t>Design-led (luxe) computer desk</a:t>
            </a:r>
            <a:endParaRPr lang="en-US" sz="1100" dirty="0"/>
          </a:p>
        </p:txBody>
      </p:sp>
      <p:sp>
        <p:nvSpPr>
          <p:cNvPr id="48" name="Shape 46"/>
          <p:cNvSpPr/>
          <p:nvPr/>
        </p:nvSpPr>
        <p:spPr>
          <a:xfrm>
            <a:off x="3346704" y="4983480"/>
            <a:ext cx="694944" cy="164592"/>
          </a:xfrm>
          <a:prstGeom prst="roundRect">
            <a:avLst>
              <a:gd name="adj" fmla="val 50000"/>
            </a:avLst>
          </a:prstGeom>
          <a:solidFill>
            <a:srgbClr val="B86E00"/>
          </a:solidFill>
          <a:ln w="12700">
            <a:solidFill>
              <a:srgbClr val="B86E00"/>
            </a:solidFill>
            <a:prstDash val="solid"/>
          </a:ln>
        </p:spPr>
      </p:sp>
      <p:sp>
        <p:nvSpPr>
          <p:cNvPr id="49" name="Text 47"/>
          <p:cNvSpPr txBox="1"/>
          <p:nvPr/>
        </p:nvSpPr>
        <p:spPr>
          <a:xfrm>
            <a:off x="3346704" y="4983480"/>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50" name="Shape 48"/>
          <p:cNvSpPr/>
          <p:nvPr/>
        </p:nvSpPr>
        <p:spPr>
          <a:xfrm>
            <a:off x="521208" y="5170932"/>
            <a:ext cx="3520440" cy="164592"/>
          </a:xfrm>
          <a:prstGeom prst="roundRect">
            <a:avLst>
              <a:gd name="adj" fmla="val 27778"/>
            </a:avLst>
          </a:prstGeom>
          <a:solidFill>
            <a:srgbClr val="E8EFFB"/>
          </a:solidFill>
          <a:ln w="12700">
            <a:solidFill>
              <a:srgbClr val="E8EFFB"/>
            </a:solidFill>
            <a:prstDash val="solid"/>
          </a:ln>
        </p:spPr>
      </p:sp>
      <p:sp>
        <p:nvSpPr>
          <p:cNvPr id="51" name="Text 49"/>
          <p:cNvSpPr txBox="1"/>
          <p:nvPr/>
        </p:nvSpPr>
        <p:spPr>
          <a:xfrm>
            <a:off x="557784" y="5170932"/>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computer · Shape: rectangular · Luxe: yes</a:t>
            </a:r>
            <a:endParaRPr lang="en-US" sz="900" dirty="0"/>
          </a:p>
        </p:txBody>
      </p:sp>
      <p:sp>
        <p:nvSpPr>
          <p:cNvPr id="52" name="Text 50"/>
          <p:cNvSpPr txBox="1"/>
          <p:nvPr/>
        </p:nvSpPr>
        <p:spPr>
          <a:xfrm>
            <a:off x="521208" y="534466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"Luxe" desks: Staples 7% vs Wayfair 35%</a:t>
            </a:r>
            <a:endParaRPr lang="en-US" sz="900" dirty="0"/>
          </a:p>
        </p:txBody>
      </p:sp>
      <p:sp>
        <p:nvSpPr>
          <p:cNvPr id="53" name="Text 51"/>
          <p:cNvSpPr txBox="1"/>
          <p:nvPr/>
        </p:nvSpPr>
        <p:spPr>
          <a:xfrm>
            <a:off x="521208" y="547725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10" invalidUrl="" action="" tgtFrame="" tooltip="Contemporary Home Office Computer Desk, 61&quot; Height - Brown Laminate Shelves 61&quot;h Leaning Desk For Office, Taupe Laminate, Work Satisfaction Increase" history="1" highlightClick="0" endSnd="0">
                  <a:extLst>
                    <a:ext uri="{A12FA001-AC4F-418D-AE19-62706E023703}">
                      <ahyp:hlinkClr xmlns:ahyp="http://schemas.microsoft.com/office/drawing/2018/hyperlinkcolor" val="tx"/>
                    </a:ext>
                  </a:extLst>
                </a:hlinkClick>
              </a:rPr>
              <a:t>Contemporary Home Office Computer Desk, 61"… · $339.99 ↗</a:t>
            </a:r>
            <a:endParaRPr lang="en-US" sz="900" dirty="0"/>
          </a:p>
        </p:txBody>
      </p:sp>
      <p:sp>
        <p:nvSpPr>
          <p:cNvPr id="54" name="Shape 52"/>
          <p:cNvSpPr/>
          <p:nvPr/>
        </p:nvSpPr>
        <p:spPr>
          <a:xfrm>
            <a:off x="521208" y="5609844"/>
            <a:ext cx="3520440" cy="0"/>
          </a:xfrm>
          <a:prstGeom prst="line">
            <a:avLst/>
          </a:prstGeom>
          <a:noFill/>
          <a:ln w="9525">
            <a:solidFill>
              <a:srgbClr val="E3E8F0"/>
            </a:solidFill>
            <a:prstDash val="solid"/>
          </a:ln>
        </p:spPr>
      </p:sp>
      <p:sp>
        <p:nvSpPr>
          <p:cNvPr id="55" name="Text 53"/>
          <p:cNvSpPr txBox="1"/>
          <p:nvPr/>
        </p:nvSpPr>
        <p:spPr>
          <a:xfrm>
            <a:off x="521208" y="563270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1" invalidUrl="" action="" tgtFrame="" tooltip="Open example on Wayfair" history="1" highlightClick="0" endSnd="0">
                  <a:extLst>
                    <a:ext uri="{A12FA001-AC4F-418D-AE19-62706E023703}">
                      <ahyp:hlinkClr xmlns:ahyp="http://schemas.microsoft.com/office/drawing/2018/hyperlinkcolor" val="tx"/>
                    </a:ext>
                  </a:extLst>
                </a:hlinkClick>
              </a:rPr>
              <a:t>Minimal remote-work desk with storage</a:t>
            </a:r>
            <a:endParaRPr lang="en-US" sz="1100" dirty="0"/>
          </a:p>
        </p:txBody>
      </p:sp>
      <p:sp>
        <p:nvSpPr>
          <p:cNvPr id="56" name="Shape 54"/>
          <p:cNvSpPr/>
          <p:nvPr/>
        </p:nvSpPr>
        <p:spPr>
          <a:xfrm>
            <a:off x="3346704" y="5641848"/>
            <a:ext cx="694944" cy="164592"/>
          </a:xfrm>
          <a:prstGeom prst="roundRect">
            <a:avLst>
              <a:gd name="adj" fmla="val 50000"/>
            </a:avLst>
          </a:prstGeom>
          <a:solidFill>
            <a:srgbClr val="1E8E5A"/>
          </a:solidFill>
          <a:ln w="12700">
            <a:solidFill>
              <a:srgbClr val="1E8E5A"/>
            </a:solidFill>
            <a:prstDash val="solid"/>
          </a:ln>
        </p:spPr>
      </p:sp>
      <p:sp>
        <p:nvSpPr>
          <p:cNvPr id="57" name="Text 55"/>
          <p:cNvSpPr txBox="1"/>
          <p:nvPr/>
        </p:nvSpPr>
        <p:spPr>
          <a:xfrm>
            <a:off x="3346704" y="564184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58" name="Shape 56"/>
          <p:cNvSpPr/>
          <p:nvPr/>
        </p:nvSpPr>
        <p:spPr>
          <a:xfrm>
            <a:off x="521208" y="5829300"/>
            <a:ext cx="3520440" cy="164592"/>
          </a:xfrm>
          <a:prstGeom prst="roundRect">
            <a:avLst>
              <a:gd name="adj" fmla="val 27778"/>
            </a:avLst>
          </a:prstGeom>
          <a:solidFill>
            <a:srgbClr val="E8EFFB"/>
          </a:solidFill>
          <a:ln w="12700">
            <a:solidFill>
              <a:srgbClr val="E8EFFB"/>
            </a:solidFill>
            <a:prstDash val="solid"/>
          </a:ln>
        </p:spPr>
      </p:sp>
      <p:sp>
        <p:nvSpPr>
          <p:cNvPr id="59" name="Text 57"/>
          <p:cNvSpPr txBox="1"/>
          <p:nvPr/>
        </p:nvSpPr>
        <p:spPr>
          <a:xfrm>
            <a:off x="557784" y="5829300"/>
            <a:ext cx="3465576" cy="164592"/>
          </a:xfrm>
          <a:prstGeom prst="rect">
            <a:avLst/>
          </a:prstGeom>
          <a:noFill/>
          <a:ln/>
        </p:spPr>
        <p:txBody>
          <a:bodyPr wrap="square" lIns="0" tIns="0" rIns="0" bIns="0" rtlCol="0" anchor="ctr"/>
          <a:lstStyle/>
          <a:p>
            <a:pPr indent="0" marL="0">
              <a:buNone/>
            </a:pPr>
            <a:r>
              <a:rPr lang="en-US" sz="800" dirty="0">
                <a:solidFill>
                  <a:srgbClr val="1F4E9A"/>
                </a:solidFill>
                <a:latin typeface="Calibri" pitchFamily="34" charset="0"/>
                <a:ea typeface="Calibri" pitchFamily="34" charset="-122"/>
                <a:cs typeface="Calibri" pitchFamily="34" charset="-120"/>
              </a:rPr>
              <a:t>Type: workstation · Drawers: yes · Remote workers: yes · Sleek/minimal: yes</a:t>
            </a:r>
            <a:endParaRPr lang="en-US" sz="800" dirty="0"/>
          </a:p>
        </p:txBody>
      </p:sp>
      <p:sp>
        <p:nvSpPr>
          <p:cNvPr id="60" name="Text 58"/>
          <p:cNvSpPr txBox="1"/>
          <p:nvPr/>
        </p:nvSpPr>
        <p:spPr>
          <a:xfrm>
            <a:off x="521208" y="600303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Remote-work desks: Staples 19% vs Wayfair 51%</a:t>
            </a:r>
            <a:endParaRPr lang="en-US" sz="900" dirty="0"/>
          </a:p>
        </p:txBody>
      </p:sp>
      <p:sp>
        <p:nvSpPr>
          <p:cNvPr id="61" name="Text 59"/>
          <p:cNvSpPr txBox="1"/>
          <p:nvPr/>
        </p:nvSpPr>
        <p:spPr>
          <a:xfrm>
            <a:off x="521208" y="613562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12" invalidUrl="" action="" tgtFrame="" tooltip="Home Office Table With Grey Laminate Finish And Black Metal Base, 48&quot;l Workstation For Office, 48&quot;l, Legs, Storage" history="1" highlightClick="0" endSnd="0">
                  <a:extLst>
                    <a:ext uri="{A12FA001-AC4F-418D-AE19-62706E023703}">
                      <ahyp:hlinkClr xmlns:ahyp="http://schemas.microsoft.com/office/drawing/2018/hyperlinkcolor" val="tx"/>
                    </a:ext>
                  </a:extLst>
                </a:hlinkClick>
              </a:rPr>
              <a:t>Home Office Table With Grey Laminate Finish… · $349.99 ↗</a:t>
            </a:r>
            <a:endParaRPr lang="en-US" sz="900" dirty="0"/>
          </a:p>
        </p:txBody>
      </p:sp>
      <p:sp>
        <p:nvSpPr>
          <p:cNvPr id="62" name="Shape 60"/>
          <p:cNvSpPr/>
          <p:nvPr/>
        </p:nvSpPr>
        <p:spPr>
          <a:xfrm>
            <a:off x="4224528" y="1051560"/>
            <a:ext cx="3739896" cy="329184"/>
          </a:xfrm>
          <a:prstGeom prst="roundRect">
            <a:avLst>
              <a:gd name="adj" fmla="val 16667"/>
            </a:avLst>
          </a:prstGeom>
          <a:solidFill>
            <a:srgbClr val="2F6FD0"/>
          </a:solidFill>
          <a:ln w="12700">
            <a:solidFill>
              <a:srgbClr val="2F6FD0"/>
            </a:solidFill>
            <a:prstDash val="solid"/>
          </a:ln>
        </p:spPr>
      </p:sp>
      <p:sp>
        <p:nvSpPr>
          <p:cNvPr id="63" name="Text 61"/>
          <p:cNvSpPr txBox="1"/>
          <p:nvPr/>
        </p:nvSpPr>
        <p:spPr>
          <a:xfrm>
            <a:off x="4224528" y="1051560"/>
            <a:ext cx="3739896"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PROBABLE HERO · BUILD</a:t>
            </a:r>
            <a:endParaRPr lang="en-US" sz="1250" dirty="0"/>
          </a:p>
        </p:txBody>
      </p:sp>
      <p:sp>
        <p:nvSpPr>
          <p:cNvPr id="64" name="Shape 62"/>
          <p:cNvSpPr/>
          <p:nvPr/>
        </p:nvSpPr>
        <p:spPr>
          <a:xfrm>
            <a:off x="4224528" y="1417320"/>
            <a:ext cx="3739896" cy="1600200"/>
          </a:xfrm>
          <a:prstGeom prst="roundRect">
            <a:avLst>
              <a:gd name="adj" fmla="val 4571"/>
            </a:avLst>
          </a:prstGeom>
          <a:solidFill>
            <a:srgbClr val="FFFFFF"/>
          </a:solidFill>
          <a:ln w="9525">
            <a:solidFill>
              <a:srgbClr val="C9D3E3"/>
            </a:solidFill>
            <a:prstDash val="solid"/>
          </a:ln>
        </p:spPr>
      </p:sp>
      <p:sp>
        <p:nvSpPr>
          <p:cNvPr id="65" name="Text 63"/>
          <p:cNvSpPr txBox="1"/>
          <p:nvPr/>
        </p:nvSpPr>
        <p:spPr>
          <a:xfrm>
            <a:off x="4334256" y="1453896"/>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Accent &amp; Waiting Room Chairs</a:t>
            </a:r>
            <a:endParaRPr lang="en-US" sz="1250" dirty="0"/>
          </a:p>
        </p:txBody>
      </p:sp>
      <p:sp>
        <p:nvSpPr>
          <p:cNvPr id="66" name="Shape 64"/>
          <p:cNvSpPr/>
          <p:nvPr/>
        </p:nvSpPr>
        <p:spPr>
          <a:xfrm>
            <a:off x="7095744" y="1472184"/>
            <a:ext cx="777240" cy="201168"/>
          </a:xfrm>
          <a:prstGeom prst="roundRect">
            <a:avLst>
              <a:gd name="adj" fmla="val 50000"/>
            </a:avLst>
          </a:prstGeom>
          <a:solidFill>
            <a:srgbClr val="7F187F"/>
          </a:solidFill>
          <a:ln w="12700">
            <a:solidFill>
              <a:srgbClr val="7F187F"/>
            </a:solidFill>
            <a:prstDash val="solid"/>
          </a:ln>
        </p:spPr>
      </p:sp>
      <p:sp>
        <p:nvSpPr>
          <p:cNvPr id="67" name="Text 65"/>
          <p:cNvSpPr txBox="1"/>
          <p:nvPr/>
        </p:nvSpPr>
        <p:spPr>
          <a:xfrm>
            <a:off x="7095744" y="1472184"/>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68" name="Text 66"/>
          <p:cNvSpPr txBox="1"/>
          <p:nvPr/>
        </p:nvSpPr>
        <p:spPr>
          <a:xfrm>
            <a:off x="4334256" y="170078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3" invalidUrl="" action="" tgtFrame="" tooltip="Open example on Wayfair" history="1" highlightClick="0" endSnd="0">
                  <a:extLst>
                    <a:ext uri="{A12FA001-AC4F-418D-AE19-62706E023703}">
                      <ahyp:hlinkClr xmlns:ahyp="http://schemas.microsoft.com/office/drawing/2018/hyperlinkcolor" val="tx"/>
                    </a:ext>
                  </a:extLst>
                </a:hlinkClick>
              </a:rPr>
              <a:t>Warm-tone leather / fabric armchair</a:t>
            </a:r>
            <a:endParaRPr lang="en-US" sz="1100" dirty="0"/>
          </a:p>
        </p:txBody>
      </p:sp>
      <p:sp>
        <p:nvSpPr>
          <p:cNvPr id="69" name="Shape 67"/>
          <p:cNvSpPr/>
          <p:nvPr/>
        </p:nvSpPr>
        <p:spPr>
          <a:xfrm>
            <a:off x="7159752" y="1709928"/>
            <a:ext cx="694944" cy="164592"/>
          </a:xfrm>
          <a:prstGeom prst="roundRect">
            <a:avLst>
              <a:gd name="adj" fmla="val 50000"/>
            </a:avLst>
          </a:prstGeom>
          <a:solidFill>
            <a:srgbClr val="B86E00"/>
          </a:solidFill>
          <a:ln w="12700">
            <a:solidFill>
              <a:srgbClr val="B86E00"/>
            </a:solidFill>
            <a:prstDash val="solid"/>
          </a:ln>
        </p:spPr>
      </p:sp>
      <p:sp>
        <p:nvSpPr>
          <p:cNvPr id="70" name="Text 68"/>
          <p:cNvSpPr txBox="1"/>
          <p:nvPr/>
        </p:nvSpPr>
        <p:spPr>
          <a:xfrm>
            <a:off x="7159752" y="170992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71" name="Shape 69"/>
          <p:cNvSpPr/>
          <p:nvPr/>
        </p:nvSpPr>
        <p:spPr>
          <a:xfrm>
            <a:off x="4334256" y="1897380"/>
            <a:ext cx="3520440" cy="164592"/>
          </a:xfrm>
          <a:prstGeom prst="roundRect">
            <a:avLst>
              <a:gd name="adj" fmla="val 27778"/>
            </a:avLst>
          </a:prstGeom>
          <a:solidFill>
            <a:srgbClr val="E8EFFB"/>
          </a:solidFill>
          <a:ln w="12700">
            <a:solidFill>
              <a:srgbClr val="E8EFFB"/>
            </a:solidFill>
            <a:prstDash val="solid"/>
          </a:ln>
        </p:spPr>
      </p:sp>
      <p:sp>
        <p:nvSpPr>
          <p:cNvPr id="72" name="Text 70"/>
          <p:cNvSpPr txBox="1"/>
          <p:nvPr/>
        </p:nvSpPr>
        <p:spPr>
          <a:xfrm>
            <a:off x="4370832" y="1897380"/>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tone: warm-neutral · Form: armchair</a:t>
            </a:r>
            <a:endParaRPr lang="en-US" sz="900" dirty="0"/>
          </a:p>
        </p:txBody>
      </p:sp>
      <p:sp>
        <p:nvSpPr>
          <p:cNvPr id="73" name="Text 71"/>
          <p:cNvSpPr txBox="1"/>
          <p:nvPr/>
        </p:nvSpPr>
        <p:spPr>
          <a:xfrm>
            <a:off x="4334256" y="207111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Armchairs: Staples 10% vs Wayfair 36%</a:t>
            </a:r>
            <a:endParaRPr lang="en-US" sz="900" dirty="0"/>
          </a:p>
        </p:txBody>
      </p:sp>
      <p:sp>
        <p:nvSpPr>
          <p:cNvPr id="74" name="Text 72"/>
          <p:cNvSpPr txBox="1"/>
          <p:nvPr/>
        </p:nvSpPr>
        <p:spPr>
          <a:xfrm>
            <a:off x="4334256" y="220370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14" invalidUrl="" action="" tgtFrame="" tooltip="Pettengill Tufted Distressed Genuine Top-Grain Leather Accent Armchair" history="1" highlightClick="0" endSnd="0">
                  <a:extLst>
                    <a:ext uri="{A12FA001-AC4F-418D-AE19-62706E023703}">
                      <ahyp:hlinkClr xmlns:ahyp="http://schemas.microsoft.com/office/drawing/2018/hyperlinkcolor" val="tx"/>
                    </a:ext>
                  </a:extLst>
                </a:hlinkClick>
              </a:rPr>
              <a:t>Pettengill Tufted Distressed Genuine… · $969.99 ↗</a:t>
            </a:r>
            <a:endParaRPr lang="en-US" sz="900" dirty="0"/>
          </a:p>
        </p:txBody>
      </p:sp>
      <p:sp>
        <p:nvSpPr>
          <p:cNvPr id="75" name="Shape 73"/>
          <p:cNvSpPr/>
          <p:nvPr/>
        </p:nvSpPr>
        <p:spPr>
          <a:xfrm>
            <a:off x="4334256" y="2336292"/>
            <a:ext cx="3520440" cy="0"/>
          </a:xfrm>
          <a:prstGeom prst="line">
            <a:avLst/>
          </a:prstGeom>
          <a:noFill/>
          <a:ln w="9525">
            <a:solidFill>
              <a:srgbClr val="E3E8F0"/>
            </a:solidFill>
            <a:prstDash val="solid"/>
          </a:ln>
        </p:spPr>
      </p:sp>
      <p:sp>
        <p:nvSpPr>
          <p:cNvPr id="76" name="Text 74"/>
          <p:cNvSpPr txBox="1"/>
          <p:nvPr/>
        </p:nvSpPr>
        <p:spPr>
          <a:xfrm>
            <a:off x="4334256" y="2359152"/>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5" invalidUrl="" action="" tgtFrame="" tooltip="Open example on Wayfair" history="1" highlightClick="0" endSnd="0">
                  <a:extLst>
                    <a:ext uri="{A12FA001-AC4F-418D-AE19-62706E023703}">
                      <ahyp:hlinkClr xmlns:ahyp="http://schemas.microsoft.com/office/drawing/2018/hyperlinkcolor" val="tx"/>
                    </a:ext>
                  </a:extLst>
                </a:hlinkClick>
              </a:rPr>
              <a:t>Light-neutral swivel barrel chair</a:t>
            </a:r>
            <a:endParaRPr lang="en-US" sz="1100" dirty="0"/>
          </a:p>
        </p:txBody>
      </p:sp>
      <p:sp>
        <p:nvSpPr>
          <p:cNvPr id="77" name="Shape 75"/>
          <p:cNvSpPr/>
          <p:nvPr/>
        </p:nvSpPr>
        <p:spPr>
          <a:xfrm>
            <a:off x="7159752" y="2368296"/>
            <a:ext cx="694944" cy="164592"/>
          </a:xfrm>
          <a:prstGeom prst="roundRect">
            <a:avLst>
              <a:gd name="adj" fmla="val 50000"/>
            </a:avLst>
          </a:prstGeom>
          <a:solidFill>
            <a:srgbClr val="1E8E5A"/>
          </a:solidFill>
          <a:ln w="12700">
            <a:solidFill>
              <a:srgbClr val="1E8E5A"/>
            </a:solidFill>
            <a:prstDash val="solid"/>
          </a:ln>
        </p:spPr>
      </p:sp>
      <p:sp>
        <p:nvSpPr>
          <p:cNvPr id="78" name="Text 76"/>
          <p:cNvSpPr txBox="1"/>
          <p:nvPr/>
        </p:nvSpPr>
        <p:spPr>
          <a:xfrm>
            <a:off x="7159752" y="2368296"/>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79" name="Shape 77"/>
          <p:cNvSpPr/>
          <p:nvPr/>
        </p:nvSpPr>
        <p:spPr>
          <a:xfrm>
            <a:off x="4334256" y="2555748"/>
            <a:ext cx="3520440" cy="164592"/>
          </a:xfrm>
          <a:prstGeom prst="roundRect">
            <a:avLst>
              <a:gd name="adj" fmla="val 27778"/>
            </a:avLst>
          </a:prstGeom>
          <a:solidFill>
            <a:srgbClr val="E8EFFB"/>
          </a:solidFill>
          <a:ln w="12700">
            <a:solidFill>
              <a:srgbClr val="E8EFFB"/>
            </a:solidFill>
            <a:prstDash val="solid"/>
          </a:ln>
        </p:spPr>
      </p:sp>
      <p:sp>
        <p:nvSpPr>
          <p:cNvPr id="80" name="Text 78"/>
          <p:cNvSpPr txBox="1"/>
          <p:nvPr/>
        </p:nvSpPr>
        <p:spPr>
          <a:xfrm>
            <a:off x="4370832" y="2555748"/>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tone: light-neutral · Form: barrel · Swivel: yes</a:t>
            </a:r>
            <a:endParaRPr lang="en-US" sz="900" dirty="0"/>
          </a:p>
        </p:txBody>
      </p:sp>
      <p:sp>
        <p:nvSpPr>
          <p:cNvPr id="81" name="Text 79"/>
          <p:cNvSpPr txBox="1"/>
          <p:nvPr/>
        </p:nvSpPr>
        <p:spPr>
          <a:xfrm>
            <a:off x="4334256" y="272948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Staples 0 of 116 · Wayfair 13% of range</a:t>
            </a:r>
            <a:endParaRPr lang="en-US" sz="900" dirty="0"/>
          </a:p>
        </p:txBody>
      </p:sp>
      <p:sp>
        <p:nvSpPr>
          <p:cNvPr id="82" name="Text 80"/>
          <p:cNvSpPr txBox="1"/>
          <p:nvPr/>
        </p:nvSpPr>
        <p:spPr>
          <a:xfrm>
            <a:off x="4334256" y="286207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16"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Velvet… · $259.99 ↗</a:t>
            </a:r>
            <a:endParaRPr lang="en-US" sz="900" dirty="0"/>
          </a:p>
        </p:txBody>
      </p:sp>
      <p:sp>
        <p:nvSpPr>
          <p:cNvPr id="83" name="Shape 81"/>
          <p:cNvSpPr/>
          <p:nvPr/>
        </p:nvSpPr>
        <p:spPr>
          <a:xfrm>
            <a:off x="4224528" y="3054096"/>
            <a:ext cx="3739896" cy="1600200"/>
          </a:xfrm>
          <a:prstGeom prst="roundRect">
            <a:avLst>
              <a:gd name="adj" fmla="val 4571"/>
            </a:avLst>
          </a:prstGeom>
          <a:solidFill>
            <a:srgbClr val="FFFFFF"/>
          </a:solidFill>
          <a:ln w="9525">
            <a:solidFill>
              <a:srgbClr val="C9D3E3"/>
            </a:solidFill>
            <a:prstDash val="solid"/>
          </a:ln>
        </p:spPr>
      </p:sp>
      <p:sp>
        <p:nvSpPr>
          <p:cNvPr id="84" name="Text 82"/>
          <p:cNvSpPr txBox="1"/>
          <p:nvPr/>
        </p:nvSpPr>
        <p:spPr>
          <a:xfrm>
            <a:off x="4334256" y="3090672"/>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Desk Lamps</a:t>
            </a:r>
            <a:endParaRPr lang="en-US" sz="1250" dirty="0"/>
          </a:p>
        </p:txBody>
      </p:sp>
      <p:sp>
        <p:nvSpPr>
          <p:cNvPr id="85" name="Shape 83"/>
          <p:cNvSpPr/>
          <p:nvPr/>
        </p:nvSpPr>
        <p:spPr>
          <a:xfrm>
            <a:off x="7095744" y="3108960"/>
            <a:ext cx="777240" cy="201168"/>
          </a:xfrm>
          <a:prstGeom prst="roundRect">
            <a:avLst>
              <a:gd name="adj" fmla="val 50000"/>
            </a:avLst>
          </a:prstGeom>
          <a:solidFill>
            <a:srgbClr val="7F187F"/>
          </a:solidFill>
          <a:ln w="12700">
            <a:solidFill>
              <a:srgbClr val="7F187F"/>
            </a:solidFill>
            <a:prstDash val="solid"/>
          </a:ln>
        </p:spPr>
      </p:sp>
      <p:sp>
        <p:nvSpPr>
          <p:cNvPr id="86" name="Text 84"/>
          <p:cNvSpPr txBox="1"/>
          <p:nvPr/>
        </p:nvSpPr>
        <p:spPr>
          <a:xfrm>
            <a:off x="7095744" y="3108960"/>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87" name="Text 85"/>
          <p:cNvSpPr txBox="1"/>
          <p:nvPr/>
        </p:nvSpPr>
        <p:spPr>
          <a:xfrm>
            <a:off x="4334256" y="3337560"/>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7" invalidUrl="" action="" tgtFrame="" tooltip="Open example on Wayfair" history="1" highlightClick="0" endSnd="0">
                  <a:extLst>
                    <a:ext uri="{A12FA001-AC4F-418D-AE19-62706E023703}">
                      <ahyp:hlinkClr xmlns:ahyp="http://schemas.microsoft.com/office/drawing/2018/hyperlinkcolor" val="tx"/>
                    </a:ext>
                  </a:extLst>
                </a:hlinkClick>
              </a:rPr>
              <a:t>Decor-grade shaded table lamp ($150+)</a:t>
            </a:r>
            <a:endParaRPr lang="en-US" sz="1100" dirty="0"/>
          </a:p>
        </p:txBody>
      </p:sp>
      <p:sp>
        <p:nvSpPr>
          <p:cNvPr id="88" name="Shape 86"/>
          <p:cNvSpPr/>
          <p:nvPr/>
        </p:nvSpPr>
        <p:spPr>
          <a:xfrm>
            <a:off x="7159752" y="3346704"/>
            <a:ext cx="694944" cy="164592"/>
          </a:xfrm>
          <a:prstGeom prst="roundRect">
            <a:avLst>
              <a:gd name="adj" fmla="val 50000"/>
            </a:avLst>
          </a:prstGeom>
          <a:solidFill>
            <a:srgbClr val="2F6FD0"/>
          </a:solidFill>
          <a:ln w="12700">
            <a:solidFill>
              <a:srgbClr val="2F6FD0"/>
            </a:solidFill>
            <a:prstDash val="solid"/>
          </a:ln>
        </p:spPr>
      </p:sp>
      <p:sp>
        <p:nvSpPr>
          <p:cNvPr id="89" name="Text 87"/>
          <p:cNvSpPr txBox="1"/>
          <p:nvPr/>
        </p:nvSpPr>
        <p:spPr>
          <a:xfrm>
            <a:off x="7159752" y="3346704"/>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TRADE-UP</a:t>
            </a:r>
            <a:endParaRPr lang="en-US" sz="800" dirty="0"/>
          </a:p>
        </p:txBody>
      </p:sp>
      <p:sp>
        <p:nvSpPr>
          <p:cNvPr id="90" name="Shape 88"/>
          <p:cNvSpPr/>
          <p:nvPr/>
        </p:nvSpPr>
        <p:spPr>
          <a:xfrm>
            <a:off x="4334256" y="3534156"/>
            <a:ext cx="3520440" cy="164592"/>
          </a:xfrm>
          <a:prstGeom prst="roundRect">
            <a:avLst>
              <a:gd name="adj" fmla="val 27778"/>
            </a:avLst>
          </a:prstGeom>
          <a:solidFill>
            <a:srgbClr val="E8EFFB"/>
          </a:solidFill>
          <a:ln w="12700">
            <a:solidFill>
              <a:srgbClr val="E8EFFB"/>
            </a:solidFill>
            <a:prstDash val="solid"/>
          </a:ln>
        </p:spPr>
      </p:sp>
      <p:sp>
        <p:nvSpPr>
          <p:cNvPr id="91" name="Text 89"/>
          <p:cNvSpPr txBox="1"/>
          <p:nvPr/>
        </p:nvSpPr>
        <p:spPr>
          <a:xfrm>
            <a:off x="4370832" y="3534156"/>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grey · Form: shaded table-style</a:t>
            </a:r>
            <a:endParaRPr lang="en-US" sz="900" dirty="0"/>
          </a:p>
        </p:txBody>
      </p:sp>
      <p:sp>
        <p:nvSpPr>
          <p:cNvPr id="92" name="Text 90"/>
          <p:cNvSpPr txBox="1"/>
          <p:nvPr/>
        </p:nvSpPr>
        <p:spPr>
          <a:xfrm>
            <a:off x="4334256" y="370789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Lamps $175+: Staples 5% vs Wayfair 26%</a:t>
            </a:r>
            <a:endParaRPr lang="en-US" sz="900" dirty="0"/>
          </a:p>
        </p:txBody>
      </p:sp>
      <p:sp>
        <p:nvSpPr>
          <p:cNvPr id="93" name="Text 91"/>
          <p:cNvSpPr txBox="1"/>
          <p:nvPr/>
        </p:nvSpPr>
        <p:spPr>
          <a:xfrm>
            <a:off x="4334256" y="384048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18" invalidUrl="" action="" tgtFrame="" tooltip="Waheed Stainless Steel Desk Lamp" history="1" highlightClick="0" endSnd="0">
                  <a:extLst>
                    <a:ext uri="{A12FA001-AC4F-418D-AE19-62706E023703}">
                      <ahyp:hlinkClr xmlns:ahyp="http://schemas.microsoft.com/office/drawing/2018/hyperlinkcolor" val="tx"/>
                    </a:ext>
                  </a:extLst>
                </a:hlinkClick>
              </a:rPr>
              <a:t>Waheed Stainless Steel Desk Lamp · $151.80 ↗</a:t>
            </a:r>
            <a:endParaRPr lang="en-US" sz="900" dirty="0"/>
          </a:p>
        </p:txBody>
      </p:sp>
      <p:sp>
        <p:nvSpPr>
          <p:cNvPr id="94" name="Shape 92"/>
          <p:cNvSpPr/>
          <p:nvPr/>
        </p:nvSpPr>
        <p:spPr>
          <a:xfrm>
            <a:off x="4334256" y="3973068"/>
            <a:ext cx="3520440" cy="0"/>
          </a:xfrm>
          <a:prstGeom prst="line">
            <a:avLst/>
          </a:prstGeom>
          <a:noFill/>
          <a:ln w="9525">
            <a:solidFill>
              <a:srgbClr val="E3E8F0"/>
            </a:solidFill>
            <a:prstDash val="solid"/>
          </a:ln>
        </p:spPr>
      </p:sp>
      <p:sp>
        <p:nvSpPr>
          <p:cNvPr id="95" name="Text 93"/>
          <p:cNvSpPr txBox="1"/>
          <p:nvPr/>
        </p:nvSpPr>
        <p:spPr>
          <a:xfrm>
            <a:off x="4334256" y="3995928"/>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9" invalidUrl="" action="" tgtFrame="" tooltip="Open example on Wayfair" history="1" highlightClick="0" endSnd="0">
                  <a:extLst>
                    <a:ext uri="{A12FA001-AC4F-418D-AE19-62706E023703}">
                      <ahyp:hlinkClr xmlns:ahyp="http://schemas.microsoft.com/office/drawing/2018/hyperlinkcolor" val="tx"/>
                    </a:ext>
                  </a:extLst>
                </a:hlinkClick>
              </a:rPr>
              <a:t>Glass / Tiffany-style statement lamp</a:t>
            </a:r>
            <a:endParaRPr lang="en-US" sz="1100" dirty="0"/>
          </a:p>
        </p:txBody>
      </p:sp>
      <p:sp>
        <p:nvSpPr>
          <p:cNvPr id="96" name="Shape 94"/>
          <p:cNvSpPr/>
          <p:nvPr/>
        </p:nvSpPr>
        <p:spPr>
          <a:xfrm>
            <a:off x="7159752" y="4005072"/>
            <a:ext cx="694944" cy="164592"/>
          </a:xfrm>
          <a:prstGeom prst="roundRect">
            <a:avLst>
              <a:gd name="adj" fmla="val 50000"/>
            </a:avLst>
          </a:prstGeom>
          <a:solidFill>
            <a:srgbClr val="1E8E5A"/>
          </a:solidFill>
          <a:ln w="12700">
            <a:solidFill>
              <a:srgbClr val="1E8E5A"/>
            </a:solidFill>
            <a:prstDash val="solid"/>
          </a:ln>
        </p:spPr>
      </p:sp>
      <p:sp>
        <p:nvSpPr>
          <p:cNvPr id="97" name="Text 95"/>
          <p:cNvSpPr txBox="1"/>
          <p:nvPr/>
        </p:nvSpPr>
        <p:spPr>
          <a:xfrm>
            <a:off x="7159752" y="4005072"/>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98" name="Shape 96"/>
          <p:cNvSpPr/>
          <p:nvPr/>
        </p:nvSpPr>
        <p:spPr>
          <a:xfrm>
            <a:off x="4334256" y="4192524"/>
            <a:ext cx="3520440" cy="164592"/>
          </a:xfrm>
          <a:prstGeom prst="roundRect">
            <a:avLst>
              <a:gd name="adj" fmla="val 27778"/>
            </a:avLst>
          </a:prstGeom>
          <a:solidFill>
            <a:srgbClr val="E8EFFB"/>
          </a:solidFill>
          <a:ln w="12700">
            <a:solidFill>
              <a:srgbClr val="E8EFFB"/>
            </a:solidFill>
            <a:prstDash val="solid"/>
          </a:ln>
        </p:spPr>
      </p:sp>
      <p:sp>
        <p:nvSpPr>
          <p:cNvPr id="99" name="Text 97"/>
          <p:cNvSpPr txBox="1"/>
          <p:nvPr/>
        </p:nvSpPr>
        <p:spPr>
          <a:xfrm>
            <a:off x="4370832" y="4192524"/>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Material: glass/crystal · Form: novelty/sculptural</a:t>
            </a:r>
            <a:endParaRPr lang="en-US" sz="900" dirty="0"/>
          </a:p>
        </p:txBody>
      </p:sp>
      <p:sp>
        <p:nvSpPr>
          <p:cNvPr id="100" name="Text 98"/>
          <p:cNvSpPr txBox="1"/>
          <p:nvPr/>
        </p:nvSpPr>
        <p:spPr>
          <a:xfrm>
            <a:off x="4334256" y="436626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Staples 0 of 169 · Wayfair 10% of range</a:t>
            </a:r>
            <a:endParaRPr lang="en-US" sz="900" dirty="0"/>
          </a:p>
        </p:txBody>
      </p:sp>
      <p:sp>
        <p:nvSpPr>
          <p:cNvPr id="101" name="Text 99"/>
          <p:cNvSpPr txBox="1"/>
          <p:nvPr/>
        </p:nvSpPr>
        <p:spPr>
          <a:xfrm>
            <a:off x="4334256" y="449884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0" invalidUrl="" action="" tgtFrame="" tooltip="18&quot; High Tiffany Turning Leaf Desk Lamp" history="1" highlightClick="0" endSnd="0">
                  <a:extLst>
                    <a:ext uri="{A12FA001-AC4F-418D-AE19-62706E023703}">
                      <ahyp:hlinkClr xmlns:ahyp="http://schemas.microsoft.com/office/drawing/2018/hyperlinkcolor" val="tx"/>
                    </a:ext>
                  </a:extLst>
                </a:hlinkClick>
              </a:rPr>
              <a:t>18" High Tiffany Turning Leaf Desk Lamp · $233.10 ↗</a:t>
            </a:r>
            <a:endParaRPr lang="en-US" sz="900" dirty="0"/>
          </a:p>
        </p:txBody>
      </p:sp>
      <p:sp>
        <p:nvSpPr>
          <p:cNvPr id="102" name="Shape 100"/>
          <p:cNvSpPr/>
          <p:nvPr/>
        </p:nvSpPr>
        <p:spPr>
          <a:xfrm>
            <a:off x="4224528" y="4690872"/>
            <a:ext cx="3739896" cy="1600200"/>
          </a:xfrm>
          <a:prstGeom prst="roundRect">
            <a:avLst>
              <a:gd name="adj" fmla="val 4571"/>
            </a:avLst>
          </a:prstGeom>
          <a:solidFill>
            <a:srgbClr val="FFFFFF"/>
          </a:solidFill>
          <a:ln w="9525">
            <a:solidFill>
              <a:srgbClr val="C9D3E3"/>
            </a:solidFill>
            <a:prstDash val="solid"/>
          </a:ln>
        </p:spPr>
      </p:sp>
      <p:sp>
        <p:nvSpPr>
          <p:cNvPr id="103" name="Text 101"/>
          <p:cNvSpPr txBox="1"/>
          <p:nvPr/>
        </p:nvSpPr>
        <p:spPr>
          <a:xfrm>
            <a:off x="4334256" y="4727448"/>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Lunch Bags &amp; Boxes</a:t>
            </a:r>
            <a:endParaRPr lang="en-US" sz="1250" dirty="0"/>
          </a:p>
        </p:txBody>
      </p:sp>
      <p:sp>
        <p:nvSpPr>
          <p:cNvPr id="104" name="Shape 102"/>
          <p:cNvSpPr/>
          <p:nvPr/>
        </p:nvSpPr>
        <p:spPr>
          <a:xfrm>
            <a:off x="7095744" y="4745736"/>
            <a:ext cx="777240" cy="201168"/>
          </a:xfrm>
          <a:prstGeom prst="roundRect">
            <a:avLst>
              <a:gd name="adj" fmla="val 50000"/>
            </a:avLst>
          </a:prstGeom>
          <a:solidFill>
            <a:srgbClr val="C45500"/>
          </a:solidFill>
          <a:ln w="12700">
            <a:solidFill>
              <a:srgbClr val="C45500"/>
            </a:solidFill>
            <a:prstDash val="solid"/>
          </a:ln>
        </p:spPr>
      </p:sp>
      <p:sp>
        <p:nvSpPr>
          <p:cNvPr id="105" name="Text 103"/>
          <p:cNvSpPr txBox="1"/>
          <p:nvPr/>
        </p:nvSpPr>
        <p:spPr>
          <a:xfrm>
            <a:off x="7095744" y="4745736"/>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106" name="Text 104"/>
          <p:cNvSpPr txBox="1"/>
          <p:nvPr/>
        </p:nvSpPr>
        <p:spPr>
          <a:xfrm>
            <a:off x="4334256" y="4974336"/>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1" invalidUrl="" action="" tgtFrame="" tooltip="Open example on Amazon" history="1" highlightClick="0" endSnd="0">
                  <a:extLst>
                    <a:ext uri="{A12FA001-AC4F-418D-AE19-62706E023703}">
                      <ahyp:hlinkClr xmlns:ahyp="http://schemas.microsoft.com/office/drawing/2018/hyperlinkcolor" val="tx"/>
                    </a:ext>
                  </a:extLst>
                </a:hlinkClick>
              </a:rPr>
              <a:t>Stainless-steel commuter bento (adult)</a:t>
            </a:r>
            <a:endParaRPr lang="en-US" sz="1100" dirty="0"/>
          </a:p>
        </p:txBody>
      </p:sp>
      <p:sp>
        <p:nvSpPr>
          <p:cNvPr id="107" name="Shape 105"/>
          <p:cNvSpPr/>
          <p:nvPr/>
        </p:nvSpPr>
        <p:spPr>
          <a:xfrm>
            <a:off x="7159752" y="4983480"/>
            <a:ext cx="694944" cy="164592"/>
          </a:xfrm>
          <a:prstGeom prst="roundRect">
            <a:avLst>
              <a:gd name="adj" fmla="val 50000"/>
            </a:avLst>
          </a:prstGeom>
          <a:solidFill>
            <a:srgbClr val="1E8E5A"/>
          </a:solidFill>
          <a:ln w="12700">
            <a:solidFill>
              <a:srgbClr val="1E8E5A"/>
            </a:solidFill>
            <a:prstDash val="solid"/>
          </a:ln>
        </p:spPr>
      </p:sp>
      <p:sp>
        <p:nvSpPr>
          <p:cNvPr id="108" name="Text 106"/>
          <p:cNvSpPr txBox="1"/>
          <p:nvPr/>
        </p:nvSpPr>
        <p:spPr>
          <a:xfrm>
            <a:off x="7159752" y="4983480"/>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09" name="Shape 107"/>
          <p:cNvSpPr/>
          <p:nvPr/>
        </p:nvSpPr>
        <p:spPr>
          <a:xfrm>
            <a:off x="4334256" y="5170932"/>
            <a:ext cx="3520440" cy="164592"/>
          </a:xfrm>
          <a:prstGeom prst="roundRect">
            <a:avLst>
              <a:gd name="adj" fmla="val 27778"/>
            </a:avLst>
          </a:prstGeom>
          <a:solidFill>
            <a:srgbClr val="E8EFFB"/>
          </a:solidFill>
          <a:ln w="12700">
            <a:solidFill>
              <a:srgbClr val="E8EFFB"/>
            </a:solidFill>
            <a:prstDash val="solid"/>
          </a:ln>
        </p:spPr>
      </p:sp>
      <p:sp>
        <p:nvSpPr>
          <p:cNvPr id="110" name="Text 108"/>
          <p:cNvSpPr txBox="1"/>
          <p:nvPr/>
        </p:nvSpPr>
        <p:spPr>
          <a:xfrm>
            <a:off x="4370832" y="5170932"/>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bento box · Travel/commute: yes</a:t>
            </a:r>
            <a:endParaRPr lang="en-US" sz="900" dirty="0"/>
          </a:p>
        </p:txBody>
      </p:sp>
      <p:sp>
        <p:nvSpPr>
          <p:cNvPr id="111" name="Text 109"/>
          <p:cNvSpPr txBox="1"/>
          <p:nvPr/>
        </p:nvSpPr>
        <p:spPr>
          <a:xfrm>
            <a:off x="4334256" y="534466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Stainless: Staples 15% vs Amazon 46%</a:t>
            </a:r>
            <a:endParaRPr lang="en-US" sz="900" dirty="0"/>
          </a:p>
        </p:txBody>
      </p:sp>
      <p:sp>
        <p:nvSpPr>
          <p:cNvPr id="112" name="Text 110"/>
          <p:cNvSpPr txBox="1"/>
          <p:nvPr/>
        </p:nvSpPr>
        <p:spPr>
          <a:xfrm>
            <a:off x="4334256" y="547725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2"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Bento Box for… · $38.95 ↗</a:t>
            </a:r>
            <a:endParaRPr lang="en-US" sz="900" dirty="0"/>
          </a:p>
        </p:txBody>
      </p:sp>
      <p:sp>
        <p:nvSpPr>
          <p:cNvPr id="113" name="Shape 111"/>
          <p:cNvSpPr/>
          <p:nvPr/>
        </p:nvSpPr>
        <p:spPr>
          <a:xfrm>
            <a:off x="4334256" y="5609844"/>
            <a:ext cx="3520440" cy="0"/>
          </a:xfrm>
          <a:prstGeom prst="line">
            <a:avLst/>
          </a:prstGeom>
          <a:noFill/>
          <a:ln w="9525">
            <a:solidFill>
              <a:srgbClr val="E3E8F0"/>
            </a:solidFill>
            <a:prstDash val="solid"/>
          </a:ln>
        </p:spPr>
      </p:sp>
      <p:sp>
        <p:nvSpPr>
          <p:cNvPr id="114" name="Text 112"/>
          <p:cNvSpPr txBox="1"/>
          <p:nvPr/>
        </p:nvSpPr>
        <p:spPr>
          <a:xfrm>
            <a:off x="4334256" y="563270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3" invalidUrl="" action="" tgtFrame="" tooltip="Open example on Amazon" history="1" highlightClick="0" endSnd="0">
                  <a:extLst>
                    <a:ext uri="{A12FA001-AC4F-418D-AE19-62706E023703}">
                      <ahyp:hlinkClr xmlns:ahyp="http://schemas.microsoft.com/office/drawing/2018/hyperlinkcolor" val="tx"/>
                    </a:ext>
                  </a:extLst>
                </a:hlinkClick>
              </a:rPr>
              <a:t>Cordless heated lunch box</a:t>
            </a:r>
            <a:endParaRPr lang="en-US" sz="1100" dirty="0"/>
          </a:p>
        </p:txBody>
      </p:sp>
      <p:sp>
        <p:nvSpPr>
          <p:cNvPr id="115" name="Shape 113"/>
          <p:cNvSpPr/>
          <p:nvPr/>
        </p:nvSpPr>
        <p:spPr>
          <a:xfrm>
            <a:off x="7159752" y="5641848"/>
            <a:ext cx="694944" cy="164592"/>
          </a:xfrm>
          <a:prstGeom prst="roundRect">
            <a:avLst>
              <a:gd name="adj" fmla="val 50000"/>
            </a:avLst>
          </a:prstGeom>
          <a:solidFill>
            <a:srgbClr val="B86E00"/>
          </a:solidFill>
          <a:ln w="12700">
            <a:solidFill>
              <a:srgbClr val="B86E00"/>
            </a:solidFill>
            <a:prstDash val="solid"/>
          </a:ln>
        </p:spPr>
      </p:sp>
      <p:sp>
        <p:nvSpPr>
          <p:cNvPr id="116" name="Text 114"/>
          <p:cNvSpPr txBox="1"/>
          <p:nvPr/>
        </p:nvSpPr>
        <p:spPr>
          <a:xfrm>
            <a:off x="7159752" y="564184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117" name="Shape 115"/>
          <p:cNvSpPr/>
          <p:nvPr/>
        </p:nvSpPr>
        <p:spPr>
          <a:xfrm>
            <a:off x="4334256" y="5829300"/>
            <a:ext cx="3520440" cy="164592"/>
          </a:xfrm>
          <a:prstGeom prst="roundRect">
            <a:avLst>
              <a:gd name="adj" fmla="val 27778"/>
            </a:avLst>
          </a:prstGeom>
          <a:solidFill>
            <a:srgbClr val="E8EFFB"/>
          </a:solidFill>
          <a:ln w="12700">
            <a:solidFill>
              <a:srgbClr val="E8EFFB"/>
            </a:solidFill>
            <a:prstDash val="solid"/>
          </a:ln>
        </p:spPr>
      </p:sp>
      <p:sp>
        <p:nvSpPr>
          <p:cNvPr id="118" name="Text 116"/>
          <p:cNvSpPr txBox="1"/>
          <p:nvPr/>
        </p:nvSpPr>
        <p:spPr>
          <a:xfrm>
            <a:off x="4370832" y="5829300"/>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Type: electric heated · Travel/commute: yes</a:t>
            </a:r>
            <a:endParaRPr lang="en-US" sz="900" dirty="0"/>
          </a:p>
        </p:txBody>
      </p:sp>
      <p:sp>
        <p:nvSpPr>
          <p:cNvPr id="119" name="Text 117"/>
          <p:cNvSpPr txBox="1"/>
          <p:nvPr/>
        </p:nvSpPr>
        <p:spPr>
          <a:xfrm>
            <a:off x="4334256" y="600303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Staples 6 items (2%) vs Amazon 12%</a:t>
            </a:r>
            <a:endParaRPr lang="en-US" sz="900" dirty="0"/>
          </a:p>
        </p:txBody>
      </p:sp>
      <p:sp>
        <p:nvSpPr>
          <p:cNvPr id="120" name="Text 118"/>
          <p:cNvSpPr txBox="1"/>
          <p:nvPr/>
        </p:nvSpPr>
        <p:spPr>
          <a:xfrm>
            <a:off x="4334256" y="613562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4" invalidUrl="" action="" tgtFrame="" tooltip="Cordless Electric Lunch Box, 18000mAh Rechargeable Self-Heating Lunch Box Food Warmer, 1.5L Portable Heated Lunch Container for Adults, Leakproof for Work, Office, Camping &amp; Travel, Blue-Black" history="1" highlightClick="0" endSnd="0">
                  <a:extLst>
                    <a:ext uri="{A12FA001-AC4F-418D-AE19-62706E023703}">
                      <ahyp:hlinkClr xmlns:ahyp="http://schemas.microsoft.com/office/drawing/2018/hyperlinkcolor" val="tx"/>
                    </a:ext>
                  </a:extLst>
                </a:hlinkClick>
              </a:rPr>
              <a:t>Cordless Electric Lunch Box, 18000mAh… · $59.99 ↗</a:t>
            </a:r>
            <a:endParaRPr lang="en-US" sz="900" dirty="0"/>
          </a:p>
        </p:txBody>
      </p:sp>
      <p:sp>
        <p:nvSpPr>
          <p:cNvPr id="121" name="Shape 119"/>
          <p:cNvSpPr/>
          <p:nvPr/>
        </p:nvSpPr>
        <p:spPr>
          <a:xfrm>
            <a:off x="8037576" y="1051560"/>
            <a:ext cx="3739896" cy="329184"/>
          </a:xfrm>
          <a:prstGeom prst="roundRect">
            <a:avLst>
              <a:gd name="adj" fmla="val 16667"/>
            </a:avLst>
          </a:prstGeom>
          <a:solidFill>
            <a:srgbClr val="8FB0E8"/>
          </a:solidFill>
          <a:ln w="12700">
            <a:solidFill>
              <a:srgbClr val="8FB0E8"/>
            </a:solidFill>
            <a:prstDash val="solid"/>
          </a:ln>
        </p:spPr>
      </p:sp>
      <p:sp>
        <p:nvSpPr>
          <p:cNvPr id="122" name="Text 120"/>
          <p:cNvSpPr txBox="1"/>
          <p:nvPr/>
        </p:nvSpPr>
        <p:spPr>
          <a:xfrm>
            <a:off x="8037576" y="1051560"/>
            <a:ext cx="3739896" cy="329184"/>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NON-HERO · EXPLORE</a:t>
            </a:r>
            <a:endParaRPr lang="en-US" sz="1250" dirty="0"/>
          </a:p>
        </p:txBody>
      </p:sp>
      <p:sp>
        <p:nvSpPr>
          <p:cNvPr id="123" name="Shape 121"/>
          <p:cNvSpPr/>
          <p:nvPr/>
        </p:nvSpPr>
        <p:spPr>
          <a:xfrm>
            <a:off x="8037576" y="1417320"/>
            <a:ext cx="3739896" cy="1600200"/>
          </a:xfrm>
          <a:prstGeom prst="roundRect">
            <a:avLst>
              <a:gd name="adj" fmla="val 4571"/>
            </a:avLst>
          </a:prstGeom>
          <a:solidFill>
            <a:srgbClr val="FFFFFF"/>
          </a:solidFill>
          <a:ln w="9525">
            <a:solidFill>
              <a:srgbClr val="C9D3E3"/>
            </a:solidFill>
            <a:prstDash val="solid"/>
          </a:ln>
        </p:spPr>
      </p:sp>
      <p:sp>
        <p:nvSpPr>
          <p:cNvPr id="124" name="Text 122"/>
          <p:cNvSpPr txBox="1"/>
          <p:nvPr/>
        </p:nvSpPr>
        <p:spPr>
          <a:xfrm>
            <a:off x="8147304" y="1453896"/>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Clocks &amp; Timers</a:t>
            </a:r>
            <a:endParaRPr lang="en-US" sz="1250" dirty="0"/>
          </a:p>
        </p:txBody>
      </p:sp>
      <p:sp>
        <p:nvSpPr>
          <p:cNvPr id="125" name="Shape 123"/>
          <p:cNvSpPr/>
          <p:nvPr/>
        </p:nvSpPr>
        <p:spPr>
          <a:xfrm>
            <a:off x="10908792" y="1472184"/>
            <a:ext cx="777240" cy="201168"/>
          </a:xfrm>
          <a:prstGeom prst="roundRect">
            <a:avLst>
              <a:gd name="adj" fmla="val 50000"/>
            </a:avLst>
          </a:prstGeom>
          <a:solidFill>
            <a:srgbClr val="7F187F"/>
          </a:solidFill>
          <a:ln w="12700">
            <a:solidFill>
              <a:srgbClr val="7F187F"/>
            </a:solidFill>
            <a:prstDash val="solid"/>
          </a:ln>
        </p:spPr>
      </p:sp>
      <p:sp>
        <p:nvSpPr>
          <p:cNvPr id="126" name="Text 124"/>
          <p:cNvSpPr txBox="1"/>
          <p:nvPr/>
        </p:nvSpPr>
        <p:spPr>
          <a:xfrm>
            <a:off x="10908792" y="1472184"/>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127" name="Text 125"/>
          <p:cNvSpPr txBox="1"/>
          <p:nvPr/>
        </p:nvSpPr>
        <p:spPr>
          <a:xfrm>
            <a:off x="8147304" y="170078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5" invalidUrl="" action="" tgtFrame="" tooltip="Open example on Wayfair" history="1" highlightClick="0" endSnd="0">
                  <a:extLst>
                    <a:ext uri="{A12FA001-AC4F-418D-AE19-62706E023703}">
                      <ahyp:hlinkClr xmlns:ahyp="http://schemas.microsoft.com/office/drawing/2018/hyperlinkcolor" val="tx"/>
                    </a:ext>
                  </a:extLst>
                </a:hlinkClick>
              </a:rPr>
              <a:t>Statement oversized wall clock</a:t>
            </a:r>
            <a:endParaRPr lang="en-US" sz="1100" dirty="0"/>
          </a:p>
        </p:txBody>
      </p:sp>
      <p:sp>
        <p:nvSpPr>
          <p:cNvPr id="128" name="Shape 126"/>
          <p:cNvSpPr/>
          <p:nvPr/>
        </p:nvSpPr>
        <p:spPr>
          <a:xfrm>
            <a:off x="10972800" y="1709928"/>
            <a:ext cx="694944" cy="164592"/>
          </a:xfrm>
          <a:prstGeom prst="roundRect">
            <a:avLst>
              <a:gd name="adj" fmla="val 50000"/>
            </a:avLst>
          </a:prstGeom>
          <a:solidFill>
            <a:srgbClr val="B86E00"/>
          </a:solidFill>
          <a:ln w="12700">
            <a:solidFill>
              <a:srgbClr val="B86E00"/>
            </a:solidFill>
            <a:prstDash val="solid"/>
          </a:ln>
        </p:spPr>
      </p:sp>
      <p:sp>
        <p:nvSpPr>
          <p:cNvPr id="129" name="Text 127"/>
          <p:cNvSpPr txBox="1"/>
          <p:nvPr/>
        </p:nvSpPr>
        <p:spPr>
          <a:xfrm>
            <a:off x="10972800" y="170992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DEEPEN</a:t>
            </a:r>
            <a:endParaRPr lang="en-US" sz="800" dirty="0"/>
          </a:p>
        </p:txBody>
      </p:sp>
      <p:sp>
        <p:nvSpPr>
          <p:cNvPr id="130" name="Shape 128"/>
          <p:cNvSpPr/>
          <p:nvPr/>
        </p:nvSpPr>
        <p:spPr>
          <a:xfrm>
            <a:off x="8147304" y="1897380"/>
            <a:ext cx="3520440" cy="164592"/>
          </a:xfrm>
          <a:prstGeom prst="roundRect">
            <a:avLst>
              <a:gd name="adj" fmla="val 27778"/>
            </a:avLst>
          </a:prstGeom>
          <a:solidFill>
            <a:srgbClr val="E8EFFB"/>
          </a:solidFill>
          <a:ln w="12700">
            <a:solidFill>
              <a:srgbClr val="E8EFFB"/>
            </a:solidFill>
            <a:prstDash val="solid"/>
          </a:ln>
        </p:spPr>
      </p:sp>
      <p:sp>
        <p:nvSpPr>
          <p:cNvPr id="131" name="Text 129"/>
          <p:cNvSpPr txBox="1"/>
          <p:nvPr/>
        </p:nvSpPr>
        <p:spPr>
          <a:xfrm>
            <a:off x="8183880" y="1897380"/>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tone: pattern · Type: wall · Statement: yes</a:t>
            </a:r>
            <a:endParaRPr lang="en-US" sz="900" dirty="0"/>
          </a:p>
        </p:txBody>
      </p:sp>
      <p:sp>
        <p:nvSpPr>
          <p:cNvPr id="132" name="Text 130"/>
          <p:cNvSpPr txBox="1"/>
          <p:nvPr/>
        </p:nvSpPr>
        <p:spPr>
          <a:xfrm>
            <a:off x="8147304" y="207111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Oversized: Staples 3% vs Wayfair 30%</a:t>
            </a:r>
            <a:endParaRPr lang="en-US" sz="900" dirty="0"/>
          </a:p>
        </p:txBody>
      </p:sp>
      <p:sp>
        <p:nvSpPr>
          <p:cNvPr id="133" name="Text 131"/>
          <p:cNvSpPr txBox="1"/>
          <p:nvPr/>
        </p:nvSpPr>
        <p:spPr>
          <a:xfrm>
            <a:off x="8147304" y="220370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6" invalidUrl="" action="" tgtFrame="" tooltip="Poinsettias Contemporary Fusion - Floral Oversized Wood Wall Clock" history="1" highlightClick="0" endSnd="0">
                  <a:extLst>
                    <a:ext uri="{A12FA001-AC4F-418D-AE19-62706E023703}">
                      <ahyp:hlinkClr xmlns:ahyp="http://schemas.microsoft.com/office/drawing/2018/hyperlinkcolor" val="tx"/>
                    </a:ext>
                  </a:extLst>
                </a:hlinkClick>
              </a:rPr>
              <a:t>Poinsettias Contemporary Fusion - Floral… · $96.99 ↗</a:t>
            </a:r>
            <a:endParaRPr lang="en-US" sz="900" dirty="0"/>
          </a:p>
        </p:txBody>
      </p:sp>
      <p:sp>
        <p:nvSpPr>
          <p:cNvPr id="134" name="Shape 132"/>
          <p:cNvSpPr/>
          <p:nvPr/>
        </p:nvSpPr>
        <p:spPr>
          <a:xfrm>
            <a:off x="8147304" y="2336292"/>
            <a:ext cx="3520440" cy="0"/>
          </a:xfrm>
          <a:prstGeom prst="line">
            <a:avLst/>
          </a:prstGeom>
          <a:noFill/>
          <a:ln w="9525">
            <a:solidFill>
              <a:srgbClr val="E3E8F0"/>
            </a:solidFill>
            <a:prstDash val="solid"/>
          </a:ln>
        </p:spPr>
      </p:sp>
      <p:sp>
        <p:nvSpPr>
          <p:cNvPr id="135" name="Text 133"/>
          <p:cNvSpPr txBox="1"/>
          <p:nvPr/>
        </p:nvSpPr>
        <p:spPr>
          <a:xfrm>
            <a:off x="8147304" y="2359152"/>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7" invalidUrl="" action="" tgtFrame="" tooltip="Open example on Wayfair" history="1" highlightClick="0" endSnd="0">
                  <a:extLst>
                    <a:ext uri="{A12FA001-AC4F-418D-AE19-62706E023703}">
                      <ahyp:hlinkClr xmlns:ahyp="http://schemas.microsoft.com/office/drawing/2018/hyperlinkcolor" val="tx"/>
                    </a:ext>
                  </a:extLst>
                </a:hlinkClick>
              </a:rPr>
              <a:t>Wood pendulum wall clock</a:t>
            </a:r>
            <a:endParaRPr lang="en-US" sz="1100" dirty="0"/>
          </a:p>
        </p:txBody>
      </p:sp>
      <p:sp>
        <p:nvSpPr>
          <p:cNvPr id="136" name="Shape 134"/>
          <p:cNvSpPr/>
          <p:nvPr/>
        </p:nvSpPr>
        <p:spPr>
          <a:xfrm>
            <a:off x="10972800" y="2368296"/>
            <a:ext cx="694944" cy="164592"/>
          </a:xfrm>
          <a:prstGeom prst="roundRect">
            <a:avLst>
              <a:gd name="adj" fmla="val 50000"/>
            </a:avLst>
          </a:prstGeom>
          <a:solidFill>
            <a:srgbClr val="1E8E5A"/>
          </a:solidFill>
          <a:ln w="12700">
            <a:solidFill>
              <a:srgbClr val="1E8E5A"/>
            </a:solidFill>
            <a:prstDash val="solid"/>
          </a:ln>
        </p:spPr>
      </p:sp>
      <p:sp>
        <p:nvSpPr>
          <p:cNvPr id="137" name="Text 135"/>
          <p:cNvSpPr txBox="1"/>
          <p:nvPr/>
        </p:nvSpPr>
        <p:spPr>
          <a:xfrm>
            <a:off x="10972800" y="2368296"/>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38" name="Shape 136"/>
          <p:cNvSpPr/>
          <p:nvPr/>
        </p:nvSpPr>
        <p:spPr>
          <a:xfrm>
            <a:off x="8147304" y="2555748"/>
            <a:ext cx="3520440" cy="164592"/>
          </a:xfrm>
          <a:prstGeom prst="roundRect">
            <a:avLst>
              <a:gd name="adj" fmla="val 27778"/>
            </a:avLst>
          </a:prstGeom>
          <a:solidFill>
            <a:srgbClr val="E8EFFB"/>
          </a:solidFill>
          <a:ln w="12700">
            <a:solidFill>
              <a:srgbClr val="E8EFFB"/>
            </a:solidFill>
            <a:prstDash val="solid"/>
          </a:ln>
        </p:spPr>
      </p:sp>
      <p:sp>
        <p:nvSpPr>
          <p:cNvPr id="139" name="Text 137"/>
          <p:cNvSpPr txBox="1"/>
          <p:nvPr/>
        </p:nvSpPr>
        <p:spPr>
          <a:xfrm>
            <a:off x="8183880" y="2555748"/>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Material: wood · Type: pendulum</a:t>
            </a:r>
            <a:endParaRPr lang="en-US" sz="900" dirty="0"/>
          </a:p>
        </p:txBody>
      </p:sp>
      <p:sp>
        <p:nvSpPr>
          <p:cNvPr id="140" name="Text 138"/>
          <p:cNvSpPr txBox="1"/>
          <p:nvPr/>
        </p:nvSpPr>
        <p:spPr>
          <a:xfrm>
            <a:off x="8147304" y="272948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Staples 0 of 174 · Wayfair 9% of range</a:t>
            </a:r>
            <a:endParaRPr lang="en-US" sz="900" dirty="0"/>
          </a:p>
        </p:txBody>
      </p:sp>
      <p:sp>
        <p:nvSpPr>
          <p:cNvPr id="141" name="Text 139"/>
          <p:cNvSpPr txBox="1"/>
          <p:nvPr/>
        </p:nvSpPr>
        <p:spPr>
          <a:xfrm>
            <a:off x="8147304" y="286207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28" invalidUrl="" action="" tgtFrame="" tooltip="Two-Tone Wavy Floral Pendulum Wooden Wall Clocks" history="1" highlightClick="0" endSnd="0">
                  <a:extLst>
                    <a:ext uri="{A12FA001-AC4F-418D-AE19-62706E023703}">
                      <ahyp:hlinkClr xmlns:ahyp="http://schemas.microsoft.com/office/drawing/2018/hyperlinkcolor" val="tx"/>
                    </a:ext>
                  </a:extLst>
                </a:hlinkClick>
              </a:rPr>
              <a:t>Two-Tone Wavy Floral Pendulum Wooden Wall… · $309.99 ↗</a:t>
            </a:r>
            <a:endParaRPr lang="en-US" sz="900" dirty="0"/>
          </a:p>
        </p:txBody>
      </p:sp>
      <p:sp>
        <p:nvSpPr>
          <p:cNvPr id="142" name="Shape 140"/>
          <p:cNvSpPr/>
          <p:nvPr/>
        </p:nvSpPr>
        <p:spPr>
          <a:xfrm>
            <a:off x="8037576" y="3054096"/>
            <a:ext cx="3739896" cy="1600200"/>
          </a:xfrm>
          <a:prstGeom prst="roundRect">
            <a:avLst>
              <a:gd name="adj" fmla="val 4571"/>
            </a:avLst>
          </a:prstGeom>
          <a:solidFill>
            <a:srgbClr val="FFFFFF"/>
          </a:solidFill>
          <a:ln w="9525">
            <a:solidFill>
              <a:srgbClr val="C9D3E3"/>
            </a:solidFill>
            <a:prstDash val="solid"/>
          </a:ln>
        </p:spPr>
      </p:sp>
      <p:sp>
        <p:nvSpPr>
          <p:cNvPr id="143" name="Text 141"/>
          <p:cNvSpPr txBox="1"/>
          <p:nvPr/>
        </p:nvSpPr>
        <p:spPr>
          <a:xfrm>
            <a:off x="8147304" y="3090672"/>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Office Partitions &amp; Dividers</a:t>
            </a:r>
            <a:endParaRPr lang="en-US" sz="1250" dirty="0"/>
          </a:p>
        </p:txBody>
      </p:sp>
      <p:sp>
        <p:nvSpPr>
          <p:cNvPr id="144" name="Shape 142"/>
          <p:cNvSpPr/>
          <p:nvPr/>
        </p:nvSpPr>
        <p:spPr>
          <a:xfrm>
            <a:off x="10908792" y="3108960"/>
            <a:ext cx="777240" cy="201168"/>
          </a:xfrm>
          <a:prstGeom prst="roundRect">
            <a:avLst>
              <a:gd name="adj" fmla="val 50000"/>
            </a:avLst>
          </a:prstGeom>
          <a:solidFill>
            <a:srgbClr val="7F187F"/>
          </a:solidFill>
          <a:ln w="12700">
            <a:solidFill>
              <a:srgbClr val="7F187F"/>
            </a:solidFill>
            <a:prstDash val="solid"/>
          </a:ln>
        </p:spPr>
      </p:sp>
      <p:sp>
        <p:nvSpPr>
          <p:cNvPr id="145" name="Text 143"/>
          <p:cNvSpPr txBox="1"/>
          <p:nvPr/>
        </p:nvSpPr>
        <p:spPr>
          <a:xfrm>
            <a:off x="10908792" y="3108960"/>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146" name="Text 144"/>
          <p:cNvSpPr txBox="1"/>
          <p:nvPr/>
        </p:nvSpPr>
        <p:spPr>
          <a:xfrm>
            <a:off x="8147304" y="3337560"/>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9" invalidUrl="" action="" tgtFrame="" tooltip="Open example on Wayfair" history="1" highlightClick="0" endSnd="0">
                  <a:extLst>
                    <a:ext uri="{A12FA001-AC4F-418D-AE19-62706E023703}">
                      <ahyp:hlinkClr xmlns:ahyp="http://schemas.microsoft.com/office/drawing/2018/hyperlinkcolor" val="tx"/>
                    </a:ext>
                  </a:extLst>
                </a:hlinkClick>
              </a:rPr>
              <a:t>Decorative folding screen (under $150)</a:t>
            </a:r>
            <a:endParaRPr lang="en-US" sz="1100" dirty="0"/>
          </a:p>
        </p:txBody>
      </p:sp>
      <p:sp>
        <p:nvSpPr>
          <p:cNvPr id="147" name="Shape 145"/>
          <p:cNvSpPr/>
          <p:nvPr/>
        </p:nvSpPr>
        <p:spPr>
          <a:xfrm>
            <a:off x="10972800" y="3346704"/>
            <a:ext cx="694944" cy="164592"/>
          </a:xfrm>
          <a:prstGeom prst="roundRect">
            <a:avLst>
              <a:gd name="adj" fmla="val 50000"/>
            </a:avLst>
          </a:prstGeom>
          <a:solidFill>
            <a:srgbClr val="1E8E5A"/>
          </a:solidFill>
          <a:ln w="12700">
            <a:solidFill>
              <a:srgbClr val="1E8E5A"/>
            </a:solidFill>
            <a:prstDash val="solid"/>
          </a:ln>
        </p:spPr>
      </p:sp>
      <p:sp>
        <p:nvSpPr>
          <p:cNvPr id="148" name="Text 146"/>
          <p:cNvSpPr txBox="1"/>
          <p:nvPr/>
        </p:nvSpPr>
        <p:spPr>
          <a:xfrm>
            <a:off x="10972800" y="3346704"/>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49" name="Shape 147"/>
          <p:cNvSpPr/>
          <p:nvPr/>
        </p:nvSpPr>
        <p:spPr>
          <a:xfrm>
            <a:off x="8147304" y="3534156"/>
            <a:ext cx="3520440" cy="164592"/>
          </a:xfrm>
          <a:prstGeom prst="roundRect">
            <a:avLst>
              <a:gd name="adj" fmla="val 27778"/>
            </a:avLst>
          </a:prstGeom>
          <a:solidFill>
            <a:srgbClr val="E8EFFB"/>
          </a:solidFill>
          <a:ln w="12700">
            <a:solidFill>
              <a:srgbClr val="E8EFFB"/>
            </a:solidFill>
            <a:prstDash val="solid"/>
          </a:ln>
        </p:spPr>
      </p:sp>
      <p:sp>
        <p:nvSpPr>
          <p:cNvPr id="150" name="Text 148"/>
          <p:cNvSpPr txBox="1"/>
          <p:nvPr/>
        </p:nvSpPr>
        <p:spPr>
          <a:xfrm>
            <a:off x="8183880" y="3534156"/>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beige/cream · Type: folding screen · Design: plain</a:t>
            </a:r>
            <a:endParaRPr lang="en-US" sz="900" dirty="0"/>
          </a:p>
        </p:txBody>
      </p:sp>
      <p:sp>
        <p:nvSpPr>
          <p:cNvPr id="151" name="Text 149"/>
          <p:cNvSpPr txBox="1"/>
          <p:nvPr/>
        </p:nvSpPr>
        <p:spPr>
          <a:xfrm>
            <a:off x="8147304" y="3707892"/>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Under $150: Staples 3% vs Wayfair 28%</a:t>
            </a:r>
            <a:endParaRPr lang="en-US" sz="900" dirty="0"/>
          </a:p>
        </p:txBody>
      </p:sp>
      <p:sp>
        <p:nvSpPr>
          <p:cNvPr id="152" name="Text 150"/>
          <p:cNvSpPr txBox="1"/>
          <p:nvPr/>
        </p:nvSpPr>
        <p:spPr>
          <a:xfrm>
            <a:off x="8147304" y="384048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30" invalidUrl="" action="" tgtFrame="" tooltip="Folding Room Divider Screen 8 Panel 5.6 ' Tall Privacy Screen Freestanding Room Partition Beige" history="1" highlightClick="0" endSnd="0">
                  <a:extLst>
                    <a:ext uri="{A12FA001-AC4F-418D-AE19-62706E023703}">
                      <ahyp:hlinkClr xmlns:ahyp="http://schemas.microsoft.com/office/drawing/2018/hyperlinkcolor" val="tx"/>
                    </a:ext>
                  </a:extLst>
                </a:hlinkClick>
              </a:rPr>
              <a:t>Folding Room Divider Screen 8 Panel 5.6 '… · $139.99 ↗</a:t>
            </a:r>
            <a:endParaRPr lang="en-US" sz="900" dirty="0"/>
          </a:p>
        </p:txBody>
      </p:sp>
      <p:sp>
        <p:nvSpPr>
          <p:cNvPr id="153" name="Shape 151"/>
          <p:cNvSpPr/>
          <p:nvPr/>
        </p:nvSpPr>
        <p:spPr>
          <a:xfrm>
            <a:off x="8147304" y="3973068"/>
            <a:ext cx="3520440" cy="0"/>
          </a:xfrm>
          <a:prstGeom prst="line">
            <a:avLst/>
          </a:prstGeom>
          <a:noFill/>
          <a:ln w="9525">
            <a:solidFill>
              <a:srgbClr val="E3E8F0"/>
            </a:solidFill>
            <a:prstDash val="solid"/>
          </a:ln>
        </p:spPr>
      </p:sp>
      <p:sp>
        <p:nvSpPr>
          <p:cNvPr id="154" name="Text 152"/>
          <p:cNvSpPr txBox="1"/>
          <p:nvPr/>
        </p:nvSpPr>
        <p:spPr>
          <a:xfrm>
            <a:off x="8147304" y="3995928"/>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1" invalidUrl="" action="" tgtFrame="" tooltip="Open example on Wayfair" history="1" highlightClick="0" endSnd="0">
                  <a:extLst>
                    <a:ext uri="{A12FA001-AC4F-418D-AE19-62706E023703}">
                      <ahyp:hlinkClr xmlns:ahyp="http://schemas.microsoft.com/office/drawing/2018/hyperlinkcolor" val="tx"/>
                    </a:ext>
                  </a:extLst>
                </a:hlinkClick>
              </a:rPr>
              <a:t>Natural rattan / woven folding screen</a:t>
            </a:r>
            <a:endParaRPr lang="en-US" sz="1100" dirty="0"/>
          </a:p>
        </p:txBody>
      </p:sp>
      <p:sp>
        <p:nvSpPr>
          <p:cNvPr id="155" name="Shape 153"/>
          <p:cNvSpPr/>
          <p:nvPr/>
        </p:nvSpPr>
        <p:spPr>
          <a:xfrm>
            <a:off x="10972800" y="4005072"/>
            <a:ext cx="694944" cy="164592"/>
          </a:xfrm>
          <a:prstGeom prst="roundRect">
            <a:avLst>
              <a:gd name="adj" fmla="val 50000"/>
            </a:avLst>
          </a:prstGeom>
          <a:solidFill>
            <a:srgbClr val="1E8E5A"/>
          </a:solidFill>
          <a:ln w="12700">
            <a:solidFill>
              <a:srgbClr val="1E8E5A"/>
            </a:solidFill>
            <a:prstDash val="solid"/>
          </a:ln>
        </p:spPr>
      </p:sp>
      <p:sp>
        <p:nvSpPr>
          <p:cNvPr id="156" name="Text 154"/>
          <p:cNvSpPr txBox="1"/>
          <p:nvPr/>
        </p:nvSpPr>
        <p:spPr>
          <a:xfrm>
            <a:off x="10972800" y="4005072"/>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57" name="Shape 155"/>
          <p:cNvSpPr/>
          <p:nvPr/>
        </p:nvSpPr>
        <p:spPr>
          <a:xfrm>
            <a:off x="8147304" y="4192524"/>
            <a:ext cx="3520440" cy="164592"/>
          </a:xfrm>
          <a:prstGeom prst="roundRect">
            <a:avLst>
              <a:gd name="adj" fmla="val 27778"/>
            </a:avLst>
          </a:prstGeom>
          <a:solidFill>
            <a:srgbClr val="E8EFFB"/>
          </a:solidFill>
          <a:ln w="12700">
            <a:solidFill>
              <a:srgbClr val="E8EFFB"/>
            </a:solidFill>
            <a:prstDash val="solid"/>
          </a:ln>
        </p:spPr>
      </p:sp>
      <p:sp>
        <p:nvSpPr>
          <p:cNvPr id="158" name="Text 156"/>
          <p:cNvSpPr txBox="1"/>
          <p:nvPr/>
        </p:nvSpPr>
        <p:spPr>
          <a:xfrm>
            <a:off x="8183880" y="4192524"/>
            <a:ext cx="3465576" cy="164592"/>
          </a:xfrm>
          <a:prstGeom prst="rect">
            <a:avLst/>
          </a:prstGeom>
          <a:noFill/>
          <a:ln/>
        </p:spPr>
        <p:txBody>
          <a:bodyPr wrap="square" lIns="0" tIns="0" rIns="0" bIns="0" rtlCol="0" anchor="ctr"/>
          <a:lstStyle/>
          <a:p>
            <a:pPr indent="0" marL="0">
              <a:buNone/>
            </a:pPr>
            <a:r>
              <a:rPr lang="en-US" sz="900" dirty="0">
                <a:solidFill>
                  <a:srgbClr val="1F4E9A"/>
                </a:solidFill>
                <a:latin typeface="Calibri" pitchFamily="34" charset="0"/>
                <a:ea typeface="Calibri" pitchFamily="34" charset="-122"/>
                <a:cs typeface="Calibri" pitchFamily="34" charset="-120"/>
              </a:rPr>
              <a:t>Colour: beige/cream · Type: folding screen · Natural/woven: yes</a:t>
            </a:r>
            <a:endParaRPr lang="en-US" sz="900" dirty="0"/>
          </a:p>
        </p:txBody>
      </p:sp>
      <p:sp>
        <p:nvSpPr>
          <p:cNvPr id="159" name="Text 157"/>
          <p:cNvSpPr txBox="1"/>
          <p:nvPr/>
        </p:nvSpPr>
        <p:spPr>
          <a:xfrm>
            <a:off x="8147304" y="4366260"/>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Natural/woven: Staples 2% vs Wayfair 32%</a:t>
            </a:r>
            <a:endParaRPr lang="en-US" sz="900" dirty="0"/>
          </a:p>
        </p:txBody>
      </p:sp>
      <p:sp>
        <p:nvSpPr>
          <p:cNvPr id="160" name="Text 158"/>
          <p:cNvSpPr txBox="1"/>
          <p:nvPr/>
        </p:nvSpPr>
        <p:spPr>
          <a:xfrm>
            <a:off x="8147304" y="449884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32" invalidUrl="" action="" tgtFrame="" tooltip="bali &amp; pari Kiyoko Natural Rattan Room Divider - Handwoven Wicker Tri-Fold Decorative Privacy Screen with Woven Leaf Motif" history="1" highlightClick="0" endSnd="0">
                  <a:extLst>
                    <a:ext uri="{A12FA001-AC4F-418D-AE19-62706E023703}">
                      <ahyp:hlinkClr xmlns:ahyp="http://schemas.microsoft.com/office/drawing/2018/hyperlinkcolor" val="tx"/>
                    </a:ext>
                  </a:extLst>
                </a:hlinkClick>
              </a:rPr>
              <a:t>bali &amp; pari Kiyoko Natural Rattan Room… · $299.99 ↗</a:t>
            </a:r>
            <a:endParaRPr lang="en-US" sz="900" dirty="0"/>
          </a:p>
        </p:txBody>
      </p:sp>
      <p:sp>
        <p:nvSpPr>
          <p:cNvPr id="161" name="Shape 159"/>
          <p:cNvSpPr/>
          <p:nvPr/>
        </p:nvSpPr>
        <p:spPr>
          <a:xfrm>
            <a:off x="8037576" y="4690872"/>
            <a:ext cx="3739896" cy="1600200"/>
          </a:xfrm>
          <a:prstGeom prst="roundRect">
            <a:avLst>
              <a:gd name="adj" fmla="val 4571"/>
            </a:avLst>
          </a:prstGeom>
          <a:solidFill>
            <a:srgbClr val="FFFFFF"/>
          </a:solidFill>
          <a:ln w="9525">
            <a:solidFill>
              <a:srgbClr val="C9D3E3"/>
            </a:solidFill>
            <a:prstDash val="solid"/>
          </a:ln>
        </p:spPr>
      </p:sp>
      <p:sp>
        <p:nvSpPr>
          <p:cNvPr id="162" name="Text 160"/>
          <p:cNvSpPr txBox="1"/>
          <p:nvPr/>
        </p:nvSpPr>
        <p:spPr>
          <a:xfrm>
            <a:off x="8147304" y="4727448"/>
            <a:ext cx="2734056" cy="246888"/>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Coffee Organizers &amp; Dispensers</a:t>
            </a:r>
            <a:endParaRPr lang="en-US" sz="1250" dirty="0"/>
          </a:p>
        </p:txBody>
      </p:sp>
      <p:sp>
        <p:nvSpPr>
          <p:cNvPr id="163" name="Shape 161"/>
          <p:cNvSpPr/>
          <p:nvPr/>
        </p:nvSpPr>
        <p:spPr>
          <a:xfrm>
            <a:off x="10908792" y="4745736"/>
            <a:ext cx="777240" cy="201168"/>
          </a:xfrm>
          <a:prstGeom prst="roundRect">
            <a:avLst>
              <a:gd name="adj" fmla="val 50000"/>
            </a:avLst>
          </a:prstGeom>
          <a:solidFill>
            <a:srgbClr val="C45500"/>
          </a:solidFill>
          <a:ln w="12700">
            <a:solidFill>
              <a:srgbClr val="C45500"/>
            </a:solidFill>
            <a:prstDash val="solid"/>
          </a:ln>
        </p:spPr>
      </p:sp>
      <p:sp>
        <p:nvSpPr>
          <p:cNvPr id="164" name="Text 162"/>
          <p:cNvSpPr txBox="1"/>
          <p:nvPr/>
        </p:nvSpPr>
        <p:spPr>
          <a:xfrm>
            <a:off x="10908792" y="4745736"/>
            <a:ext cx="7772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165" name="Text 163"/>
          <p:cNvSpPr txBox="1"/>
          <p:nvPr/>
        </p:nvSpPr>
        <p:spPr>
          <a:xfrm>
            <a:off x="8147304" y="4974336"/>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3" invalidUrl="" action="" tgtFrame="" tooltip="Open example on Amazon" history="1" highlightClick="0" endSnd="0">
                  <a:extLst>
                    <a:ext uri="{A12FA001-AC4F-418D-AE19-62706E023703}">
                      <ahyp:hlinkClr xmlns:ahyp="http://schemas.microsoft.com/office/drawing/2018/hyperlinkcolor" val="tx"/>
                    </a:ext>
                  </a:extLst>
                </a:hlinkClick>
              </a:rPr>
              <a:t>Bamboo / wood K-Cup pod drawer</a:t>
            </a:r>
            <a:endParaRPr lang="en-US" sz="1100" dirty="0"/>
          </a:p>
        </p:txBody>
      </p:sp>
      <p:sp>
        <p:nvSpPr>
          <p:cNvPr id="166" name="Shape 164"/>
          <p:cNvSpPr/>
          <p:nvPr/>
        </p:nvSpPr>
        <p:spPr>
          <a:xfrm>
            <a:off x="10972800" y="4983480"/>
            <a:ext cx="694944" cy="164592"/>
          </a:xfrm>
          <a:prstGeom prst="roundRect">
            <a:avLst>
              <a:gd name="adj" fmla="val 50000"/>
            </a:avLst>
          </a:prstGeom>
          <a:solidFill>
            <a:srgbClr val="1E8E5A"/>
          </a:solidFill>
          <a:ln w="12700">
            <a:solidFill>
              <a:srgbClr val="1E8E5A"/>
            </a:solidFill>
            <a:prstDash val="solid"/>
          </a:ln>
        </p:spPr>
      </p:sp>
      <p:sp>
        <p:nvSpPr>
          <p:cNvPr id="167" name="Text 165"/>
          <p:cNvSpPr txBox="1"/>
          <p:nvPr/>
        </p:nvSpPr>
        <p:spPr>
          <a:xfrm>
            <a:off x="10972800" y="4983480"/>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68" name="Shape 166"/>
          <p:cNvSpPr/>
          <p:nvPr/>
        </p:nvSpPr>
        <p:spPr>
          <a:xfrm>
            <a:off x="8147304" y="5170932"/>
            <a:ext cx="3520440" cy="164592"/>
          </a:xfrm>
          <a:prstGeom prst="roundRect">
            <a:avLst>
              <a:gd name="adj" fmla="val 27778"/>
            </a:avLst>
          </a:prstGeom>
          <a:solidFill>
            <a:srgbClr val="E8EFFB"/>
          </a:solidFill>
          <a:ln w="12700">
            <a:solidFill>
              <a:srgbClr val="E8EFFB"/>
            </a:solidFill>
            <a:prstDash val="solid"/>
          </a:ln>
        </p:spPr>
      </p:sp>
      <p:sp>
        <p:nvSpPr>
          <p:cNvPr id="169" name="Text 167"/>
          <p:cNvSpPr txBox="1"/>
          <p:nvPr/>
        </p:nvSpPr>
        <p:spPr>
          <a:xfrm>
            <a:off x="8183880" y="5170932"/>
            <a:ext cx="3465576" cy="164592"/>
          </a:xfrm>
          <a:prstGeom prst="rect">
            <a:avLst/>
          </a:prstGeom>
          <a:noFill/>
          <a:ln/>
        </p:spPr>
        <p:txBody>
          <a:bodyPr wrap="square" lIns="0" tIns="0" rIns="0" bIns="0" rtlCol="0" anchor="ctr"/>
          <a:lstStyle/>
          <a:p>
            <a:pPr indent="0" marL="0">
              <a:buNone/>
            </a:pPr>
            <a:r>
              <a:rPr lang="en-US" sz="800" dirty="0">
                <a:solidFill>
                  <a:srgbClr val="1F4E9A"/>
                </a:solidFill>
                <a:latin typeface="Calibri" pitchFamily="34" charset="0"/>
                <a:ea typeface="Calibri" pitchFamily="34" charset="-122"/>
                <a:cs typeface="Calibri" pitchFamily="34" charset="-120"/>
              </a:rPr>
              <a:t>Material: wood/bamboo · Colour: brown/wood · Type: pod drawer · Pods: k-cup</a:t>
            </a:r>
            <a:endParaRPr lang="en-US" sz="800" dirty="0"/>
          </a:p>
        </p:txBody>
      </p:sp>
      <p:sp>
        <p:nvSpPr>
          <p:cNvPr id="170" name="Text 168"/>
          <p:cNvSpPr txBox="1"/>
          <p:nvPr/>
        </p:nvSpPr>
        <p:spPr>
          <a:xfrm>
            <a:off x="8147304" y="5344668"/>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Bamboo/wood: Staples 4% vs Amazon 36%</a:t>
            </a:r>
            <a:endParaRPr lang="en-US" sz="900" dirty="0"/>
          </a:p>
        </p:txBody>
      </p:sp>
      <p:sp>
        <p:nvSpPr>
          <p:cNvPr id="171" name="Text 169"/>
          <p:cNvSpPr txBox="1"/>
          <p:nvPr/>
        </p:nvSpPr>
        <p:spPr>
          <a:xfrm>
            <a:off x="8147304" y="547725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34"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Coffee Pod… · $35.89 ↗</a:t>
            </a:r>
            <a:endParaRPr lang="en-US" sz="900" dirty="0"/>
          </a:p>
        </p:txBody>
      </p:sp>
      <p:sp>
        <p:nvSpPr>
          <p:cNvPr id="172" name="Shape 170"/>
          <p:cNvSpPr/>
          <p:nvPr/>
        </p:nvSpPr>
        <p:spPr>
          <a:xfrm>
            <a:off x="8147304" y="5609844"/>
            <a:ext cx="3520440" cy="0"/>
          </a:xfrm>
          <a:prstGeom prst="line">
            <a:avLst/>
          </a:prstGeom>
          <a:noFill/>
          <a:ln w="9525">
            <a:solidFill>
              <a:srgbClr val="E3E8F0"/>
            </a:solidFill>
            <a:prstDash val="solid"/>
          </a:ln>
        </p:spPr>
      </p:sp>
      <p:sp>
        <p:nvSpPr>
          <p:cNvPr id="173" name="Text 171"/>
          <p:cNvSpPr txBox="1"/>
          <p:nvPr/>
        </p:nvSpPr>
        <p:spPr>
          <a:xfrm>
            <a:off x="8147304" y="5632704"/>
            <a:ext cx="2770632" cy="182880"/>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5" invalidUrl="" action="" tgtFrame="" tooltip="Open example on Amazon" history="1" highlightClick="0" endSnd="0">
                  <a:extLst>
                    <a:ext uri="{A12FA001-AC4F-418D-AE19-62706E023703}">
                      <ahyp:hlinkClr xmlns:ahyp="http://schemas.microsoft.com/office/drawing/2018/hyperlinkcolor" val="tx"/>
                    </a:ext>
                  </a:extLst>
                </a:hlinkClick>
              </a:rPr>
              <a:t>Bamboo Nespresso pod drawer</a:t>
            </a:r>
            <a:endParaRPr lang="en-US" sz="1100" dirty="0"/>
          </a:p>
        </p:txBody>
      </p:sp>
      <p:sp>
        <p:nvSpPr>
          <p:cNvPr id="174" name="Shape 172"/>
          <p:cNvSpPr/>
          <p:nvPr/>
        </p:nvSpPr>
        <p:spPr>
          <a:xfrm>
            <a:off x="10972800" y="5641848"/>
            <a:ext cx="694944" cy="164592"/>
          </a:xfrm>
          <a:prstGeom prst="roundRect">
            <a:avLst>
              <a:gd name="adj" fmla="val 50000"/>
            </a:avLst>
          </a:prstGeom>
          <a:solidFill>
            <a:srgbClr val="1E8E5A"/>
          </a:solidFill>
          <a:ln w="12700">
            <a:solidFill>
              <a:srgbClr val="1E8E5A"/>
            </a:solidFill>
            <a:prstDash val="solid"/>
          </a:ln>
        </p:spPr>
      </p:sp>
      <p:sp>
        <p:nvSpPr>
          <p:cNvPr id="175" name="Text 173"/>
          <p:cNvSpPr txBox="1"/>
          <p:nvPr/>
        </p:nvSpPr>
        <p:spPr>
          <a:xfrm>
            <a:off x="10972800" y="5641848"/>
            <a:ext cx="694944"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a:t>
            </a:r>
            <a:endParaRPr lang="en-US" sz="800" dirty="0"/>
          </a:p>
        </p:txBody>
      </p:sp>
      <p:sp>
        <p:nvSpPr>
          <p:cNvPr id="176" name="Shape 174"/>
          <p:cNvSpPr/>
          <p:nvPr/>
        </p:nvSpPr>
        <p:spPr>
          <a:xfrm>
            <a:off x="8147304" y="5829300"/>
            <a:ext cx="3520440" cy="164592"/>
          </a:xfrm>
          <a:prstGeom prst="roundRect">
            <a:avLst>
              <a:gd name="adj" fmla="val 27778"/>
            </a:avLst>
          </a:prstGeom>
          <a:solidFill>
            <a:srgbClr val="E8EFFB"/>
          </a:solidFill>
          <a:ln w="12700">
            <a:solidFill>
              <a:srgbClr val="E8EFFB"/>
            </a:solidFill>
            <a:prstDash val="solid"/>
          </a:ln>
        </p:spPr>
      </p:sp>
      <p:sp>
        <p:nvSpPr>
          <p:cNvPr id="177" name="Text 175"/>
          <p:cNvSpPr txBox="1"/>
          <p:nvPr/>
        </p:nvSpPr>
        <p:spPr>
          <a:xfrm>
            <a:off x="8183880" y="5829300"/>
            <a:ext cx="3465576" cy="164592"/>
          </a:xfrm>
          <a:prstGeom prst="rect">
            <a:avLst/>
          </a:prstGeom>
          <a:noFill/>
          <a:ln/>
        </p:spPr>
        <p:txBody>
          <a:bodyPr wrap="square" lIns="0" tIns="0" rIns="0" bIns="0" rtlCol="0" anchor="ctr"/>
          <a:lstStyle/>
          <a:p>
            <a:pPr indent="0" marL="0">
              <a:buNone/>
            </a:pPr>
            <a:r>
              <a:rPr lang="en-US" sz="750" dirty="0">
                <a:solidFill>
                  <a:srgbClr val="1F4E9A"/>
                </a:solidFill>
                <a:latin typeface="Calibri" pitchFamily="34" charset="0"/>
                <a:ea typeface="Calibri" pitchFamily="34" charset="-122"/>
                <a:cs typeface="Calibri" pitchFamily="34" charset="-120"/>
              </a:rPr>
              <a:t>Material: wood/bamboo · Colour: brown/wood · Type: pod drawer · Pods: nespresso</a:t>
            </a:r>
            <a:endParaRPr lang="en-US" sz="750" dirty="0"/>
          </a:p>
        </p:txBody>
      </p:sp>
      <p:sp>
        <p:nvSpPr>
          <p:cNvPr id="178" name="Text 176"/>
          <p:cNvSpPr txBox="1"/>
          <p:nvPr/>
        </p:nvSpPr>
        <p:spPr>
          <a:xfrm>
            <a:off x="8147304" y="6003036"/>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Nespresso storage: Staples 3% vs Amazon 33%</a:t>
            </a:r>
            <a:endParaRPr lang="en-US" sz="900" dirty="0"/>
          </a:p>
        </p:txBody>
      </p:sp>
      <p:sp>
        <p:nvSpPr>
          <p:cNvPr id="179" name="Text 177"/>
          <p:cNvSpPr txBox="1"/>
          <p:nvPr/>
        </p:nvSpPr>
        <p:spPr>
          <a:xfrm>
            <a:off x="8147304" y="6135624"/>
            <a:ext cx="3520440" cy="13716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e.g. </a:t>
            </a:r>
            <a:pPr indent="0" marL="0">
              <a:buNone/>
            </a:pPr>
            <a:r>
              <a:rPr lang="en-US" sz="900" u="sng" dirty="0">
                <a:solidFill>
                  <a:srgbClr val="2F6FD0"/>
                </a:solidFill>
                <a:latin typeface="Calibri" pitchFamily="34" charset="0"/>
                <a:ea typeface="Calibri" pitchFamily="34" charset="-122"/>
                <a:cs typeface="Calibri" pitchFamily="34" charset="-120"/>
                <a:hlinkClick r:id="rId36" invalidUrl="" action="" tgtFrame="" tooltip="Bamboo Coffee Pod Drawer Compatible with Nespresso Vertuo Capsule" history="1" highlightClick="0" endSnd="0">
                  <a:extLst>
                    <a:ext uri="{A12FA001-AC4F-418D-AE19-62706E023703}">
                      <ahyp:hlinkClr xmlns:ahyp="http://schemas.microsoft.com/office/drawing/2018/hyperlinkcolor" val="tx"/>
                    </a:ext>
                  </a:extLst>
                </a:hlinkClick>
              </a:rPr>
              <a:t>Bamboo Coffee Pod Drawer Compatible with… · $42.99 ↗</a:t>
            </a:r>
            <a:endParaRPr lang="en-US" sz="900" dirty="0"/>
          </a:p>
        </p:txBody>
      </p:sp>
      <p:sp>
        <p:nvSpPr>
          <p:cNvPr id="180" name="Text 178"/>
          <p:cNvSpPr txBox="1"/>
          <p:nvPr/>
        </p:nvSpPr>
        <p:spPr>
          <a:xfrm>
            <a:off x="411480" y="6327648"/>
            <a:ext cx="11365992" cy="182880"/>
          </a:xfrm>
          <a:prstGeom prst="rect">
            <a:avLst/>
          </a:prstGeom>
          <a:noFill/>
          <a:ln/>
        </p:spPr>
        <p:txBody>
          <a:bodyPr wrap="square" lIns="0" tIns="0" rIns="0" bIns="0" rtlCol="0" anchor="t"/>
          <a:lstStyle/>
          <a:p>
            <a:pPr indent="0" marL="0">
              <a:buNone/>
            </a:pPr>
            <a:r>
              <a:rPr lang="en-US" sz="900" b="1" dirty="0">
                <a:solidFill>
                  <a:srgbClr val="1F4E9A"/>
                </a:solidFill>
                <a:latin typeface="Calibri" pitchFamily="34" charset="0"/>
                <a:ea typeface="Calibri" pitchFamily="34" charset="-122"/>
                <a:cs typeface="Calibri" pitchFamily="34" charset="-120"/>
              </a:rPr>
              <a:t>Blue tag</a:t>
            </a:r>
            <a:pPr indent="0" marL="0">
              <a:buNone/>
            </a:pPr>
            <a:r>
              <a:rPr lang="en-US" sz="900" dirty="0">
                <a:solidFill>
                  <a:srgbClr val="5B6475"/>
                </a:solidFill>
                <a:latin typeface="Calibri" pitchFamily="34" charset="0"/>
                <a:ea typeface="Calibri" pitchFamily="34" charset="-122"/>
                <a:cs typeface="Calibri" pitchFamily="34" charset="-120"/>
              </a:rPr>
              <a:t> = the archetype (attribute combination) behind each pick   ·   </a:t>
            </a:r>
            <a:pPr indent="0" marL="0">
              <a:buNone/>
            </a:pPr>
            <a:r>
              <a:rPr lang="en-US" sz="900" b="1" dirty="0">
                <a:solidFill>
                  <a:srgbClr val="1E8E5A"/>
                </a:solidFill>
                <a:latin typeface="Calibri" pitchFamily="34" charset="0"/>
                <a:ea typeface="Calibri" pitchFamily="34" charset="-122"/>
                <a:cs typeface="Calibri" pitchFamily="34" charset="-120"/>
              </a:rPr>
              <a:t>ADD</a:t>
            </a:r>
            <a:pPr indent="0" marL="0">
              <a:buNone/>
            </a:pPr>
            <a:r>
              <a:rPr lang="en-US" sz="900" dirty="0">
                <a:solidFill>
                  <a:srgbClr val="5B6475"/>
                </a:solidFill>
                <a:latin typeface="Calibri" pitchFamily="34" charset="0"/>
                <a:ea typeface="Calibri" pitchFamily="34" charset="-122"/>
                <a:cs typeface="Calibri" pitchFamily="34" charset="-120"/>
              </a:rPr>
              <a:t> = Staples carries ~none   </a:t>
            </a:r>
            <a:pPr indent="0" marL="0">
              <a:buNone/>
            </a:pPr>
            <a:r>
              <a:rPr lang="en-US" sz="900" b="1" dirty="0">
                <a:solidFill>
                  <a:srgbClr val="B86E00"/>
                </a:solidFill>
                <a:latin typeface="Calibri" pitchFamily="34" charset="0"/>
                <a:ea typeface="Calibri" pitchFamily="34" charset="-122"/>
                <a:cs typeface="Calibri" pitchFamily="34" charset="-120"/>
              </a:rPr>
              <a:t>DEEPEN</a:t>
            </a:r>
            <a:pPr indent="0" marL="0">
              <a:buNone/>
            </a:pPr>
            <a:r>
              <a:rPr lang="en-US" sz="900" dirty="0">
                <a:solidFill>
                  <a:srgbClr val="5B6475"/>
                </a:solidFill>
                <a:latin typeface="Calibri" pitchFamily="34" charset="0"/>
                <a:ea typeface="Calibri" pitchFamily="34" charset="-122"/>
                <a:cs typeface="Calibri" pitchFamily="34" charset="-120"/>
              </a:rPr>
              <a:t> = Staples carries a little   </a:t>
            </a:r>
            <a:pPr indent="0" marL="0">
              <a:buNone/>
            </a:pPr>
            <a:r>
              <a:rPr lang="en-US" sz="900" b="1" dirty="0">
                <a:solidFill>
                  <a:srgbClr val="2F6FD0"/>
                </a:solidFill>
                <a:latin typeface="Calibri" pitchFamily="34" charset="0"/>
                <a:ea typeface="Calibri" pitchFamily="34" charset="-122"/>
                <a:cs typeface="Calibri" pitchFamily="34" charset="-120"/>
              </a:rPr>
              <a:t>TRADE-UP</a:t>
            </a:r>
            <a:pPr indent="0" marL="0">
              <a:buNone/>
            </a:pPr>
            <a:r>
              <a:rPr lang="en-US" sz="900" dirty="0">
                <a:solidFill>
                  <a:srgbClr val="5B6475"/>
                </a:solidFill>
                <a:latin typeface="Calibri" pitchFamily="34" charset="0"/>
                <a:ea typeface="Calibri" pitchFamily="34" charset="-122"/>
                <a:cs typeface="Calibri" pitchFamily="34" charset="-120"/>
              </a:rPr>
              <a:t> = Staples has it at lower prices   ·   Click a name to open an example product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Future Scope: From PoC to an Always-On Curation Engine</a:t>
            </a:r>
            <a:endParaRPr lang="en-US" sz="2800" dirty="0"/>
          </a:p>
        </p:txBody>
      </p:sp>
      <p:sp>
        <p:nvSpPr>
          <p:cNvPr id="3" name="Shape 1"/>
          <p:cNvSpPr/>
          <p:nvPr/>
        </p:nvSpPr>
        <p:spPr>
          <a:xfrm>
            <a:off x="411480" y="1097280"/>
            <a:ext cx="3880104" cy="420624"/>
          </a:xfrm>
          <a:prstGeom prst="homePlate">
            <a:avLst/>
          </a:prstGeom>
          <a:solidFill>
            <a:srgbClr val="DCE7F8"/>
          </a:solidFill>
          <a:ln w="12700">
            <a:solidFill>
              <a:srgbClr val="FFFFFF"/>
            </a:solidFill>
            <a:prstDash val="solid"/>
          </a:ln>
        </p:spPr>
      </p:sp>
      <p:sp>
        <p:nvSpPr>
          <p:cNvPr id="4" name="Text 2"/>
          <p:cNvSpPr txBox="1"/>
          <p:nvPr/>
        </p:nvSpPr>
        <p:spPr>
          <a:xfrm>
            <a:off x="548640" y="1097280"/>
            <a:ext cx="3468624" cy="420624"/>
          </a:xfrm>
          <a:prstGeom prst="rect">
            <a:avLst/>
          </a:prstGeom>
          <a:noFill/>
          <a:ln/>
        </p:spPr>
        <p:txBody>
          <a:bodyPr wrap="square" lIns="0" tIns="0" rIns="0" bIns="0" rtlCol="0" anchor="ctr"/>
          <a:lstStyle/>
          <a:p>
            <a:pPr algn="ctr" indent="0" marL="0">
              <a:buNone/>
            </a:pPr>
            <a:r>
              <a:rPr lang="en-US" sz="1150" b="1" dirty="0">
                <a:solidFill>
                  <a:srgbClr val="13285B"/>
                </a:solidFill>
                <a:latin typeface="Calibri" pitchFamily="34" charset="0"/>
                <a:ea typeface="Calibri" pitchFamily="34" charset="-122"/>
                <a:cs typeface="Calibri" pitchFamily="34" charset="-120"/>
              </a:rPr>
              <a:t>PoC (done): 9 nodes · external data · 87 safe adds</a:t>
            </a:r>
            <a:endParaRPr lang="en-US" sz="1150" dirty="0"/>
          </a:p>
        </p:txBody>
      </p:sp>
      <p:sp>
        <p:nvSpPr>
          <p:cNvPr id="5" name="Shape 3"/>
          <p:cNvSpPr/>
          <p:nvPr/>
        </p:nvSpPr>
        <p:spPr>
          <a:xfrm>
            <a:off x="4154424" y="1097280"/>
            <a:ext cx="3880104" cy="420624"/>
          </a:xfrm>
          <a:prstGeom prst="chevron">
            <a:avLst/>
          </a:prstGeom>
          <a:solidFill>
            <a:srgbClr val="2F6FD0"/>
          </a:solidFill>
          <a:ln w="12700">
            <a:solidFill>
              <a:srgbClr val="FFFFFF"/>
            </a:solidFill>
            <a:prstDash val="solid"/>
          </a:ln>
        </p:spPr>
      </p:sp>
      <p:sp>
        <p:nvSpPr>
          <p:cNvPr id="6" name="Text 4"/>
          <p:cNvSpPr txBox="1"/>
          <p:nvPr/>
        </p:nvSpPr>
        <p:spPr>
          <a:xfrm>
            <a:off x="4447032" y="1097280"/>
            <a:ext cx="3331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Phase 2: every category + Staples' internal data</a:t>
            </a:r>
            <a:endParaRPr lang="en-US" sz="1150" dirty="0"/>
          </a:p>
        </p:txBody>
      </p:sp>
      <p:sp>
        <p:nvSpPr>
          <p:cNvPr id="7" name="Shape 5"/>
          <p:cNvSpPr/>
          <p:nvPr/>
        </p:nvSpPr>
        <p:spPr>
          <a:xfrm>
            <a:off x="7943088" y="1097280"/>
            <a:ext cx="3834384" cy="420624"/>
          </a:xfrm>
          <a:prstGeom prst="chevron">
            <a:avLst/>
          </a:prstGeom>
          <a:solidFill>
            <a:srgbClr val="13285B"/>
          </a:solidFill>
          <a:ln w="12700">
            <a:solidFill>
              <a:srgbClr val="FFFFFF"/>
            </a:solidFill>
            <a:prstDash val="solid"/>
          </a:ln>
        </p:spPr>
      </p:sp>
      <p:sp>
        <p:nvSpPr>
          <p:cNvPr id="8" name="Text 6"/>
          <p:cNvSpPr txBox="1"/>
          <p:nvPr/>
        </p:nvSpPr>
        <p:spPr>
          <a:xfrm>
            <a:off x="8235696" y="1097280"/>
            <a:ext cx="3331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Phase 3: always-on curation &amp; growth engine</a:t>
            </a:r>
            <a:endParaRPr lang="en-US" sz="1150" dirty="0"/>
          </a:p>
        </p:txBody>
      </p:sp>
      <p:sp>
        <p:nvSpPr>
          <p:cNvPr id="9" name="Shape 7"/>
          <p:cNvSpPr/>
          <p:nvPr/>
        </p:nvSpPr>
        <p:spPr>
          <a:xfrm>
            <a:off x="411480" y="1645920"/>
            <a:ext cx="5614416" cy="420624"/>
          </a:xfrm>
          <a:prstGeom prst="roundRect">
            <a:avLst>
              <a:gd name="adj" fmla="val 17391"/>
            </a:avLst>
          </a:prstGeom>
          <a:solidFill>
            <a:srgbClr val="1F4E9A"/>
          </a:solidFill>
          <a:ln w="12700">
            <a:solidFill>
              <a:srgbClr val="1F4E9A"/>
            </a:solidFill>
            <a:prstDash val="solid"/>
          </a:ln>
        </p:spPr>
      </p:sp>
      <p:sp>
        <p:nvSpPr>
          <p:cNvPr id="10" name="Shape 8"/>
          <p:cNvSpPr/>
          <p:nvPr/>
        </p:nvSpPr>
        <p:spPr>
          <a:xfrm>
            <a:off x="521208" y="1691640"/>
            <a:ext cx="329184" cy="329184"/>
          </a:xfrm>
          <a:prstGeom prst="ellipse">
            <a:avLst/>
          </a:prstGeom>
          <a:solidFill>
            <a:srgbClr val="F5A623"/>
          </a:solidFill>
          <a:ln w="12700">
            <a:solidFill>
              <a:srgbClr val="F5A623"/>
            </a:solidFill>
            <a:prstDash val="solid"/>
          </a:ln>
        </p:spPr>
      </p:sp>
      <p:sp>
        <p:nvSpPr>
          <p:cNvPr id="11" name="Text 9"/>
          <p:cNvSpPr txBox="1"/>
          <p:nvPr/>
        </p:nvSpPr>
        <p:spPr>
          <a:xfrm>
            <a:off x="521208" y="16916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960120" y="1645920"/>
            <a:ext cx="4974336"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Unlock with Staples' internal data</a:t>
            </a:r>
            <a:endParaRPr lang="en-US" sz="1500" dirty="0"/>
          </a:p>
        </p:txBody>
      </p:sp>
      <p:sp>
        <p:nvSpPr>
          <p:cNvPr id="13" name="Shape 11"/>
          <p:cNvSpPr/>
          <p:nvPr/>
        </p:nvSpPr>
        <p:spPr>
          <a:xfrm>
            <a:off x="411480" y="213969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4" name="Shape 12"/>
          <p:cNvSpPr/>
          <p:nvPr/>
        </p:nvSpPr>
        <p:spPr>
          <a:xfrm>
            <a:off x="548640" y="2276856"/>
            <a:ext cx="502920" cy="502920"/>
          </a:xfrm>
          <a:prstGeom prst="ellipse">
            <a:avLst/>
          </a:prstGeom>
          <a:solidFill>
            <a:srgbClr val="1F4E9A"/>
          </a:solidFill>
          <a:ln w="12700">
            <a:solidFill>
              <a:srgbClr val="1F4E9A"/>
            </a:solidFill>
            <a:prstDash val="solid"/>
          </a:ln>
        </p:spPr>
      </p:sp>
      <p:pic>
        <p:nvPicPr>
          <p:cNvPr id="15" name="Image 0" descr="preencoded.png">    </p:cNvPr>
          <p:cNvPicPr>
            <a:picLocks noChangeAspect="1"/>
          </p:cNvPicPr>
          <p:nvPr/>
        </p:nvPicPr>
        <p:blipFill>
          <a:blip r:embed="rId1"/>
          <a:stretch>
            <a:fillRect/>
          </a:stretch>
        </p:blipFill>
        <p:spPr>
          <a:xfrm>
            <a:off x="659282" y="2387498"/>
            <a:ext cx="281635" cy="281635"/>
          </a:xfrm>
          <a:prstGeom prst="rect">
            <a:avLst/>
          </a:prstGeom>
        </p:spPr>
      </p:pic>
      <p:sp>
        <p:nvSpPr>
          <p:cNvPr id="16" name="Text 13"/>
          <p:cNvSpPr txBox="1"/>
          <p:nvPr/>
        </p:nvSpPr>
        <p:spPr>
          <a:xfrm>
            <a:off x="1161288" y="221284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Demand-weighted prioritisation</a:t>
            </a:r>
            <a:endParaRPr lang="en-US" sz="1300" dirty="0"/>
          </a:p>
        </p:txBody>
      </p:sp>
      <p:sp>
        <p:nvSpPr>
          <p:cNvPr id="17" name="Text 14"/>
          <p:cNvSpPr txBox="1"/>
          <p:nvPr/>
        </p:nvSpPr>
        <p:spPr>
          <a:xfrm>
            <a:off x="1161288" y="246888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Which gaps will actually sell, and how much?</a:t>
            </a:r>
            <a:endParaRPr lang="en-US" sz="1050" dirty="0"/>
          </a:p>
        </p:txBody>
      </p:sp>
      <p:sp>
        <p:nvSpPr>
          <p:cNvPr id="18" name="Text 15"/>
          <p:cNvSpPr txBox="1"/>
          <p:nvPr/>
        </p:nvSpPr>
        <p:spPr>
          <a:xfrm>
            <a:off x="1161288" y="270662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Join sales, traffic &amp; search data to each archetype</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Score expected demand, GMV &amp; commission per pick</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Re-rank the add-list by revenue, not gap size</a:t>
            </a:r>
            <a:endParaRPr lang="en-US" sz="1050" dirty="0"/>
          </a:p>
        </p:txBody>
      </p:sp>
      <p:sp>
        <p:nvSpPr>
          <p:cNvPr id="19" name="Shape 16"/>
          <p:cNvSpPr/>
          <p:nvPr/>
        </p:nvSpPr>
        <p:spPr>
          <a:xfrm>
            <a:off x="4489704" y="2276856"/>
            <a:ext cx="1408176" cy="1069848"/>
          </a:xfrm>
          <a:prstGeom prst="roundRect">
            <a:avLst>
              <a:gd name="adj" fmla="val 6838"/>
            </a:avLst>
          </a:prstGeom>
          <a:solidFill>
            <a:srgbClr val="EEF3FB"/>
          </a:solidFill>
          <a:ln w="12700">
            <a:solidFill>
              <a:srgbClr val="EEF3FB"/>
            </a:solidFill>
            <a:prstDash val="solid"/>
          </a:ln>
        </p:spPr>
      </p:sp>
      <p:sp>
        <p:nvSpPr>
          <p:cNvPr id="20" name="Text 17"/>
          <p:cNvSpPr txBox="1"/>
          <p:nvPr/>
        </p:nvSpPr>
        <p:spPr>
          <a:xfrm>
            <a:off x="4562856" y="235915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21" name="Text 18"/>
          <p:cNvSpPr txBox="1"/>
          <p:nvPr/>
        </p:nvSpPr>
        <p:spPr>
          <a:xfrm>
            <a:off x="4562856" y="256032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Revenue-sized add-list per node</a:t>
            </a:r>
            <a:endParaRPr lang="en-US" sz="1100" dirty="0"/>
          </a:p>
        </p:txBody>
      </p:sp>
      <p:sp>
        <p:nvSpPr>
          <p:cNvPr id="22" name="Shape 19"/>
          <p:cNvSpPr/>
          <p:nvPr/>
        </p:nvSpPr>
        <p:spPr>
          <a:xfrm>
            <a:off x="411480" y="355701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3" name="Shape 20"/>
          <p:cNvSpPr/>
          <p:nvPr/>
        </p:nvSpPr>
        <p:spPr>
          <a:xfrm>
            <a:off x="548640" y="3694176"/>
            <a:ext cx="502920" cy="502920"/>
          </a:xfrm>
          <a:prstGeom prst="ellipse">
            <a:avLst/>
          </a:prstGeom>
          <a:solidFill>
            <a:srgbClr val="1F4E9A"/>
          </a:solidFill>
          <a:ln w="12700">
            <a:solidFill>
              <a:srgbClr val="1F4E9A"/>
            </a:solidFill>
            <a:prstDash val="solid"/>
          </a:ln>
        </p:spPr>
      </p:sp>
      <p:pic>
        <p:nvPicPr>
          <p:cNvPr id="24" name="Image 1" descr="preencoded.png">    </p:cNvPr>
          <p:cNvPicPr>
            <a:picLocks noChangeAspect="1"/>
          </p:cNvPicPr>
          <p:nvPr/>
        </p:nvPicPr>
        <p:blipFill>
          <a:blip r:embed="rId2"/>
          <a:stretch>
            <a:fillRect/>
          </a:stretch>
        </p:blipFill>
        <p:spPr>
          <a:xfrm>
            <a:off x="659282" y="3804818"/>
            <a:ext cx="281635" cy="281635"/>
          </a:xfrm>
          <a:prstGeom prst="rect">
            <a:avLst/>
          </a:prstGeom>
        </p:spPr>
      </p:pic>
      <p:sp>
        <p:nvSpPr>
          <p:cNvPr id="25" name="Text 21"/>
          <p:cNvSpPr txBox="1"/>
          <p:nvPr/>
        </p:nvSpPr>
        <p:spPr>
          <a:xfrm>
            <a:off x="1161288" y="363016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Customer-segment targeting</a:t>
            </a:r>
            <a:endParaRPr lang="en-US" sz="1300" dirty="0"/>
          </a:p>
        </p:txBody>
      </p:sp>
      <p:sp>
        <p:nvSpPr>
          <p:cNvPr id="26" name="Text 22"/>
          <p:cNvSpPr txBox="1"/>
          <p:nvPr/>
        </p:nvSpPr>
        <p:spPr>
          <a:xfrm>
            <a:off x="1161288" y="388620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Who buys which archetype?</a:t>
            </a:r>
            <a:endParaRPr lang="en-US" sz="1050" dirty="0"/>
          </a:p>
        </p:txBody>
      </p:sp>
      <p:sp>
        <p:nvSpPr>
          <p:cNvPr id="27" name="Text 23"/>
          <p:cNvSpPr txBox="1"/>
          <p:nvPr/>
        </p:nvSpPr>
        <p:spPr>
          <a:xfrm>
            <a:off x="1161288" y="412394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Profile buyers: SMB vs home, RFM, basket mix</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Cluster customers and map clusters to archetypes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Match picks to Hero, Probable &amp; Non-Hero nodes</a:t>
            </a:r>
            <a:endParaRPr lang="en-US" sz="1050" dirty="0"/>
          </a:p>
        </p:txBody>
      </p:sp>
      <p:sp>
        <p:nvSpPr>
          <p:cNvPr id="28" name="Shape 24"/>
          <p:cNvSpPr/>
          <p:nvPr/>
        </p:nvSpPr>
        <p:spPr>
          <a:xfrm>
            <a:off x="4489704" y="3694176"/>
            <a:ext cx="1408176" cy="1069848"/>
          </a:xfrm>
          <a:prstGeom prst="roundRect">
            <a:avLst>
              <a:gd name="adj" fmla="val 6838"/>
            </a:avLst>
          </a:prstGeom>
          <a:solidFill>
            <a:srgbClr val="EEF3FB"/>
          </a:solidFill>
          <a:ln w="12700">
            <a:solidFill>
              <a:srgbClr val="EEF3FB"/>
            </a:solidFill>
            <a:prstDash val="solid"/>
          </a:ln>
        </p:spPr>
      </p:sp>
      <p:sp>
        <p:nvSpPr>
          <p:cNvPr id="29" name="Text 25"/>
          <p:cNvSpPr txBox="1"/>
          <p:nvPr/>
        </p:nvSpPr>
        <p:spPr>
          <a:xfrm>
            <a:off x="4562856" y="377647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30" name="Text 26"/>
          <p:cNvSpPr txBox="1"/>
          <p:nvPr/>
        </p:nvSpPr>
        <p:spPr>
          <a:xfrm>
            <a:off x="4562856" y="397764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The right assortment for each segment</a:t>
            </a:r>
            <a:endParaRPr lang="en-US" sz="1100" dirty="0"/>
          </a:p>
        </p:txBody>
      </p:sp>
      <p:sp>
        <p:nvSpPr>
          <p:cNvPr id="31" name="Shape 27"/>
          <p:cNvSpPr/>
          <p:nvPr/>
        </p:nvSpPr>
        <p:spPr>
          <a:xfrm>
            <a:off x="411480" y="497433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2" name="Shape 28"/>
          <p:cNvSpPr/>
          <p:nvPr/>
        </p:nvSpPr>
        <p:spPr>
          <a:xfrm>
            <a:off x="548640" y="5111496"/>
            <a:ext cx="502920" cy="502920"/>
          </a:xfrm>
          <a:prstGeom prst="ellipse">
            <a:avLst/>
          </a:prstGeom>
          <a:solidFill>
            <a:srgbClr val="1F4E9A"/>
          </a:solidFill>
          <a:ln w="12700">
            <a:solidFill>
              <a:srgbClr val="1F4E9A"/>
            </a:solidFill>
            <a:prstDash val="solid"/>
          </a:ln>
        </p:spPr>
      </p:sp>
      <p:pic>
        <p:nvPicPr>
          <p:cNvPr id="33" name="Image 2" descr="preencoded.png">    </p:cNvPr>
          <p:cNvPicPr>
            <a:picLocks noChangeAspect="1"/>
          </p:cNvPicPr>
          <p:nvPr/>
        </p:nvPicPr>
        <p:blipFill>
          <a:blip r:embed="rId3"/>
          <a:stretch>
            <a:fillRect/>
          </a:stretch>
        </p:blipFill>
        <p:spPr>
          <a:xfrm>
            <a:off x="659282" y="5222138"/>
            <a:ext cx="281635" cy="281635"/>
          </a:xfrm>
          <a:prstGeom prst="rect">
            <a:avLst/>
          </a:prstGeom>
        </p:spPr>
      </p:pic>
      <p:sp>
        <p:nvSpPr>
          <p:cNvPr id="34" name="Text 29"/>
          <p:cNvSpPr txBox="1"/>
          <p:nvPr/>
        </p:nvSpPr>
        <p:spPr>
          <a:xfrm>
            <a:off x="1161288" y="504748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Automated seller-listing vetting</a:t>
            </a:r>
            <a:endParaRPr lang="en-US" sz="1300" dirty="0"/>
          </a:p>
        </p:txBody>
      </p:sp>
      <p:sp>
        <p:nvSpPr>
          <p:cNvPr id="35" name="Text 30"/>
          <p:cNvSpPr txBox="1"/>
          <p:nvPr/>
        </p:nvSpPr>
        <p:spPr>
          <a:xfrm>
            <a:off x="1161288" y="530352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Should this seller's listing go live?</a:t>
            </a:r>
            <a:endParaRPr lang="en-US" sz="1050" dirty="0"/>
          </a:p>
        </p:txBody>
      </p:sp>
      <p:sp>
        <p:nvSpPr>
          <p:cNvPr id="36" name="Text 31"/>
          <p:cNvSpPr txBox="1"/>
          <p:nvPr/>
        </p:nvSpPr>
        <p:spPr>
          <a:xfrm>
            <a:off x="1161288" y="554126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Run the same engine on every seller submission</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Auto-score fit, 1P cannibalisation &amp; price</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Approve / review / reject queue for curators</a:t>
            </a:r>
            <a:endParaRPr lang="en-US" sz="1050" dirty="0"/>
          </a:p>
        </p:txBody>
      </p:sp>
      <p:sp>
        <p:nvSpPr>
          <p:cNvPr id="37" name="Shape 32"/>
          <p:cNvSpPr/>
          <p:nvPr/>
        </p:nvSpPr>
        <p:spPr>
          <a:xfrm>
            <a:off x="4489704" y="5111496"/>
            <a:ext cx="1408176" cy="1069848"/>
          </a:xfrm>
          <a:prstGeom prst="roundRect">
            <a:avLst>
              <a:gd name="adj" fmla="val 6838"/>
            </a:avLst>
          </a:prstGeom>
          <a:solidFill>
            <a:srgbClr val="EEF3FB"/>
          </a:solidFill>
          <a:ln w="12700">
            <a:solidFill>
              <a:srgbClr val="EEF3FB"/>
            </a:solidFill>
            <a:prstDash val="solid"/>
          </a:ln>
        </p:spPr>
      </p:sp>
      <p:sp>
        <p:nvSpPr>
          <p:cNvPr id="38" name="Text 33"/>
          <p:cNvSpPr txBox="1"/>
          <p:nvPr/>
        </p:nvSpPr>
        <p:spPr>
          <a:xfrm>
            <a:off x="4562856" y="519379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39" name="Text 34"/>
          <p:cNvSpPr txBox="1"/>
          <p:nvPr/>
        </p:nvSpPr>
        <p:spPr>
          <a:xfrm>
            <a:off x="4562856" y="539496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Curation that scales beyond manual review</a:t>
            </a:r>
            <a:endParaRPr lang="en-US" sz="1100" dirty="0"/>
          </a:p>
        </p:txBody>
      </p:sp>
      <p:sp>
        <p:nvSpPr>
          <p:cNvPr id="40" name="Shape 35"/>
          <p:cNvSpPr/>
          <p:nvPr/>
        </p:nvSpPr>
        <p:spPr>
          <a:xfrm>
            <a:off x="6163056" y="1645920"/>
            <a:ext cx="5614416" cy="420624"/>
          </a:xfrm>
          <a:prstGeom prst="roundRect">
            <a:avLst>
              <a:gd name="adj" fmla="val 17391"/>
            </a:avLst>
          </a:prstGeom>
          <a:solidFill>
            <a:srgbClr val="13285B"/>
          </a:solidFill>
          <a:ln w="12700">
            <a:solidFill>
              <a:srgbClr val="13285B"/>
            </a:solidFill>
            <a:prstDash val="solid"/>
          </a:ln>
        </p:spPr>
      </p:sp>
      <p:sp>
        <p:nvSpPr>
          <p:cNvPr id="41" name="Shape 36"/>
          <p:cNvSpPr/>
          <p:nvPr/>
        </p:nvSpPr>
        <p:spPr>
          <a:xfrm>
            <a:off x="6272784" y="1691640"/>
            <a:ext cx="329184" cy="329184"/>
          </a:xfrm>
          <a:prstGeom prst="ellipse">
            <a:avLst/>
          </a:prstGeom>
          <a:solidFill>
            <a:srgbClr val="F5A623"/>
          </a:solidFill>
          <a:ln w="12700">
            <a:solidFill>
              <a:srgbClr val="F5A623"/>
            </a:solidFill>
            <a:prstDash val="solid"/>
          </a:ln>
        </p:spPr>
      </p:sp>
      <p:sp>
        <p:nvSpPr>
          <p:cNvPr id="42" name="Text 37"/>
          <p:cNvSpPr txBox="1"/>
          <p:nvPr/>
        </p:nvSpPr>
        <p:spPr>
          <a:xfrm>
            <a:off x="6272784" y="16916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3" name="Text 38"/>
          <p:cNvSpPr txBox="1"/>
          <p:nvPr/>
        </p:nvSpPr>
        <p:spPr>
          <a:xfrm>
            <a:off x="6711696" y="1645920"/>
            <a:ext cx="4974336"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Grow beyond assortment gaps</a:t>
            </a:r>
            <a:endParaRPr lang="en-US" sz="1500" dirty="0"/>
          </a:p>
        </p:txBody>
      </p:sp>
      <p:sp>
        <p:nvSpPr>
          <p:cNvPr id="44" name="Shape 39"/>
          <p:cNvSpPr/>
          <p:nvPr/>
        </p:nvSpPr>
        <p:spPr>
          <a:xfrm>
            <a:off x="6163056" y="213969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6300216" y="2276856"/>
            <a:ext cx="502920" cy="502920"/>
          </a:xfrm>
          <a:prstGeom prst="ellipse">
            <a:avLst/>
          </a:prstGeom>
          <a:solidFill>
            <a:srgbClr val="13285B"/>
          </a:solidFill>
          <a:ln w="12700">
            <a:solidFill>
              <a:srgbClr val="13285B"/>
            </a:solidFill>
            <a:prstDash val="solid"/>
          </a:ln>
        </p:spPr>
      </p:sp>
      <p:pic>
        <p:nvPicPr>
          <p:cNvPr id="46" name="Image 3" descr="preencoded.png">    </p:cNvPr>
          <p:cNvPicPr>
            <a:picLocks noChangeAspect="1"/>
          </p:cNvPicPr>
          <p:nvPr/>
        </p:nvPicPr>
        <p:blipFill>
          <a:blip r:embed="rId4"/>
          <a:stretch>
            <a:fillRect/>
          </a:stretch>
        </p:blipFill>
        <p:spPr>
          <a:xfrm>
            <a:off x="6410858" y="2387498"/>
            <a:ext cx="281635" cy="281635"/>
          </a:xfrm>
          <a:prstGeom prst="rect">
            <a:avLst/>
          </a:prstGeom>
        </p:spPr>
      </p:pic>
      <p:sp>
        <p:nvSpPr>
          <p:cNvPr id="47" name="Text 41"/>
          <p:cNvSpPr txBox="1"/>
          <p:nvPr/>
        </p:nvSpPr>
        <p:spPr>
          <a:xfrm>
            <a:off x="6912864" y="221284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Search-gap mining</a:t>
            </a:r>
            <a:endParaRPr lang="en-US" sz="1300" dirty="0"/>
          </a:p>
        </p:txBody>
      </p:sp>
      <p:sp>
        <p:nvSpPr>
          <p:cNvPr id="48" name="Text 42"/>
          <p:cNvSpPr txBox="1"/>
          <p:nvPr/>
        </p:nvSpPr>
        <p:spPr>
          <a:xfrm>
            <a:off x="6912864" y="246888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What do shoppers search for that Staples doesn't sell?</a:t>
            </a:r>
            <a:endParaRPr lang="en-US" sz="1050" dirty="0"/>
          </a:p>
        </p:txBody>
      </p:sp>
      <p:sp>
        <p:nvSpPr>
          <p:cNvPr id="49" name="Text 43"/>
          <p:cNvSpPr txBox="1"/>
          <p:nvPr/>
        </p:nvSpPr>
        <p:spPr>
          <a:xfrm>
            <a:off x="6912864" y="270662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Map on-site searches to nodes &amp; archetypes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Flag zero-result, low-click and high-exit queries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Feed unmet demand into seller recruitment</a:t>
            </a:r>
            <a:endParaRPr lang="en-US" sz="1050" dirty="0"/>
          </a:p>
        </p:txBody>
      </p:sp>
      <p:sp>
        <p:nvSpPr>
          <p:cNvPr id="50" name="Shape 44"/>
          <p:cNvSpPr/>
          <p:nvPr/>
        </p:nvSpPr>
        <p:spPr>
          <a:xfrm>
            <a:off x="10241280" y="2276856"/>
            <a:ext cx="1408176" cy="1069848"/>
          </a:xfrm>
          <a:prstGeom prst="roundRect">
            <a:avLst>
              <a:gd name="adj" fmla="val 6838"/>
            </a:avLst>
          </a:prstGeom>
          <a:solidFill>
            <a:srgbClr val="EEF3FB"/>
          </a:solidFill>
          <a:ln w="12700">
            <a:solidFill>
              <a:srgbClr val="EEF3FB"/>
            </a:solidFill>
            <a:prstDash val="solid"/>
          </a:ln>
        </p:spPr>
      </p:sp>
      <p:sp>
        <p:nvSpPr>
          <p:cNvPr id="51" name="Text 45"/>
          <p:cNvSpPr txBox="1"/>
          <p:nvPr/>
        </p:nvSpPr>
        <p:spPr>
          <a:xfrm>
            <a:off x="10314432" y="235915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52" name="Text 46"/>
          <p:cNvSpPr txBox="1"/>
          <p:nvPr/>
        </p:nvSpPr>
        <p:spPr>
          <a:xfrm>
            <a:off x="10314432" y="256032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Demand-backed recruiting pipeline</a:t>
            </a:r>
            <a:endParaRPr lang="en-US" sz="1100" dirty="0"/>
          </a:p>
        </p:txBody>
      </p:sp>
      <p:sp>
        <p:nvSpPr>
          <p:cNvPr id="53" name="Shape 47"/>
          <p:cNvSpPr/>
          <p:nvPr/>
        </p:nvSpPr>
        <p:spPr>
          <a:xfrm>
            <a:off x="6163056" y="355701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4" name="Shape 48"/>
          <p:cNvSpPr/>
          <p:nvPr/>
        </p:nvSpPr>
        <p:spPr>
          <a:xfrm>
            <a:off x="6300216" y="3694176"/>
            <a:ext cx="502920" cy="502920"/>
          </a:xfrm>
          <a:prstGeom prst="ellipse">
            <a:avLst/>
          </a:prstGeom>
          <a:solidFill>
            <a:srgbClr val="13285B"/>
          </a:solidFill>
          <a:ln w="12700">
            <a:solidFill>
              <a:srgbClr val="13285B"/>
            </a:solidFill>
            <a:prstDash val="solid"/>
          </a:ln>
        </p:spPr>
      </p:sp>
      <p:pic>
        <p:nvPicPr>
          <p:cNvPr id="55" name="Image 4" descr="preencoded.png">    </p:cNvPr>
          <p:cNvPicPr>
            <a:picLocks noChangeAspect="1"/>
          </p:cNvPicPr>
          <p:nvPr/>
        </p:nvPicPr>
        <p:blipFill>
          <a:blip r:embed="rId5"/>
          <a:stretch>
            <a:fillRect/>
          </a:stretch>
        </p:blipFill>
        <p:spPr>
          <a:xfrm>
            <a:off x="6410858" y="3804818"/>
            <a:ext cx="281635" cy="281635"/>
          </a:xfrm>
          <a:prstGeom prst="rect">
            <a:avLst/>
          </a:prstGeom>
        </p:spPr>
      </p:pic>
      <p:sp>
        <p:nvSpPr>
          <p:cNvPr id="56" name="Text 49"/>
          <p:cNvSpPr txBox="1"/>
          <p:nvPr/>
        </p:nvSpPr>
        <p:spPr>
          <a:xfrm>
            <a:off x="6912864" y="363016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Basket completion &amp; attach</a:t>
            </a:r>
            <a:endParaRPr lang="en-US" sz="1300" dirty="0"/>
          </a:p>
        </p:txBody>
      </p:sp>
      <p:sp>
        <p:nvSpPr>
          <p:cNvPr id="57" name="Text 50"/>
          <p:cNvSpPr txBox="1"/>
          <p:nvPr/>
        </p:nvSpPr>
        <p:spPr>
          <a:xfrm>
            <a:off x="6912864" y="388620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Which item completes the customer's basket?</a:t>
            </a:r>
            <a:endParaRPr lang="en-US" sz="1050" dirty="0"/>
          </a:p>
        </p:txBody>
      </p:sp>
      <p:sp>
        <p:nvSpPr>
          <p:cNvPr id="58" name="Text 51"/>
          <p:cNvSpPr txBox="1"/>
          <p:nvPr/>
        </p:nvSpPr>
        <p:spPr>
          <a:xfrm>
            <a:off x="6912864" y="412394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Market-basket analysis on transactions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Find missing complements, e.g. Back-to-School kits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Recruit sellers for 1–2 attach items per order</a:t>
            </a:r>
            <a:endParaRPr lang="en-US" sz="1050" dirty="0"/>
          </a:p>
        </p:txBody>
      </p:sp>
      <p:sp>
        <p:nvSpPr>
          <p:cNvPr id="59" name="Shape 52"/>
          <p:cNvSpPr/>
          <p:nvPr/>
        </p:nvSpPr>
        <p:spPr>
          <a:xfrm>
            <a:off x="10241280" y="3694176"/>
            <a:ext cx="1408176" cy="1069848"/>
          </a:xfrm>
          <a:prstGeom prst="roundRect">
            <a:avLst>
              <a:gd name="adj" fmla="val 6838"/>
            </a:avLst>
          </a:prstGeom>
          <a:solidFill>
            <a:srgbClr val="EEF3FB"/>
          </a:solidFill>
          <a:ln w="12700">
            <a:solidFill>
              <a:srgbClr val="EEF3FB"/>
            </a:solidFill>
            <a:prstDash val="solid"/>
          </a:ln>
        </p:spPr>
      </p:sp>
      <p:sp>
        <p:nvSpPr>
          <p:cNvPr id="60" name="Text 53"/>
          <p:cNvSpPr txBox="1"/>
          <p:nvPr/>
        </p:nvSpPr>
        <p:spPr>
          <a:xfrm>
            <a:off x="10314432" y="377647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61" name="Text 54"/>
          <p:cNvSpPr txBox="1"/>
          <p:nvPr/>
        </p:nvSpPr>
        <p:spPr>
          <a:xfrm>
            <a:off x="10314432" y="397764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Bigger baskets, new commission</a:t>
            </a:r>
            <a:endParaRPr lang="en-US" sz="1100" dirty="0"/>
          </a:p>
        </p:txBody>
      </p:sp>
      <p:sp>
        <p:nvSpPr>
          <p:cNvPr id="62" name="Shape 55"/>
          <p:cNvSpPr/>
          <p:nvPr/>
        </p:nvSpPr>
        <p:spPr>
          <a:xfrm>
            <a:off x="6163056" y="4974336"/>
            <a:ext cx="5614416" cy="1344168"/>
          </a:xfrm>
          <a:prstGeom prst="roundRect">
            <a:avLst>
              <a:gd name="adj" fmla="val 6803"/>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3" name="Shape 56"/>
          <p:cNvSpPr/>
          <p:nvPr/>
        </p:nvSpPr>
        <p:spPr>
          <a:xfrm>
            <a:off x="6300216" y="5111496"/>
            <a:ext cx="502920" cy="502920"/>
          </a:xfrm>
          <a:prstGeom prst="ellipse">
            <a:avLst/>
          </a:prstGeom>
          <a:solidFill>
            <a:srgbClr val="13285B"/>
          </a:solidFill>
          <a:ln w="12700">
            <a:solidFill>
              <a:srgbClr val="13285B"/>
            </a:solidFill>
            <a:prstDash val="solid"/>
          </a:ln>
        </p:spPr>
      </p:sp>
      <p:pic>
        <p:nvPicPr>
          <p:cNvPr id="64" name="Image 5" descr="preencoded.png">    </p:cNvPr>
          <p:cNvPicPr>
            <a:picLocks noChangeAspect="1"/>
          </p:cNvPicPr>
          <p:nvPr/>
        </p:nvPicPr>
        <p:blipFill>
          <a:blip r:embed="rId6"/>
          <a:stretch>
            <a:fillRect/>
          </a:stretch>
        </p:blipFill>
        <p:spPr>
          <a:xfrm>
            <a:off x="6410858" y="5222138"/>
            <a:ext cx="281635" cy="281635"/>
          </a:xfrm>
          <a:prstGeom prst="rect">
            <a:avLst/>
          </a:prstGeom>
        </p:spPr>
      </p:pic>
      <p:sp>
        <p:nvSpPr>
          <p:cNvPr id="65" name="Text 57"/>
          <p:cNvSpPr txBox="1"/>
          <p:nvPr/>
        </p:nvSpPr>
        <p:spPr>
          <a:xfrm>
            <a:off x="6912864" y="5047488"/>
            <a:ext cx="3236976" cy="246888"/>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Always-on market radar</a:t>
            </a:r>
            <a:endParaRPr lang="en-US" sz="1300" dirty="0"/>
          </a:p>
        </p:txBody>
      </p:sp>
      <p:sp>
        <p:nvSpPr>
          <p:cNvPr id="66" name="Text 58"/>
          <p:cNvSpPr txBox="1"/>
          <p:nvPr/>
        </p:nvSpPr>
        <p:spPr>
          <a:xfrm>
            <a:off x="6912864" y="5303520"/>
            <a:ext cx="3236976" cy="201168"/>
          </a:xfrm>
          <a:prstGeom prst="rect">
            <a:avLst/>
          </a:prstGeom>
          <a:noFill/>
          <a:ln/>
        </p:spPr>
        <p:txBody>
          <a:bodyPr wrap="square" lIns="0" tIns="0" rIns="0" bIns="0" rtlCol="0" anchor="t"/>
          <a:lstStyle/>
          <a:p>
            <a:pPr indent="0" marL="0">
              <a:buNone/>
            </a:pPr>
            <a:r>
              <a:rPr lang="en-US" sz="1050" i="1" dirty="0">
                <a:solidFill>
                  <a:srgbClr val="2F6FD0"/>
                </a:solidFill>
                <a:latin typeface="Calibri" pitchFamily="34" charset="0"/>
                <a:ea typeface="Calibri" pitchFamily="34" charset="-122"/>
                <a:cs typeface="Calibri" pitchFamily="34" charset="-120"/>
              </a:rPr>
              <a:t>Which categories are about to grow, and who leads?</a:t>
            </a:r>
            <a:endParaRPr lang="en-US" sz="1050" dirty="0"/>
          </a:p>
        </p:txBody>
      </p:sp>
      <p:sp>
        <p:nvSpPr>
          <p:cNvPr id="67" name="Text 59"/>
          <p:cNvSpPr txBox="1"/>
          <p:nvPr/>
        </p:nvSpPr>
        <p:spPr>
          <a:xfrm>
            <a:off x="6912864" y="5541264"/>
            <a:ext cx="3236976" cy="73152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Monthly crawl of more competitors and categories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Image-based design score + social &amp; search trends</a:t>
            </a:r>
            <a:endParaRPr lang="en-US" sz="1050" dirty="0"/>
          </a:p>
          <a:p>
            <a:pPr marL="127000" indent="-127000">
              <a:spcAft>
                <a:spcPts val="100"/>
              </a:spcAft>
              <a:buSzPct val="100000"/>
              <a:buChar char="•"/>
            </a:pPr>
            <a:r>
              <a:rPr lang="en-US" sz="1050" dirty="0">
                <a:solidFill>
                  <a:srgbClr val="1F2937"/>
                </a:solidFill>
                <a:latin typeface="Calibri" pitchFamily="34" charset="0"/>
                <a:ea typeface="Calibri" pitchFamily="34" charset="-122"/>
                <a:cs typeface="Calibri" pitchFamily="34" charset="-120"/>
              </a:rPr>
              <a:t>Forecast demand before entering Explore nodes</a:t>
            </a:r>
            <a:endParaRPr lang="en-US" sz="1050" dirty="0"/>
          </a:p>
        </p:txBody>
      </p:sp>
      <p:sp>
        <p:nvSpPr>
          <p:cNvPr id="68" name="Shape 60"/>
          <p:cNvSpPr/>
          <p:nvPr/>
        </p:nvSpPr>
        <p:spPr>
          <a:xfrm>
            <a:off x="10241280" y="5111496"/>
            <a:ext cx="1408176" cy="1069848"/>
          </a:xfrm>
          <a:prstGeom prst="roundRect">
            <a:avLst>
              <a:gd name="adj" fmla="val 6838"/>
            </a:avLst>
          </a:prstGeom>
          <a:solidFill>
            <a:srgbClr val="EEF3FB"/>
          </a:solidFill>
          <a:ln w="12700">
            <a:solidFill>
              <a:srgbClr val="EEF3FB"/>
            </a:solidFill>
            <a:prstDash val="solid"/>
          </a:ln>
        </p:spPr>
      </p:sp>
      <p:sp>
        <p:nvSpPr>
          <p:cNvPr id="69" name="Text 61"/>
          <p:cNvSpPr txBox="1"/>
          <p:nvPr/>
        </p:nvSpPr>
        <p:spPr>
          <a:xfrm>
            <a:off x="10314432" y="5193792"/>
            <a:ext cx="1280160"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OUTCOME</a:t>
            </a:r>
            <a:endParaRPr lang="en-US" sz="800" dirty="0"/>
          </a:p>
        </p:txBody>
      </p:sp>
      <p:sp>
        <p:nvSpPr>
          <p:cNvPr id="70" name="Text 62"/>
          <p:cNvSpPr txBox="1"/>
          <p:nvPr/>
        </p:nvSpPr>
        <p:spPr>
          <a:xfrm>
            <a:off x="10314432" y="5394960"/>
            <a:ext cx="1280160" cy="749808"/>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Early warning on new whitespace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197510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6002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48056" y="1847088"/>
            <a:ext cx="1865376" cy="4434840"/>
          </a:xfrm>
          <a:prstGeom prst="roundRect">
            <a:avLst>
              <a:gd name="adj" fmla="val 3922"/>
            </a:avLst>
          </a:prstGeom>
          <a:solidFill>
            <a:srgbClr val="FFFFFF"/>
          </a:solidFill>
          <a:ln w="9525">
            <a:solidFill>
              <a:srgbClr val="9DB2D6"/>
            </a:solidFill>
            <a:prstDash val="dash"/>
          </a:ln>
        </p:spPr>
      </p:sp>
      <p:pic>
        <p:nvPicPr>
          <p:cNvPr id="6" name="Image 0" descr="preencoded.png">    </p:cNvPr>
          <p:cNvPicPr>
            <a:picLocks noChangeAspect="1"/>
          </p:cNvPicPr>
          <p:nvPr/>
        </p:nvPicPr>
        <p:blipFill>
          <a:blip r:embed="rId1"/>
          <a:stretch>
            <a:fillRect/>
          </a:stretch>
        </p:blipFill>
        <p:spPr>
          <a:xfrm>
            <a:off x="1133856" y="2121408"/>
            <a:ext cx="493776" cy="493776"/>
          </a:xfrm>
          <a:prstGeom prst="rect">
            <a:avLst/>
          </a:prstGeom>
        </p:spPr>
      </p:pic>
      <p:sp>
        <p:nvSpPr>
          <p:cNvPr id="7" name="Text 4"/>
          <p:cNvSpPr txBox="1"/>
          <p:nvPr/>
        </p:nvSpPr>
        <p:spPr>
          <a:xfrm>
            <a:off x="521208" y="2651760"/>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521208" y="2871216"/>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products · 12 nodes</a:t>
            </a:r>
            <a:endParaRPr lang="en-US" sz="950" dirty="0"/>
          </a:p>
        </p:txBody>
      </p:sp>
      <p:pic>
        <p:nvPicPr>
          <p:cNvPr id="9" name="Image 1" descr="preencoded.png">    </p:cNvPr>
          <p:cNvPicPr>
            <a:picLocks noChangeAspect="1"/>
          </p:cNvPicPr>
          <p:nvPr/>
        </p:nvPicPr>
        <p:blipFill>
          <a:blip r:embed="rId2"/>
          <a:stretch>
            <a:fillRect/>
          </a:stretch>
        </p:blipFill>
        <p:spPr>
          <a:xfrm>
            <a:off x="1133856" y="3538728"/>
            <a:ext cx="493776" cy="493776"/>
          </a:xfrm>
          <a:prstGeom prst="rect">
            <a:avLst/>
          </a:prstGeom>
        </p:spPr>
      </p:pic>
      <p:sp>
        <p:nvSpPr>
          <p:cNvPr id="10" name="Text 6"/>
          <p:cNvSpPr txBox="1"/>
          <p:nvPr/>
        </p:nvSpPr>
        <p:spPr>
          <a:xfrm>
            <a:off x="521208" y="4069080"/>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521208" y="4288536"/>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products · 7 nodes</a:t>
            </a:r>
            <a:endParaRPr lang="en-US" sz="950" dirty="0"/>
          </a:p>
        </p:txBody>
      </p:sp>
      <p:pic>
        <p:nvPicPr>
          <p:cNvPr id="12" name="Image 2" descr="preencoded.png">    </p:cNvPr>
          <p:cNvPicPr>
            <a:picLocks noChangeAspect="1"/>
          </p:cNvPicPr>
          <p:nvPr/>
        </p:nvPicPr>
        <p:blipFill>
          <a:blip r:embed="rId3"/>
          <a:stretch>
            <a:fillRect/>
          </a:stretch>
        </p:blipFill>
        <p:spPr>
          <a:xfrm>
            <a:off x="1133856" y="4956048"/>
            <a:ext cx="493776" cy="493776"/>
          </a:xfrm>
          <a:prstGeom prst="rect">
            <a:avLst/>
          </a:prstGeom>
        </p:spPr>
      </p:pic>
      <p:sp>
        <p:nvSpPr>
          <p:cNvPr id="13" name="Text 8"/>
          <p:cNvSpPr txBox="1"/>
          <p:nvPr/>
        </p:nvSpPr>
        <p:spPr>
          <a:xfrm>
            <a:off x="521208" y="5486400"/>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521208" y="5705856"/>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products · 5 nodes</a:t>
            </a:r>
            <a:endParaRPr lang="en-US" sz="950" dirty="0"/>
          </a:p>
        </p:txBody>
      </p:sp>
      <p:sp>
        <p:nvSpPr>
          <p:cNvPr id="15" name="Shape 10"/>
          <p:cNvSpPr/>
          <p:nvPr/>
        </p:nvSpPr>
        <p:spPr>
          <a:xfrm>
            <a:off x="2295144" y="4064508"/>
            <a:ext cx="91440" cy="0"/>
          </a:xfrm>
          <a:prstGeom prst="line">
            <a:avLst/>
          </a:prstGeom>
          <a:noFill/>
          <a:ln w="19050">
            <a:solidFill>
              <a:srgbClr val="1F4E9A"/>
            </a:solidFill>
            <a:prstDash val="solid"/>
            <a:tailEnd type="triangle"/>
          </a:ln>
        </p:spPr>
      </p:sp>
      <p:sp>
        <p:nvSpPr>
          <p:cNvPr id="16" name="Shape 11"/>
          <p:cNvSpPr/>
          <p:nvPr/>
        </p:nvSpPr>
        <p:spPr>
          <a:xfrm>
            <a:off x="2404872" y="1170432"/>
            <a:ext cx="2157984" cy="548640"/>
          </a:xfrm>
          <a:prstGeom prst="chevron">
            <a:avLst/>
          </a:prstGeom>
          <a:solidFill>
            <a:srgbClr val="CFDDF5"/>
          </a:solidFill>
          <a:ln w="12700">
            <a:solidFill>
              <a:srgbClr val="FFFFFF"/>
            </a:solidFill>
            <a:prstDash val="solid"/>
          </a:ln>
        </p:spPr>
      </p:sp>
      <p:sp>
        <p:nvSpPr>
          <p:cNvPr id="17" name="Text 12"/>
          <p:cNvSpPr txBox="1"/>
          <p:nvPr/>
        </p:nvSpPr>
        <p:spPr>
          <a:xfrm>
            <a:off x="2660904" y="1170432"/>
            <a:ext cx="169164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41448" y="1847088"/>
            <a:ext cx="2048256" cy="4434840"/>
          </a:xfrm>
          <a:prstGeom prst="roundRect">
            <a:avLst>
              <a:gd name="adj" fmla="val 3571"/>
            </a:avLst>
          </a:prstGeom>
          <a:solidFill>
            <a:srgbClr val="FFFFFF"/>
          </a:solidFill>
          <a:ln w="9525">
            <a:solidFill>
              <a:srgbClr val="9DB2D6"/>
            </a:solidFill>
            <a:prstDash val="dash"/>
          </a:ln>
        </p:spPr>
      </p:sp>
      <p:pic>
        <p:nvPicPr>
          <p:cNvPr id="19" name="Image 3" descr="preencoded.png">    </p:cNvPr>
          <p:cNvPicPr>
            <a:picLocks noChangeAspect="1"/>
          </p:cNvPicPr>
          <p:nvPr/>
        </p:nvPicPr>
        <p:blipFill>
          <a:blip r:embed="rId4"/>
          <a:stretch>
            <a:fillRect/>
          </a:stretch>
        </p:blipFill>
        <p:spPr>
          <a:xfrm>
            <a:off x="3218688" y="2121408"/>
            <a:ext cx="493776" cy="493776"/>
          </a:xfrm>
          <a:prstGeom prst="rect">
            <a:avLst/>
          </a:prstGeom>
        </p:spPr>
      </p:pic>
      <p:sp>
        <p:nvSpPr>
          <p:cNvPr id="20" name="Text 14"/>
          <p:cNvSpPr txBox="1"/>
          <p:nvPr/>
        </p:nvSpPr>
        <p:spPr>
          <a:xfrm>
            <a:off x="2514600" y="2651760"/>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14600" y="2871216"/>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mojibake, PII removed</a:t>
            </a:r>
            <a:endParaRPr lang="en-US" sz="950" dirty="0"/>
          </a:p>
        </p:txBody>
      </p:sp>
      <p:pic>
        <p:nvPicPr>
          <p:cNvPr id="22" name="Image 4" descr="preencoded.png">    </p:cNvPr>
          <p:cNvPicPr>
            <a:picLocks noChangeAspect="1"/>
          </p:cNvPicPr>
          <p:nvPr/>
        </p:nvPicPr>
        <p:blipFill>
          <a:blip r:embed="rId5"/>
          <a:stretch>
            <a:fillRect/>
          </a:stretch>
        </p:blipFill>
        <p:spPr>
          <a:xfrm>
            <a:off x="3218688" y="3538728"/>
            <a:ext cx="493776" cy="493776"/>
          </a:xfrm>
          <a:prstGeom prst="rect">
            <a:avLst/>
          </a:prstGeom>
        </p:spPr>
      </p:pic>
      <p:sp>
        <p:nvSpPr>
          <p:cNvPr id="23" name="Text 16"/>
          <p:cNvSpPr txBox="1"/>
          <p:nvPr/>
        </p:nvSpPr>
        <p:spPr>
          <a:xfrm>
            <a:off x="2514600" y="4069080"/>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14600" y="4288536"/>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18688" y="4956048"/>
            <a:ext cx="493776" cy="493776"/>
          </a:xfrm>
          <a:prstGeom prst="rect">
            <a:avLst/>
          </a:prstGeom>
        </p:spPr>
      </p:pic>
      <p:sp>
        <p:nvSpPr>
          <p:cNvPr id="26" name="Text 18"/>
          <p:cNvSpPr txBox="1"/>
          <p:nvPr/>
        </p:nvSpPr>
        <p:spPr>
          <a:xfrm>
            <a:off x="2514600" y="5486400"/>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14600" y="5705856"/>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71416" y="4064508"/>
            <a:ext cx="91440" cy="0"/>
          </a:xfrm>
          <a:prstGeom prst="line">
            <a:avLst/>
          </a:prstGeom>
          <a:noFill/>
          <a:ln w="19050">
            <a:solidFill>
              <a:srgbClr val="1F4E9A"/>
            </a:solidFill>
            <a:prstDash val="solid"/>
            <a:tailEnd type="triangle"/>
          </a:ln>
        </p:spPr>
      </p:sp>
      <p:sp>
        <p:nvSpPr>
          <p:cNvPr id="29" name="Shape 21"/>
          <p:cNvSpPr/>
          <p:nvPr/>
        </p:nvSpPr>
        <p:spPr>
          <a:xfrm>
            <a:off x="4581144" y="1170432"/>
            <a:ext cx="2295144" cy="548640"/>
          </a:xfrm>
          <a:prstGeom prst="chevron">
            <a:avLst/>
          </a:prstGeom>
          <a:solidFill>
            <a:srgbClr val="B9CEF2"/>
          </a:solidFill>
          <a:ln w="12700">
            <a:solidFill>
              <a:srgbClr val="FFFFFF"/>
            </a:solidFill>
            <a:prstDash val="solid"/>
          </a:ln>
        </p:spPr>
      </p:sp>
      <p:sp>
        <p:nvSpPr>
          <p:cNvPr id="30" name="Text 22"/>
          <p:cNvSpPr txBox="1"/>
          <p:nvPr/>
        </p:nvSpPr>
        <p:spPr>
          <a:xfrm>
            <a:off x="4837176" y="1170432"/>
            <a:ext cx="18288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617720" y="1847088"/>
            <a:ext cx="2185416" cy="4434840"/>
          </a:xfrm>
          <a:prstGeom prst="roundRect">
            <a:avLst>
              <a:gd name="adj" fmla="val 3347"/>
            </a:avLst>
          </a:prstGeom>
          <a:solidFill>
            <a:srgbClr val="FFFFFF"/>
          </a:solidFill>
          <a:ln w="9525">
            <a:solidFill>
              <a:srgbClr val="9DB2D6"/>
            </a:solidFill>
            <a:prstDash val="dash"/>
          </a:ln>
        </p:spPr>
      </p:sp>
      <p:pic>
        <p:nvPicPr>
          <p:cNvPr id="32" name="Image 6" descr="preencoded.png">    </p:cNvPr>
          <p:cNvPicPr>
            <a:picLocks noChangeAspect="1"/>
          </p:cNvPicPr>
          <p:nvPr/>
        </p:nvPicPr>
        <p:blipFill>
          <a:blip r:embed="rId7"/>
          <a:stretch>
            <a:fillRect/>
          </a:stretch>
        </p:blipFill>
        <p:spPr>
          <a:xfrm>
            <a:off x="5463540" y="2121408"/>
            <a:ext cx="493776" cy="493776"/>
          </a:xfrm>
          <a:prstGeom prst="rect">
            <a:avLst/>
          </a:prstGeom>
        </p:spPr>
      </p:pic>
      <p:sp>
        <p:nvSpPr>
          <p:cNvPr id="33" name="Text 24"/>
          <p:cNvSpPr txBox="1"/>
          <p:nvPr/>
        </p:nvSpPr>
        <p:spPr>
          <a:xfrm>
            <a:off x="4690872" y="2651760"/>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690872" y="2871216"/>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full text, same on both sides</a:t>
            </a:r>
            <a:endParaRPr lang="en-US" sz="950" dirty="0"/>
          </a:p>
        </p:txBody>
      </p:sp>
      <p:pic>
        <p:nvPicPr>
          <p:cNvPr id="35" name="Image 7" descr="preencoded.png">    </p:cNvPr>
          <p:cNvPicPr>
            <a:picLocks noChangeAspect="1"/>
          </p:cNvPicPr>
          <p:nvPr/>
        </p:nvPicPr>
        <p:blipFill>
          <a:blip r:embed="rId8"/>
          <a:stretch>
            <a:fillRect/>
          </a:stretch>
        </p:blipFill>
        <p:spPr>
          <a:xfrm>
            <a:off x="5463540" y="3538728"/>
            <a:ext cx="493776" cy="493776"/>
          </a:xfrm>
          <a:prstGeom prst="rect">
            <a:avLst/>
          </a:prstGeom>
        </p:spPr>
      </p:pic>
      <p:sp>
        <p:nvSpPr>
          <p:cNvPr id="36" name="Text 26"/>
          <p:cNvSpPr txBox="1"/>
          <p:nvPr/>
        </p:nvSpPr>
        <p:spPr>
          <a:xfrm>
            <a:off x="4690872" y="4069080"/>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cards</a:t>
            </a:r>
            <a:endParaRPr lang="en-US" sz="1150" dirty="0"/>
          </a:p>
        </p:txBody>
      </p:sp>
      <p:sp>
        <p:nvSpPr>
          <p:cNvPr id="37" name="Text 27"/>
          <p:cNvSpPr txBox="1"/>
          <p:nvPr/>
        </p:nvSpPr>
        <p:spPr>
          <a:xfrm>
            <a:off x="4690872" y="4288536"/>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bge embeddings, no price, no brand</a:t>
            </a:r>
            <a:endParaRPr lang="en-US" sz="950" dirty="0"/>
          </a:p>
        </p:txBody>
      </p:sp>
      <p:pic>
        <p:nvPicPr>
          <p:cNvPr id="38" name="Image 8" descr="preencoded.png">    </p:cNvPr>
          <p:cNvPicPr>
            <a:picLocks noChangeAspect="1"/>
          </p:cNvPicPr>
          <p:nvPr/>
        </p:nvPicPr>
        <p:blipFill>
          <a:blip r:embed="rId9"/>
          <a:stretch>
            <a:fillRect/>
          </a:stretch>
        </p:blipFill>
        <p:spPr>
          <a:xfrm>
            <a:off x="5463540" y="4956048"/>
            <a:ext cx="493776" cy="493776"/>
          </a:xfrm>
          <a:prstGeom prst="rect">
            <a:avLst/>
          </a:prstGeom>
        </p:spPr>
      </p:pic>
      <p:sp>
        <p:nvSpPr>
          <p:cNvPr id="39" name="Text 28"/>
          <p:cNvSpPr txBox="1"/>
          <p:nvPr/>
        </p:nvSpPr>
        <p:spPr>
          <a:xfrm>
            <a:off x="4690872" y="5486400"/>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690872" y="5705856"/>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784848" y="4064508"/>
            <a:ext cx="91440" cy="0"/>
          </a:xfrm>
          <a:prstGeom prst="line">
            <a:avLst/>
          </a:prstGeom>
          <a:noFill/>
          <a:ln w="19050">
            <a:solidFill>
              <a:srgbClr val="1F4E9A"/>
            </a:solidFill>
            <a:prstDash val="solid"/>
            <a:tailEnd type="triangle"/>
          </a:ln>
        </p:spPr>
      </p:sp>
      <p:sp>
        <p:nvSpPr>
          <p:cNvPr id="42" name="Shape 31"/>
          <p:cNvSpPr/>
          <p:nvPr/>
        </p:nvSpPr>
        <p:spPr>
          <a:xfrm>
            <a:off x="6894576" y="1170432"/>
            <a:ext cx="2752344" cy="548640"/>
          </a:xfrm>
          <a:prstGeom prst="chevron">
            <a:avLst/>
          </a:prstGeom>
          <a:solidFill>
            <a:srgbClr val="A9C3EE"/>
          </a:solidFill>
          <a:ln w="12700">
            <a:solidFill>
              <a:srgbClr val="FFFFFF"/>
            </a:solidFill>
            <a:prstDash val="solid"/>
          </a:ln>
        </p:spPr>
      </p:sp>
      <p:sp>
        <p:nvSpPr>
          <p:cNvPr id="43" name="Text 32"/>
          <p:cNvSpPr txBox="1"/>
          <p:nvPr/>
        </p:nvSpPr>
        <p:spPr>
          <a:xfrm>
            <a:off x="7150608" y="1170432"/>
            <a:ext cx="22860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6931152" y="1847088"/>
            <a:ext cx="2642616" cy="4434840"/>
          </a:xfrm>
          <a:prstGeom prst="roundRect">
            <a:avLst>
              <a:gd name="adj" fmla="val 2768"/>
            </a:avLst>
          </a:prstGeom>
          <a:solidFill>
            <a:srgbClr val="FFFFFF"/>
          </a:solidFill>
          <a:ln w="9525">
            <a:solidFill>
              <a:srgbClr val="9DB2D6"/>
            </a:solidFill>
            <a:prstDash val="dash"/>
          </a:ln>
        </p:spPr>
      </p:sp>
      <p:sp>
        <p:nvSpPr>
          <p:cNvPr id="45" name="Shape 34"/>
          <p:cNvSpPr/>
          <p:nvPr/>
        </p:nvSpPr>
        <p:spPr>
          <a:xfrm>
            <a:off x="7022592" y="1956816"/>
            <a:ext cx="2459736" cy="2057400"/>
          </a:xfrm>
          <a:prstGeom prst="roundRect">
            <a:avLst>
              <a:gd name="adj" fmla="val 3556"/>
            </a:avLst>
          </a:prstGeom>
          <a:solidFill>
            <a:srgbClr val="EEF3FB"/>
          </a:solidFill>
          <a:ln w="12700">
            <a:solidFill>
              <a:srgbClr val="EEF3FB"/>
            </a:solidFill>
            <a:prstDash val="solid"/>
          </a:ln>
        </p:spPr>
      </p:sp>
      <p:sp>
        <p:nvSpPr>
          <p:cNvPr id="46" name="Text 35"/>
          <p:cNvSpPr txBox="1"/>
          <p:nvPr/>
        </p:nvSpPr>
        <p:spPr>
          <a:xfrm>
            <a:off x="7114032" y="2011680"/>
            <a:ext cx="2276856"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114032" y="2368296"/>
            <a:ext cx="2276856" cy="1097280"/>
          </a:xfrm>
          <a:prstGeom prst="rect">
            <a:avLst/>
          </a:prstGeom>
          <a:noFill/>
          <a:ln/>
        </p:spPr>
        <p:txBody>
          <a:bodyPr wrap="square" lIns="0" tIns="0" rIns="0" bIns="0" rtlCol="0" anchor="t"/>
          <a:lstStyle/>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VW (Vector Whitespace)</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AAS (Adjacency Affinity Score)</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CRS (Cannibalisation Risk Score)</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AD (Aesthetic Delta) · PPR (Price Position Ratio)</a:t>
            </a:r>
            <a:endParaRPr lang="en-US" sz="1000" dirty="0"/>
          </a:p>
        </p:txBody>
      </p:sp>
      <p:sp>
        <p:nvSpPr>
          <p:cNvPr id="48" name="Text 37"/>
          <p:cNvSpPr txBox="1"/>
          <p:nvPr/>
        </p:nvSpPr>
        <p:spPr>
          <a:xfrm>
            <a:off x="7114032" y="3602736"/>
            <a:ext cx="2276856"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022592" y="4114800"/>
            <a:ext cx="2459736" cy="2057400"/>
          </a:xfrm>
          <a:prstGeom prst="roundRect">
            <a:avLst>
              <a:gd name="adj" fmla="val 3556"/>
            </a:avLst>
          </a:prstGeom>
          <a:solidFill>
            <a:srgbClr val="F3F0FA"/>
          </a:solidFill>
          <a:ln w="12700">
            <a:solidFill>
              <a:srgbClr val="F3F0FA"/>
            </a:solidFill>
            <a:prstDash val="solid"/>
          </a:ln>
        </p:spPr>
      </p:sp>
      <p:sp>
        <p:nvSpPr>
          <p:cNvPr id="50" name="Text 39"/>
          <p:cNvSpPr txBox="1"/>
          <p:nvPr/>
        </p:nvSpPr>
        <p:spPr>
          <a:xfrm>
            <a:off x="7114032" y="4169664"/>
            <a:ext cx="2276856"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114032" y="4526280"/>
            <a:ext cx="2276856" cy="1097280"/>
          </a:xfrm>
          <a:prstGeom prst="rect">
            <a:avLst/>
          </a:prstGeom>
          <a:noFill/>
          <a:ln/>
        </p:spPr>
        <p:txBody>
          <a:bodyPr wrap="square" lIns="0" tIns="0" rIns="0" bIns="0" rtlCol="0" anchor="t"/>
          <a:lstStyle/>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LSR (Log Share Ratio) · PPG (Price Position Gap)</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CG (Colour Gap) · MSG (Material/Style Gap)</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DFG (Design-Forward Gap)</a:t>
            </a:r>
            <a:endParaRPr lang="en-US" sz="1000" dirty="0"/>
          </a:p>
          <a:p>
            <a:pPr indent="0" marL="0">
              <a:spcAft>
                <a:spcPts val="100"/>
              </a:spcAft>
              <a:buNone/>
            </a:pPr>
            <a:r>
              <a:rPr lang="en-US" sz="1000" dirty="0">
                <a:solidFill>
                  <a:srgbClr val="1F2937"/>
                </a:solidFill>
                <a:latin typeface="Calibri" pitchFamily="34" charset="0"/>
                <a:ea typeface="Calibri" pitchFamily="34" charset="-122"/>
                <a:cs typeface="Calibri" pitchFamily="34" charset="-120"/>
              </a:rPr>
              <a:t>ACR (Attribute Cannibalisation Risk)</a:t>
            </a:r>
            <a:endParaRPr lang="en-US" sz="1000" dirty="0"/>
          </a:p>
        </p:txBody>
      </p:sp>
      <p:sp>
        <p:nvSpPr>
          <p:cNvPr id="52" name="Text 41"/>
          <p:cNvSpPr txBox="1"/>
          <p:nvPr/>
        </p:nvSpPr>
        <p:spPr>
          <a:xfrm>
            <a:off x="7114032" y="5760720"/>
            <a:ext cx="2276856"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555480" y="4064508"/>
            <a:ext cx="91440" cy="0"/>
          </a:xfrm>
          <a:prstGeom prst="line">
            <a:avLst/>
          </a:prstGeom>
          <a:noFill/>
          <a:ln w="19050">
            <a:solidFill>
              <a:srgbClr val="1F4E9A"/>
            </a:solidFill>
            <a:prstDash val="solid"/>
            <a:tailEnd type="triangle"/>
          </a:ln>
        </p:spPr>
      </p:sp>
      <p:sp>
        <p:nvSpPr>
          <p:cNvPr id="54" name="Shape 43"/>
          <p:cNvSpPr/>
          <p:nvPr/>
        </p:nvSpPr>
        <p:spPr>
          <a:xfrm>
            <a:off x="9665208" y="1170432"/>
            <a:ext cx="2167128" cy="548640"/>
          </a:xfrm>
          <a:prstGeom prst="chevron">
            <a:avLst/>
          </a:prstGeom>
          <a:solidFill>
            <a:srgbClr val="97B6EA"/>
          </a:solidFill>
          <a:ln w="12700">
            <a:solidFill>
              <a:srgbClr val="FFFFFF"/>
            </a:solidFill>
            <a:prstDash val="solid"/>
          </a:ln>
        </p:spPr>
      </p:sp>
      <p:sp>
        <p:nvSpPr>
          <p:cNvPr id="55" name="Text 44"/>
          <p:cNvSpPr txBox="1"/>
          <p:nvPr/>
        </p:nvSpPr>
        <p:spPr>
          <a:xfrm>
            <a:off x="992124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9701784" y="1847088"/>
            <a:ext cx="2057400" cy="4434840"/>
          </a:xfrm>
          <a:prstGeom prst="roundRect">
            <a:avLst>
              <a:gd name="adj" fmla="val 3556"/>
            </a:avLst>
          </a:prstGeom>
          <a:solidFill>
            <a:srgbClr val="FFFFFF"/>
          </a:solidFill>
          <a:ln w="9525">
            <a:solidFill>
              <a:srgbClr val="9DB2D6"/>
            </a:solidFill>
            <a:prstDash val="dash"/>
          </a:ln>
        </p:spPr>
      </p:sp>
      <p:pic>
        <p:nvPicPr>
          <p:cNvPr id="57" name="Image 9" descr="preencoded.png">    </p:cNvPr>
          <p:cNvPicPr>
            <a:picLocks noChangeAspect="1"/>
          </p:cNvPicPr>
          <p:nvPr/>
        </p:nvPicPr>
        <p:blipFill>
          <a:blip r:embed="rId10"/>
          <a:stretch>
            <a:fillRect/>
          </a:stretch>
        </p:blipFill>
        <p:spPr>
          <a:xfrm>
            <a:off x="10483596" y="2121408"/>
            <a:ext cx="493776" cy="493776"/>
          </a:xfrm>
          <a:prstGeom prst="rect">
            <a:avLst/>
          </a:prstGeom>
        </p:spPr>
      </p:pic>
      <p:sp>
        <p:nvSpPr>
          <p:cNvPr id="58" name="Text 46"/>
          <p:cNvSpPr txBox="1"/>
          <p:nvPr/>
        </p:nvSpPr>
        <p:spPr>
          <a:xfrm>
            <a:off x="9774936" y="2651760"/>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9774936" y="2871216"/>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483596" y="3538728"/>
            <a:ext cx="493776" cy="493776"/>
          </a:xfrm>
          <a:prstGeom prst="rect">
            <a:avLst/>
          </a:prstGeom>
        </p:spPr>
      </p:pic>
      <p:sp>
        <p:nvSpPr>
          <p:cNvPr id="61" name="Text 48"/>
          <p:cNvSpPr txBox="1"/>
          <p:nvPr/>
        </p:nvSpPr>
        <p:spPr>
          <a:xfrm>
            <a:off x="9774936" y="4069080"/>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9774936" y="4288536"/>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Strong / Vector-led / Gap-led,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483596" y="4956048"/>
            <a:ext cx="493776" cy="493776"/>
          </a:xfrm>
          <a:prstGeom prst="rect">
            <a:avLst/>
          </a:prstGeom>
        </p:spPr>
      </p:pic>
      <p:sp>
        <p:nvSpPr>
          <p:cNvPr id="64" name="Text 50"/>
          <p:cNvSpPr txBox="1"/>
          <p:nvPr/>
        </p:nvSpPr>
        <p:spPr>
          <a:xfrm>
            <a:off x="9774936" y="5486400"/>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9774936" y="5705856"/>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example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011680"/>
            <a:ext cx="54864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640080" y="2926080"/>
            <a:ext cx="54864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4" name="Shape 2"/>
          <p:cNvSpPr/>
          <p:nvPr/>
        </p:nvSpPr>
        <p:spPr>
          <a:xfrm>
            <a:off x="6675120" y="1600200"/>
            <a:ext cx="4937760" cy="2743200"/>
          </a:xfrm>
          <a:prstGeom prst="roundRect">
            <a:avLst>
              <a:gd name="adj" fmla="val 5000"/>
            </a:avLst>
          </a:prstGeom>
          <a:solidFill>
            <a:srgbClr val="1C3A7A"/>
          </a:solidFill>
          <a:ln w="12700">
            <a:solidFill>
              <a:srgbClr val="1C3A7A"/>
            </a:solidFill>
            <a:prstDash val="solid"/>
          </a:ln>
        </p:spPr>
      </p:sp>
      <p:sp>
        <p:nvSpPr>
          <p:cNvPr id="5" name="Text 3"/>
          <p:cNvSpPr txBox="1"/>
          <p:nvPr/>
        </p:nvSpPr>
        <p:spPr>
          <a:xfrm>
            <a:off x="6995160" y="1783080"/>
            <a:ext cx="4389120" cy="365760"/>
          </a:xfrm>
          <a:prstGeom prst="rect">
            <a:avLst/>
          </a:prstGeom>
          <a:noFill/>
          <a:ln/>
        </p:spPr>
        <p:txBody>
          <a:bodyPr wrap="square" lIns="0" tIns="0" rIns="0" bIns="0" rtlCol="0" anchor="t"/>
          <a:lstStyle/>
          <a:p>
            <a:pPr indent="0" marL="0">
              <a:buNone/>
            </a:pPr>
            <a:r>
              <a:rPr lang="en-US" sz="1800" b="1" dirty="0">
                <a:solidFill>
                  <a:srgbClr val="F5A623"/>
                </a:solidFill>
                <a:latin typeface="Calibri" pitchFamily="34" charset="0"/>
                <a:ea typeface="Calibri" pitchFamily="34" charset="-122"/>
                <a:cs typeface="Calibri" pitchFamily="34" charset="-120"/>
              </a:rPr>
              <a:t>Proposed next steps</a:t>
            </a:r>
            <a:endParaRPr lang="en-US" sz="1800" dirty="0"/>
          </a:p>
        </p:txBody>
      </p:sp>
      <p:sp>
        <p:nvSpPr>
          <p:cNvPr id="6" name="Text 4"/>
          <p:cNvSpPr txBox="1"/>
          <p:nvPr/>
        </p:nvSpPr>
        <p:spPr>
          <a:xfrm>
            <a:off x="6995160" y="2286000"/>
            <a:ext cx="438912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Calibration session: 60 side-by-side pairs to set the cannibalisation and price thresholds with merchants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Category review of the top picks per node, then seller outreach starting with brands already on Staples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Pilot listings in 2–3 nodes and track attach rate and commission over 6–18 months</a:t>
            </a:r>
            <a:endParaRPr lang="en-US" sz="1400" dirty="0"/>
          </a:p>
        </p:txBody>
      </p:sp>
      <p:sp>
        <p:nvSpPr>
          <p:cNvPr id="7" name="Text 5"/>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2026-10-05T10:14:32Z</dcterms:created>
  <dcterms:modified xsi:type="dcterms:W3CDTF">2026-10-05T10:14:32Z</dcterms:modified>
</cp:coreProperties>
</file>