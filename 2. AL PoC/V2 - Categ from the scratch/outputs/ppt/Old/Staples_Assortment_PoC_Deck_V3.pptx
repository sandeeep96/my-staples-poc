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aaf51b7-5eec-7ba9-5cc4-8ca90c3fa9e0}">
          <p14:sldIdLst>
            <p14:sldId id="256"/>
          </p14:sldIdLst>
        </p14:section>
        <p14:section name="Context" id="{789f74bc-b347-7283-e2c4-de9aa8ec3634}">
          <p14:sldIdLst>
            <p14:sldId id="257"/>
            <p14:sldId id="258"/>
            <p14:sldId id="259"/>
          </p14:sldIdLst>
        </p14:section>
        <p14:section name="Demo" id="{3772c43c-3679-c644-c977-4a567891f0f7}">
          <p14:sldIdLst>
            <p14:sldId id="260"/>
          </p14:sldIdLst>
        </p14:section>
        <p14:section name="Solution" id="{09857884-4852-3d66-2bdd-a4d3ea4ee6a3}">
          <p14:sldIdLst>
            <p14:sldId id="261"/>
          </p14:sldIdLst>
        </p14:section>
        <p14:section name="Next steps" id="{e19250d2-b1ec-3d3c-8175-27dc55310bcd}">
          <p14:sldIdLst>
            <p14:sldId id="262"/>
          </p14:sldIdLst>
        </p14:section>
        <p14:section name="Close" id="{e190a802-951b-77bf-b2d8-5b4ba90f251e}">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problem (the Q1 2027 mandate): grow a curated marketplace rather than accepting full categories; add true whitespace that does not cannibalise first-party (1P) sales; target core-adjacent "White Chair" extensions (design and lifestyle variants of core items) to compete with Wayfair and Amazon without diluting core B2B; decide on external data only.
Outcomes, one per question: (1) 12 nodes chosen with Staples across three segments; (2) 3,416 Staples vs 16,512 competitor product families (colour/size variants merged) compared on the same attributes; (3) 99 recommended archetypes (23 Strong, 30 Vector-led, 45 Gap-led, 1 Conditional), each passing the safety gate of the method that recommends it; (4) 263 example products, each safe under its method and shown beside the nearest Staples product, with brand and seller notes; brands already on Staples: at-A-Glance, BAGSMART, Bentgo, Blue Sky, CamelBak, Fringe, High Sierra, House of Doolittle, Mead, OttLite, PlanAhead, STANLEY, Targus; (5) every category word, threshold and competitor lives in configuration, so new nodes and competitors run without code changes, and the same engine can score seller listings.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Tiles (all 12 nodes): 3,416 Staples and 16,512 competitor product families (Amazon 6,577, Wayfair 9,935); 897 archetypes built; 99 recommended (23 Strong = both methods agree, 30 Vector-led, 45 Gap-led, 1 Conditional). 263 example products across 12 nodes, each safe under the method that recommends it and shown next to the nearest Staples product. Brands already selling on Staples: at-A-Glance, BAGSMART, Bentgo, Blue Sky, CamelBak, Fringe, High Sierra, House of Doolittle, Mead, OttLite, PlanAhead, STANLEY, Targus.
Why the fourth tile changed: V1 showed "72% of recommendations are archetypes Staples carries none of". The arithmetic holds (71 of 99), but it is mostly built in: archetypes are narrow 4-6-attribute combinations and the engine looks for gaps, so zero Staples matches is expected. It also overstates absence (e.g. every desk-lamp archetype shows zero, yet Staples sells 55 shaded lamps, mostly under $100). The example-product count is actionable instead.
Insights: every share is from the same node, Staples vs that node's competitor; every gap shown is statistically credible (95% or more). Design-forward = text-based design-forward index of 0.6 or more (provisional until image-based scoring). Amazon listings carry short text, so its feature shares are lower bounds.
What Pat will recognise: Staples is a workplace assortment (reception seating, tackable panels, black and plastic finishes, business-grade furniture prices). What may be new: how sharply the competitors split, Wayfair to the home (living rooms, light and natural finishes, desks under $200, statement décor at $125+) and Amazon to the person and the activity (hiking packs, gym bottles, wood-tone and faux-leather materials, sub-$10 planners and sub-$15 desk pads). Water bottles is the one node where Staples' range is more design-forward than the competitor's.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competitor files are convenience samples of scraped listing pages; Staples is close to a census. Every comparison is a share of each retailer's range with a credibility check, never a raw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S0–S2: ingest and clean the three sources (PII from Wayfair reviews removed), merge colour/size variants into product families, map each competitor product to the right Staples node with a k-NN classifier over all Staples nodes. S3–S4: read every product's full text with the same extractor on both sides into 3 tiers of attributes; build archetypes as combinations of 4–6 attributes (no price). S5: Method 1 in embedding space (whitespace, fit with Staples, aesthetic difference, cannibalisation risk, price position) gives VOS. S6: Method 2 on attribute shares (share gap, price, colour, material/style, design) gives TG, with its own attribute cannibalisation check (ACR). S7: each method has its own safety gate; the final gate takes the union and tiers it. S8: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tracks, both on Staples' internal data (the PoC used external data only).
(1) Extend this PoC: the same question, which archetypes to add per node, answered better. Demand &amp; segment prioritisation joins sales, traffic and search data to each archetype, profiles buyers (SMB vs home, RFM, basket mix) and re-ranks each node's add-list by expected GMV and commission per segment (Hero / Probable / Non-Hero). The always-on market radar re-crawls competitors on a schedule, re-runs the engine, flags new and closing gaps, and tracks listed picks against Staples sales. Automated seller-listing vetting runs the same attribute and archetype engine on every marketplace submission, scoring fit, sales-weighted 1P overlap and price, and feeds an approve / review / reject queue so curation scales beyond manual review.
(2) Beyond this PoC: new questions. Search-intent gap mining maps on-site searches with zero or weak results to archetypes and feeds seller recruiting. Market basket completion finds missing complements in transactions (e.g. Back-to-School kits), targeting 1–2 attach items per order. Demand forecasting &amp; research forecasts category demand from sales and search history, adds social and trend listening, and sizes Non-Hero and new categories before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next steps: calibrate thresholds with merchants (the decision tree and gates use weakly supervised thresholds until then), review the top picks with category managers, start seller outreach with brands that already sell on Staples, and pilot in 2–3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3.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2.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600200"/>
            <a:ext cx="6675120" cy="86868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Text 1"/>
          <p:cNvSpPr txBox="1"/>
          <p:nvPr/>
        </p:nvSpPr>
        <p:spPr>
          <a:xfrm>
            <a:off x="640080" y="246888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4" name="Text 2"/>
          <p:cNvSpPr txBox="1"/>
          <p:nvPr/>
        </p:nvSpPr>
        <p:spPr>
          <a:xfrm>
            <a:off x="640080" y="3291840"/>
            <a:ext cx="6309360" cy="868680"/>
          </a:xfrm>
          <a:prstGeom prst="rect">
            <a:avLst/>
          </a:prstGeom>
          <a:noFill/>
          <a:ln/>
        </p:spPr>
        <p:txBody>
          <a:bodyPr wrap="square" lIns="0" tIns="0" rIns="0" bIns="0" rtlCol="0" anchor="t"/>
          <a:lstStyle/>
          <a:p>
            <a:pPr indent="0" marL="0">
              <a:buNone/>
            </a:pPr>
            <a:r>
              <a:rPr lang="en-US" sz="1600" i="1" dirty="0">
                <a:solidFill>
                  <a:srgbClr val="E5ECF8"/>
                </a:solidFill>
                <a:latin typeface="Calibri" pitchFamily="34" charset="0"/>
                <a:ea typeface="Calibri" pitchFamily="34" charset="-122"/>
                <a:cs typeface="Calibri" pitchFamily="34" charset="-120"/>
              </a:rPr>
              <a:t>Which competitor products can Staples add through its marketplace, without cannibalising the assortment it already sells?</a:t>
            </a:r>
            <a:endParaRPr lang="en-US" sz="1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Text 4"/>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7" name="Shape 5"/>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8" name="Image 0" descr="preencoded.png">    </p:cNvPr>
          <p:cNvPicPr>
            <a:picLocks noChangeAspect="1"/>
          </p:cNvPicPr>
          <p:nvPr/>
        </p:nvPicPr>
        <p:blipFill>
          <a:blip r:embed="rId1"/>
          <a:stretch>
            <a:fillRect/>
          </a:stretch>
        </p:blipFill>
        <p:spPr>
          <a:xfrm>
            <a:off x="7991856" y="950976"/>
            <a:ext cx="475488" cy="475488"/>
          </a:xfrm>
          <a:prstGeom prst="rect">
            <a:avLst/>
          </a:prstGeom>
        </p:spPr>
      </p:pic>
      <p:sp>
        <p:nvSpPr>
          <p:cNvPr id="9" name="Text 6"/>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0" name="Shape 7"/>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1" name="Image 1" descr="preencoded.png">    </p:cNvPr>
          <p:cNvPicPr>
            <a:picLocks noChangeAspect="1"/>
          </p:cNvPicPr>
          <p:nvPr/>
        </p:nvPicPr>
        <p:blipFill>
          <a:blip r:embed="rId2"/>
          <a:stretch>
            <a:fillRect/>
          </a:stretch>
        </p:blipFill>
        <p:spPr>
          <a:xfrm>
            <a:off x="7991856" y="2322576"/>
            <a:ext cx="475488" cy="475488"/>
          </a:xfrm>
          <a:prstGeom prst="rect">
            <a:avLst/>
          </a:prstGeom>
        </p:spPr>
      </p:pic>
      <p:sp>
        <p:nvSpPr>
          <p:cNvPr id="12" name="Text 8"/>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3" name="Shape 9"/>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4" name="Image 2" descr="preencoded.png">    </p:cNvPr>
          <p:cNvPicPr>
            <a:picLocks noChangeAspect="1"/>
          </p:cNvPicPr>
          <p:nvPr/>
        </p:nvPicPr>
        <p:blipFill>
          <a:blip r:embed="rId3"/>
          <a:stretch>
            <a:fillRect/>
          </a:stretch>
        </p:blipFill>
        <p:spPr>
          <a:xfrm>
            <a:off x="7991856" y="3694176"/>
            <a:ext cx="475488" cy="475488"/>
          </a:xfrm>
          <a:prstGeom prst="rect">
            <a:avLst/>
          </a:prstGeom>
        </p:spPr>
      </p:pic>
      <p:sp>
        <p:nvSpPr>
          <p:cNvPr id="15" name="Text 10"/>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16" name="Shape 11"/>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17" name="Image 3" descr="preencoded.png">    </p:cNvPr>
          <p:cNvPicPr>
            <a:picLocks noChangeAspect="1"/>
          </p:cNvPicPr>
          <p:nvPr/>
        </p:nvPicPr>
        <p:blipFill>
          <a:blip r:embed="rId4"/>
          <a:stretch>
            <a:fillRect/>
          </a:stretch>
        </p:blipFill>
        <p:spPr>
          <a:xfrm>
            <a:off x="7991856" y="5065776"/>
            <a:ext cx="475488" cy="475488"/>
          </a:xfrm>
          <a:prstGeom prst="rect">
            <a:avLst/>
          </a:prstGeom>
        </p:spPr>
      </p:pic>
      <p:sp>
        <p:nvSpPr>
          <p:cNvPr id="18" name="Text 12"/>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19" name="Text 13"/>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0" name="Shape 14"/>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1" name="Image 4" descr="preencoded.png">    </p:cNvPr>
          <p:cNvPicPr>
            <a:picLocks noChangeAspect="1"/>
          </p:cNvPicPr>
          <p:nvPr/>
        </p:nvPicPr>
        <p:blipFill>
          <a:blip r:embed="rId5"/>
          <a:stretch>
            <a:fillRect/>
          </a:stretch>
        </p:blipFill>
        <p:spPr>
          <a:xfrm>
            <a:off x="9317736" y="950976"/>
            <a:ext cx="475488" cy="475488"/>
          </a:xfrm>
          <a:prstGeom prst="rect">
            <a:avLst/>
          </a:prstGeom>
        </p:spPr>
      </p:pic>
      <p:sp>
        <p:nvSpPr>
          <p:cNvPr id="22" name="Text 15"/>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3" name="Shape 16"/>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4" name="Image 5" descr="preencoded.png">    </p:cNvPr>
          <p:cNvPicPr>
            <a:picLocks noChangeAspect="1"/>
          </p:cNvPicPr>
          <p:nvPr/>
        </p:nvPicPr>
        <p:blipFill>
          <a:blip r:embed="rId6"/>
          <a:stretch>
            <a:fillRect/>
          </a:stretch>
        </p:blipFill>
        <p:spPr>
          <a:xfrm>
            <a:off x="9317736" y="2322576"/>
            <a:ext cx="475488" cy="475488"/>
          </a:xfrm>
          <a:prstGeom prst="rect">
            <a:avLst/>
          </a:prstGeom>
        </p:spPr>
      </p:pic>
      <p:sp>
        <p:nvSpPr>
          <p:cNvPr id="25" name="Text 17"/>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26" name="Shape 18"/>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27" name="Image 6" descr="preencoded.png">    </p:cNvPr>
          <p:cNvPicPr>
            <a:picLocks noChangeAspect="1"/>
          </p:cNvPicPr>
          <p:nvPr/>
        </p:nvPicPr>
        <p:blipFill>
          <a:blip r:embed="rId7"/>
          <a:stretch>
            <a:fillRect/>
          </a:stretch>
        </p:blipFill>
        <p:spPr>
          <a:xfrm>
            <a:off x="9317736" y="3694176"/>
            <a:ext cx="475488" cy="475488"/>
          </a:xfrm>
          <a:prstGeom prst="rect">
            <a:avLst/>
          </a:prstGeom>
        </p:spPr>
      </p:pic>
      <p:sp>
        <p:nvSpPr>
          <p:cNvPr id="28" name="Text 19"/>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29" name="Shape 20"/>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0" name="Image 7" descr="preencoded.png">    </p:cNvPr>
          <p:cNvPicPr>
            <a:picLocks noChangeAspect="1"/>
          </p:cNvPicPr>
          <p:nvPr/>
        </p:nvPicPr>
        <p:blipFill>
          <a:blip r:embed="rId8"/>
          <a:stretch>
            <a:fillRect/>
          </a:stretch>
        </p:blipFill>
        <p:spPr>
          <a:xfrm>
            <a:off x="9317736" y="5065776"/>
            <a:ext cx="475488" cy="475488"/>
          </a:xfrm>
          <a:prstGeom prst="rect">
            <a:avLst/>
          </a:prstGeom>
        </p:spPr>
      </p:pic>
      <p:sp>
        <p:nvSpPr>
          <p:cNvPr id="31" name="Text 21"/>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2" name="Text 22"/>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3" name="Shape 23"/>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4" name="Image 8" descr="preencoded.png">    </p:cNvPr>
          <p:cNvPicPr>
            <a:picLocks noChangeAspect="1"/>
          </p:cNvPicPr>
          <p:nvPr/>
        </p:nvPicPr>
        <p:blipFill>
          <a:blip r:embed="rId9"/>
          <a:stretch>
            <a:fillRect/>
          </a:stretch>
        </p:blipFill>
        <p:spPr>
          <a:xfrm>
            <a:off x="10643616" y="950976"/>
            <a:ext cx="475488" cy="475488"/>
          </a:xfrm>
          <a:prstGeom prst="rect">
            <a:avLst/>
          </a:prstGeom>
        </p:spPr>
      </p:pic>
      <p:sp>
        <p:nvSpPr>
          <p:cNvPr id="35" name="Text 24"/>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36" name="Shape 25"/>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37" name="Image 9" descr="preencoded.png">    </p:cNvPr>
          <p:cNvPicPr>
            <a:picLocks noChangeAspect="1"/>
          </p:cNvPicPr>
          <p:nvPr/>
        </p:nvPicPr>
        <p:blipFill>
          <a:blip r:embed="rId10"/>
          <a:stretch>
            <a:fillRect/>
          </a:stretch>
        </p:blipFill>
        <p:spPr>
          <a:xfrm>
            <a:off x="10643616" y="2322576"/>
            <a:ext cx="475488" cy="475488"/>
          </a:xfrm>
          <a:prstGeom prst="rect">
            <a:avLst/>
          </a:prstGeom>
        </p:spPr>
      </p:pic>
      <p:sp>
        <p:nvSpPr>
          <p:cNvPr id="38" name="Text 26"/>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39" name="Shape 27"/>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0" name="Image 10" descr="preencoded.png">    </p:cNvPr>
          <p:cNvPicPr>
            <a:picLocks noChangeAspect="1"/>
          </p:cNvPicPr>
          <p:nvPr/>
        </p:nvPicPr>
        <p:blipFill>
          <a:blip r:embed="rId11"/>
          <a:stretch>
            <a:fillRect/>
          </a:stretch>
        </p:blipFill>
        <p:spPr>
          <a:xfrm>
            <a:off x="10643616" y="3694176"/>
            <a:ext cx="475488" cy="475488"/>
          </a:xfrm>
          <a:prstGeom prst="rect">
            <a:avLst/>
          </a:prstGeom>
        </p:spPr>
      </p:pic>
      <p:sp>
        <p:nvSpPr>
          <p:cNvPr id="41" name="Text 28"/>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2" name="Shape 29"/>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3" name="Image 11" descr="preencoded.png">    </p:cNvPr>
          <p:cNvPicPr>
            <a:picLocks noChangeAspect="1"/>
          </p:cNvPicPr>
          <p:nvPr/>
        </p:nvPicPr>
        <p:blipFill>
          <a:blip r:embed="rId12"/>
          <a:stretch>
            <a:fillRect/>
          </a:stretch>
        </p:blipFill>
        <p:spPr>
          <a:xfrm>
            <a:off x="10643616" y="5065776"/>
            <a:ext cx="475488" cy="475488"/>
          </a:xfrm>
          <a:prstGeom prst="rect">
            <a:avLst/>
          </a:prstGeom>
        </p:spPr>
      </p:pic>
      <p:sp>
        <p:nvSpPr>
          <p:cNvPr id="44" name="Text 30"/>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Problem Statement &amp; Business Outcomes</a:t>
            </a:r>
            <a:endParaRPr lang="en-US" sz="2800" dirty="0"/>
          </a:p>
        </p:txBody>
      </p:sp>
      <p:sp>
        <p:nvSpPr>
          <p:cNvPr id="3" name="Shape 1"/>
          <p:cNvSpPr/>
          <p:nvPr/>
        </p:nvSpPr>
        <p:spPr>
          <a:xfrm>
            <a:off x="411480" y="1143000"/>
            <a:ext cx="5120640" cy="530352"/>
          </a:xfrm>
          <a:prstGeom prst="roundRect">
            <a:avLst>
              <a:gd name="adj" fmla="val 17241"/>
            </a:avLst>
          </a:prstGeom>
          <a:solidFill>
            <a:srgbClr val="B9CEF2"/>
          </a:solidFill>
          <a:ln w="12700">
            <a:solidFill>
              <a:srgbClr val="B9CEF2"/>
            </a:solidFill>
            <a:prstDash val="solid"/>
          </a:ln>
        </p:spPr>
      </p:sp>
      <p:sp>
        <p:nvSpPr>
          <p:cNvPr id="4" name="Shape 2"/>
          <p:cNvSpPr/>
          <p:nvPr/>
        </p:nvSpPr>
        <p:spPr>
          <a:xfrm>
            <a:off x="539496" y="1197864"/>
            <a:ext cx="420624" cy="420624"/>
          </a:xfrm>
          <a:prstGeom prst="ellipse">
            <a:avLst/>
          </a:prstGeom>
          <a:solidFill>
            <a:srgbClr val="1F4E9A"/>
          </a:solidFill>
          <a:ln w="12700">
            <a:solidFill>
              <a:srgbClr val="1F4E9A"/>
            </a:solidFill>
            <a:prstDash val="solid"/>
          </a:ln>
        </p:spPr>
      </p:sp>
      <p:pic>
        <p:nvPicPr>
          <p:cNvPr id="5" name="Image 0" descr="preencoded.png">    </p:cNvPr>
          <p:cNvPicPr>
            <a:picLocks noChangeAspect="1"/>
          </p:cNvPicPr>
          <p:nvPr/>
        </p:nvPicPr>
        <p:blipFill>
          <a:blip r:embed="rId1"/>
          <a:stretch>
            <a:fillRect/>
          </a:stretch>
        </p:blipFill>
        <p:spPr>
          <a:xfrm>
            <a:off x="632033" y="1290401"/>
            <a:ext cx="235549" cy="235549"/>
          </a:xfrm>
          <a:prstGeom prst="rect">
            <a:avLst/>
          </a:prstGeom>
        </p:spPr>
      </p:pic>
      <p:sp>
        <p:nvSpPr>
          <p:cNvPr id="6" name="Text 3"/>
          <p:cNvSpPr txBox="1"/>
          <p:nvPr/>
        </p:nvSpPr>
        <p:spPr>
          <a:xfrm>
            <a:off x="1069848" y="1143000"/>
            <a:ext cx="4297680" cy="530352"/>
          </a:xfrm>
          <a:prstGeom prst="rect">
            <a:avLst/>
          </a:prstGeom>
          <a:noFill/>
          <a:ln/>
        </p:spPr>
        <p:txBody>
          <a:bodyPr wrap="square" lIns="0" tIns="0" rIns="0" bIns="0" rtlCol="0" anchor="ctr"/>
          <a:lstStyle/>
          <a:p>
            <a:pPr indent="0" marL="0">
              <a:buNone/>
            </a:pPr>
            <a:r>
              <a:rPr lang="en-US" sz="1700" b="1" dirty="0">
                <a:solidFill>
                  <a:srgbClr val="13285B"/>
                </a:solidFill>
                <a:latin typeface="Calibri" pitchFamily="34" charset="0"/>
                <a:ea typeface="Calibri" pitchFamily="34" charset="-122"/>
                <a:cs typeface="Calibri" pitchFamily="34" charset="-120"/>
              </a:rPr>
              <a:t>Business Problem</a:t>
            </a:r>
            <a:endParaRPr lang="en-US" sz="1700" dirty="0"/>
          </a:p>
        </p:txBody>
      </p:sp>
      <p:sp>
        <p:nvSpPr>
          <p:cNvPr id="7" name="Text 4"/>
          <p:cNvSpPr txBox="1"/>
          <p:nvPr/>
        </p:nvSpPr>
        <p:spPr>
          <a:xfrm>
            <a:off x="457200" y="1737360"/>
            <a:ext cx="5029200" cy="274320"/>
          </a:xfrm>
          <a:prstGeom prst="rect">
            <a:avLst/>
          </a:prstGeom>
          <a:noFill/>
          <a:ln/>
        </p:spPr>
        <p:txBody>
          <a:bodyPr wrap="square" lIns="0" tIns="0" rIns="0" bIns="0" rtlCol="0" anchor="ctr"/>
          <a:lstStyle/>
          <a:p>
            <a:pPr indent="0" marL="0">
              <a:buNone/>
            </a:pPr>
            <a:r>
              <a:rPr lang="en-US" sz="1050" i="1" dirty="0">
                <a:solidFill>
                  <a:srgbClr val="5B6475"/>
                </a:solidFill>
                <a:latin typeface="Calibri" pitchFamily="34" charset="0"/>
                <a:ea typeface="Calibri" pitchFamily="34" charset="-122"/>
                <a:cs typeface="Calibri" pitchFamily="34" charset="-120"/>
              </a:rPr>
              <a:t>Q1 2027 goal: a curated, core-adjacent ("White Chair") marketplace</a:t>
            </a:r>
            <a:endParaRPr lang="en-US" sz="1050" dirty="0"/>
          </a:p>
        </p:txBody>
      </p:sp>
      <p:sp>
        <p:nvSpPr>
          <p:cNvPr id="8" name="Shape 5"/>
          <p:cNvSpPr/>
          <p:nvPr/>
        </p:nvSpPr>
        <p:spPr>
          <a:xfrm>
            <a:off x="6245352" y="1143000"/>
            <a:ext cx="5532120" cy="530352"/>
          </a:xfrm>
          <a:prstGeom prst="roundRect">
            <a:avLst>
              <a:gd name="adj" fmla="val 17241"/>
            </a:avLst>
          </a:prstGeom>
          <a:solidFill>
            <a:srgbClr val="B9CEF2"/>
          </a:solidFill>
          <a:ln w="12700">
            <a:solidFill>
              <a:srgbClr val="B9CEF2"/>
            </a:solidFill>
            <a:prstDash val="solid"/>
          </a:ln>
        </p:spPr>
      </p:sp>
      <p:sp>
        <p:nvSpPr>
          <p:cNvPr id="9" name="Shape 6"/>
          <p:cNvSpPr/>
          <p:nvPr/>
        </p:nvSpPr>
        <p:spPr>
          <a:xfrm>
            <a:off x="6373368" y="1197864"/>
            <a:ext cx="420624" cy="420624"/>
          </a:xfrm>
          <a:prstGeom prst="ellipse">
            <a:avLst/>
          </a:prstGeom>
          <a:solidFill>
            <a:srgbClr val="1F4E9A"/>
          </a:solidFill>
          <a:ln w="12700">
            <a:solidFill>
              <a:srgbClr val="1F4E9A"/>
            </a:solidFill>
            <a:prstDash val="solid"/>
          </a:ln>
        </p:spPr>
      </p:sp>
      <p:pic>
        <p:nvPicPr>
          <p:cNvPr id="10" name="Image 1" descr="preencoded.png">    </p:cNvPr>
          <p:cNvPicPr>
            <a:picLocks noChangeAspect="1"/>
          </p:cNvPicPr>
          <p:nvPr/>
        </p:nvPicPr>
        <p:blipFill>
          <a:blip r:embed="rId2"/>
          <a:stretch>
            <a:fillRect/>
          </a:stretch>
        </p:blipFill>
        <p:spPr>
          <a:xfrm>
            <a:off x="6465905" y="1290401"/>
            <a:ext cx="235549" cy="235549"/>
          </a:xfrm>
          <a:prstGeom prst="rect">
            <a:avLst/>
          </a:prstGeom>
        </p:spPr>
      </p:pic>
      <p:sp>
        <p:nvSpPr>
          <p:cNvPr id="11" name="Text 7"/>
          <p:cNvSpPr txBox="1"/>
          <p:nvPr/>
        </p:nvSpPr>
        <p:spPr>
          <a:xfrm>
            <a:off x="6903720" y="1143000"/>
            <a:ext cx="4709160" cy="530352"/>
          </a:xfrm>
          <a:prstGeom prst="rect">
            <a:avLst/>
          </a:prstGeom>
          <a:noFill/>
          <a:ln/>
        </p:spPr>
        <p:txBody>
          <a:bodyPr wrap="square" lIns="0" tIns="0" rIns="0" bIns="0" rtlCol="0" anchor="ctr"/>
          <a:lstStyle/>
          <a:p>
            <a:pPr indent="0" marL="0">
              <a:buNone/>
            </a:pPr>
            <a:r>
              <a:rPr lang="en-US" sz="1700" b="1" dirty="0">
                <a:solidFill>
                  <a:srgbClr val="13285B"/>
                </a:solidFill>
                <a:latin typeface="Calibri" pitchFamily="34" charset="0"/>
                <a:ea typeface="Calibri" pitchFamily="34" charset="-122"/>
                <a:cs typeface="Calibri" pitchFamily="34" charset="-120"/>
              </a:rPr>
              <a:t>Business Outcomes</a:t>
            </a:r>
            <a:endParaRPr lang="en-US" sz="1700" dirty="0"/>
          </a:p>
        </p:txBody>
      </p:sp>
      <p:sp>
        <p:nvSpPr>
          <p:cNvPr id="12" name="Text 8"/>
          <p:cNvSpPr txBox="1"/>
          <p:nvPr/>
        </p:nvSpPr>
        <p:spPr>
          <a:xfrm>
            <a:off x="6291072" y="1737360"/>
            <a:ext cx="5440680" cy="274320"/>
          </a:xfrm>
          <a:prstGeom prst="rect">
            <a:avLst/>
          </a:prstGeom>
          <a:noFill/>
          <a:ln/>
        </p:spPr>
        <p:txBody>
          <a:bodyPr wrap="square" lIns="0" tIns="0" rIns="0" bIns="0" rtlCol="0" anchor="ctr"/>
          <a:lstStyle/>
          <a:p>
            <a:pPr indent="0" marL="0">
              <a:buNone/>
            </a:pPr>
            <a:r>
              <a:rPr lang="en-US" sz="1050" i="1" dirty="0">
                <a:solidFill>
                  <a:srgbClr val="5B6475"/>
                </a:solidFill>
                <a:latin typeface="Calibri" pitchFamily="34" charset="0"/>
                <a:ea typeface="Calibri" pitchFamily="34" charset="-122"/>
                <a:cs typeface="Calibri" pitchFamily="34" charset="-120"/>
              </a:rPr>
              <a:t>What this PoC delivers across 12 Staples nodes</a:t>
            </a:r>
            <a:endParaRPr lang="en-US" sz="1050" dirty="0"/>
          </a:p>
        </p:txBody>
      </p:sp>
      <p:sp>
        <p:nvSpPr>
          <p:cNvPr id="13" name="Shape 9"/>
          <p:cNvSpPr/>
          <p:nvPr/>
        </p:nvSpPr>
        <p:spPr>
          <a:xfrm>
            <a:off x="411480" y="2103120"/>
            <a:ext cx="5120640" cy="749808"/>
          </a:xfrm>
          <a:prstGeom prst="roundRect">
            <a:avLst>
              <a:gd name="adj" fmla="val 12195"/>
            </a:avLst>
          </a:prstGeom>
          <a:solidFill>
            <a:srgbClr val="DCE7F8"/>
          </a:solidFill>
          <a:ln w="12700">
            <a:solidFill>
              <a:srgbClr val="DCE7F8"/>
            </a:solidFill>
            <a:prstDash val="solid"/>
          </a:ln>
        </p:spPr>
      </p:sp>
      <p:sp>
        <p:nvSpPr>
          <p:cNvPr id="14" name="Shape 10"/>
          <p:cNvSpPr/>
          <p:nvPr/>
        </p:nvSpPr>
        <p:spPr>
          <a:xfrm>
            <a:off x="557784" y="2286000"/>
            <a:ext cx="384048" cy="384048"/>
          </a:xfrm>
          <a:prstGeom prst="ellipse">
            <a:avLst/>
          </a:prstGeom>
          <a:solidFill>
            <a:srgbClr val="13285B"/>
          </a:solidFill>
          <a:ln w="12700">
            <a:solidFill>
              <a:srgbClr val="13285B"/>
            </a:solidFill>
            <a:prstDash val="solid"/>
          </a:ln>
        </p:spPr>
      </p:sp>
      <p:sp>
        <p:nvSpPr>
          <p:cNvPr id="15" name="Text 11"/>
          <p:cNvSpPr txBox="1"/>
          <p:nvPr/>
        </p:nvSpPr>
        <p:spPr>
          <a:xfrm>
            <a:off x="557784" y="2286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2"/>
          <p:cNvSpPr txBox="1"/>
          <p:nvPr/>
        </p:nvSpPr>
        <p:spPr>
          <a:xfrm>
            <a:off x="1097280" y="2103120"/>
            <a:ext cx="4297680" cy="749808"/>
          </a:xfrm>
          <a:prstGeom prst="rect">
            <a:avLst/>
          </a:prstGeom>
          <a:noFill/>
          <a:ln/>
        </p:spPr>
        <p:txBody>
          <a:bodyPr wrap="square" lIns="0" tIns="0" rIns="0" bIns="0" rtlCol="0" anchor="ctr"/>
          <a:lstStyle/>
          <a:p>
            <a:pPr indent="0" marL="0">
              <a:buNone/>
            </a:pPr>
            <a:r>
              <a:rPr lang="en-US" sz="1300" b="1" dirty="0">
                <a:solidFill>
                  <a:srgbClr val="13285B"/>
                </a:solidFill>
                <a:latin typeface="Calibri" pitchFamily="34" charset="0"/>
                <a:ea typeface="Calibri" pitchFamily="34" charset="-122"/>
                <a:cs typeface="Calibri" pitchFamily="34" charset="-120"/>
              </a:rPr>
              <a:t>Where can the marketplace grow without diluting Staples' brand authority?</a:t>
            </a:r>
            <a:endParaRPr lang="en-US" sz="1300" dirty="0"/>
          </a:p>
        </p:txBody>
      </p:sp>
      <p:sp>
        <p:nvSpPr>
          <p:cNvPr id="17" name="Shape 13"/>
          <p:cNvSpPr/>
          <p:nvPr/>
        </p:nvSpPr>
        <p:spPr>
          <a:xfrm>
            <a:off x="5715000" y="2322576"/>
            <a:ext cx="365760" cy="310896"/>
          </a:xfrm>
          <a:prstGeom prst="rightArrow">
            <a:avLst/>
          </a:prstGeom>
          <a:solidFill>
            <a:srgbClr val="F5A623"/>
          </a:solidFill>
          <a:ln w="12700">
            <a:solidFill>
              <a:srgbClr val="F5A623"/>
            </a:solidFill>
            <a:prstDash val="solid"/>
          </a:ln>
        </p:spPr>
      </p:sp>
      <p:sp>
        <p:nvSpPr>
          <p:cNvPr id="18" name="Shape 14"/>
          <p:cNvSpPr/>
          <p:nvPr/>
        </p:nvSpPr>
        <p:spPr>
          <a:xfrm>
            <a:off x="6245352" y="2103120"/>
            <a:ext cx="5532120" cy="749808"/>
          </a:xfrm>
          <a:prstGeom prst="roundRect">
            <a:avLst>
              <a:gd name="adj" fmla="val 12195"/>
            </a:avLst>
          </a:prstGeom>
          <a:solidFill>
            <a:srgbClr val="FFFFFF"/>
          </a:solidFill>
          <a:ln w="9525">
            <a:solidFill>
              <a:srgbClr val="C9D3E3"/>
            </a:solidFill>
            <a:prstDash val="solid"/>
          </a:ln>
        </p:spPr>
      </p:sp>
      <p:sp>
        <p:nvSpPr>
          <p:cNvPr id="19" name="Shape 15"/>
          <p:cNvSpPr/>
          <p:nvPr/>
        </p:nvSpPr>
        <p:spPr>
          <a:xfrm>
            <a:off x="6373368" y="2258568"/>
            <a:ext cx="438912" cy="438912"/>
          </a:xfrm>
          <a:prstGeom prst="ellipse">
            <a:avLst/>
          </a:prstGeom>
          <a:solidFill>
            <a:srgbClr val="1F4E9A"/>
          </a:solidFill>
          <a:ln w="12700">
            <a:solidFill>
              <a:srgbClr val="1F4E9A"/>
            </a:solidFill>
            <a:prstDash val="solid"/>
          </a:ln>
        </p:spPr>
      </p:sp>
      <p:pic>
        <p:nvPicPr>
          <p:cNvPr id="20" name="Image 2" descr="preencoded.png">    </p:cNvPr>
          <p:cNvPicPr>
            <a:picLocks noChangeAspect="1"/>
          </p:cNvPicPr>
          <p:nvPr/>
        </p:nvPicPr>
        <p:blipFill>
          <a:blip r:embed="rId3"/>
          <a:stretch>
            <a:fillRect/>
          </a:stretch>
        </p:blipFill>
        <p:spPr>
          <a:xfrm>
            <a:off x="6469929" y="2355129"/>
            <a:ext cx="245791" cy="245791"/>
          </a:xfrm>
          <a:prstGeom prst="rect">
            <a:avLst/>
          </a:prstGeom>
        </p:spPr>
      </p:pic>
      <p:sp>
        <p:nvSpPr>
          <p:cNvPr id="21" name="Text 16"/>
          <p:cNvSpPr txBox="1"/>
          <p:nvPr/>
        </p:nvSpPr>
        <p:spPr>
          <a:xfrm>
            <a:off x="6958584" y="2103120"/>
            <a:ext cx="4690872" cy="749808"/>
          </a:xfrm>
          <a:prstGeom prst="rect">
            <a:avLst/>
          </a:prstGeom>
          <a:noFill/>
          <a:ln/>
        </p:spPr>
        <p:txBody>
          <a:bodyPr wrap="square" lIns="0" tIns="0" rIns="0" bIns="0" rtlCol="0" anchor="ctr"/>
          <a:lstStyle/>
          <a:p>
            <a:pPr indent="0" marL="0">
              <a:buNone/>
            </a:pPr>
            <a:r>
              <a:rPr lang="en-US" sz="1200" b="1" dirty="0">
                <a:solidFill>
                  <a:srgbClr val="1F4E9A"/>
                </a:solidFill>
                <a:latin typeface="Calibri" pitchFamily="34" charset="0"/>
                <a:ea typeface="Calibri" pitchFamily="34" charset="-122"/>
                <a:cs typeface="Calibri" pitchFamily="34" charset="-120"/>
              </a:rPr>
              <a:t>12 core-adjacent nodes</a:t>
            </a:r>
            <a:pPr indent="0" marL="0">
              <a:buNone/>
            </a:pPr>
            <a:r>
              <a:rPr lang="en-US" sz="1200" dirty="0">
                <a:solidFill>
                  <a:srgbClr val="1F2937"/>
                </a:solidFill>
                <a:latin typeface="Calibri" pitchFamily="34" charset="0"/>
                <a:ea typeface="Calibri" pitchFamily="34" charset="-122"/>
                <a:cs typeface="Calibri" pitchFamily="34" charset="-120"/>
              </a:rPr>
              <a:t> across Hero, Probable Hero &amp; Non-Hero segments, each benchmarked against its leading competitor</a:t>
            </a:r>
            <a:endParaRPr lang="en-US" sz="1200" dirty="0"/>
          </a:p>
        </p:txBody>
      </p:sp>
      <p:sp>
        <p:nvSpPr>
          <p:cNvPr id="22" name="Shape 17"/>
          <p:cNvSpPr/>
          <p:nvPr/>
        </p:nvSpPr>
        <p:spPr>
          <a:xfrm>
            <a:off x="411480" y="2944368"/>
            <a:ext cx="5120640" cy="749808"/>
          </a:xfrm>
          <a:prstGeom prst="roundRect">
            <a:avLst>
              <a:gd name="adj" fmla="val 12195"/>
            </a:avLst>
          </a:prstGeom>
          <a:solidFill>
            <a:srgbClr val="DCE7F8"/>
          </a:solidFill>
          <a:ln w="12700">
            <a:solidFill>
              <a:srgbClr val="DCE7F8"/>
            </a:solidFill>
            <a:prstDash val="solid"/>
          </a:ln>
        </p:spPr>
      </p:sp>
      <p:sp>
        <p:nvSpPr>
          <p:cNvPr id="23" name="Shape 18"/>
          <p:cNvSpPr/>
          <p:nvPr/>
        </p:nvSpPr>
        <p:spPr>
          <a:xfrm>
            <a:off x="557784" y="3127248"/>
            <a:ext cx="384048" cy="384048"/>
          </a:xfrm>
          <a:prstGeom prst="ellipse">
            <a:avLst/>
          </a:prstGeom>
          <a:solidFill>
            <a:srgbClr val="13285B"/>
          </a:solidFill>
          <a:ln w="12700">
            <a:solidFill>
              <a:srgbClr val="13285B"/>
            </a:solidFill>
            <a:prstDash val="solid"/>
          </a:ln>
        </p:spPr>
      </p:sp>
      <p:sp>
        <p:nvSpPr>
          <p:cNvPr id="24" name="Text 19"/>
          <p:cNvSpPr txBox="1"/>
          <p:nvPr/>
        </p:nvSpPr>
        <p:spPr>
          <a:xfrm>
            <a:off x="557784" y="3127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0"/>
          <p:cNvSpPr txBox="1"/>
          <p:nvPr/>
        </p:nvSpPr>
        <p:spPr>
          <a:xfrm>
            <a:off x="1097280" y="2944368"/>
            <a:ext cx="4297680" cy="749808"/>
          </a:xfrm>
          <a:prstGeom prst="rect">
            <a:avLst/>
          </a:prstGeom>
          <a:noFill/>
          <a:ln/>
        </p:spPr>
        <p:txBody>
          <a:bodyPr wrap="square" lIns="0" tIns="0" rIns="0" bIns="0" rtlCol="0" anchor="ctr"/>
          <a:lstStyle/>
          <a:p>
            <a:pPr indent="0" marL="0">
              <a:buNone/>
            </a:pPr>
            <a:r>
              <a:rPr lang="en-US" sz="1300" b="1" dirty="0">
                <a:solidFill>
                  <a:srgbClr val="13285B"/>
                </a:solidFill>
                <a:latin typeface="Calibri" pitchFamily="34" charset="0"/>
                <a:ea typeface="Calibri" pitchFamily="34" charset="-122"/>
                <a:cs typeface="Calibri" pitchFamily="34" charset="-120"/>
              </a:rPr>
              <a:t>What do Amazon and Wayfair carry in these categories that Staples doesn't?</a:t>
            </a:r>
            <a:endParaRPr lang="en-US" sz="1300" dirty="0"/>
          </a:p>
        </p:txBody>
      </p:sp>
      <p:sp>
        <p:nvSpPr>
          <p:cNvPr id="26" name="Shape 21"/>
          <p:cNvSpPr/>
          <p:nvPr/>
        </p:nvSpPr>
        <p:spPr>
          <a:xfrm>
            <a:off x="5715000" y="3163824"/>
            <a:ext cx="365760" cy="310896"/>
          </a:xfrm>
          <a:prstGeom prst="rightArrow">
            <a:avLst/>
          </a:prstGeom>
          <a:solidFill>
            <a:srgbClr val="F5A623"/>
          </a:solidFill>
          <a:ln w="12700">
            <a:solidFill>
              <a:srgbClr val="F5A623"/>
            </a:solidFill>
            <a:prstDash val="solid"/>
          </a:ln>
        </p:spPr>
      </p:sp>
      <p:sp>
        <p:nvSpPr>
          <p:cNvPr id="27" name="Shape 22"/>
          <p:cNvSpPr/>
          <p:nvPr/>
        </p:nvSpPr>
        <p:spPr>
          <a:xfrm>
            <a:off x="6245352" y="2944368"/>
            <a:ext cx="5532120" cy="749808"/>
          </a:xfrm>
          <a:prstGeom prst="roundRect">
            <a:avLst>
              <a:gd name="adj" fmla="val 12195"/>
            </a:avLst>
          </a:prstGeom>
          <a:solidFill>
            <a:srgbClr val="FFFFFF"/>
          </a:solidFill>
          <a:ln w="9525">
            <a:solidFill>
              <a:srgbClr val="C9D3E3"/>
            </a:solidFill>
            <a:prstDash val="solid"/>
          </a:ln>
        </p:spPr>
      </p:sp>
      <p:sp>
        <p:nvSpPr>
          <p:cNvPr id="28" name="Shape 23"/>
          <p:cNvSpPr/>
          <p:nvPr/>
        </p:nvSpPr>
        <p:spPr>
          <a:xfrm>
            <a:off x="6373368" y="3099816"/>
            <a:ext cx="438912" cy="438912"/>
          </a:xfrm>
          <a:prstGeom prst="ellipse">
            <a:avLst/>
          </a:prstGeom>
          <a:solidFill>
            <a:srgbClr val="1F4E9A"/>
          </a:solidFill>
          <a:ln w="12700">
            <a:solidFill>
              <a:srgbClr val="1F4E9A"/>
            </a:solidFill>
            <a:prstDash val="solid"/>
          </a:ln>
        </p:spPr>
      </p:sp>
      <p:pic>
        <p:nvPicPr>
          <p:cNvPr id="29" name="Image 3" descr="preencoded.png">    </p:cNvPr>
          <p:cNvPicPr>
            <a:picLocks noChangeAspect="1"/>
          </p:cNvPicPr>
          <p:nvPr/>
        </p:nvPicPr>
        <p:blipFill>
          <a:blip r:embed="rId4"/>
          <a:stretch>
            <a:fillRect/>
          </a:stretch>
        </p:blipFill>
        <p:spPr>
          <a:xfrm>
            <a:off x="6469929" y="3196377"/>
            <a:ext cx="245791" cy="245791"/>
          </a:xfrm>
          <a:prstGeom prst="rect">
            <a:avLst/>
          </a:prstGeom>
        </p:spPr>
      </p:pic>
      <p:sp>
        <p:nvSpPr>
          <p:cNvPr id="30" name="Text 24"/>
          <p:cNvSpPr txBox="1"/>
          <p:nvPr/>
        </p:nvSpPr>
        <p:spPr>
          <a:xfrm>
            <a:off x="6958584" y="2944368"/>
            <a:ext cx="4690872" cy="749808"/>
          </a:xfrm>
          <a:prstGeom prst="rect">
            <a:avLst/>
          </a:prstGeom>
          <a:noFill/>
          <a:ln/>
        </p:spPr>
        <p:txBody>
          <a:bodyPr wrap="square" lIns="0" tIns="0" rIns="0" bIns="0" rtlCol="0" anchor="ctr"/>
          <a:lstStyle/>
          <a:p>
            <a:pPr indent="0" marL="0">
              <a:buNone/>
            </a:pPr>
            <a:r>
              <a:rPr lang="en-US" sz="1200" b="1" dirty="0">
                <a:solidFill>
                  <a:srgbClr val="1F4E9A"/>
                </a:solidFill>
                <a:latin typeface="Calibri" pitchFamily="34" charset="0"/>
                <a:ea typeface="Calibri" pitchFamily="34" charset="-122"/>
                <a:cs typeface="Calibri" pitchFamily="34" charset="-120"/>
              </a:rPr>
              <a:t>A gap map:</a:t>
            </a:r>
            <a:pPr indent="0" marL="0">
              <a:buNone/>
            </a:pPr>
            <a:r>
              <a:rPr lang="en-US" sz="1200" dirty="0">
                <a:solidFill>
                  <a:srgbClr val="1F2937"/>
                </a:solidFill>
                <a:latin typeface="Calibri" pitchFamily="34" charset="0"/>
                <a:ea typeface="Calibri" pitchFamily="34" charset="-122"/>
                <a:cs typeface="Calibri" pitchFamily="34" charset="-120"/>
              </a:rPr>
              <a:t> 3.4K Staples vs 16.5K competitor product families compared on colour, material, style, use &amp; price</a:t>
            </a:r>
            <a:endParaRPr lang="en-US" sz="1200" dirty="0"/>
          </a:p>
        </p:txBody>
      </p:sp>
      <p:sp>
        <p:nvSpPr>
          <p:cNvPr id="31" name="Shape 25"/>
          <p:cNvSpPr/>
          <p:nvPr/>
        </p:nvSpPr>
        <p:spPr>
          <a:xfrm>
            <a:off x="411480" y="3785616"/>
            <a:ext cx="5120640" cy="749808"/>
          </a:xfrm>
          <a:prstGeom prst="roundRect">
            <a:avLst>
              <a:gd name="adj" fmla="val 12195"/>
            </a:avLst>
          </a:prstGeom>
          <a:solidFill>
            <a:srgbClr val="DCE7F8"/>
          </a:solidFill>
          <a:ln w="12700">
            <a:solidFill>
              <a:srgbClr val="DCE7F8"/>
            </a:solidFill>
            <a:prstDash val="solid"/>
          </a:ln>
        </p:spPr>
      </p:sp>
      <p:sp>
        <p:nvSpPr>
          <p:cNvPr id="32" name="Shape 26"/>
          <p:cNvSpPr/>
          <p:nvPr/>
        </p:nvSpPr>
        <p:spPr>
          <a:xfrm>
            <a:off x="557784" y="3968496"/>
            <a:ext cx="384048" cy="384048"/>
          </a:xfrm>
          <a:prstGeom prst="ellipse">
            <a:avLst/>
          </a:prstGeom>
          <a:solidFill>
            <a:srgbClr val="13285B"/>
          </a:solidFill>
          <a:ln w="12700">
            <a:solidFill>
              <a:srgbClr val="13285B"/>
            </a:solidFill>
            <a:prstDash val="solid"/>
          </a:ln>
        </p:spPr>
      </p:sp>
      <p:sp>
        <p:nvSpPr>
          <p:cNvPr id="33" name="Text 27"/>
          <p:cNvSpPr txBox="1"/>
          <p:nvPr/>
        </p:nvSpPr>
        <p:spPr>
          <a:xfrm>
            <a:off x="557784" y="396849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28"/>
          <p:cNvSpPr txBox="1"/>
          <p:nvPr/>
        </p:nvSpPr>
        <p:spPr>
          <a:xfrm>
            <a:off x="1097280" y="3785616"/>
            <a:ext cx="4297680" cy="749808"/>
          </a:xfrm>
          <a:prstGeom prst="rect">
            <a:avLst/>
          </a:prstGeom>
          <a:noFill/>
          <a:ln/>
        </p:spPr>
        <p:txBody>
          <a:bodyPr wrap="square" lIns="0" tIns="0" rIns="0" bIns="0" rtlCol="0" anchor="ctr"/>
          <a:lstStyle/>
          <a:p>
            <a:pPr indent="0" marL="0">
              <a:buNone/>
            </a:pPr>
            <a:r>
              <a:rPr lang="en-US" sz="1300" b="1" dirty="0">
                <a:solidFill>
                  <a:srgbClr val="13285B"/>
                </a:solidFill>
                <a:latin typeface="Calibri" pitchFamily="34" charset="0"/>
                <a:ea typeface="Calibri" pitchFamily="34" charset="-122"/>
                <a:cs typeface="Calibri" pitchFamily="34" charset="-120"/>
              </a:rPr>
              <a:t>Which of those gaps can Staples add without cannibalising its 1P sales?</a:t>
            </a:r>
            <a:endParaRPr lang="en-US" sz="1300" dirty="0"/>
          </a:p>
        </p:txBody>
      </p:sp>
      <p:sp>
        <p:nvSpPr>
          <p:cNvPr id="35" name="Shape 29"/>
          <p:cNvSpPr/>
          <p:nvPr/>
        </p:nvSpPr>
        <p:spPr>
          <a:xfrm>
            <a:off x="5715000" y="4005072"/>
            <a:ext cx="365760" cy="310896"/>
          </a:xfrm>
          <a:prstGeom prst="rightArrow">
            <a:avLst/>
          </a:prstGeom>
          <a:solidFill>
            <a:srgbClr val="F5A623"/>
          </a:solidFill>
          <a:ln w="12700">
            <a:solidFill>
              <a:srgbClr val="F5A623"/>
            </a:solidFill>
            <a:prstDash val="solid"/>
          </a:ln>
        </p:spPr>
      </p:sp>
      <p:sp>
        <p:nvSpPr>
          <p:cNvPr id="36" name="Shape 30"/>
          <p:cNvSpPr/>
          <p:nvPr/>
        </p:nvSpPr>
        <p:spPr>
          <a:xfrm>
            <a:off x="6245352" y="3785616"/>
            <a:ext cx="5532120" cy="749808"/>
          </a:xfrm>
          <a:prstGeom prst="roundRect">
            <a:avLst>
              <a:gd name="adj" fmla="val 12195"/>
            </a:avLst>
          </a:prstGeom>
          <a:solidFill>
            <a:srgbClr val="FFFFFF"/>
          </a:solidFill>
          <a:ln w="9525">
            <a:solidFill>
              <a:srgbClr val="C9D3E3"/>
            </a:solidFill>
            <a:prstDash val="solid"/>
          </a:ln>
        </p:spPr>
      </p:sp>
      <p:sp>
        <p:nvSpPr>
          <p:cNvPr id="37" name="Shape 31"/>
          <p:cNvSpPr/>
          <p:nvPr/>
        </p:nvSpPr>
        <p:spPr>
          <a:xfrm>
            <a:off x="6373368" y="3941064"/>
            <a:ext cx="438912" cy="438912"/>
          </a:xfrm>
          <a:prstGeom prst="ellipse">
            <a:avLst/>
          </a:prstGeom>
          <a:solidFill>
            <a:srgbClr val="1F4E9A"/>
          </a:solidFill>
          <a:ln w="12700">
            <a:solidFill>
              <a:srgbClr val="1F4E9A"/>
            </a:solidFill>
            <a:prstDash val="solid"/>
          </a:ln>
        </p:spPr>
      </p:sp>
      <p:pic>
        <p:nvPicPr>
          <p:cNvPr id="38" name="Image 4" descr="preencoded.png">    </p:cNvPr>
          <p:cNvPicPr>
            <a:picLocks noChangeAspect="1"/>
          </p:cNvPicPr>
          <p:nvPr/>
        </p:nvPicPr>
        <p:blipFill>
          <a:blip r:embed="rId5"/>
          <a:stretch>
            <a:fillRect/>
          </a:stretch>
        </p:blipFill>
        <p:spPr>
          <a:xfrm>
            <a:off x="6469929" y="4037625"/>
            <a:ext cx="245791" cy="245791"/>
          </a:xfrm>
          <a:prstGeom prst="rect">
            <a:avLst/>
          </a:prstGeom>
        </p:spPr>
      </p:pic>
      <p:sp>
        <p:nvSpPr>
          <p:cNvPr id="39" name="Text 32"/>
          <p:cNvSpPr txBox="1"/>
          <p:nvPr/>
        </p:nvSpPr>
        <p:spPr>
          <a:xfrm>
            <a:off x="6958584" y="3785616"/>
            <a:ext cx="4690872" cy="749808"/>
          </a:xfrm>
          <a:prstGeom prst="rect">
            <a:avLst/>
          </a:prstGeom>
          <a:noFill/>
          <a:ln/>
        </p:spPr>
        <p:txBody>
          <a:bodyPr wrap="square" lIns="0" tIns="0" rIns="0" bIns="0" rtlCol="0" anchor="ctr"/>
          <a:lstStyle/>
          <a:p>
            <a:pPr indent="0" marL="0">
              <a:buNone/>
            </a:pPr>
            <a:r>
              <a:rPr lang="en-US" sz="1200" b="1" dirty="0">
                <a:solidFill>
                  <a:srgbClr val="1F4E9A"/>
                </a:solidFill>
                <a:latin typeface="Calibri" pitchFamily="34" charset="0"/>
                <a:ea typeface="Calibri" pitchFamily="34" charset="-122"/>
                <a:cs typeface="Calibri" pitchFamily="34" charset="-120"/>
              </a:rPr>
              <a:t>99 safe archetypes</a:t>
            </a:r>
            <a:pPr indent="0" marL="0">
              <a:buNone/>
            </a:pPr>
            <a:r>
              <a:rPr lang="en-US" sz="1200" dirty="0">
                <a:solidFill>
                  <a:srgbClr val="1F2937"/>
                </a:solidFill>
                <a:latin typeface="Calibri" pitchFamily="34" charset="0"/>
                <a:ea typeface="Calibri" pitchFamily="34" charset="-122"/>
                <a:cs typeface="Calibri" pitchFamily="34" charset="-120"/>
              </a:rPr>
              <a:t> (attribute combinations), each through cannibalisation safety gates; 23 confirmed by both methods</a:t>
            </a:r>
            <a:endParaRPr lang="en-US" sz="1200" dirty="0"/>
          </a:p>
        </p:txBody>
      </p:sp>
      <p:sp>
        <p:nvSpPr>
          <p:cNvPr id="40" name="Shape 33"/>
          <p:cNvSpPr/>
          <p:nvPr/>
        </p:nvSpPr>
        <p:spPr>
          <a:xfrm>
            <a:off x="411480" y="4626864"/>
            <a:ext cx="5120640" cy="749808"/>
          </a:xfrm>
          <a:prstGeom prst="roundRect">
            <a:avLst>
              <a:gd name="adj" fmla="val 12195"/>
            </a:avLst>
          </a:prstGeom>
          <a:solidFill>
            <a:srgbClr val="DCE7F8"/>
          </a:solidFill>
          <a:ln w="12700">
            <a:solidFill>
              <a:srgbClr val="DCE7F8"/>
            </a:solidFill>
            <a:prstDash val="solid"/>
          </a:ln>
        </p:spPr>
      </p:sp>
      <p:sp>
        <p:nvSpPr>
          <p:cNvPr id="41" name="Shape 34"/>
          <p:cNvSpPr/>
          <p:nvPr/>
        </p:nvSpPr>
        <p:spPr>
          <a:xfrm>
            <a:off x="557784" y="4809744"/>
            <a:ext cx="384048" cy="384048"/>
          </a:xfrm>
          <a:prstGeom prst="ellipse">
            <a:avLst/>
          </a:prstGeom>
          <a:solidFill>
            <a:srgbClr val="13285B"/>
          </a:solidFill>
          <a:ln w="12700">
            <a:solidFill>
              <a:srgbClr val="13285B"/>
            </a:solidFill>
            <a:prstDash val="solid"/>
          </a:ln>
        </p:spPr>
      </p:sp>
      <p:sp>
        <p:nvSpPr>
          <p:cNvPr id="42" name="Text 35"/>
          <p:cNvSpPr txBox="1"/>
          <p:nvPr/>
        </p:nvSpPr>
        <p:spPr>
          <a:xfrm>
            <a:off x="557784" y="48097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3" name="Text 36"/>
          <p:cNvSpPr txBox="1"/>
          <p:nvPr/>
        </p:nvSpPr>
        <p:spPr>
          <a:xfrm>
            <a:off x="1097280" y="4626864"/>
            <a:ext cx="4297680" cy="749808"/>
          </a:xfrm>
          <a:prstGeom prst="rect">
            <a:avLst/>
          </a:prstGeom>
          <a:noFill/>
          <a:ln/>
        </p:spPr>
        <p:txBody>
          <a:bodyPr wrap="square" lIns="0" tIns="0" rIns="0" bIns="0" rtlCol="0" anchor="ctr"/>
          <a:lstStyle/>
          <a:p>
            <a:pPr indent="0" marL="0">
              <a:buNone/>
            </a:pPr>
            <a:r>
              <a:rPr lang="en-US" sz="1300" b="1" dirty="0">
                <a:solidFill>
                  <a:srgbClr val="13285B"/>
                </a:solidFill>
                <a:latin typeface="Calibri" pitchFamily="34" charset="0"/>
                <a:ea typeface="Calibri" pitchFamily="34" charset="-122"/>
                <a:cs typeface="Calibri" pitchFamily="34" charset="-120"/>
              </a:rPr>
              <a:t>What exactly should be listed, and which sellers can supply it?</a:t>
            </a:r>
            <a:endParaRPr lang="en-US" sz="1300" dirty="0"/>
          </a:p>
        </p:txBody>
      </p:sp>
      <p:sp>
        <p:nvSpPr>
          <p:cNvPr id="44" name="Shape 37"/>
          <p:cNvSpPr/>
          <p:nvPr/>
        </p:nvSpPr>
        <p:spPr>
          <a:xfrm>
            <a:off x="5715000" y="4846320"/>
            <a:ext cx="365760" cy="310896"/>
          </a:xfrm>
          <a:prstGeom prst="rightArrow">
            <a:avLst/>
          </a:prstGeom>
          <a:solidFill>
            <a:srgbClr val="F5A623"/>
          </a:solidFill>
          <a:ln w="12700">
            <a:solidFill>
              <a:srgbClr val="F5A623"/>
            </a:solidFill>
            <a:prstDash val="solid"/>
          </a:ln>
        </p:spPr>
      </p:sp>
      <p:sp>
        <p:nvSpPr>
          <p:cNvPr id="45" name="Shape 38"/>
          <p:cNvSpPr/>
          <p:nvPr/>
        </p:nvSpPr>
        <p:spPr>
          <a:xfrm>
            <a:off x="6245352" y="4626864"/>
            <a:ext cx="5532120" cy="749808"/>
          </a:xfrm>
          <a:prstGeom prst="roundRect">
            <a:avLst>
              <a:gd name="adj" fmla="val 12195"/>
            </a:avLst>
          </a:prstGeom>
          <a:solidFill>
            <a:srgbClr val="FFFFFF"/>
          </a:solidFill>
          <a:ln w="9525">
            <a:solidFill>
              <a:srgbClr val="C9D3E3"/>
            </a:solidFill>
            <a:prstDash val="solid"/>
          </a:ln>
        </p:spPr>
      </p:sp>
      <p:sp>
        <p:nvSpPr>
          <p:cNvPr id="46" name="Shape 39"/>
          <p:cNvSpPr/>
          <p:nvPr/>
        </p:nvSpPr>
        <p:spPr>
          <a:xfrm>
            <a:off x="6373368" y="4782312"/>
            <a:ext cx="438912" cy="438912"/>
          </a:xfrm>
          <a:prstGeom prst="ellipse">
            <a:avLst/>
          </a:prstGeom>
          <a:solidFill>
            <a:srgbClr val="1F4E9A"/>
          </a:solidFill>
          <a:ln w="12700">
            <a:solidFill>
              <a:srgbClr val="1F4E9A"/>
            </a:solidFill>
            <a:prstDash val="solid"/>
          </a:ln>
        </p:spPr>
      </p:sp>
      <p:pic>
        <p:nvPicPr>
          <p:cNvPr id="47" name="Image 5" descr="preencoded.png">    </p:cNvPr>
          <p:cNvPicPr>
            <a:picLocks noChangeAspect="1"/>
          </p:cNvPicPr>
          <p:nvPr/>
        </p:nvPicPr>
        <p:blipFill>
          <a:blip r:embed="rId6"/>
          <a:stretch>
            <a:fillRect/>
          </a:stretch>
        </p:blipFill>
        <p:spPr>
          <a:xfrm>
            <a:off x="6469929" y="4878873"/>
            <a:ext cx="245791" cy="245791"/>
          </a:xfrm>
          <a:prstGeom prst="rect">
            <a:avLst/>
          </a:prstGeom>
        </p:spPr>
      </p:pic>
      <p:sp>
        <p:nvSpPr>
          <p:cNvPr id="48" name="Text 40"/>
          <p:cNvSpPr txBox="1"/>
          <p:nvPr/>
        </p:nvSpPr>
        <p:spPr>
          <a:xfrm>
            <a:off x="6958584" y="4626864"/>
            <a:ext cx="4690872" cy="749808"/>
          </a:xfrm>
          <a:prstGeom prst="rect">
            <a:avLst/>
          </a:prstGeom>
          <a:noFill/>
          <a:ln/>
        </p:spPr>
        <p:txBody>
          <a:bodyPr wrap="square" lIns="0" tIns="0" rIns="0" bIns="0" rtlCol="0" anchor="ctr"/>
          <a:lstStyle/>
          <a:p>
            <a:pPr indent="0" marL="0">
              <a:buNone/>
            </a:pPr>
            <a:r>
              <a:rPr lang="en-US" sz="1200" b="1" dirty="0">
                <a:solidFill>
                  <a:srgbClr val="1F4E9A"/>
                </a:solidFill>
                <a:latin typeface="Calibri" pitchFamily="34" charset="0"/>
                <a:ea typeface="Calibri" pitchFamily="34" charset="-122"/>
                <a:cs typeface="Calibri" pitchFamily="34" charset="-120"/>
              </a:rPr>
              <a:t>263 example products</a:t>
            </a:r>
            <a:pPr indent="0" marL="0">
              <a:buNone/>
            </a:pPr>
            <a:r>
              <a:rPr lang="en-US" sz="1200" dirty="0">
                <a:solidFill>
                  <a:srgbClr val="1F2937"/>
                </a:solidFill>
                <a:latin typeface="Calibri" pitchFamily="34" charset="0"/>
                <a:ea typeface="Calibri" pitchFamily="34" charset="-122"/>
                <a:cs typeface="Calibri" pitchFamily="34" charset="-120"/>
              </a:rPr>
              <a:t> with links, each beside its nearest Staples item; </a:t>
            </a:r>
            <a:pPr indent="0" marL="0">
              <a:buNone/>
            </a:pPr>
            <a:r>
              <a:rPr lang="en-US" sz="1200" b="1" dirty="0">
                <a:solidFill>
                  <a:srgbClr val="1F4E9A"/>
                </a:solidFill>
                <a:latin typeface="Calibri" pitchFamily="34" charset="0"/>
                <a:ea typeface="Calibri" pitchFamily="34" charset="-122"/>
                <a:cs typeface="Calibri" pitchFamily="34" charset="-120"/>
              </a:rPr>
              <a:t>13 of their brands</a:t>
            </a:r>
            <a:pPr indent="0" marL="0">
              <a:buNone/>
            </a:pPr>
            <a:r>
              <a:rPr lang="en-US" sz="1200" dirty="0">
                <a:solidFill>
                  <a:srgbClr val="1F2937"/>
                </a:solidFill>
                <a:latin typeface="Calibri" pitchFamily="34" charset="0"/>
                <a:ea typeface="Calibri" pitchFamily="34" charset="-122"/>
                <a:cs typeface="Calibri" pitchFamily="34" charset="-120"/>
              </a:rPr>
              <a:t> already sell on Staples</a:t>
            </a:r>
            <a:endParaRPr lang="en-US" sz="1200" dirty="0"/>
          </a:p>
        </p:txBody>
      </p:sp>
      <p:sp>
        <p:nvSpPr>
          <p:cNvPr id="49" name="Shape 41"/>
          <p:cNvSpPr/>
          <p:nvPr/>
        </p:nvSpPr>
        <p:spPr>
          <a:xfrm>
            <a:off x="411480" y="5468112"/>
            <a:ext cx="5120640" cy="749808"/>
          </a:xfrm>
          <a:prstGeom prst="roundRect">
            <a:avLst>
              <a:gd name="adj" fmla="val 12195"/>
            </a:avLst>
          </a:prstGeom>
          <a:solidFill>
            <a:srgbClr val="DCE7F8"/>
          </a:solidFill>
          <a:ln w="12700">
            <a:solidFill>
              <a:srgbClr val="DCE7F8"/>
            </a:solidFill>
            <a:prstDash val="solid"/>
          </a:ln>
        </p:spPr>
      </p:sp>
      <p:sp>
        <p:nvSpPr>
          <p:cNvPr id="50" name="Shape 42"/>
          <p:cNvSpPr/>
          <p:nvPr/>
        </p:nvSpPr>
        <p:spPr>
          <a:xfrm>
            <a:off x="557784" y="5650992"/>
            <a:ext cx="384048" cy="384048"/>
          </a:xfrm>
          <a:prstGeom prst="ellipse">
            <a:avLst/>
          </a:prstGeom>
          <a:solidFill>
            <a:srgbClr val="13285B"/>
          </a:solidFill>
          <a:ln w="12700">
            <a:solidFill>
              <a:srgbClr val="13285B"/>
            </a:solidFill>
            <a:prstDash val="solid"/>
          </a:ln>
        </p:spPr>
      </p:sp>
      <p:sp>
        <p:nvSpPr>
          <p:cNvPr id="51" name="Text 43"/>
          <p:cNvSpPr txBox="1"/>
          <p:nvPr/>
        </p:nvSpPr>
        <p:spPr>
          <a:xfrm>
            <a:off x="557784" y="56509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2" name="Text 44"/>
          <p:cNvSpPr txBox="1"/>
          <p:nvPr/>
        </p:nvSpPr>
        <p:spPr>
          <a:xfrm>
            <a:off x="1097280" y="5468112"/>
            <a:ext cx="4297680" cy="749808"/>
          </a:xfrm>
          <a:prstGeom prst="rect">
            <a:avLst/>
          </a:prstGeom>
          <a:noFill/>
          <a:ln/>
        </p:spPr>
        <p:txBody>
          <a:bodyPr wrap="square" lIns="0" tIns="0" rIns="0" bIns="0" rtlCol="0" anchor="ctr"/>
          <a:lstStyle/>
          <a:p>
            <a:pPr indent="0" marL="0">
              <a:buNone/>
            </a:pPr>
            <a:r>
              <a:rPr lang="en-US" sz="1300" b="1" dirty="0">
                <a:solidFill>
                  <a:srgbClr val="13285B"/>
                </a:solidFill>
                <a:latin typeface="Calibri" pitchFamily="34" charset="0"/>
                <a:ea typeface="Calibri" pitchFamily="34" charset="-122"/>
                <a:cs typeface="Calibri" pitchFamily="34" charset="-120"/>
              </a:rPr>
              <a:t>Can this be decided now on external data, and repeated as the catalogue grows?</a:t>
            </a:r>
            <a:endParaRPr lang="en-US" sz="1300" dirty="0"/>
          </a:p>
        </p:txBody>
      </p:sp>
      <p:sp>
        <p:nvSpPr>
          <p:cNvPr id="53" name="Shape 45"/>
          <p:cNvSpPr/>
          <p:nvPr/>
        </p:nvSpPr>
        <p:spPr>
          <a:xfrm>
            <a:off x="5715000" y="5687568"/>
            <a:ext cx="365760" cy="310896"/>
          </a:xfrm>
          <a:prstGeom prst="rightArrow">
            <a:avLst/>
          </a:prstGeom>
          <a:solidFill>
            <a:srgbClr val="F5A623"/>
          </a:solidFill>
          <a:ln w="12700">
            <a:solidFill>
              <a:srgbClr val="F5A623"/>
            </a:solidFill>
            <a:prstDash val="solid"/>
          </a:ln>
        </p:spPr>
      </p:sp>
      <p:sp>
        <p:nvSpPr>
          <p:cNvPr id="54" name="Shape 46"/>
          <p:cNvSpPr/>
          <p:nvPr/>
        </p:nvSpPr>
        <p:spPr>
          <a:xfrm>
            <a:off x="6245352" y="5468112"/>
            <a:ext cx="5532120" cy="749808"/>
          </a:xfrm>
          <a:prstGeom prst="roundRect">
            <a:avLst>
              <a:gd name="adj" fmla="val 12195"/>
            </a:avLst>
          </a:prstGeom>
          <a:solidFill>
            <a:srgbClr val="FFFFFF"/>
          </a:solidFill>
          <a:ln w="9525">
            <a:solidFill>
              <a:srgbClr val="C9D3E3"/>
            </a:solidFill>
            <a:prstDash val="solid"/>
          </a:ln>
        </p:spPr>
      </p:sp>
      <p:sp>
        <p:nvSpPr>
          <p:cNvPr id="55" name="Shape 47"/>
          <p:cNvSpPr/>
          <p:nvPr/>
        </p:nvSpPr>
        <p:spPr>
          <a:xfrm>
            <a:off x="6373368" y="5623560"/>
            <a:ext cx="438912" cy="438912"/>
          </a:xfrm>
          <a:prstGeom prst="ellipse">
            <a:avLst/>
          </a:prstGeom>
          <a:solidFill>
            <a:srgbClr val="1F4E9A"/>
          </a:solidFill>
          <a:ln w="12700">
            <a:solidFill>
              <a:srgbClr val="1F4E9A"/>
            </a:solidFill>
            <a:prstDash val="solid"/>
          </a:ln>
        </p:spPr>
      </p:sp>
      <p:pic>
        <p:nvPicPr>
          <p:cNvPr id="56" name="Image 6" descr="preencoded.png">    </p:cNvPr>
          <p:cNvPicPr>
            <a:picLocks noChangeAspect="1"/>
          </p:cNvPicPr>
          <p:nvPr/>
        </p:nvPicPr>
        <p:blipFill>
          <a:blip r:embed="rId7"/>
          <a:stretch>
            <a:fillRect/>
          </a:stretch>
        </p:blipFill>
        <p:spPr>
          <a:xfrm>
            <a:off x="6469929" y="5720121"/>
            <a:ext cx="245791" cy="245791"/>
          </a:xfrm>
          <a:prstGeom prst="rect">
            <a:avLst/>
          </a:prstGeom>
        </p:spPr>
      </p:pic>
      <p:sp>
        <p:nvSpPr>
          <p:cNvPr id="57" name="Text 48"/>
          <p:cNvSpPr txBox="1"/>
          <p:nvPr/>
        </p:nvSpPr>
        <p:spPr>
          <a:xfrm>
            <a:off x="6958584" y="5468112"/>
            <a:ext cx="4690872" cy="749808"/>
          </a:xfrm>
          <a:prstGeom prst="rect">
            <a:avLst/>
          </a:prstGeom>
          <a:noFill/>
          <a:ln/>
        </p:spPr>
        <p:txBody>
          <a:bodyPr wrap="square" lIns="0" tIns="0" rIns="0" bIns="0" rtlCol="0" anchor="ctr"/>
          <a:lstStyle/>
          <a:p>
            <a:pPr indent="0" marL="0">
              <a:buNone/>
            </a:pPr>
            <a:r>
              <a:rPr lang="en-US" sz="1200" b="1" dirty="0">
                <a:solidFill>
                  <a:srgbClr val="1F4E9A"/>
                </a:solidFill>
                <a:latin typeface="Calibri" pitchFamily="34" charset="0"/>
                <a:ea typeface="Calibri" pitchFamily="34" charset="-122"/>
                <a:cs typeface="Calibri" pitchFamily="34" charset="-120"/>
              </a:rPr>
              <a:t>A repeatable engine:</a:t>
            </a:r>
            <a:pPr indent="0" marL="0">
              <a:buNone/>
            </a:pPr>
            <a:r>
              <a:rPr lang="en-US" sz="1200" dirty="0">
                <a:solidFill>
                  <a:srgbClr val="1F2937"/>
                </a:solidFill>
                <a:latin typeface="Calibri" pitchFamily="34" charset="0"/>
                <a:ea typeface="Calibri" pitchFamily="34" charset="-122"/>
                <a:cs typeface="Calibri" pitchFamily="34" charset="-120"/>
              </a:rPr>
              <a:t> external data only today; new nodes, competitors or seller listings run through the same pipeline</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115568"/>
            <a:ext cx="2738628" cy="914400"/>
          </a:xfrm>
          <a:prstGeom prst="roundRect">
            <a:avLst>
              <a:gd name="adj" fmla="val 10000"/>
            </a:avLst>
          </a:prstGeom>
          <a:solidFill>
            <a:srgbClr val="EEF3FB"/>
          </a:solidFill>
          <a:ln w="12700">
            <a:solidFill>
              <a:srgbClr val="EEF3FB"/>
            </a:solidFill>
            <a:prstDash val="solid"/>
          </a:ln>
        </p:spPr>
      </p:sp>
      <p:sp>
        <p:nvSpPr>
          <p:cNvPr id="4" name="Text 2"/>
          <p:cNvSpPr txBox="1"/>
          <p:nvPr/>
        </p:nvSpPr>
        <p:spPr>
          <a:xfrm>
            <a:off x="502920" y="1143000"/>
            <a:ext cx="2555748" cy="457200"/>
          </a:xfrm>
          <a:prstGeom prst="rect">
            <a:avLst/>
          </a:prstGeom>
          <a:noFill/>
          <a:ln/>
        </p:spPr>
        <p:txBody>
          <a:bodyPr wrap="square" lIns="0" tIns="0" rIns="0" bIns="0" rtlCol="0" anchor="ctr"/>
          <a:lstStyle/>
          <a:p>
            <a:pPr algn="ctr" indent="0" marL="0">
              <a:buNone/>
            </a:pPr>
            <a:r>
              <a:rPr lang="en-US" sz="3000" b="1" dirty="0">
                <a:solidFill>
                  <a:srgbClr val="1F4E9A"/>
                </a:solidFill>
                <a:latin typeface="Calibri" pitchFamily="34" charset="0"/>
                <a:ea typeface="Calibri" pitchFamily="34" charset="-122"/>
                <a:cs typeface="Calibri" pitchFamily="34" charset="-120"/>
              </a:rPr>
              <a:t>12</a:t>
            </a:r>
            <a:endParaRPr lang="en-US" sz="3000" dirty="0"/>
          </a:p>
        </p:txBody>
      </p:sp>
      <p:sp>
        <p:nvSpPr>
          <p:cNvPr id="5" name="Text 3"/>
          <p:cNvSpPr txBox="1"/>
          <p:nvPr/>
        </p:nvSpPr>
        <p:spPr>
          <a:xfrm>
            <a:off x="594360" y="1600200"/>
            <a:ext cx="2372868" cy="384048"/>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analysed across 3 segments, against Amazon &amp; Wayfair</a:t>
            </a:r>
            <a:endParaRPr lang="en-US" sz="1050" dirty="0"/>
          </a:p>
        </p:txBody>
      </p:sp>
      <p:sp>
        <p:nvSpPr>
          <p:cNvPr id="6" name="Shape 4"/>
          <p:cNvSpPr/>
          <p:nvPr/>
        </p:nvSpPr>
        <p:spPr>
          <a:xfrm>
            <a:off x="3287268" y="1115568"/>
            <a:ext cx="2738628" cy="914400"/>
          </a:xfrm>
          <a:prstGeom prst="roundRect">
            <a:avLst>
              <a:gd name="adj" fmla="val 10000"/>
            </a:avLst>
          </a:prstGeom>
          <a:solidFill>
            <a:srgbClr val="EEF3FB"/>
          </a:solidFill>
          <a:ln w="12700">
            <a:solidFill>
              <a:srgbClr val="EEF3FB"/>
            </a:solidFill>
            <a:prstDash val="solid"/>
          </a:ln>
        </p:spPr>
      </p:sp>
      <p:sp>
        <p:nvSpPr>
          <p:cNvPr id="7" name="Text 5"/>
          <p:cNvSpPr txBox="1"/>
          <p:nvPr/>
        </p:nvSpPr>
        <p:spPr>
          <a:xfrm>
            <a:off x="3378708" y="1143000"/>
            <a:ext cx="2555748" cy="457200"/>
          </a:xfrm>
          <a:prstGeom prst="rect">
            <a:avLst/>
          </a:prstGeom>
          <a:noFill/>
          <a:ln/>
        </p:spPr>
        <p:txBody>
          <a:bodyPr wrap="square" lIns="0" tIns="0" rIns="0" bIns="0" rtlCol="0" anchor="ctr"/>
          <a:lstStyle/>
          <a:p>
            <a:pPr algn="ctr" indent="0" marL="0">
              <a:buNone/>
            </a:pPr>
            <a:r>
              <a:rPr lang="en-US" sz="2600" b="1" dirty="0">
                <a:solidFill>
                  <a:srgbClr val="1F4E9A"/>
                </a:solidFill>
                <a:latin typeface="Calibri" pitchFamily="34" charset="0"/>
                <a:ea typeface="Calibri" pitchFamily="34" charset="-122"/>
                <a:cs typeface="Calibri" pitchFamily="34" charset="-120"/>
              </a:rPr>
              <a:t>3.4K | 16.5K</a:t>
            </a:r>
            <a:endParaRPr lang="en-US" sz="2600" dirty="0"/>
          </a:p>
        </p:txBody>
      </p:sp>
      <p:sp>
        <p:nvSpPr>
          <p:cNvPr id="8" name="Text 6"/>
          <p:cNvSpPr txBox="1"/>
          <p:nvPr/>
        </p:nvSpPr>
        <p:spPr>
          <a:xfrm>
            <a:off x="3470148" y="1600200"/>
            <a:ext cx="2372868" cy="384048"/>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vs competitor product families compared</a:t>
            </a:r>
            <a:endParaRPr lang="en-US" sz="1050" dirty="0"/>
          </a:p>
        </p:txBody>
      </p:sp>
      <p:sp>
        <p:nvSpPr>
          <p:cNvPr id="9" name="Shape 7"/>
          <p:cNvSpPr/>
          <p:nvPr/>
        </p:nvSpPr>
        <p:spPr>
          <a:xfrm>
            <a:off x="6163056" y="1115568"/>
            <a:ext cx="2738628" cy="914400"/>
          </a:xfrm>
          <a:prstGeom prst="roundRect">
            <a:avLst>
              <a:gd name="adj" fmla="val 10000"/>
            </a:avLst>
          </a:prstGeom>
          <a:solidFill>
            <a:srgbClr val="EEF3FB"/>
          </a:solidFill>
          <a:ln w="12700">
            <a:solidFill>
              <a:srgbClr val="EEF3FB"/>
            </a:solidFill>
            <a:prstDash val="solid"/>
          </a:ln>
        </p:spPr>
      </p:sp>
      <p:sp>
        <p:nvSpPr>
          <p:cNvPr id="10" name="Text 8"/>
          <p:cNvSpPr txBox="1"/>
          <p:nvPr/>
        </p:nvSpPr>
        <p:spPr>
          <a:xfrm>
            <a:off x="6254496" y="1143000"/>
            <a:ext cx="2555748" cy="457200"/>
          </a:xfrm>
          <a:prstGeom prst="rect">
            <a:avLst/>
          </a:prstGeom>
          <a:noFill/>
          <a:ln/>
        </p:spPr>
        <p:txBody>
          <a:bodyPr wrap="square" lIns="0" tIns="0" rIns="0" bIns="0" rtlCol="0" anchor="ctr"/>
          <a:lstStyle/>
          <a:p>
            <a:pPr algn="ctr" indent="0" marL="0">
              <a:buNone/>
            </a:pPr>
            <a:r>
              <a:rPr lang="en-US" sz="3000" b="1" dirty="0">
                <a:solidFill>
                  <a:srgbClr val="1F4E9A"/>
                </a:solidFill>
                <a:latin typeface="Calibri" pitchFamily="34" charset="0"/>
                <a:ea typeface="Calibri" pitchFamily="34" charset="-122"/>
                <a:cs typeface="Calibri" pitchFamily="34" charset="-120"/>
              </a:rPr>
              <a:t>99</a:t>
            </a:r>
            <a:endParaRPr lang="en-US" sz="3000" dirty="0"/>
          </a:p>
        </p:txBody>
      </p:sp>
      <p:sp>
        <p:nvSpPr>
          <p:cNvPr id="11" name="Text 9"/>
          <p:cNvSpPr txBox="1"/>
          <p:nvPr/>
        </p:nvSpPr>
        <p:spPr>
          <a:xfrm>
            <a:off x="6345936" y="1600200"/>
            <a:ext cx="2372868" cy="384048"/>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recommended to add; 23 confirmed by both methods</a:t>
            </a:r>
            <a:endParaRPr lang="en-US" sz="1050" dirty="0"/>
          </a:p>
        </p:txBody>
      </p:sp>
      <p:sp>
        <p:nvSpPr>
          <p:cNvPr id="12" name="Shape 10"/>
          <p:cNvSpPr/>
          <p:nvPr/>
        </p:nvSpPr>
        <p:spPr>
          <a:xfrm>
            <a:off x="9038844" y="1115568"/>
            <a:ext cx="2738628" cy="914400"/>
          </a:xfrm>
          <a:prstGeom prst="roundRect">
            <a:avLst>
              <a:gd name="adj" fmla="val 10000"/>
            </a:avLst>
          </a:prstGeom>
          <a:solidFill>
            <a:srgbClr val="EEF3FB"/>
          </a:solidFill>
          <a:ln w="12700">
            <a:solidFill>
              <a:srgbClr val="EEF3FB"/>
            </a:solidFill>
            <a:prstDash val="solid"/>
          </a:ln>
        </p:spPr>
      </p:sp>
      <p:sp>
        <p:nvSpPr>
          <p:cNvPr id="13" name="Text 11"/>
          <p:cNvSpPr txBox="1"/>
          <p:nvPr/>
        </p:nvSpPr>
        <p:spPr>
          <a:xfrm>
            <a:off x="9130284" y="1143000"/>
            <a:ext cx="2555748" cy="457200"/>
          </a:xfrm>
          <a:prstGeom prst="rect">
            <a:avLst/>
          </a:prstGeom>
          <a:noFill/>
          <a:ln/>
        </p:spPr>
        <p:txBody>
          <a:bodyPr wrap="square" lIns="0" tIns="0" rIns="0" bIns="0" rtlCol="0" anchor="ctr"/>
          <a:lstStyle/>
          <a:p>
            <a:pPr algn="ctr" indent="0" marL="0">
              <a:buNone/>
            </a:pPr>
            <a:r>
              <a:rPr lang="en-US" sz="3000" b="1" dirty="0">
                <a:solidFill>
                  <a:srgbClr val="1F4E9A"/>
                </a:solidFill>
                <a:latin typeface="Calibri" pitchFamily="34" charset="0"/>
                <a:ea typeface="Calibri" pitchFamily="34" charset="-122"/>
                <a:cs typeface="Calibri" pitchFamily="34" charset="-120"/>
              </a:rPr>
              <a:t>263</a:t>
            </a:r>
            <a:endParaRPr lang="en-US" sz="3000" dirty="0"/>
          </a:p>
        </p:txBody>
      </p:sp>
      <p:sp>
        <p:nvSpPr>
          <p:cNvPr id="14" name="Text 12"/>
          <p:cNvSpPr txBox="1"/>
          <p:nvPr/>
        </p:nvSpPr>
        <p:spPr>
          <a:xfrm>
            <a:off x="9221724" y="1600200"/>
            <a:ext cx="2372868" cy="384048"/>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example products to list; 13 of their brands already sell on Staples</a:t>
            </a:r>
            <a:endParaRPr lang="en-US" sz="1050" dirty="0"/>
          </a:p>
        </p:txBody>
      </p:sp>
      <p:sp>
        <p:nvSpPr>
          <p:cNvPr id="15" name="Text 13"/>
          <p:cNvSpPr txBox="1"/>
          <p:nvPr/>
        </p:nvSpPr>
        <p:spPr>
          <a:xfrm>
            <a:off x="411480" y="2121408"/>
            <a:ext cx="5943600" cy="237744"/>
          </a:xfrm>
          <a:prstGeom prst="rect">
            <a:avLst/>
          </a:prstGeom>
          <a:noFill/>
          <a:ln/>
        </p:spPr>
        <p:txBody>
          <a:bodyPr wrap="square" lIns="0" tIns="0" rIns="0" bIns="0" rtlCol="0" anchor="ctr"/>
          <a:lstStyle/>
          <a:p>
            <a:pPr indent="0" marL="0">
              <a:buNone/>
            </a:pPr>
            <a:r>
              <a:rPr lang="en-US" sz="1350" b="1" dirty="0">
                <a:solidFill>
                  <a:srgbClr val="1F4E9A"/>
                </a:solidFill>
                <a:latin typeface="Calibri" pitchFamily="34" charset="0"/>
                <a:ea typeface="Calibri" pitchFamily="34" charset="-122"/>
                <a:cs typeface="Calibri" pitchFamily="34" charset="-120"/>
              </a:rPr>
              <a:t>Key insights: how the three assortments differ</a:t>
            </a:r>
            <a:endParaRPr lang="en-US" sz="1350" dirty="0"/>
          </a:p>
        </p:txBody>
      </p:sp>
      <p:sp>
        <p:nvSpPr>
          <p:cNvPr id="16" name="Text 14"/>
          <p:cNvSpPr txBox="1"/>
          <p:nvPr/>
        </p:nvSpPr>
        <p:spPr>
          <a:xfrm>
            <a:off x="5943600" y="2121408"/>
            <a:ext cx="5833872" cy="237744"/>
          </a:xfrm>
          <a:prstGeom prst="rect">
            <a:avLst/>
          </a:prstGeom>
          <a:noFill/>
          <a:ln/>
        </p:spPr>
        <p:txBody>
          <a:bodyPr wrap="square" lIns="0" tIns="0" rIns="0" bIns="0" rtlCol="0" anchor="ctr"/>
          <a:lstStyle/>
          <a:p>
            <a:pPr algn="r" indent="0" marL="0">
              <a:buNone/>
            </a:pPr>
            <a:r>
              <a:rPr lang="en-US" sz="900" i="1" dirty="0">
                <a:solidFill>
                  <a:srgbClr val="5B6475"/>
                </a:solidFill>
                <a:latin typeface="Calibri" pitchFamily="34" charset="0"/>
                <a:ea typeface="Calibri" pitchFamily="34" charset="-122"/>
                <a:cs typeface="Calibri" pitchFamily="34" charset="-120"/>
              </a:rPr>
              <a:t>% = share of each retailer's range in the same node;  (vs …) = the other retailer</a:t>
            </a:r>
            <a:endParaRPr lang="en-US" sz="900" dirty="0"/>
          </a:p>
        </p:txBody>
      </p:sp>
      <p:sp>
        <p:nvSpPr>
          <p:cNvPr id="17" name="Shape 15"/>
          <p:cNvSpPr/>
          <p:nvPr/>
        </p:nvSpPr>
        <p:spPr>
          <a:xfrm>
            <a:off x="2569464" y="2432304"/>
            <a:ext cx="3032760" cy="310896"/>
          </a:xfrm>
          <a:prstGeom prst="roundRect">
            <a:avLst>
              <a:gd name="adj" fmla="val 17647"/>
            </a:avLst>
          </a:prstGeom>
          <a:solidFill>
            <a:srgbClr val="CC0000"/>
          </a:solidFill>
          <a:ln w="12700">
            <a:solidFill>
              <a:srgbClr val="CC0000"/>
            </a:solidFill>
            <a:prstDash val="solid"/>
          </a:ln>
        </p:spPr>
      </p:sp>
      <p:sp>
        <p:nvSpPr>
          <p:cNvPr id="18" name="Text 16"/>
          <p:cNvSpPr txBox="1"/>
          <p:nvPr/>
        </p:nvSpPr>
        <p:spPr>
          <a:xfrm>
            <a:off x="2569464" y="2432304"/>
            <a:ext cx="303276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STAPLES</a:t>
            </a:r>
            <a:pPr algn="ctr" indent="0" marL="0">
              <a:buNone/>
            </a:pPr>
            <a:r>
              <a:rPr lang="en-US" sz="1000" dirty="0">
                <a:solidFill>
                  <a:srgbClr val="FFFFFF"/>
                </a:solidFill>
                <a:latin typeface="Calibri" pitchFamily="34" charset="0"/>
                <a:ea typeface="Calibri" pitchFamily="34" charset="-122"/>
                <a:cs typeface="Calibri" pitchFamily="34" charset="-120"/>
              </a:rPr>
              <a:t>  12 nodes</a:t>
            </a:r>
            <a:endParaRPr lang="en-US" sz="1250" dirty="0"/>
          </a:p>
        </p:txBody>
      </p:sp>
      <p:sp>
        <p:nvSpPr>
          <p:cNvPr id="19" name="Shape 17"/>
          <p:cNvSpPr/>
          <p:nvPr/>
        </p:nvSpPr>
        <p:spPr>
          <a:xfrm>
            <a:off x="5657088" y="2432304"/>
            <a:ext cx="3032760" cy="310896"/>
          </a:xfrm>
          <a:prstGeom prst="roundRect">
            <a:avLst>
              <a:gd name="adj" fmla="val 17647"/>
            </a:avLst>
          </a:prstGeom>
          <a:solidFill>
            <a:srgbClr val="7F187F"/>
          </a:solidFill>
          <a:ln w="12700">
            <a:solidFill>
              <a:srgbClr val="7F187F"/>
            </a:solidFill>
            <a:prstDash val="solid"/>
          </a:ln>
        </p:spPr>
      </p:sp>
      <p:sp>
        <p:nvSpPr>
          <p:cNvPr id="20" name="Text 18"/>
          <p:cNvSpPr txBox="1"/>
          <p:nvPr/>
        </p:nvSpPr>
        <p:spPr>
          <a:xfrm>
            <a:off x="5657088" y="2432304"/>
            <a:ext cx="303276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WAYFAIR</a:t>
            </a:r>
            <a:pPr algn="ctr" indent="0" marL="0">
              <a:buNone/>
            </a:pPr>
            <a:r>
              <a:rPr lang="en-US" sz="1000" dirty="0">
                <a:solidFill>
                  <a:srgbClr val="FFFFFF"/>
                </a:solidFill>
                <a:latin typeface="Calibri" pitchFamily="34" charset="0"/>
                <a:ea typeface="Calibri" pitchFamily="34" charset="-122"/>
                <a:cs typeface="Calibri" pitchFamily="34" charset="-120"/>
              </a:rPr>
              <a:t>  5 nodes</a:t>
            </a:r>
            <a:endParaRPr lang="en-US" sz="1250" dirty="0"/>
          </a:p>
        </p:txBody>
      </p:sp>
      <p:sp>
        <p:nvSpPr>
          <p:cNvPr id="21" name="Shape 19"/>
          <p:cNvSpPr/>
          <p:nvPr/>
        </p:nvSpPr>
        <p:spPr>
          <a:xfrm>
            <a:off x="8744712" y="2432304"/>
            <a:ext cx="3032760" cy="310896"/>
          </a:xfrm>
          <a:prstGeom prst="roundRect">
            <a:avLst>
              <a:gd name="adj" fmla="val 17647"/>
            </a:avLst>
          </a:prstGeom>
          <a:solidFill>
            <a:srgbClr val="FF9900"/>
          </a:solidFill>
          <a:ln w="12700">
            <a:solidFill>
              <a:srgbClr val="FF9900"/>
            </a:solidFill>
            <a:prstDash val="solid"/>
          </a:ln>
        </p:spPr>
      </p:sp>
      <p:sp>
        <p:nvSpPr>
          <p:cNvPr id="22" name="Text 20"/>
          <p:cNvSpPr txBox="1"/>
          <p:nvPr/>
        </p:nvSpPr>
        <p:spPr>
          <a:xfrm>
            <a:off x="8744712" y="2432304"/>
            <a:ext cx="3032760" cy="310896"/>
          </a:xfrm>
          <a:prstGeom prst="rect">
            <a:avLst/>
          </a:prstGeom>
          <a:noFill/>
          <a:ln/>
        </p:spPr>
        <p:txBody>
          <a:bodyPr wrap="square" lIns="0" tIns="0" rIns="0" bIns="0" rtlCol="0" anchor="ctr"/>
          <a:lstStyle/>
          <a:p>
            <a:pPr algn="ctr" indent="0" marL="0">
              <a:buNone/>
            </a:pPr>
            <a:r>
              <a:rPr lang="en-US" sz="1250" b="1" dirty="0">
                <a:solidFill>
                  <a:srgbClr val="232F3E"/>
                </a:solidFill>
                <a:latin typeface="Calibri" pitchFamily="34" charset="0"/>
                <a:ea typeface="Calibri" pitchFamily="34" charset="-122"/>
                <a:cs typeface="Calibri" pitchFamily="34" charset="-120"/>
              </a:rPr>
              <a:t>AMAZON</a:t>
            </a:r>
            <a:pPr algn="ctr" indent="0" marL="0">
              <a:buNone/>
            </a:pPr>
            <a:r>
              <a:rPr lang="en-US" sz="1000" dirty="0">
                <a:solidFill>
                  <a:srgbClr val="232F3E"/>
                </a:solidFill>
                <a:latin typeface="Calibri" pitchFamily="34" charset="0"/>
                <a:ea typeface="Calibri" pitchFamily="34" charset="-122"/>
                <a:cs typeface="Calibri" pitchFamily="34" charset="-120"/>
              </a:rPr>
              <a:t>  7 nodes</a:t>
            </a:r>
            <a:endParaRPr lang="en-US" sz="1250" dirty="0"/>
          </a:p>
        </p:txBody>
      </p:sp>
      <p:sp>
        <p:nvSpPr>
          <p:cNvPr id="23" name="Shape 21"/>
          <p:cNvSpPr/>
          <p:nvPr/>
        </p:nvSpPr>
        <p:spPr>
          <a:xfrm>
            <a:off x="411480" y="2798064"/>
            <a:ext cx="2103120" cy="731520"/>
          </a:xfrm>
          <a:prstGeom prst="roundRect">
            <a:avLst>
              <a:gd name="adj" fmla="val 7500"/>
            </a:avLst>
          </a:prstGeom>
          <a:solidFill>
            <a:srgbClr val="1F4E9A"/>
          </a:solidFill>
          <a:ln w="12700">
            <a:solidFill>
              <a:srgbClr val="1F4E9A"/>
            </a:solidFill>
            <a:prstDash val="solid"/>
          </a:ln>
        </p:spPr>
      </p:sp>
      <p:sp>
        <p:nvSpPr>
          <p:cNvPr id="24" name="Text 22"/>
          <p:cNvSpPr txBox="1"/>
          <p:nvPr/>
        </p:nvSpPr>
        <p:spPr>
          <a:xfrm>
            <a:off x="521208" y="2862072"/>
            <a:ext cx="192024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Who they build for</a:t>
            </a:r>
            <a:endParaRPr lang="en-US" sz="1250" dirty="0"/>
          </a:p>
        </p:txBody>
      </p:sp>
      <p:sp>
        <p:nvSpPr>
          <p:cNvPr id="25" name="Text 23"/>
          <p:cNvSpPr txBox="1"/>
          <p:nvPr/>
        </p:nvSpPr>
        <p:spPr>
          <a:xfrm>
            <a:off x="521208" y="3099816"/>
            <a:ext cx="1920240" cy="402336"/>
          </a:xfrm>
          <a:prstGeom prst="rect">
            <a:avLst/>
          </a:prstGeom>
          <a:noFill/>
          <a:ln/>
        </p:spPr>
        <p:txBody>
          <a:bodyPr wrap="square" lIns="0" tIns="0" rIns="0" bIns="0" rtlCol="0" anchor="t"/>
          <a:lstStyle/>
          <a:p>
            <a:pPr indent="0" marL="0">
              <a:buNone/>
            </a:pPr>
            <a:r>
              <a:rPr lang="en-US" sz="950" i="1" dirty="0">
                <a:solidFill>
                  <a:srgbClr val="DCE7F8"/>
                </a:solidFill>
                <a:latin typeface="Calibri" pitchFamily="34" charset="0"/>
                <a:ea typeface="Calibri" pitchFamily="34" charset="-122"/>
                <a:cs typeface="Calibri" pitchFamily="34" charset="-120"/>
              </a:rPr>
              <a:t>Three different customers</a:t>
            </a:r>
            <a:endParaRPr lang="en-US" sz="950" dirty="0"/>
          </a:p>
        </p:txBody>
      </p:sp>
      <p:sp>
        <p:nvSpPr>
          <p:cNvPr id="26" name="Shape 24"/>
          <p:cNvSpPr/>
          <p:nvPr/>
        </p:nvSpPr>
        <p:spPr>
          <a:xfrm>
            <a:off x="2569464" y="2798064"/>
            <a:ext cx="3032760" cy="731520"/>
          </a:xfrm>
          <a:prstGeom prst="roundRect">
            <a:avLst>
              <a:gd name="adj" fmla="val 7500"/>
            </a:avLst>
          </a:prstGeom>
          <a:solidFill>
            <a:srgbClr val="EEF3FB"/>
          </a:solidFill>
          <a:ln w="6350">
            <a:solidFill>
              <a:srgbClr val="C9D3E3"/>
            </a:solidFill>
            <a:prstDash val="solid"/>
          </a:ln>
        </p:spPr>
      </p:sp>
      <p:sp>
        <p:nvSpPr>
          <p:cNvPr id="27" name="Text 25"/>
          <p:cNvSpPr txBox="1"/>
          <p:nvPr/>
        </p:nvSpPr>
        <p:spPr>
          <a:xfrm>
            <a:off x="2679192" y="2843784"/>
            <a:ext cx="2849880" cy="201168"/>
          </a:xfrm>
          <a:prstGeom prst="rect">
            <a:avLst/>
          </a:prstGeom>
          <a:noFill/>
          <a:ln/>
        </p:spPr>
        <p:txBody>
          <a:bodyPr wrap="square" lIns="0" tIns="0" rIns="0" bIns="0" rtlCol="0" anchor="t"/>
          <a:lstStyle/>
          <a:p>
            <a:pPr indent="0" marL="0">
              <a:buNone/>
            </a:pPr>
            <a:r>
              <a:rPr lang="en-US" sz="1100" b="1" dirty="0">
                <a:solidFill>
                  <a:srgbClr val="CC0000"/>
                </a:solidFill>
                <a:latin typeface="Calibri" pitchFamily="34" charset="0"/>
                <a:ea typeface="Calibri" pitchFamily="34" charset="-122"/>
                <a:cs typeface="Calibri" pitchFamily="34" charset="-120"/>
              </a:rPr>
              <a:t>The workplace</a:t>
            </a:r>
            <a:endParaRPr lang="en-US" sz="1100" dirty="0"/>
          </a:p>
        </p:txBody>
      </p:sp>
      <p:sp>
        <p:nvSpPr>
          <p:cNvPr id="28" name="Text 26"/>
          <p:cNvSpPr txBox="1"/>
          <p:nvPr/>
        </p:nvSpPr>
        <p:spPr>
          <a:xfrm>
            <a:off x="2679192" y="306324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57%</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reception/lobby (vs 1%)</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83%</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tackable panels (vs 2%)</a:t>
            </a:r>
            <a:endParaRPr lang="en-US" sz="1200" dirty="0"/>
          </a:p>
        </p:txBody>
      </p:sp>
      <p:sp>
        <p:nvSpPr>
          <p:cNvPr id="29" name="Shape 27"/>
          <p:cNvSpPr/>
          <p:nvPr/>
        </p:nvSpPr>
        <p:spPr>
          <a:xfrm>
            <a:off x="5657088" y="2798064"/>
            <a:ext cx="3032760" cy="731520"/>
          </a:xfrm>
          <a:prstGeom prst="roundRect">
            <a:avLst>
              <a:gd name="adj" fmla="val 7500"/>
            </a:avLst>
          </a:prstGeom>
          <a:solidFill>
            <a:srgbClr val="EEF3FB"/>
          </a:solidFill>
          <a:ln w="6350">
            <a:solidFill>
              <a:srgbClr val="C9D3E3"/>
            </a:solidFill>
            <a:prstDash val="solid"/>
          </a:ln>
        </p:spPr>
      </p:sp>
      <p:sp>
        <p:nvSpPr>
          <p:cNvPr id="30" name="Text 28"/>
          <p:cNvSpPr txBox="1"/>
          <p:nvPr/>
        </p:nvSpPr>
        <p:spPr>
          <a:xfrm>
            <a:off x="5766816" y="2843784"/>
            <a:ext cx="2849880" cy="201168"/>
          </a:xfrm>
          <a:prstGeom prst="rect">
            <a:avLst/>
          </a:prstGeom>
          <a:noFill/>
          <a:ln/>
        </p:spPr>
        <p:txBody>
          <a:bodyPr wrap="square" lIns="0" tIns="0" rIns="0" bIns="0" rtlCol="0" anchor="t"/>
          <a:lstStyle/>
          <a:p>
            <a:pPr indent="0" marL="0">
              <a:buNone/>
            </a:pPr>
            <a:r>
              <a:rPr lang="en-US" sz="1100" b="1" dirty="0">
                <a:solidFill>
                  <a:srgbClr val="7F187F"/>
                </a:solidFill>
                <a:latin typeface="Calibri" pitchFamily="34" charset="0"/>
                <a:ea typeface="Calibri" pitchFamily="34" charset="-122"/>
                <a:cs typeface="Calibri" pitchFamily="34" charset="-120"/>
              </a:rPr>
              <a:t>The home</a:t>
            </a:r>
            <a:endParaRPr lang="en-US" sz="1100" dirty="0"/>
          </a:p>
        </p:txBody>
      </p:sp>
      <p:sp>
        <p:nvSpPr>
          <p:cNvPr id="31" name="Text 29"/>
          <p:cNvSpPr txBox="1"/>
          <p:nvPr/>
        </p:nvSpPr>
        <p:spPr>
          <a:xfrm>
            <a:off x="5766816" y="306324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38%</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for living rooms (vs 7%)</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52%</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for home offices (vs 19%)</a:t>
            </a:r>
            <a:endParaRPr lang="en-US" sz="1200" dirty="0"/>
          </a:p>
        </p:txBody>
      </p:sp>
      <p:sp>
        <p:nvSpPr>
          <p:cNvPr id="32" name="Shape 30"/>
          <p:cNvSpPr/>
          <p:nvPr/>
        </p:nvSpPr>
        <p:spPr>
          <a:xfrm>
            <a:off x="8744712" y="2798064"/>
            <a:ext cx="3032760" cy="731520"/>
          </a:xfrm>
          <a:prstGeom prst="roundRect">
            <a:avLst>
              <a:gd name="adj" fmla="val 7500"/>
            </a:avLst>
          </a:prstGeom>
          <a:solidFill>
            <a:srgbClr val="EEF3FB"/>
          </a:solidFill>
          <a:ln w="6350">
            <a:solidFill>
              <a:srgbClr val="C9D3E3"/>
            </a:solidFill>
            <a:prstDash val="solid"/>
          </a:ln>
        </p:spPr>
      </p:sp>
      <p:sp>
        <p:nvSpPr>
          <p:cNvPr id="33" name="Text 31"/>
          <p:cNvSpPr txBox="1"/>
          <p:nvPr/>
        </p:nvSpPr>
        <p:spPr>
          <a:xfrm>
            <a:off x="8854440" y="2843784"/>
            <a:ext cx="2849880" cy="201168"/>
          </a:xfrm>
          <a:prstGeom prst="rect">
            <a:avLst/>
          </a:prstGeom>
          <a:noFill/>
          <a:ln/>
        </p:spPr>
        <p:txBody>
          <a:bodyPr wrap="square" lIns="0" tIns="0" rIns="0" bIns="0" rtlCol="0" anchor="t"/>
          <a:lstStyle/>
          <a:p>
            <a:pPr indent="0" marL="0">
              <a:buNone/>
            </a:pPr>
            <a:r>
              <a:rPr lang="en-US" sz="1100" b="1" dirty="0">
                <a:solidFill>
                  <a:srgbClr val="C45500"/>
                </a:solidFill>
                <a:latin typeface="Calibri" pitchFamily="34" charset="0"/>
                <a:ea typeface="Calibri" pitchFamily="34" charset="-122"/>
                <a:cs typeface="Calibri" pitchFamily="34" charset="-120"/>
              </a:rPr>
              <a:t>The person &amp; the activity</a:t>
            </a:r>
            <a:endParaRPr lang="en-US" sz="1100" dirty="0"/>
          </a:p>
        </p:txBody>
      </p:sp>
      <p:sp>
        <p:nvSpPr>
          <p:cNvPr id="34" name="Text 32"/>
          <p:cNvSpPr txBox="1"/>
          <p:nvPr/>
        </p:nvSpPr>
        <p:spPr>
          <a:xfrm>
            <a:off x="8854440" y="306324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40%</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hiking/outdoor (vs 1%)</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Water bottles: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37%</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gym/sports (vs 15%)</a:t>
            </a:r>
            <a:endParaRPr lang="en-US" sz="1200" dirty="0"/>
          </a:p>
        </p:txBody>
      </p:sp>
      <p:sp>
        <p:nvSpPr>
          <p:cNvPr id="35" name="Shape 33"/>
          <p:cNvSpPr/>
          <p:nvPr/>
        </p:nvSpPr>
        <p:spPr>
          <a:xfrm>
            <a:off x="411480" y="3575304"/>
            <a:ext cx="2103120" cy="731520"/>
          </a:xfrm>
          <a:prstGeom prst="roundRect">
            <a:avLst>
              <a:gd name="adj" fmla="val 7500"/>
            </a:avLst>
          </a:prstGeom>
          <a:solidFill>
            <a:srgbClr val="1F4E9A"/>
          </a:solidFill>
          <a:ln w="12700">
            <a:solidFill>
              <a:srgbClr val="1F4E9A"/>
            </a:solidFill>
            <a:prstDash val="solid"/>
          </a:ln>
        </p:spPr>
      </p:sp>
      <p:sp>
        <p:nvSpPr>
          <p:cNvPr id="36" name="Text 34"/>
          <p:cNvSpPr txBox="1"/>
          <p:nvPr/>
        </p:nvSpPr>
        <p:spPr>
          <a:xfrm>
            <a:off x="521208" y="3639312"/>
            <a:ext cx="192024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Look &amp; material</a:t>
            </a:r>
            <a:endParaRPr lang="en-US" sz="1250" dirty="0"/>
          </a:p>
        </p:txBody>
      </p:sp>
      <p:sp>
        <p:nvSpPr>
          <p:cNvPr id="37" name="Text 35"/>
          <p:cNvSpPr txBox="1"/>
          <p:nvPr/>
        </p:nvSpPr>
        <p:spPr>
          <a:xfrm>
            <a:off x="521208" y="3877056"/>
            <a:ext cx="1920240" cy="402336"/>
          </a:xfrm>
          <a:prstGeom prst="rect">
            <a:avLst/>
          </a:prstGeom>
          <a:noFill/>
          <a:ln/>
        </p:spPr>
        <p:txBody>
          <a:bodyPr wrap="square" lIns="0" tIns="0" rIns="0" bIns="0" rtlCol="0" anchor="t"/>
          <a:lstStyle/>
          <a:p>
            <a:pPr indent="0" marL="0">
              <a:buNone/>
            </a:pPr>
            <a:r>
              <a:rPr lang="en-US" sz="950" i="1" dirty="0">
                <a:solidFill>
                  <a:srgbClr val="DCE7F8"/>
                </a:solidFill>
                <a:latin typeface="Calibri" pitchFamily="34" charset="0"/>
                <a:ea typeface="Calibri" pitchFamily="34" charset="-122"/>
                <a:cs typeface="Calibri" pitchFamily="34" charset="-120"/>
              </a:rPr>
              <a:t>Staples is dark &amp; functional; rivals are warm &amp; natural</a:t>
            </a:r>
            <a:endParaRPr lang="en-US" sz="950" dirty="0"/>
          </a:p>
        </p:txBody>
      </p:sp>
      <p:sp>
        <p:nvSpPr>
          <p:cNvPr id="38" name="Shape 36"/>
          <p:cNvSpPr/>
          <p:nvPr/>
        </p:nvSpPr>
        <p:spPr>
          <a:xfrm>
            <a:off x="2569464" y="3575304"/>
            <a:ext cx="3032760" cy="731520"/>
          </a:xfrm>
          <a:prstGeom prst="roundRect">
            <a:avLst>
              <a:gd name="adj" fmla="val 7500"/>
            </a:avLst>
          </a:prstGeom>
          <a:solidFill>
            <a:srgbClr val="FFFFFF"/>
          </a:solidFill>
          <a:ln w="6350">
            <a:solidFill>
              <a:srgbClr val="C9D3E3"/>
            </a:solidFill>
            <a:prstDash val="solid"/>
          </a:ln>
        </p:spPr>
      </p:sp>
      <p:sp>
        <p:nvSpPr>
          <p:cNvPr id="39" name="Text 37"/>
          <p:cNvSpPr txBox="1"/>
          <p:nvPr/>
        </p:nvSpPr>
        <p:spPr>
          <a:xfrm>
            <a:off x="2679192" y="3621024"/>
            <a:ext cx="2849880" cy="201168"/>
          </a:xfrm>
          <a:prstGeom prst="rect">
            <a:avLst/>
          </a:prstGeom>
          <a:noFill/>
          <a:ln/>
        </p:spPr>
        <p:txBody>
          <a:bodyPr wrap="square" lIns="0" tIns="0" rIns="0" bIns="0" rtlCol="0" anchor="t"/>
          <a:lstStyle/>
          <a:p>
            <a:pPr indent="0" marL="0">
              <a:buNone/>
            </a:pPr>
            <a:r>
              <a:rPr lang="en-US" sz="1100" b="1" dirty="0">
                <a:solidFill>
                  <a:srgbClr val="CC0000"/>
                </a:solidFill>
                <a:latin typeface="Calibri" pitchFamily="34" charset="0"/>
                <a:ea typeface="Calibri" pitchFamily="34" charset="-122"/>
                <a:cs typeface="Calibri" pitchFamily="34" charset="-120"/>
              </a:rPr>
              <a:t>Dark &amp; utilitarian</a:t>
            </a:r>
            <a:endParaRPr lang="en-US" sz="1100" dirty="0"/>
          </a:p>
        </p:txBody>
      </p:sp>
      <p:sp>
        <p:nvSpPr>
          <p:cNvPr id="40" name="Text 38"/>
          <p:cNvSpPr txBox="1"/>
          <p:nvPr/>
        </p:nvSpPr>
        <p:spPr>
          <a:xfrm>
            <a:off x="2679192" y="384048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84%</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black (vs 14%)</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Clocks: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60%</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plastic/resin (vs 5%)</a:t>
            </a:r>
            <a:endParaRPr lang="en-US" sz="1200" dirty="0"/>
          </a:p>
        </p:txBody>
      </p:sp>
      <p:sp>
        <p:nvSpPr>
          <p:cNvPr id="41" name="Shape 39"/>
          <p:cNvSpPr/>
          <p:nvPr/>
        </p:nvSpPr>
        <p:spPr>
          <a:xfrm>
            <a:off x="5657088" y="3575304"/>
            <a:ext cx="3032760" cy="731520"/>
          </a:xfrm>
          <a:prstGeom prst="roundRect">
            <a:avLst>
              <a:gd name="adj" fmla="val 7500"/>
            </a:avLst>
          </a:prstGeom>
          <a:solidFill>
            <a:srgbClr val="FFFFFF"/>
          </a:solidFill>
          <a:ln w="6350">
            <a:solidFill>
              <a:srgbClr val="C9D3E3"/>
            </a:solidFill>
            <a:prstDash val="solid"/>
          </a:ln>
        </p:spPr>
      </p:sp>
      <p:sp>
        <p:nvSpPr>
          <p:cNvPr id="42" name="Text 40"/>
          <p:cNvSpPr txBox="1"/>
          <p:nvPr/>
        </p:nvSpPr>
        <p:spPr>
          <a:xfrm>
            <a:off x="5766816" y="3621024"/>
            <a:ext cx="2849880" cy="201168"/>
          </a:xfrm>
          <a:prstGeom prst="rect">
            <a:avLst/>
          </a:prstGeom>
          <a:noFill/>
          <a:ln/>
        </p:spPr>
        <p:txBody>
          <a:bodyPr wrap="square" lIns="0" tIns="0" rIns="0" bIns="0" rtlCol="0" anchor="t"/>
          <a:lstStyle/>
          <a:p>
            <a:pPr indent="0" marL="0">
              <a:buNone/>
            </a:pPr>
            <a:r>
              <a:rPr lang="en-US" sz="1100" b="1" dirty="0">
                <a:solidFill>
                  <a:srgbClr val="7F187F"/>
                </a:solidFill>
                <a:latin typeface="Calibri" pitchFamily="34" charset="0"/>
                <a:ea typeface="Calibri" pitchFamily="34" charset="-122"/>
                <a:cs typeface="Calibri" pitchFamily="34" charset="-120"/>
              </a:rPr>
              <a:t>Light, natural &amp; statement</a:t>
            </a:r>
            <a:endParaRPr lang="en-US" sz="1100" dirty="0"/>
          </a:p>
        </p:txBody>
      </p:sp>
      <p:sp>
        <p:nvSpPr>
          <p:cNvPr id="43" name="Text 41"/>
          <p:cNvSpPr txBox="1"/>
          <p:nvPr/>
        </p:nvSpPr>
        <p:spPr>
          <a:xfrm>
            <a:off x="5766816" y="384048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Accent chairs: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27%</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light-neutral (vs 6%)</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32%</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natural/woven (vs 2%)</a:t>
            </a:r>
            <a:endParaRPr lang="en-US" sz="1200" dirty="0"/>
          </a:p>
        </p:txBody>
      </p:sp>
      <p:sp>
        <p:nvSpPr>
          <p:cNvPr id="44" name="Shape 42"/>
          <p:cNvSpPr/>
          <p:nvPr/>
        </p:nvSpPr>
        <p:spPr>
          <a:xfrm>
            <a:off x="8744712" y="3575304"/>
            <a:ext cx="3032760" cy="731520"/>
          </a:xfrm>
          <a:prstGeom prst="roundRect">
            <a:avLst>
              <a:gd name="adj" fmla="val 7500"/>
            </a:avLst>
          </a:prstGeom>
          <a:solidFill>
            <a:srgbClr val="FFFFFF"/>
          </a:solidFill>
          <a:ln w="6350">
            <a:solidFill>
              <a:srgbClr val="C9D3E3"/>
            </a:solidFill>
            <a:prstDash val="solid"/>
          </a:ln>
        </p:spPr>
      </p:sp>
      <p:sp>
        <p:nvSpPr>
          <p:cNvPr id="45" name="Text 43"/>
          <p:cNvSpPr txBox="1"/>
          <p:nvPr/>
        </p:nvSpPr>
        <p:spPr>
          <a:xfrm>
            <a:off x="8854440" y="3621024"/>
            <a:ext cx="2849880" cy="201168"/>
          </a:xfrm>
          <a:prstGeom prst="rect">
            <a:avLst/>
          </a:prstGeom>
          <a:noFill/>
          <a:ln/>
        </p:spPr>
        <p:txBody>
          <a:bodyPr wrap="square" lIns="0" tIns="0" rIns="0" bIns="0" rtlCol="0" anchor="t"/>
          <a:lstStyle/>
          <a:p>
            <a:pPr indent="0" marL="0">
              <a:buNone/>
            </a:pPr>
            <a:r>
              <a:rPr lang="en-US" sz="1100" b="1" dirty="0">
                <a:solidFill>
                  <a:srgbClr val="C45500"/>
                </a:solidFill>
                <a:latin typeface="Calibri" pitchFamily="34" charset="0"/>
                <a:ea typeface="Calibri" pitchFamily="34" charset="-122"/>
                <a:cs typeface="Calibri" pitchFamily="34" charset="-120"/>
              </a:rPr>
              <a:t>Warm, premium materials</a:t>
            </a:r>
            <a:endParaRPr lang="en-US" sz="1100" dirty="0"/>
          </a:p>
        </p:txBody>
      </p:sp>
      <p:sp>
        <p:nvSpPr>
          <p:cNvPr id="46" name="Text 44"/>
          <p:cNvSpPr txBox="1"/>
          <p:nvPr/>
        </p:nvSpPr>
        <p:spPr>
          <a:xfrm>
            <a:off x="8854440" y="384048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Coffee organizers: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77%</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wood-tone (vs 2%)</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Desk pads: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76%</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faux leather (vs 29%)</a:t>
            </a:r>
            <a:endParaRPr lang="en-US" sz="1200" dirty="0"/>
          </a:p>
        </p:txBody>
      </p:sp>
      <p:sp>
        <p:nvSpPr>
          <p:cNvPr id="47" name="Shape 45"/>
          <p:cNvSpPr/>
          <p:nvPr/>
        </p:nvSpPr>
        <p:spPr>
          <a:xfrm>
            <a:off x="411480" y="4352544"/>
            <a:ext cx="2103120" cy="731520"/>
          </a:xfrm>
          <a:prstGeom prst="roundRect">
            <a:avLst>
              <a:gd name="adj" fmla="val 7500"/>
            </a:avLst>
          </a:prstGeom>
          <a:solidFill>
            <a:srgbClr val="1F4E9A"/>
          </a:solidFill>
          <a:ln w="12700">
            <a:solidFill>
              <a:srgbClr val="1F4E9A"/>
            </a:solidFill>
            <a:prstDash val="solid"/>
          </a:ln>
        </p:spPr>
      </p:sp>
      <p:sp>
        <p:nvSpPr>
          <p:cNvPr id="48" name="Text 46"/>
          <p:cNvSpPr txBox="1"/>
          <p:nvPr/>
        </p:nvSpPr>
        <p:spPr>
          <a:xfrm>
            <a:off x="521208" y="4416552"/>
            <a:ext cx="192024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Design-forward range</a:t>
            </a:r>
            <a:endParaRPr lang="en-US" sz="1250" dirty="0"/>
          </a:p>
        </p:txBody>
      </p:sp>
      <p:sp>
        <p:nvSpPr>
          <p:cNvPr id="49" name="Text 47"/>
          <p:cNvSpPr txBox="1"/>
          <p:nvPr/>
        </p:nvSpPr>
        <p:spPr>
          <a:xfrm>
            <a:off x="521208" y="4654296"/>
            <a:ext cx="1920240" cy="402336"/>
          </a:xfrm>
          <a:prstGeom prst="rect">
            <a:avLst/>
          </a:prstGeom>
          <a:noFill/>
          <a:ln/>
        </p:spPr>
        <p:txBody>
          <a:bodyPr wrap="square" lIns="0" tIns="0" rIns="0" bIns="0" rtlCol="0" anchor="t"/>
          <a:lstStyle/>
          <a:p>
            <a:pPr indent="0" marL="0">
              <a:buNone/>
            </a:pPr>
            <a:r>
              <a:rPr lang="en-US" sz="950" i="1" dirty="0">
                <a:solidFill>
                  <a:srgbClr val="DCE7F8"/>
                </a:solidFill>
                <a:latin typeface="Calibri" pitchFamily="34" charset="0"/>
                <a:ea typeface="Calibri" pitchFamily="34" charset="-122"/>
                <a:cs typeface="Calibri" pitchFamily="34" charset="-120"/>
              </a:rPr>
              <a:t>Rivals carry twice Staples' share</a:t>
            </a:r>
            <a:endParaRPr lang="en-US" sz="950" dirty="0"/>
          </a:p>
        </p:txBody>
      </p:sp>
      <p:sp>
        <p:nvSpPr>
          <p:cNvPr id="50" name="Shape 48"/>
          <p:cNvSpPr/>
          <p:nvPr/>
        </p:nvSpPr>
        <p:spPr>
          <a:xfrm>
            <a:off x="2569464" y="4352544"/>
            <a:ext cx="3032760" cy="731520"/>
          </a:xfrm>
          <a:prstGeom prst="roundRect">
            <a:avLst>
              <a:gd name="adj" fmla="val 7500"/>
            </a:avLst>
          </a:prstGeom>
          <a:solidFill>
            <a:srgbClr val="EEF3FB"/>
          </a:solidFill>
          <a:ln w="6350">
            <a:solidFill>
              <a:srgbClr val="C9D3E3"/>
            </a:solidFill>
            <a:prstDash val="solid"/>
          </a:ln>
        </p:spPr>
      </p:sp>
      <p:sp>
        <p:nvSpPr>
          <p:cNvPr id="51" name="Text 49"/>
          <p:cNvSpPr txBox="1"/>
          <p:nvPr/>
        </p:nvSpPr>
        <p:spPr>
          <a:xfrm>
            <a:off x="2679192" y="4398264"/>
            <a:ext cx="2849880" cy="201168"/>
          </a:xfrm>
          <a:prstGeom prst="rect">
            <a:avLst/>
          </a:prstGeom>
          <a:noFill/>
          <a:ln/>
        </p:spPr>
        <p:txBody>
          <a:bodyPr wrap="square" lIns="0" tIns="0" rIns="0" bIns="0" rtlCol="0" anchor="t"/>
          <a:lstStyle/>
          <a:p>
            <a:pPr indent="0" marL="0">
              <a:buNone/>
            </a:pPr>
            <a:r>
              <a:rPr lang="en-US" sz="1100" b="1" dirty="0">
                <a:solidFill>
                  <a:srgbClr val="CC0000"/>
                </a:solidFill>
                <a:latin typeface="Calibri" pitchFamily="34" charset="0"/>
                <a:ea typeface="Calibri" pitchFamily="34" charset="-122"/>
                <a:cs typeface="Calibri" pitchFamily="34" charset="-120"/>
              </a:rPr>
              <a:t>1 in 5 products</a:t>
            </a:r>
            <a:endParaRPr lang="en-US" sz="1100" dirty="0"/>
          </a:p>
        </p:txBody>
      </p:sp>
      <p:sp>
        <p:nvSpPr>
          <p:cNvPr id="52" name="Text 50"/>
          <p:cNvSpPr txBox="1"/>
          <p:nvPr/>
        </p:nvSpPr>
        <p:spPr>
          <a:xfrm>
            <a:off x="2679192" y="461772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All 12 nodes: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20%</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of the range (vs 44%)</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Water bottles: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46%</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its one lead (vs 31%)</a:t>
            </a:r>
            <a:endParaRPr lang="en-US" sz="1200" dirty="0"/>
          </a:p>
        </p:txBody>
      </p:sp>
      <p:sp>
        <p:nvSpPr>
          <p:cNvPr id="53" name="Shape 51"/>
          <p:cNvSpPr/>
          <p:nvPr/>
        </p:nvSpPr>
        <p:spPr>
          <a:xfrm>
            <a:off x="5657088" y="4352544"/>
            <a:ext cx="3032760" cy="731520"/>
          </a:xfrm>
          <a:prstGeom prst="roundRect">
            <a:avLst>
              <a:gd name="adj" fmla="val 7500"/>
            </a:avLst>
          </a:prstGeom>
          <a:solidFill>
            <a:srgbClr val="EEF3FB"/>
          </a:solidFill>
          <a:ln w="6350">
            <a:solidFill>
              <a:srgbClr val="C9D3E3"/>
            </a:solidFill>
            <a:prstDash val="solid"/>
          </a:ln>
        </p:spPr>
      </p:sp>
      <p:sp>
        <p:nvSpPr>
          <p:cNvPr id="54" name="Text 52"/>
          <p:cNvSpPr txBox="1"/>
          <p:nvPr/>
        </p:nvSpPr>
        <p:spPr>
          <a:xfrm>
            <a:off x="5766816" y="4398264"/>
            <a:ext cx="2849880" cy="201168"/>
          </a:xfrm>
          <a:prstGeom prst="rect">
            <a:avLst/>
          </a:prstGeom>
          <a:noFill/>
          <a:ln/>
        </p:spPr>
        <p:txBody>
          <a:bodyPr wrap="square" lIns="0" tIns="0" rIns="0" bIns="0" rtlCol="0" anchor="t"/>
          <a:lstStyle/>
          <a:p>
            <a:pPr indent="0" marL="0">
              <a:buNone/>
            </a:pPr>
            <a:r>
              <a:rPr lang="en-US" sz="1100" b="1" dirty="0">
                <a:solidFill>
                  <a:srgbClr val="7F187F"/>
                </a:solidFill>
                <a:latin typeface="Calibri" pitchFamily="34" charset="0"/>
                <a:ea typeface="Calibri" pitchFamily="34" charset="-122"/>
                <a:cs typeface="Calibri" pitchFamily="34" charset="-120"/>
              </a:rPr>
              <a:t>More than 2 in 5</a:t>
            </a:r>
            <a:endParaRPr lang="en-US" sz="1100" dirty="0"/>
          </a:p>
        </p:txBody>
      </p:sp>
      <p:sp>
        <p:nvSpPr>
          <p:cNvPr id="55" name="Text 53"/>
          <p:cNvSpPr txBox="1"/>
          <p:nvPr/>
        </p:nvSpPr>
        <p:spPr>
          <a:xfrm>
            <a:off x="5766816" y="461772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Its 5 nodes: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44%</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of the range (vs 13%)</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Partitions: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45%</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(vs 0%)</a:t>
            </a:r>
            <a:endParaRPr lang="en-US" sz="1200" dirty="0"/>
          </a:p>
        </p:txBody>
      </p:sp>
      <p:sp>
        <p:nvSpPr>
          <p:cNvPr id="56" name="Shape 54"/>
          <p:cNvSpPr/>
          <p:nvPr/>
        </p:nvSpPr>
        <p:spPr>
          <a:xfrm>
            <a:off x="8744712" y="4352544"/>
            <a:ext cx="3032760" cy="731520"/>
          </a:xfrm>
          <a:prstGeom prst="roundRect">
            <a:avLst>
              <a:gd name="adj" fmla="val 7500"/>
            </a:avLst>
          </a:prstGeom>
          <a:solidFill>
            <a:srgbClr val="EEF3FB"/>
          </a:solidFill>
          <a:ln w="6350">
            <a:solidFill>
              <a:srgbClr val="C9D3E3"/>
            </a:solidFill>
            <a:prstDash val="solid"/>
          </a:ln>
        </p:spPr>
      </p:sp>
      <p:sp>
        <p:nvSpPr>
          <p:cNvPr id="57" name="Text 55"/>
          <p:cNvSpPr txBox="1"/>
          <p:nvPr/>
        </p:nvSpPr>
        <p:spPr>
          <a:xfrm>
            <a:off x="8854440" y="4398264"/>
            <a:ext cx="2849880" cy="201168"/>
          </a:xfrm>
          <a:prstGeom prst="rect">
            <a:avLst/>
          </a:prstGeom>
          <a:noFill/>
          <a:ln/>
        </p:spPr>
        <p:txBody>
          <a:bodyPr wrap="square" lIns="0" tIns="0" rIns="0" bIns="0" rtlCol="0" anchor="t"/>
          <a:lstStyle/>
          <a:p>
            <a:pPr indent="0" marL="0">
              <a:buNone/>
            </a:pPr>
            <a:r>
              <a:rPr lang="en-US" sz="1100" b="1" dirty="0">
                <a:solidFill>
                  <a:srgbClr val="C45500"/>
                </a:solidFill>
                <a:latin typeface="Calibri" pitchFamily="34" charset="0"/>
                <a:ea typeface="Calibri" pitchFamily="34" charset="-122"/>
                <a:cs typeface="Calibri" pitchFamily="34" charset="-120"/>
              </a:rPr>
              <a:t>More than 2 in 5</a:t>
            </a:r>
            <a:endParaRPr lang="en-US" sz="1100" dirty="0"/>
          </a:p>
        </p:txBody>
      </p:sp>
      <p:sp>
        <p:nvSpPr>
          <p:cNvPr id="58" name="Text 56"/>
          <p:cNvSpPr txBox="1"/>
          <p:nvPr/>
        </p:nvSpPr>
        <p:spPr>
          <a:xfrm>
            <a:off x="8854440" y="461772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Its 7 nodes: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45%</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of the range (vs 25%)</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Backpacks: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47%</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(vs 5%)</a:t>
            </a:r>
            <a:endParaRPr lang="en-US" sz="1200" dirty="0"/>
          </a:p>
        </p:txBody>
      </p:sp>
      <p:sp>
        <p:nvSpPr>
          <p:cNvPr id="59" name="Shape 57"/>
          <p:cNvSpPr/>
          <p:nvPr/>
        </p:nvSpPr>
        <p:spPr>
          <a:xfrm>
            <a:off x="411480" y="5129784"/>
            <a:ext cx="2103120" cy="731520"/>
          </a:xfrm>
          <a:prstGeom prst="roundRect">
            <a:avLst>
              <a:gd name="adj" fmla="val 7500"/>
            </a:avLst>
          </a:prstGeom>
          <a:solidFill>
            <a:srgbClr val="1F4E9A"/>
          </a:solidFill>
          <a:ln w="12700">
            <a:solidFill>
              <a:srgbClr val="1F4E9A"/>
            </a:solidFill>
            <a:prstDash val="solid"/>
          </a:ln>
        </p:spPr>
      </p:sp>
      <p:sp>
        <p:nvSpPr>
          <p:cNvPr id="60" name="Text 58"/>
          <p:cNvSpPr txBox="1"/>
          <p:nvPr/>
        </p:nvSpPr>
        <p:spPr>
          <a:xfrm>
            <a:off x="521208" y="5193792"/>
            <a:ext cx="1920240" cy="23774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Price ladder</a:t>
            </a:r>
            <a:endParaRPr lang="en-US" sz="1250" dirty="0"/>
          </a:p>
        </p:txBody>
      </p:sp>
      <p:sp>
        <p:nvSpPr>
          <p:cNvPr id="61" name="Text 59"/>
          <p:cNvSpPr txBox="1"/>
          <p:nvPr/>
        </p:nvSpPr>
        <p:spPr>
          <a:xfrm>
            <a:off x="521208" y="5431536"/>
            <a:ext cx="1920240" cy="402336"/>
          </a:xfrm>
          <a:prstGeom prst="rect">
            <a:avLst/>
          </a:prstGeom>
          <a:noFill/>
          <a:ln/>
        </p:spPr>
        <p:txBody>
          <a:bodyPr wrap="square" lIns="0" tIns="0" rIns="0" bIns="0" rtlCol="0" anchor="t"/>
          <a:lstStyle/>
          <a:p>
            <a:pPr indent="0" marL="0">
              <a:buNone/>
            </a:pPr>
            <a:r>
              <a:rPr lang="en-US" sz="950" i="1" dirty="0">
                <a:solidFill>
                  <a:srgbClr val="DCE7F8"/>
                </a:solidFill>
                <a:latin typeface="Calibri" pitchFamily="34" charset="0"/>
                <a:ea typeface="Calibri" pitchFamily="34" charset="-122"/>
                <a:cs typeface="Calibri" pitchFamily="34" charset="-120"/>
              </a:rPr>
              <a:t>Rivals cover the price points Staples skips</a:t>
            </a:r>
            <a:endParaRPr lang="en-US" sz="950" dirty="0"/>
          </a:p>
        </p:txBody>
      </p:sp>
      <p:sp>
        <p:nvSpPr>
          <p:cNvPr id="62" name="Shape 60"/>
          <p:cNvSpPr/>
          <p:nvPr/>
        </p:nvSpPr>
        <p:spPr>
          <a:xfrm>
            <a:off x="2569464" y="5129784"/>
            <a:ext cx="3032760" cy="731520"/>
          </a:xfrm>
          <a:prstGeom prst="roundRect">
            <a:avLst>
              <a:gd name="adj" fmla="val 7500"/>
            </a:avLst>
          </a:prstGeom>
          <a:solidFill>
            <a:srgbClr val="FFFFFF"/>
          </a:solidFill>
          <a:ln w="6350">
            <a:solidFill>
              <a:srgbClr val="C9D3E3"/>
            </a:solidFill>
            <a:prstDash val="solid"/>
          </a:ln>
        </p:spPr>
      </p:sp>
      <p:sp>
        <p:nvSpPr>
          <p:cNvPr id="63" name="Text 61"/>
          <p:cNvSpPr txBox="1"/>
          <p:nvPr/>
        </p:nvSpPr>
        <p:spPr>
          <a:xfrm>
            <a:off x="2679192" y="5175504"/>
            <a:ext cx="2849880" cy="201168"/>
          </a:xfrm>
          <a:prstGeom prst="rect">
            <a:avLst/>
          </a:prstGeom>
          <a:noFill/>
          <a:ln/>
        </p:spPr>
        <p:txBody>
          <a:bodyPr wrap="square" lIns="0" tIns="0" rIns="0" bIns="0" rtlCol="0" anchor="t"/>
          <a:lstStyle/>
          <a:p>
            <a:pPr indent="0" marL="0">
              <a:buNone/>
            </a:pPr>
            <a:r>
              <a:rPr lang="en-US" sz="1100" b="1" dirty="0">
                <a:solidFill>
                  <a:srgbClr val="CC0000"/>
                </a:solidFill>
                <a:latin typeface="Calibri" pitchFamily="34" charset="0"/>
                <a:ea typeface="Calibri" pitchFamily="34" charset="-122"/>
                <a:cs typeface="Calibri" pitchFamily="34" charset="-120"/>
              </a:rPr>
              <a:t>Premium-priced furniture</a:t>
            </a:r>
            <a:endParaRPr lang="en-US" sz="1100" dirty="0"/>
          </a:p>
        </p:txBody>
      </p:sp>
      <p:sp>
        <p:nvSpPr>
          <p:cNvPr id="64" name="Text 62"/>
          <p:cNvSpPr txBox="1"/>
          <p:nvPr/>
        </p:nvSpPr>
        <p:spPr>
          <a:xfrm>
            <a:off x="2679192" y="539496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Desks: median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$729</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(vs $286)</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Partitions: median </a:t>
            </a:r>
            <a:pPr indent="0" marL="0">
              <a:spcAft>
                <a:spcPts val="100"/>
              </a:spcAft>
              <a:buNone/>
            </a:pPr>
            <a:r>
              <a:rPr lang="en-US" sz="1000" b="1" dirty="0">
                <a:solidFill>
                  <a:srgbClr val="CC0000"/>
                </a:solidFill>
                <a:latin typeface="Calibri" pitchFamily="34" charset="0"/>
                <a:ea typeface="Calibri" pitchFamily="34" charset="-122"/>
                <a:cs typeface="Calibri" pitchFamily="34" charset="-120"/>
              </a:rPr>
              <a:t>$1,581</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(vs $330)</a:t>
            </a:r>
            <a:endParaRPr lang="en-US" sz="1200" dirty="0"/>
          </a:p>
        </p:txBody>
      </p:sp>
      <p:sp>
        <p:nvSpPr>
          <p:cNvPr id="65" name="Shape 63"/>
          <p:cNvSpPr/>
          <p:nvPr/>
        </p:nvSpPr>
        <p:spPr>
          <a:xfrm>
            <a:off x="5657088" y="5129784"/>
            <a:ext cx="3032760" cy="731520"/>
          </a:xfrm>
          <a:prstGeom prst="roundRect">
            <a:avLst>
              <a:gd name="adj" fmla="val 7500"/>
            </a:avLst>
          </a:prstGeom>
          <a:solidFill>
            <a:srgbClr val="FFFFFF"/>
          </a:solidFill>
          <a:ln w="6350">
            <a:solidFill>
              <a:srgbClr val="C9D3E3"/>
            </a:solidFill>
            <a:prstDash val="solid"/>
          </a:ln>
        </p:spPr>
      </p:sp>
      <p:sp>
        <p:nvSpPr>
          <p:cNvPr id="66" name="Text 64"/>
          <p:cNvSpPr txBox="1"/>
          <p:nvPr/>
        </p:nvSpPr>
        <p:spPr>
          <a:xfrm>
            <a:off x="5766816" y="5175504"/>
            <a:ext cx="2849880" cy="201168"/>
          </a:xfrm>
          <a:prstGeom prst="rect">
            <a:avLst/>
          </a:prstGeom>
          <a:noFill/>
          <a:ln/>
        </p:spPr>
        <p:txBody>
          <a:bodyPr wrap="square" lIns="0" tIns="0" rIns="0" bIns="0" rtlCol="0" anchor="t"/>
          <a:lstStyle/>
          <a:p>
            <a:pPr indent="0" marL="0">
              <a:buNone/>
            </a:pPr>
            <a:r>
              <a:rPr lang="en-US" sz="1100" b="1" dirty="0">
                <a:solidFill>
                  <a:srgbClr val="7F187F"/>
                </a:solidFill>
                <a:latin typeface="Calibri" pitchFamily="34" charset="0"/>
                <a:ea typeface="Calibri" pitchFamily="34" charset="-122"/>
                <a:cs typeface="Calibri" pitchFamily="34" charset="-120"/>
              </a:rPr>
              <a:t>Entry-price furniture, premium décor</a:t>
            </a:r>
            <a:endParaRPr lang="en-US" sz="1100" dirty="0"/>
          </a:p>
        </p:txBody>
      </p:sp>
      <p:sp>
        <p:nvSpPr>
          <p:cNvPr id="67" name="Text 65"/>
          <p:cNvSpPr txBox="1"/>
          <p:nvPr/>
        </p:nvSpPr>
        <p:spPr>
          <a:xfrm>
            <a:off x="5766816" y="539496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Desks: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29%</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under $200 (vs 7%)</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Clocks: </a:t>
            </a:r>
            <a:pPr indent="0" marL="0">
              <a:spcAft>
                <a:spcPts val="100"/>
              </a:spcAft>
              <a:buNone/>
            </a:pPr>
            <a:r>
              <a:rPr lang="en-US" sz="1000" b="1" dirty="0">
                <a:solidFill>
                  <a:srgbClr val="7F187F"/>
                </a:solidFill>
                <a:latin typeface="Calibri" pitchFamily="34" charset="0"/>
                <a:ea typeface="Calibri" pitchFamily="34" charset="-122"/>
                <a:cs typeface="Calibri" pitchFamily="34" charset="-120"/>
              </a:rPr>
              <a:t>25%</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at $125+ (vs 2%)</a:t>
            </a:r>
            <a:endParaRPr lang="en-US" sz="1200" dirty="0"/>
          </a:p>
        </p:txBody>
      </p:sp>
      <p:sp>
        <p:nvSpPr>
          <p:cNvPr id="68" name="Shape 66"/>
          <p:cNvSpPr/>
          <p:nvPr/>
        </p:nvSpPr>
        <p:spPr>
          <a:xfrm>
            <a:off x="8744712" y="5129784"/>
            <a:ext cx="3032760" cy="731520"/>
          </a:xfrm>
          <a:prstGeom prst="roundRect">
            <a:avLst>
              <a:gd name="adj" fmla="val 7500"/>
            </a:avLst>
          </a:prstGeom>
          <a:solidFill>
            <a:srgbClr val="FFFFFF"/>
          </a:solidFill>
          <a:ln w="6350">
            <a:solidFill>
              <a:srgbClr val="C9D3E3"/>
            </a:solidFill>
            <a:prstDash val="solid"/>
          </a:ln>
        </p:spPr>
      </p:sp>
      <p:sp>
        <p:nvSpPr>
          <p:cNvPr id="69" name="Text 67"/>
          <p:cNvSpPr txBox="1"/>
          <p:nvPr/>
        </p:nvSpPr>
        <p:spPr>
          <a:xfrm>
            <a:off x="8854440" y="5175504"/>
            <a:ext cx="2849880" cy="201168"/>
          </a:xfrm>
          <a:prstGeom prst="rect">
            <a:avLst/>
          </a:prstGeom>
          <a:noFill/>
          <a:ln/>
        </p:spPr>
        <p:txBody>
          <a:bodyPr wrap="square" lIns="0" tIns="0" rIns="0" bIns="0" rtlCol="0" anchor="t"/>
          <a:lstStyle/>
          <a:p>
            <a:pPr indent="0" marL="0">
              <a:buNone/>
            </a:pPr>
            <a:r>
              <a:rPr lang="en-US" sz="1100" b="1" dirty="0">
                <a:solidFill>
                  <a:srgbClr val="C45500"/>
                </a:solidFill>
                <a:latin typeface="Calibri" pitchFamily="34" charset="0"/>
                <a:ea typeface="Calibri" pitchFamily="34" charset="-122"/>
                <a:cs typeface="Calibri" pitchFamily="34" charset="-120"/>
              </a:rPr>
              <a:t>Cheaper everyday supplies</a:t>
            </a:r>
            <a:endParaRPr lang="en-US" sz="1100" dirty="0"/>
          </a:p>
        </p:txBody>
      </p:sp>
      <p:sp>
        <p:nvSpPr>
          <p:cNvPr id="70" name="Text 68"/>
          <p:cNvSpPr txBox="1"/>
          <p:nvPr/>
        </p:nvSpPr>
        <p:spPr>
          <a:xfrm>
            <a:off x="8854440" y="5394960"/>
            <a:ext cx="2868168" cy="438912"/>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Planners: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41%</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under $10 (vs 12%)</a:t>
            </a:r>
            <a:endParaRPr lang="en-US" sz="12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Desk pads: </a:t>
            </a:r>
            <a:pPr indent="0" marL="0">
              <a:spcAft>
                <a:spcPts val="100"/>
              </a:spcAft>
              <a:buNone/>
            </a:pPr>
            <a:r>
              <a:rPr lang="en-US" sz="1000" b="1" dirty="0">
                <a:solidFill>
                  <a:srgbClr val="C45500"/>
                </a:solidFill>
                <a:latin typeface="Calibri" pitchFamily="34" charset="0"/>
                <a:ea typeface="Calibri" pitchFamily="34" charset="-122"/>
                <a:cs typeface="Calibri" pitchFamily="34" charset="-120"/>
              </a:rPr>
              <a:t>36%</a:t>
            </a:r>
            <a:pPr indent="0" marL="0">
              <a:spcAft>
                <a:spcPts val="100"/>
              </a:spcAft>
              <a:buNone/>
            </a:pPr>
            <a:r>
              <a:rPr lang="en-US" sz="1000" dirty="0">
                <a:solidFill>
                  <a:srgbClr val="1F2937"/>
                </a:solidFill>
                <a:latin typeface="Calibri" pitchFamily="34" charset="0"/>
                <a:ea typeface="Calibri" pitchFamily="34" charset="-122"/>
                <a:cs typeface="Calibri" pitchFamily="34" charset="-120"/>
              </a:rPr>
              <a:t> under $15 (vs 7%)</a:t>
            </a:r>
            <a:endParaRPr lang="en-US" sz="1200" dirty="0"/>
          </a:p>
        </p:txBody>
      </p:sp>
      <p:sp>
        <p:nvSpPr>
          <p:cNvPr id="71" name="Shape 69"/>
          <p:cNvSpPr/>
          <p:nvPr/>
        </p:nvSpPr>
        <p:spPr>
          <a:xfrm>
            <a:off x="411480" y="5943600"/>
            <a:ext cx="11365992" cy="457200"/>
          </a:xfrm>
          <a:prstGeom prst="roundRect">
            <a:avLst>
              <a:gd name="adj" fmla="val 16000"/>
            </a:avLst>
          </a:prstGeom>
          <a:solidFill>
            <a:srgbClr val="13285B"/>
          </a:solidFill>
          <a:ln w="12700">
            <a:solidFill>
              <a:srgbClr val="13285B"/>
            </a:solidFill>
            <a:prstDash val="solid"/>
          </a:ln>
        </p:spPr>
      </p:sp>
      <p:sp>
        <p:nvSpPr>
          <p:cNvPr id="72" name="Text 70"/>
          <p:cNvSpPr txBox="1"/>
          <p:nvPr/>
        </p:nvSpPr>
        <p:spPr>
          <a:xfrm>
            <a:off x="594360" y="5943600"/>
            <a:ext cx="11000232" cy="457200"/>
          </a:xfrm>
          <a:prstGeom prst="rect">
            <a:avLst/>
          </a:prstGeom>
          <a:noFill/>
          <a:ln/>
        </p:spPr>
        <p:txBody>
          <a:bodyPr wrap="square" lIns="0" tIns="0" rIns="0" bIns="0" rtlCol="0" anchor="ctr"/>
          <a:lstStyle/>
          <a:p>
            <a:pPr indent="0" marL="0">
              <a:buNone/>
            </a:pPr>
            <a:r>
              <a:rPr lang="en-US" sz="1150" b="1" dirty="0">
                <a:solidFill>
                  <a:srgbClr val="F5A623"/>
                </a:solidFill>
                <a:latin typeface="Calibri" pitchFamily="34" charset="0"/>
                <a:ea typeface="Calibri" pitchFamily="34" charset="-122"/>
                <a:cs typeface="Calibri" pitchFamily="34" charset="-120"/>
              </a:rPr>
              <a:t>So what:  </a:t>
            </a:r>
            <a:pPr indent="0" marL="0">
              <a:buNone/>
            </a:pPr>
            <a:r>
              <a:rPr lang="en-US" sz="1150" dirty="0">
                <a:solidFill>
                  <a:srgbClr val="FFFFFF"/>
                </a:solidFill>
                <a:latin typeface="Calibri" pitchFamily="34" charset="0"/>
                <a:ea typeface="Calibri" pitchFamily="34" charset="-122"/>
                <a:cs typeface="Calibri" pitchFamily="34" charset="-120"/>
              </a:rPr>
              <a:t>Staples can win the home and lifestyle shopper with design-led, home and activity variants of what it already sells (the "White Chair" play), sourced through marketplace sellers, without touching its workplace core.</a:t>
            </a:r>
            <a:endParaRPr lang="en-US" sz="11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Current Scope (PoC): 12 Focus Nodes Across 3 Segments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2044">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2044">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2044">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2044">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852160"/>
            <a:ext cx="11365992" cy="566928"/>
          </a:xfrm>
          <a:prstGeom prst="roundRect">
            <a:avLst>
              <a:gd name="adj" fmla="val 16129"/>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76072" y="6025896"/>
            <a:ext cx="219456" cy="219456"/>
          </a:xfrm>
          <a:prstGeom prst="rect">
            <a:avLst/>
          </a:prstGeom>
        </p:spPr>
      </p:pic>
      <p:sp>
        <p:nvSpPr>
          <p:cNvPr id="6" name="Text 2"/>
          <p:cNvSpPr txBox="1"/>
          <p:nvPr/>
        </p:nvSpPr>
        <p:spPr>
          <a:xfrm>
            <a:off x="932688" y="5852160"/>
            <a:ext cx="10698480" cy="566928"/>
          </a:xfrm>
          <a:prstGeom prst="rect">
            <a:avLst/>
          </a:prstGeom>
          <a:noFill/>
          <a:ln/>
        </p:spPr>
        <p:txBody>
          <a:bodyPr wrap="square" lIns="0" tIns="0" rIns="0" bIns="0" rtlCol="0" anchor="ctr"/>
          <a:lstStyle/>
          <a:p>
            <a:pPr indent="0" marL="0">
              <a:buNone/>
            </a:pPr>
            <a:r>
              <a:rPr lang="en-US" sz="1050" b="1" dirty="0">
                <a:solidFill>
                  <a:srgbClr val="8A5A00"/>
                </a:solidFill>
                <a:latin typeface="Calibri" pitchFamily="34" charset="0"/>
                <a:ea typeface="Calibri" pitchFamily="34" charset="-122"/>
                <a:cs typeface="Calibri" pitchFamily="34" charset="-120"/>
              </a:rPr>
              <a:t>Data disclaimer:  </a:t>
            </a:r>
            <a:pPr indent="0" marL="0">
              <a:buNone/>
            </a:pPr>
            <a:r>
              <a:rPr lang="en-US" sz="1050" dirty="0">
                <a:solidFill>
                  <a:srgbClr val="1F2937"/>
                </a:solidFill>
                <a:latin typeface="Calibri" pitchFamily="34" charset="0"/>
                <a:ea typeface="Calibri" pitchFamily="34" charset="-122"/>
                <a:cs typeface="Calibri" pitchFamily="34" charset="-120"/>
              </a:rPr>
              <a:t>competitor data are scraped listing samples (Amazon 14.6K and Wayfair 11.2K SKUs, vs 4.9K Staples SKUs), not full catalogues; the Staples data are close to complete. We therefore compare shares of each retailer's range, never raw counts. No internal sales, traffic or margin data were used.</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194560" y="3817620"/>
            <a:ext cx="256032" cy="365760"/>
          </a:xfrm>
          <a:prstGeom prst="rightArrow">
            <a:avLst/>
          </a:prstGeom>
          <a:solidFill>
            <a:srgbClr val="F5A623"/>
          </a:solidFill>
          <a:ln w="12700">
            <a:solidFill>
              <a:srgbClr val="F5A623"/>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S0–S2</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16552" y="3817620"/>
            <a:ext cx="256032" cy="365760"/>
          </a:xfrm>
          <a:prstGeom prst="rightArrow">
            <a:avLst/>
          </a:prstGeom>
          <a:solidFill>
            <a:srgbClr val="F5A623"/>
          </a:solidFill>
          <a:ln w="12700">
            <a:solidFill>
              <a:srgbClr val="F5A623"/>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S3–S4</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cards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bge embeddings, no price, no brand</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67144" y="3817620"/>
            <a:ext cx="256032" cy="365760"/>
          </a:xfrm>
          <a:prstGeom prst="rightArrow">
            <a:avLst/>
          </a:prstGeom>
          <a:solidFill>
            <a:srgbClr val="F5A623"/>
          </a:solidFill>
          <a:ln w="12700">
            <a:solidFill>
              <a:srgbClr val="F5A623"/>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S5–S6</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38360" y="3817620"/>
            <a:ext cx="256032" cy="365760"/>
          </a:xfrm>
          <a:prstGeom prst="rightArrow">
            <a:avLst/>
          </a:prstGeom>
          <a:solidFill>
            <a:srgbClr val="F5A623"/>
          </a:solidFill>
          <a:ln w="12700">
            <a:solidFill>
              <a:srgbClr val="F5A623"/>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a:p>
            <a:pPr algn="ctr" indent="0" marL="0">
              <a:buNone/>
            </a:pPr>
            <a:r>
              <a:rPr lang="en-US" sz="950" dirty="0">
                <a:solidFill>
                  <a:srgbClr val="5B6475"/>
                </a:solidFill>
                <a:latin typeface="Calibri" pitchFamily="34" charset="0"/>
                <a:ea typeface="Calibri" pitchFamily="34" charset="-122"/>
                <a:cs typeface="Calibri" pitchFamily="34" charset="-120"/>
              </a:rPr>
              <a:t>S7–S8</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Future Scope: Two Ways to Build on the PoC</a:t>
            </a:r>
            <a:endParaRPr lang="en-US" sz="2800" dirty="0"/>
          </a:p>
        </p:txBody>
      </p:sp>
      <p:sp>
        <p:nvSpPr>
          <p:cNvPr id="3" name="Shape 1"/>
          <p:cNvSpPr/>
          <p:nvPr/>
        </p:nvSpPr>
        <p:spPr>
          <a:xfrm>
            <a:off x="411480" y="1115568"/>
            <a:ext cx="11365992" cy="384048"/>
          </a:xfrm>
          <a:prstGeom prst="roundRect">
            <a:avLst>
              <a:gd name="adj" fmla="val 19048"/>
            </a:avLst>
          </a:prstGeom>
          <a:solidFill>
            <a:srgbClr val="EEF3FB"/>
          </a:solidFill>
          <a:ln w="12700">
            <a:solidFill>
              <a:srgbClr val="EEF3FB"/>
            </a:solidFill>
            <a:prstDash val="solid"/>
          </a:ln>
        </p:spPr>
      </p:sp>
      <p:sp>
        <p:nvSpPr>
          <p:cNvPr id="4" name="Text 2"/>
          <p:cNvSpPr txBox="1"/>
          <p:nvPr/>
        </p:nvSpPr>
        <p:spPr>
          <a:xfrm>
            <a:off x="594360" y="1115568"/>
            <a:ext cx="11000232" cy="384048"/>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PoC used external data only. </a:t>
            </a:r>
            <a:pPr algn="ctr" indent="0" marL="0">
              <a:buNone/>
            </a:pPr>
            <a:r>
              <a:rPr lang="en-US" sz="1150" b="1" dirty="0">
                <a:solidFill>
                  <a:srgbClr val="13285B"/>
                </a:solidFill>
                <a:latin typeface="Calibri" pitchFamily="34" charset="0"/>
                <a:ea typeface="Calibri" pitchFamily="34" charset="-122"/>
                <a:cs typeface="Calibri" pitchFamily="34" charset="-120"/>
              </a:rPr>
              <a:t>Both tracks below add Staples' internal data:</a:t>
            </a:r>
            <a:pPr algn="ctr" indent="0" marL="0">
              <a:buNone/>
            </a:pPr>
            <a:r>
              <a:rPr lang="en-US" sz="1150" dirty="0">
                <a:solidFill>
                  <a:srgbClr val="1F2937"/>
                </a:solidFill>
                <a:latin typeface="Calibri" pitchFamily="34" charset="0"/>
                <a:ea typeface="Calibri" pitchFamily="34" charset="-122"/>
                <a:cs typeface="Calibri" pitchFamily="34" charset="-120"/>
              </a:rPr>
              <a:t> sales, traffic, customers, on-site search, transactions and seller submissions.</a:t>
            </a:r>
            <a:endParaRPr lang="en-US" sz="1200" dirty="0"/>
          </a:p>
        </p:txBody>
      </p:sp>
      <p:sp>
        <p:nvSpPr>
          <p:cNvPr id="5" name="Shape 3"/>
          <p:cNvSpPr/>
          <p:nvPr/>
        </p:nvSpPr>
        <p:spPr>
          <a:xfrm>
            <a:off x="411480" y="1609344"/>
            <a:ext cx="5614416" cy="658368"/>
          </a:xfrm>
          <a:prstGeom prst="roundRect">
            <a:avLst>
              <a:gd name="adj" fmla="val 11111"/>
            </a:avLst>
          </a:prstGeom>
          <a:solidFill>
            <a:srgbClr val="1F4E9A"/>
          </a:solidFill>
          <a:ln w="12700">
            <a:solidFill>
              <a:srgbClr val="1F4E9A"/>
            </a:solidFill>
            <a:prstDash val="solid"/>
          </a:ln>
        </p:spPr>
      </p:sp>
      <p:sp>
        <p:nvSpPr>
          <p:cNvPr id="6" name="Shape 4"/>
          <p:cNvSpPr/>
          <p:nvPr/>
        </p:nvSpPr>
        <p:spPr>
          <a:xfrm>
            <a:off x="539496" y="1737360"/>
            <a:ext cx="402336" cy="402336"/>
          </a:xfrm>
          <a:prstGeom prst="ellipse">
            <a:avLst/>
          </a:prstGeom>
          <a:solidFill>
            <a:srgbClr val="F5A623"/>
          </a:solidFill>
          <a:ln w="12700">
            <a:solidFill>
              <a:srgbClr val="F5A623"/>
            </a:solidFill>
            <a:prstDash val="solid"/>
          </a:ln>
        </p:spPr>
      </p:sp>
      <p:sp>
        <p:nvSpPr>
          <p:cNvPr id="7" name="Text 5"/>
          <p:cNvSpPr txBox="1"/>
          <p:nvPr/>
        </p:nvSpPr>
        <p:spPr>
          <a:xfrm>
            <a:off x="539496" y="17373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069848" y="1645920"/>
            <a:ext cx="4864608"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Extend this PoC with internal data</a:t>
            </a:r>
            <a:endParaRPr lang="en-US" sz="1550" dirty="0"/>
          </a:p>
        </p:txBody>
      </p:sp>
      <p:sp>
        <p:nvSpPr>
          <p:cNvPr id="9" name="Text 7"/>
          <p:cNvSpPr txBox="1"/>
          <p:nvPr/>
        </p:nvSpPr>
        <p:spPr>
          <a:xfrm>
            <a:off x="1069848" y="1956816"/>
            <a:ext cx="4864608" cy="256032"/>
          </a:xfrm>
          <a:prstGeom prst="rect">
            <a:avLst/>
          </a:prstGeom>
          <a:noFill/>
          <a:ln/>
        </p:spPr>
        <p:txBody>
          <a:bodyPr wrap="square" lIns="0" tIns="0" rIns="0" bIns="0" rtlCol="0" anchor="ctr"/>
          <a:lstStyle/>
          <a:p>
            <a:pPr indent="0" marL="0">
              <a:buNone/>
            </a:pPr>
            <a:r>
              <a:rPr lang="en-US" sz="1050" i="1" dirty="0">
                <a:solidFill>
                  <a:srgbClr val="DCE7F8"/>
                </a:solidFill>
                <a:latin typeface="Calibri" pitchFamily="34" charset="0"/>
                <a:ea typeface="Calibri" pitchFamily="34" charset="-122"/>
                <a:cs typeface="Calibri" pitchFamily="34" charset="-120"/>
              </a:rPr>
              <a:t>Same question (which archetypes to add), answered sharper and kept current</a:t>
            </a:r>
            <a:endParaRPr lang="en-US" sz="1050" dirty="0"/>
          </a:p>
        </p:txBody>
      </p:sp>
      <p:sp>
        <p:nvSpPr>
          <p:cNvPr id="10" name="Shape 8"/>
          <p:cNvSpPr/>
          <p:nvPr/>
        </p:nvSpPr>
        <p:spPr>
          <a:xfrm>
            <a:off x="411480" y="2359152"/>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9"/>
          <p:cNvSpPr/>
          <p:nvPr/>
        </p:nvSpPr>
        <p:spPr>
          <a:xfrm>
            <a:off x="539496" y="2487168"/>
            <a:ext cx="457200" cy="457200"/>
          </a:xfrm>
          <a:prstGeom prst="ellipse">
            <a:avLst/>
          </a:prstGeom>
          <a:solidFill>
            <a:srgbClr val="1F4E9A"/>
          </a:solidFill>
          <a:ln w="12700">
            <a:solidFill>
              <a:srgbClr val="1F4E9A"/>
            </a:solidFill>
            <a:prstDash val="solid"/>
          </a:ln>
        </p:spPr>
      </p:sp>
      <p:pic>
        <p:nvPicPr>
          <p:cNvPr id="12" name="Image 0" descr="preencoded.png">    </p:cNvPr>
          <p:cNvPicPr>
            <a:picLocks noChangeAspect="1"/>
          </p:cNvPicPr>
          <p:nvPr/>
        </p:nvPicPr>
        <p:blipFill>
          <a:blip r:embed="rId1"/>
          <a:stretch>
            <a:fillRect/>
          </a:stretch>
        </p:blipFill>
        <p:spPr>
          <a:xfrm>
            <a:off x="640080" y="2587752"/>
            <a:ext cx="256032" cy="256032"/>
          </a:xfrm>
          <a:prstGeom prst="rect">
            <a:avLst/>
          </a:prstGeom>
        </p:spPr>
      </p:pic>
      <p:sp>
        <p:nvSpPr>
          <p:cNvPr id="13" name="Text 10"/>
          <p:cNvSpPr txBox="1"/>
          <p:nvPr/>
        </p:nvSpPr>
        <p:spPr>
          <a:xfrm>
            <a:off x="1124712" y="2432304"/>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Demand &amp; segment prioritisation</a:t>
            </a:r>
            <a:endParaRPr lang="en-US" sz="1250" dirty="0"/>
          </a:p>
        </p:txBody>
      </p:sp>
      <p:sp>
        <p:nvSpPr>
          <p:cNvPr id="14" name="Text 11"/>
          <p:cNvSpPr txBox="1"/>
          <p:nvPr/>
        </p:nvSpPr>
        <p:spPr>
          <a:xfrm>
            <a:off x="1124712" y="2679192"/>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Which gaps will sell, and to which customers?</a:t>
            </a:r>
            <a:endParaRPr lang="en-US" sz="1000" dirty="0"/>
          </a:p>
        </p:txBody>
      </p:sp>
      <p:sp>
        <p:nvSpPr>
          <p:cNvPr id="15" name="Text 12"/>
          <p:cNvSpPr txBox="1"/>
          <p:nvPr/>
        </p:nvSpPr>
        <p:spPr>
          <a:xfrm>
            <a:off x="1124712" y="2907792"/>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Link sales, traffic &amp; search to each archetype</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Profile buyers (SMB vs home, RFM) per archetype</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Re-rank add-lists by expected GMV &amp; commission</a:t>
            </a:r>
            <a:endParaRPr lang="en-US" sz="1000" dirty="0"/>
          </a:p>
        </p:txBody>
      </p:sp>
      <p:sp>
        <p:nvSpPr>
          <p:cNvPr id="16" name="Shape 13"/>
          <p:cNvSpPr/>
          <p:nvPr/>
        </p:nvSpPr>
        <p:spPr>
          <a:xfrm>
            <a:off x="4361688" y="2450592"/>
            <a:ext cx="1572768" cy="1078992"/>
          </a:xfrm>
          <a:prstGeom prst="roundRect">
            <a:avLst>
              <a:gd name="adj" fmla="val 6780"/>
            </a:avLst>
          </a:prstGeom>
          <a:solidFill>
            <a:srgbClr val="EEF3FB"/>
          </a:solidFill>
          <a:ln w="12700">
            <a:solidFill>
              <a:srgbClr val="EEF3FB"/>
            </a:solidFill>
            <a:prstDash val="solid"/>
          </a:ln>
        </p:spPr>
      </p:sp>
      <p:sp>
        <p:nvSpPr>
          <p:cNvPr id="17" name="Text 14"/>
          <p:cNvSpPr txBox="1"/>
          <p:nvPr/>
        </p:nvSpPr>
        <p:spPr>
          <a:xfrm>
            <a:off x="4453128" y="2505456"/>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18" name="Text 15"/>
          <p:cNvSpPr txBox="1"/>
          <p:nvPr/>
        </p:nvSpPr>
        <p:spPr>
          <a:xfrm>
            <a:off x="4453128" y="2660904"/>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traffic · customers</a:t>
            </a:r>
            <a:endParaRPr lang="en-US" sz="950" dirty="0"/>
          </a:p>
        </p:txBody>
      </p:sp>
      <p:sp>
        <p:nvSpPr>
          <p:cNvPr id="19" name="Text 16"/>
          <p:cNvSpPr txBox="1"/>
          <p:nvPr/>
        </p:nvSpPr>
        <p:spPr>
          <a:xfrm>
            <a:off x="4453128" y="3008376"/>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4453128" y="3163824"/>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Revenue-ranked add-list per segment</a:t>
            </a:r>
            <a:endParaRPr lang="en-US" sz="1000" dirty="0"/>
          </a:p>
        </p:txBody>
      </p:sp>
      <p:sp>
        <p:nvSpPr>
          <p:cNvPr id="21" name="Shape 18"/>
          <p:cNvSpPr/>
          <p:nvPr/>
        </p:nvSpPr>
        <p:spPr>
          <a:xfrm>
            <a:off x="411480" y="3694176"/>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2" name="Shape 19"/>
          <p:cNvSpPr/>
          <p:nvPr/>
        </p:nvSpPr>
        <p:spPr>
          <a:xfrm>
            <a:off x="539496" y="3822192"/>
            <a:ext cx="457200" cy="457200"/>
          </a:xfrm>
          <a:prstGeom prst="ellipse">
            <a:avLst/>
          </a:prstGeom>
          <a:solidFill>
            <a:srgbClr val="1F4E9A"/>
          </a:solidFill>
          <a:ln w="12700">
            <a:solidFill>
              <a:srgbClr val="1F4E9A"/>
            </a:solidFill>
            <a:prstDash val="solid"/>
          </a:ln>
        </p:spPr>
      </p:sp>
      <p:pic>
        <p:nvPicPr>
          <p:cNvPr id="23" name="Image 1" descr="preencoded.png">    </p:cNvPr>
          <p:cNvPicPr>
            <a:picLocks noChangeAspect="1"/>
          </p:cNvPicPr>
          <p:nvPr/>
        </p:nvPicPr>
        <p:blipFill>
          <a:blip r:embed="rId2"/>
          <a:stretch>
            <a:fillRect/>
          </a:stretch>
        </p:blipFill>
        <p:spPr>
          <a:xfrm>
            <a:off x="640080" y="3922776"/>
            <a:ext cx="256032" cy="256032"/>
          </a:xfrm>
          <a:prstGeom prst="rect">
            <a:avLst/>
          </a:prstGeom>
        </p:spPr>
      </p:pic>
      <p:sp>
        <p:nvSpPr>
          <p:cNvPr id="24" name="Text 20"/>
          <p:cNvSpPr txBox="1"/>
          <p:nvPr/>
        </p:nvSpPr>
        <p:spPr>
          <a:xfrm>
            <a:off x="1124712" y="3767328"/>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Always-on market radar</a:t>
            </a:r>
            <a:endParaRPr lang="en-US" sz="1250" dirty="0"/>
          </a:p>
        </p:txBody>
      </p:sp>
      <p:sp>
        <p:nvSpPr>
          <p:cNvPr id="25" name="Text 21"/>
          <p:cNvSpPr txBox="1"/>
          <p:nvPr/>
        </p:nvSpPr>
        <p:spPr>
          <a:xfrm>
            <a:off x="1124712" y="4014216"/>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What changed in the market this month?</a:t>
            </a:r>
            <a:endParaRPr lang="en-US" sz="1000" dirty="0"/>
          </a:p>
        </p:txBody>
      </p:sp>
      <p:sp>
        <p:nvSpPr>
          <p:cNvPr id="26" name="Text 22"/>
          <p:cNvSpPr txBox="1"/>
          <p:nvPr/>
        </p:nvSpPr>
        <p:spPr>
          <a:xfrm>
            <a:off x="1124712" y="4242816"/>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Scheduled re-crawls of Amazon, Wayfair &amp; more</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Re-run the engine; flag new &amp; closing gaps</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Track listed picks against Staples sales</a:t>
            </a:r>
            <a:endParaRPr lang="en-US" sz="1000" dirty="0"/>
          </a:p>
        </p:txBody>
      </p:sp>
      <p:sp>
        <p:nvSpPr>
          <p:cNvPr id="27" name="Shape 23"/>
          <p:cNvSpPr/>
          <p:nvPr/>
        </p:nvSpPr>
        <p:spPr>
          <a:xfrm>
            <a:off x="4361688" y="3785616"/>
            <a:ext cx="1572768" cy="1078992"/>
          </a:xfrm>
          <a:prstGeom prst="roundRect">
            <a:avLst>
              <a:gd name="adj" fmla="val 6780"/>
            </a:avLst>
          </a:prstGeom>
          <a:solidFill>
            <a:srgbClr val="EEF3FB"/>
          </a:solidFill>
          <a:ln w="12700">
            <a:solidFill>
              <a:srgbClr val="EEF3FB"/>
            </a:solidFill>
            <a:prstDash val="solid"/>
          </a:ln>
        </p:spPr>
      </p:sp>
      <p:sp>
        <p:nvSpPr>
          <p:cNvPr id="28" name="Text 24"/>
          <p:cNvSpPr txBox="1"/>
          <p:nvPr/>
        </p:nvSpPr>
        <p:spPr>
          <a:xfrm>
            <a:off x="4453128" y="3840480"/>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29" name="Text 25"/>
          <p:cNvSpPr txBox="1"/>
          <p:nvPr/>
        </p:nvSpPr>
        <p:spPr>
          <a:xfrm>
            <a:off x="4453128" y="3995928"/>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data (+ competitor crawls)</a:t>
            </a:r>
            <a:endParaRPr lang="en-US" sz="950" dirty="0"/>
          </a:p>
        </p:txBody>
      </p:sp>
      <p:sp>
        <p:nvSpPr>
          <p:cNvPr id="30" name="Text 26"/>
          <p:cNvSpPr txBox="1"/>
          <p:nvPr/>
        </p:nvSpPr>
        <p:spPr>
          <a:xfrm>
            <a:off x="4453128" y="4343400"/>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1" name="Text 27"/>
          <p:cNvSpPr txBox="1"/>
          <p:nvPr/>
        </p:nvSpPr>
        <p:spPr>
          <a:xfrm>
            <a:off x="4453128" y="4498848"/>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A live gap list, refreshed monthly</a:t>
            </a:r>
            <a:endParaRPr lang="en-US" sz="1000" dirty="0"/>
          </a:p>
        </p:txBody>
      </p:sp>
      <p:sp>
        <p:nvSpPr>
          <p:cNvPr id="32" name="Shape 28"/>
          <p:cNvSpPr/>
          <p:nvPr/>
        </p:nvSpPr>
        <p:spPr>
          <a:xfrm>
            <a:off x="411480" y="5029200"/>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3" name="Shape 29"/>
          <p:cNvSpPr/>
          <p:nvPr/>
        </p:nvSpPr>
        <p:spPr>
          <a:xfrm>
            <a:off x="539496" y="5157216"/>
            <a:ext cx="457200" cy="457200"/>
          </a:xfrm>
          <a:prstGeom prst="ellipse">
            <a:avLst/>
          </a:prstGeom>
          <a:solidFill>
            <a:srgbClr val="1F4E9A"/>
          </a:solidFill>
          <a:ln w="12700">
            <a:solidFill>
              <a:srgbClr val="1F4E9A"/>
            </a:solidFill>
            <a:prstDash val="solid"/>
          </a:ln>
        </p:spPr>
      </p:sp>
      <p:pic>
        <p:nvPicPr>
          <p:cNvPr id="34" name="Image 2" descr="preencoded.png">    </p:cNvPr>
          <p:cNvPicPr>
            <a:picLocks noChangeAspect="1"/>
          </p:cNvPicPr>
          <p:nvPr/>
        </p:nvPicPr>
        <p:blipFill>
          <a:blip r:embed="rId3"/>
          <a:stretch>
            <a:fillRect/>
          </a:stretch>
        </p:blipFill>
        <p:spPr>
          <a:xfrm>
            <a:off x="640080" y="5257800"/>
            <a:ext cx="256032" cy="256032"/>
          </a:xfrm>
          <a:prstGeom prst="rect">
            <a:avLst/>
          </a:prstGeom>
        </p:spPr>
      </p:pic>
      <p:sp>
        <p:nvSpPr>
          <p:cNvPr id="35" name="Text 30"/>
          <p:cNvSpPr txBox="1"/>
          <p:nvPr/>
        </p:nvSpPr>
        <p:spPr>
          <a:xfrm>
            <a:off x="1124712" y="5102352"/>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Automated seller-listing vetting</a:t>
            </a:r>
            <a:endParaRPr lang="en-US" sz="1250" dirty="0"/>
          </a:p>
        </p:txBody>
      </p:sp>
      <p:sp>
        <p:nvSpPr>
          <p:cNvPr id="36" name="Text 31"/>
          <p:cNvSpPr txBox="1"/>
          <p:nvPr/>
        </p:nvSpPr>
        <p:spPr>
          <a:xfrm>
            <a:off x="1124712" y="5349240"/>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Should this seller's listing go live?</a:t>
            </a:r>
            <a:endParaRPr lang="en-US" sz="1000" dirty="0"/>
          </a:p>
        </p:txBody>
      </p:sp>
      <p:sp>
        <p:nvSpPr>
          <p:cNvPr id="37" name="Text 32"/>
          <p:cNvSpPr txBox="1"/>
          <p:nvPr/>
        </p:nvSpPr>
        <p:spPr>
          <a:xfrm>
            <a:off x="1124712" y="5577840"/>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Run the same engine on every submission</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Auto-score fit, 1P overlap &amp; price</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Approve / review / reject queue for curators</a:t>
            </a:r>
            <a:endParaRPr lang="en-US" sz="1000" dirty="0"/>
          </a:p>
        </p:txBody>
      </p:sp>
      <p:sp>
        <p:nvSpPr>
          <p:cNvPr id="38" name="Shape 33"/>
          <p:cNvSpPr/>
          <p:nvPr/>
        </p:nvSpPr>
        <p:spPr>
          <a:xfrm>
            <a:off x="4361688" y="5120640"/>
            <a:ext cx="1572768" cy="1078992"/>
          </a:xfrm>
          <a:prstGeom prst="roundRect">
            <a:avLst>
              <a:gd name="adj" fmla="val 6780"/>
            </a:avLst>
          </a:prstGeom>
          <a:solidFill>
            <a:srgbClr val="EEF3FB"/>
          </a:solidFill>
          <a:ln w="12700">
            <a:solidFill>
              <a:srgbClr val="EEF3FB"/>
            </a:solidFill>
            <a:prstDash val="solid"/>
          </a:ln>
        </p:spPr>
      </p:sp>
      <p:sp>
        <p:nvSpPr>
          <p:cNvPr id="39" name="Text 34"/>
          <p:cNvSpPr txBox="1"/>
          <p:nvPr/>
        </p:nvSpPr>
        <p:spPr>
          <a:xfrm>
            <a:off x="4453128" y="5175504"/>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40" name="Text 35"/>
          <p:cNvSpPr txBox="1"/>
          <p:nvPr/>
        </p:nvSpPr>
        <p:spPr>
          <a:xfrm>
            <a:off x="4453128" y="5330952"/>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1P sales</a:t>
            </a:r>
            <a:endParaRPr lang="en-US" sz="950" dirty="0"/>
          </a:p>
        </p:txBody>
      </p:sp>
      <p:sp>
        <p:nvSpPr>
          <p:cNvPr id="41" name="Text 36"/>
          <p:cNvSpPr txBox="1"/>
          <p:nvPr/>
        </p:nvSpPr>
        <p:spPr>
          <a:xfrm>
            <a:off x="4453128" y="5678424"/>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2" name="Text 37"/>
          <p:cNvSpPr txBox="1"/>
          <p:nvPr/>
        </p:nvSpPr>
        <p:spPr>
          <a:xfrm>
            <a:off x="4453128" y="5833872"/>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Curation that scales beyond manual review</a:t>
            </a:r>
            <a:endParaRPr lang="en-US" sz="1000" dirty="0"/>
          </a:p>
        </p:txBody>
      </p:sp>
      <p:sp>
        <p:nvSpPr>
          <p:cNvPr id="43" name="Shape 38"/>
          <p:cNvSpPr/>
          <p:nvPr/>
        </p:nvSpPr>
        <p:spPr>
          <a:xfrm>
            <a:off x="6163056" y="1609344"/>
            <a:ext cx="5614416" cy="658368"/>
          </a:xfrm>
          <a:prstGeom prst="roundRect">
            <a:avLst>
              <a:gd name="adj" fmla="val 11111"/>
            </a:avLst>
          </a:prstGeom>
          <a:solidFill>
            <a:srgbClr val="13285B"/>
          </a:solidFill>
          <a:ln w="12700">
            <a:solidFill>
              <a:srgbClr val="13285B"/>
            </a:solidFill>
            <a:prstDash val="solid"/>
          </a:ln>
        </p:spPr>
      </p:sp>
      <p:sp>
        <p:nvSpPr>
          <p:cNvPr id="44" name="Shape 39"/>
          <p:cNvSpPr/>
          <p:nvPr/>
        </p:nvSpPr>
        <p:spPr>
          <a:xfrm>
            <a:off x="6291072" y="1737360"/>
            <a:ext cx="402336" cy="402336"/>
          </a:xfrm>
          <a:prstGeom prst="ellipse">
            <a:avLst/>
          </a:prstGeom>
          <a:solidFill>
            <a:srgbClr val="F5A623"/>
          </a:solidFill>
          <a:ln w="12700">
            <a:solidFill>
              <a:srgbClr val="F5A623"/>
            </a:solidFill>
            <a:prstDash val="solid"/>
          </a:ln>
        </p:spPr>
      </p:sp>
      <p:sp>
        <p:nvSpPr>
          <p:cNvPr id="45" name="Text 40"/>
          <p:cNvSpPr txBox="1"/>
          <p:nvPr/>
        </p:nvSpPr>
        <p:spPr>
          <a:xfrm>
            <a:off x="6291072" y="17373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6" name="Text 41"/>
          <p:cNvSpPr txBox="1"/>
          <p:nvPr/>
        </p:nvSpPr>
        <p:spPr>
          <a:xfrm>
            <a:off x="6821424" y="1645920"/>
            <a:ext cx="4864608"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Beyond this PoC: what else we can do for you</a:t>
            </a:r>
            <a:endParaRPr lang="en-US" sz="1550" dirty="0"/>
          </a:p>
        </p:txBody>
      </p:sp>
      <p:sp>
        <p:nvSpPr>
          <p:cNvPr id="47" name="Text 42"/>
          <p:cNvSpPr txBox="1"/>
          <p:nvPr/>
        </p:nvSpPr>
        <p:spPr>
          <a:xfrm>
            <a:off x="6821424" y="1956816"/>
            <a:ext cx="4864608" cy="256032"/>
          </a:xfrm>
          <a:prstGeom prst="rect">
            <a:avLst/>
          </a:prstGeom>
          <a:noFill/>
          <a:ln/>
        </p:spPr>
        <p:txBody>
          <a:bodyPr wrap="square" lIns="0" tIns="0" rIns="0" bIns="0" rtlCol="0" anchor="ctr"/>
          <a:lstStyle/>
          <a:p>
            <a:pPr indent="0" marL="0">
              <a:buNone/>
            </a:pPr>
            <a:r>
              <a:rPr lang="en-US" sz="1050" i="1" dirty="0">
                <a:solidFill>
                  <a:srgbClr val="DCE7F8"/>
                </a:solidFill>
                <a:latin typeface="Calibri" pitchFamily="34" charset="0"/>
                <a:ea typeface="Calibri" pitchFamily="34" charset="-122"/>
                <a:cs typeface="Calibri" pitchFamily="34" charset="-120"/>
              </a:rPr>
              <a:t>New questions outside assortment gaps, on the same internal data</a:t>
            </a:r>
            <a:endParaRPr lang="en-US" sz="1050" dirty="0"/>
          </a:p>
        </p:txBody>
      </p:sp>
      <p:sp>
        <p:nvSpPr>
          <p:cNvPr id="48" name="Shape 43"/>
          <p:cNvSpPr/>
          <p:nvPr/>
        </p:nvSpPr>
        <p:spPr>
          <a:xfrm>
            <a:off x="6163056" y="2359152"/>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9" name="Shape 44"/>
          <p:cNvSpPr/>
          <p:nvPr/>
        </p:nvSpPr>
        <p:spPr>
          <a:xfrm>
            <a:off x="6291072" y="2487168"/>
            <a:ext cx="457200" cy="457200"/>
          </a:xfrm>
          <a:prstGeom prst="ellipse">
            <a:avLst/>
          </a:prstGeom>
          <a:solidFill>
            <a:srgbClr val="13285B"/>
          </a:solidFill>
          <a:ln w="12700">
            <a:solidFill>
              <a:srgbClr val="13285B"/>
            </a:solidFill>
            <a:prstDash val="solid"/>
          </a:ln>
        </p:spPr>
      </p:sp>
      <p:pic>
        <p:nvPicPr>
          <p:cNvPr id="50" name="Image 3" descr="preencoded.png">    </p:cNvPr>
          <p:cNvPicPr>
            <a:picLocks noChangeAspect="1"/>
          </p:cNvPicPr>
          <p:nvPr/>
        </p:nvPicPr>
        <p:blipFill>
          <a:blip r:embed="rId4"/>
          <a:stretch>
            <a:fillRect/>
          </a:stretch>
        </p:blipFill>
        <p:spPr>
          <a:xfrm>
            <a:off x="6391656" y="2587752"/>
            <a:ext cx="256032" cy="256032"/>
          </a:xfrm>
          <a:prstGeom prst="rect">
            <a:avLst/>
          </a:prstGeom>
        </p:spPr>
      </p:pic>
      <p:sp>
        <p:nvSpPr>
          <p:cNvPr id="51" name="Text 45"/>
          <p:cNvSpPr txBox="1"/>
          <p:nvPr/>
        </p:nvSpPr>
        <p:spPr>
          <a:xfrm>
            <a:off x="6876288" y="2432304"/>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Search-intent gap mining</a:t>
            </a:r>
            <a:endParaRPr lang="en-US" sz="1250" dirty="0"/>
          </a:p>
        </p:txBody>
      </p:sp>
      <p:sp>
        <p:nvSpPr>
          <p:cNvPr id="52" name="Text 46"/>
          <p:cNvSpPr txBox="1"/>
          <p:nvPr/>
        </p:nvSpPr>
        <p:spPr>
          <a:xfrm>
            <a:off x="6876288" y="2679192"/>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What do shoppers search for but not find?</a:t>
            </a:r>
            <a:endParaRPr lang="en-US" sz="1000" dirty="0"/>
          </a:p>
        </p:txBody>
      </p:sp>
      <p:sp>
        <p:nvSpPr>
          <p:cNvPr id="53" name="Text 47"/>
          <p:cNvSpPr txBox="1"/>
          <p:nvPr/>
        </p:nvSpPr>
        <p:spPr>
          <a:xfrm>
            <a:off x="6876288" y="2907792"/>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Map on-site searches to nodes &amp; archetypes</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Flag zero-result &amp; high-exit queries</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Feed unmet demand into seller recruiting</a:t>
            </a:r>
            <a:endParaRPr lang="en-US" sz="1000" dirty="0"/>
          </a:p>
        </p:txBody>
      </p:sp>
      <p:sp>
        <p:nvSpPr>
          <p:cNvPr id="54" name="Shape 48"/>
          <p:cNvSpPr/>
          <p:nvPr/>
        </p:nvSpPr>
        <p:spPr>
          <a:xfrm>
            <a:off x="10113264" y="2450592"/>
            <a:ext cx="1572768" cy="1078992"/>
          </a:xfrm>
          <a:prstGeom prst="roundRect">
            <a:avLst>
              <a:gd name="adj" fmla="val 6780"/>
            </a:avLst>
          </a:prstGeom>
          <a:solidFill>
            <a:srgbClr val="EEF3FB"/>
          </a:solidFill>
          <a:ln w="12700">
            <a:solidFill>
              <a:srgbClr val="EEF3FB"/>
            </a:solidFill>
            <a:prstDash val="solid"/>
          </a:ln>
        </p:spPr>
      </p:sp>
      <p:sp>
        <p:nvSpPr>
          <p:cNvPr id="55" name="Text 49"/>
          <p:cNvSpPr txBox="1"/>
          <p:nvPr/>
        </p:nvSpPr>
        <p:spPr>
          <a:xfrm>
            <a:off x="10204704" y="2505456"/>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56" name="Text 50"/>
          <p:cNvSpPr txBox="1"/>
          <p:nvPr/>
        </p:nvSpPr>
        <p:spPr>
          <a:xfrm>
            <a:off x="10204704" y="2660904"/>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On-site search logs</a:t>
            </a:r>
            <a:endParaRPr lang="en-US" sz="950" dirty="0"/>
          </a:p>
        </p:txBody>
      </p:sp>
      <p:sp>
        <p:nvSpPr>
          <p:cNvPr id="57" name="Text 51"/>
          <p:cNvSpPr txBox="1"/>
          <p:nvPr/>
        </p:nvSpPr>
        <p:spPr>
          <a:xfrm>
            <a:off x="10204704" y="3008376"/>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8" name="Text 52"/>
          <p:cNvSpPr txBox="1"/>
          <p:nvPr/>
        </p:nvSpPr>
        <p:spPr>
          <a:xfrm>
            <a:off x="10204704" y="3163824"/>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Demand-backed recruiting pipeline</a:t>
            </a:r>
            <a:endParaRPr lang="en-US" sz="1000" dirty="0"/>
          </a:p>
        </p:txBody>
      </p:sp>
      <p:sp>
        <p:nvSpPr>
          <p:cNvPr id="59" name="Shape 53"/>
          <p:cNvSpPr/>
          <p:nvPr/>
        </p:nvSpPr>
        <p:spPr>
          <a:xfrm>
            <a:off x="6163056" y="3694176"/>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0" name="Shape 54"/>
          <p:cNvSpPr/>
          <p:nvPr/>
        </p:nvSpPr>
        <p:spPr>
          <a:xfrm>
            <a:off x="6291072" y="3822192"/>
            <a:ext cx="457200" cy="457200"/>
          </a:xfrm>
          <a:prstGeom prst="ellipse">
            <a:avLst/>
          </a:prstGeom>
          <a:solidFill>
            <a:srgbClr val="13285B"/>
          </a:solidFill>
          <a:ln w="12700">
            <a:solidFill>
              <a:srgbClr val="13285B"/>
            </a:solidFill>
            <a:prstDash val="solid"/>
          </a:ln>
        </p:spPr>
      </p:sp>
      <p:pic>
        <p:nvPicPr>
          <p:cNvPr id="61" name="Image 4" descr="preencoded.png">    </p:cNvPr>
          <p:cNvPicPr>
            <a:picLocks noChangeAspect="1"/>
          </p:cNvPicPr>
          <p:nvPr/>
        </p:nvPicPr>
        <p:blipFill>
          <a:blip r:embed="rId5"/>
          <a:stretch>
            <a:fillRect/>
          </a:stretch>
        </p:blipFill>
        <p:spPr>
          <a:xfrm>
            <a:off x="6391656" y="3922776"/>
            <a:ext cx="256032" cy="256032"/>
          </a:xfrm>
          <a:prstGeom prst="rect">
            <a:avLst/>
          </a:prstGeom>
        </p:spPr>
      </p:pic>
      <p:sp>
        <p:nvSpPr>
          <p:cNvPr id="62" name="Text 55"/>
          <p:cNvSpPr txBox="1"/>
          <p:nvPr/>
        </p:nvSpPr>
        <p:spPr>
          <a:xfrm>
            <a:off x="6876288" y="3767328"/>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Market basket completion</a:t>
            </a:r>
            <a:endParaRPr lang="en-US" sz="1250" dirty="0"/>
          </a:p>
        </p:txBody>
      </p:sp>
      <p:sp>
        <p:nvSpPr>
          <p:cNvPr id="63" name="Text 56"/>
          <p:cNvSpPr txBox="1"/>
          <p:nvPr/>
        </p:nvSpPr>
        <p:spPr>
          <a:xfrm>
            <a:off x="6876288" y="4014216"/>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Which missing item would complete the basket?</a:t>
            </a:r>
            <a:endParaRPr lang="en-US" sz="1000" dirty="0"/>
          </a:p>
        </p:txBody>
      </p:sp>
      <p:sp>
        <p:nvSpPr>
          <p:cNvPr id="64" name="Text 57"/>
          <p:cNvSpPr txBox="1"/>
          <p:nvPr/>
        </p:nvSpPr>
        <p:spPr>
          <a:xfrm>
            <a:off x="6876288" y="4242816"/>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Find missing complements, e.g. Back-to-School</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5" name="Shape 58"/>
          <p:cNvSpPr/>
          <p:nvPr/>
        </p:nvSpPr>
        <p:spPr>
          <a:xfrm>
            <a:off x="10113264" y="3785616"/>
            <a:ext cx="1572768" cy="1078992"/>
          </a:xfrm>
          <a:prstGeom prst="roundRect">
            <a:avLst>
              <a:gd name="adj" fmla="val 6780"/>
            </a:avLst>
          </a:prstGeom>
          <a:solidFill>
            <a:srgbClr val="EEF3FB"/>
          </a:solidFill>
          <a:ln w="12700">
            <a:solidFill>
              <a:srgbClr val="EEF3FB"/>
            </a:solidFill>
            <a:prstDash val="solid"/>
          </a:ln>
        </p:spPr>
      </p:sp>
      <p:sp>
        <p:nvSpPr>
          <p:cNvPr id="66" name="Text 59"/>
          <p:cNvSpPr txBox="1"/>
          <p:nvPr/>
        </p:nvSpPr>
        <p:spPr>
          <a:xfrm>
            <a:off x="10204704" y="3840480"/>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67" name="Text 60"/>
          <p:cNvSpPr txBox="1"/>
          <p:nvPr/>
        </p:nvSpPr>
        <p:spPr>
          <a:xfrm>
            <a:off x="10204704" y="3995928"/>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Transactions</a:t>
            </a:r>
            <a:endParaRPr lang="en-US" sz="950" dirty="0"/>
          </a:p>
        </p:txBody>
      </p:sp>
      <p:sp>
        <p:nvSpPr>
          <p:cNvPr id="68" name="Text 61"/>
          <p:cNvSpPr txBox="1"/>
          <p:nvPr/>
        </p:nvSpPr>
        <p:spPr>
          <a:xfrm>
            <a:off x="10204704" y="4343400"/>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10204704" y="4498848"/>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Bigger baskets, new commission</a:t>
            </a:r>
            <a:endParaRPr lang="en-US" sz="1000" dirty="0"/>
          </a:p>
        </p:txBody>
      </p:sp>
      <p:sp>
        <p:nvSpPr>
          <p:cNvPr id="70" name="Shape 63"/>
          <p:cNvSpPr/>
          <p:nvPr/>
        </p:nvSpPr>
        <p:spPr>
          <a:xfrm>
            <a:off x="6163056" y="5029200"/>
            <a:ext cx="5614416" cy="1261872"/>
          </a:xfrm>
          <a:prstGeom prst="roundRect">
            <a:avLst>
              <a:gd name="adj" fmla="val 7246"/>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71" name="Shape 64"/>
          <p:cNvSpPr/>
          <p:nvPr/>
        </p:nvSpPr>
        <p:spPr>
          <a:xfrm>
            <a:off x="6291072" y="5157216"/>
            <a:ext cx="457200" cy="457200"/>
          </a:xfrm>
          <a:prstGeom prst="ellipse">
            <a:avLst/>
          </a:prstGeom>
          <a:solidFill>
            <a:srgbClr val="13285B"/>
          </a:solidFill>
          <a:ln w="12700">
            <a:solidFill>
              <a:srgbClr val="13285B"/>
            </a:solidFill>
            <a:prstDash val="solid"/>
          </a:ln>
        </p:spPr>
      </p:sp>
      <p:pic>
        <p:nvPicPr>
          <p:cNvPr id="72" name="Image 5" descr="preencoded.png">    </p:cNvPr>
          <p:cNvPicPr>
            <a:picLocks noChangeAspect="1"/>
          </p:cNvPicPr>
          <p:nvPr/>
        </p:nvPicPr>
        <p:blipFill>
          <a:blip r:embed="rId6"/>
          <a:stretch>
            <a:fillRect/>
          </a:stretch>
        </p:blipFill>
        <p:spPr>
          <a:xfrm>
            <a:off x="6391656" y="5257800"/>
            <a:ext cx="256032" cy="256032"/>
          </a:xfrm>
          <a:prstGeom prst="rect">
            <a:avLst/>
          </a:prstGeom>
        </p:spPr>
      </p:pic>
      <p:sp>
        <p:nvSpPr>
          <p:cNvPr id="73" name="Text 65"/>
          <p:cNvSpPr txBox="1"/>
          <p:nvPr/>
        </p:nvSpPr>
        <p:spPr>
          <a:xfrm>
            <a:off x="6876288" y="5102352"/>
            <a:ext cx="3236976" cy="246888"/>
          </a:xfrm>
          <a:prstGeom prst="rect">
            <a:avLst/>
          </a:prstGeom>
          <a:noFill/>
          <a:ln/>
        </p:spPr>
        <p:txBody>
          <a:bodyPr wrap="square" lIns="0" tIns="0" rIns="0" bIns="0" rtlCol="0" anchor="t"/>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 &amp; research</a:t>
            </a:r>
            <a:endParaRPr lang="en-US" sz="1250" dirty="0"/>
          </a:p>
        </p:txBody>
      </p:sp>
      <p:sp>
        <p:nvSpPr>
          <p:cNvPr id="74" name="Text 66"/>
          <p:cNvSpPr txBox="1"/>
          <p:nvPr/>
        </p:nvSpPr>
        <p:spPr>
          <a:xfrm>
            <a:off x="6876288" y="5349240"/>
            <a:ext cx="3236976" cy="201168"/>
          </a:xfrm>
          <a:prstGeom prst="rect">
            <a:avLst/>
          </a:prstGeom>
          <a:noFill/>
          <a:ln/>
        </p:spPr>
        <p:txBody>
          <a:bodyPr wrap="square" lIns="0" tIns="0" rIns="0" bIns="0" rtlCol="0" anchor="t"/>
          <a:lstStyle/>
          <a:p>
            <a:pPr indent="0" marL="0">
              <a:buNone/>
            </a:pPr>
            <a:r>
              <a:rPr lang="en-US" sz="1000" i="1" dirty="0">
                <a:solidFill>
                  <a:srgbClr val="2F6FD0"/>
                </a:solidFill>
                <a:latin typeface="Calibri" pitchFamily="34" charset="0"/>
                <a:ea typeface="Calibri" pitchFamily="34" charset="-122"/>
                <a:cs typeface="Calibri" pitchFamily="34" charset="-120"/>
              </a:rPr>
              <a:t>Which new categories are worth entering?</a:t>
            </a:r>
            <a:endParaRPr lang="en-US" sz="1000" dirty="0"/>
          </a:p>
        </p:txBody>
      </p:sp>
      <p:sp>
        <p:nvSpPr>
          <p:cNvPr id="75" name="Text 67"/>
          <p:cNvSpPr txBox="1"/>
          <p:nvPr/>
        </p:nvSpPr>
        <p:spPr>
          <a:xfrm>
            <a:off x="6876288" y="5577840"/>
            <a:ext cx="3236976" cy="676656"/>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Forecast demand from sales &amp; search history</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Add social-media &amp; trend listening</a:t>
            </a:r>
            <a:endParaRPr lang="en-US" sz="1000" dirty="0"/>
          </a:p>
          <a:p>
            <a:pPr marL="127000" indent="-127000">
              <a:spcAft>
                <a:spcPts val="100"/>
              </a:spcAft>
              <a:buSzPct val="100000"/>
              <a:buChar char="•"/>
            </a:pPr>
            <a:r>
              <a:rPr lang="en-US" sz="1000" dirty="0">
                <a:solidFill>
                  <a:srgbClr val="1F2937"/>
                </a:solidFill>
                <a:latin typeface="Calibri" pitchFamily="34" charset="0"/>
                <a:ea typeface="Calibri" pitchFamily="34" charset="-122"/>
                <a:cs typeface="Calibri" pitchFamily="34" charset="-120"/>
              </a:rPr>
              <a:t>Size Non-Hero &amp; new categories before entry</a:t>
            </a:r>
            <a:endParaRPr lang="en-US" sz="1000" dirty="0"/>
          </a:p>
        </p:txBody>
      </p:sp>
      <p:sp>
        <p:nvSpPr>
          <p:cNvPr id="76" name="Shape 68"/>
          <p:cNvSpPr/>
          <p:nvPr/>
        </p:nvSpPr>
        <p:spPr>
          <a:xfrm>
            <a:off x="10113264" y="5120640"/>
            <a:ext cx="1572768" cy="1078992"/>
          </a:xfrm>
          <a:prstGeom prst="roundRect">
            <a:avLst>
              <a:gd name="adj" fmla="val 6780"/>
            </a:avLst>
          </a:prstGeom>
          <a:solidFill>
            <a:srgbClr val="EEF3FB"/>
          </a:solidFill>
          <a:ln w="12700">
            <a:solidFill>
              <a:srgbClr val="EEF3FB"/>
            </a:solidFill>
            <a:prstDash val="solid"/>
          </a:ln>
        </p:spPr>
      </p:sp>
      <p:sp>
        <p:nvSpPr>
          <p:cNvPr id="77" name="Text 69"/>
          <p:cNvSpPr txBox="1"/>
          <p:nvPr/>
        </p:nvSpPr>
        <p:spPr>
          <a:xfrm>
            <a:off x="10204704" y="5175504"/>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INTERNAL DATA</a:t>
            </a:r>
            <a:endParaRPr lang="en-US" sz="750" dirty="0"/>
          </a:p>
        </p:txBody>
      </p:sp>
      <p:sp>
        <p:nvSpPr>
          <p:cNvPr id="78" name="Text 70"/>
          <p:cNvSpPr txBox="1"/>
          <p:nvPr/>
        </p:nvSpPr>
        <p:spPr>
          <a:xfrm>
            <a:off x="10204704" y="5330952"/>
            <a:ext cx="1389888" cy="329184"/>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&amp; search history (+ social data)</a:t>
            </a:r>
            <a:endParaRPr lang="en-US" sz="950" dirty="0"/>
          </a:p>
        </p:txBody>
      </p:sp>
      <p:sp>
        <p:nvSpPr>
          <p:cNvPr id="79" name="Text 71"/>
          <p:cNvSpPr txBox="1"/>
          <p:nvPr/>
        </p:nvSpPr>
        <p:spPr>
          <a:xfrm>
            <a:off x="10204704" y="5678424"/>
            <a:ext cx="138988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80" name="Text 72"/>
          <p:cNvSpPr txBox="1"/>
          <p:nvPr/>
        </p:nvSpPr>
        <p:spPr>
          <a:xfrm>
            <a:off x="10204704" y="5833872"/>
            <a:ext cx="1389888" cy="365760"/>
          </a:xfrm>
          <a:prstGeom prst="rect">
            <a:avLst/>
          </a:prstGeom>
          <a:noFill/>
          <a:ln/>
        </p:spPr>
        <p:txBody>
          <a:bodyPr wrap="square" lIns="0" tIns="0" rIns="0" bIns="0" rtlCol="0" anchor="t"/>
          <a:lstStyle/>
          <a:p>
            <a:pPr indent="0" marL="0">
              <a:buNone/>
            </a:pPr>
            <a:r>
              <a:rPr lang="en-US" sz="1000" b="1" dirty="0">
                <a:solidFill>
                  <a:srgbClr val="13285B"/>
                </a:solidFill>
                <a:latin typeface="Calibri" pitchFamily="34" charset="0"/>
                <a:ea typeface="Calibri" pitchFamily="34" charset="-122"/>
                <a:cs typeface="Calibri" pitchFamily="34" charset="-120"/>
              </a:rPr>
              <a:t>Evidence-backed category bets</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2011680"/>
            <a:ext cx="54864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txBox="1"/>
          <p:nvPr/>
        </p:nvSpPr>
        <p:spPr>
          <a:xfrm>
            <a:off x="640080" y="2926080"/>
            <a:ext cx="54864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4" name="Shape 2"/>
          <p:cNvSpPr/>
          <p:nvPr/>
        </p:nvSpPr>
        <p:spPr>
          <a:xfrm>
            <a:off x="6675120" y="1600200"/>
            <a:ext cx="4937760" cy="2743200"/>
          </a:xfrm>
          <a:prstGeom prst="roundRect">
            <a:avLst>
              <a:gd name="adj" fmla="val 5000"/>
            </a:avLst>
          </a:prstGeom>
          <a:solidFill>
            <a:srgbClr val="1C3A7A"/>
          </a:solidFill>
          <a:ln w="12700">
            <a:solidFill>
              <a:srgbClr val="1C3A7A"/>
            </a:solidFill>
            <a:prstDash val="solid"/>
          </a:ln>
        </p:spPr>
      </p:sp>
      <p:sp>
        <p:nvSpPr>
          <p:cNvPr id="5" name="Text 3"/>
          <p:cNvSpPr txBox="1"/>
          <p:nvPr/>
        </p:nvSpPr>
        <p:spPr>
          <a:xfrm>
            <a:off x="6995160" y="1783080"/>
            <a:ext cx="4389120" cy="365760"/>
          </a:xfrm>
          <a:prstGeom prst="rect">
            <a:avLst/>
          </a:prstGeom>
          <a:noFill/>
          <a:ln/>
        </p:spPr>
        <p:txBody>
          <a:bodyPr wrap="square" lIns="0" tIns="0" rIns="0" bIns="0" rtlCol="0" anchor="t"/>
          <a:lstStyle/>
          <a:p>
            <a:pPr indent="0" marL="0">
              <a:buNone/>
            </a:pPr>
            <a:r>
              <a:rPr lang="en-US" sz="1800" b="1" dirty="0">
                <a:solidFill>
                  <a:srgbClr val="F5A623"/>
                </a:solidFill>
                <a:latin typeface="Calibri" pitchFamily="34" charset="0"/>
                <a:ea typeface="Calibri" pitchFamily="34" charset="-122"/>
                <a:cs typeface="Calibri" pitchFamily="34" charset="-120"/>
              </a:rPr>
              <a:t>Proposed next steps</a:t>
            </a:r>
            <a:endParaRPr lang="en-US" sz="1800" dirty="0"/>
          </a:p>
        </p:txBody>
      </p:sp>
      <p:sp>
        <p:nvSpPr>
          <p:cNvPr id="6" name="Text 4"/>
          <p:cNvSpPr txBox="1"/>
          <p:nvPr/>
        </p:nvSpPr>
        <p:spPr>
          <a:xfrm>
            <a:off x="6995160" y="2286000"/>
            <a:ext cx="4389120" cy="19202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Calibration session: 60 side-by-side pairs to set the cannibalisation and price thresholds with merchants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Category review of the top picks per node, then seller outreach starting with brands already on Staples</a:t>
            </a:r>
            <a:endParaRPr lang="en-US" sz="1400" dirty="0"/>
          </a:p>
          <a:p>
            <a:pPr marL="342900" indent="-342900">
              <a:spcAft>
                <a:spcPts val="1000"/>
              </a:spcAft>
              <a:buSzPct val="100000"/>
              <a:buFont typeface="+mj-lt"/>
              <a:buAutoNum type="arabicPeriod" startAt="1"/>
            </a:pPr>
            <a:r>
              <a:rPr lang="en-US" sz="1400" dirty="0">
                <a:solidFill>
                  <a:srgbClr val="FFFFFF"/>
                </a:solidFill>
                <a:latin typeface="Calibri" pitchFamily="34" charset="0"/>
                <a:ea typeface="Calibri" pitchFamily="34" charset="-122"/>
                <a:cs typeface="Calibri" pitchFamily="34" charset="-120"/>
              </a:rPr>
              <a:t>Pilot listings in 2–3 nodes and track attach rate and commission over 6–18 months</a:t>
            </a:r>
            <a:endParaRPr lang="en-US" sz="1400" dirty="0"/>
          </a:p>
        </p:txBody>
      </p:sp>
      <p:sp>
        <p:nvSpPr>
          <p:cNvPr id="7" name="Text 5"/>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2026-10-05T13:50:14Z</dcterms:created>
  <dcterms:modified xsi:type="dcterms:W3CDTF">2026-10-05T13:50:14Z</dcterms:modified>
</cp:coreProperties>
</file>