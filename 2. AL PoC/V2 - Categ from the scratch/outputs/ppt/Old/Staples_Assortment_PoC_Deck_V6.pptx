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05c885-0069-2565-a7f3-a50e527e1c96}">
          <p14:sldIdLst>
            <p14:sldId id="256"/>
          </p14:sldIdLst>
        </p14:section>
        <p14:section name="Summary" id="{9122fe3a-c46e-ca32-0466-46e5b8d6b336}">
          <p14:sldIdLst>
            <p14:sldId id="257"/>
            <p14:sldId id="258"/>
          </p14:sldIdLst>
        </p14:section>
        <p14:section name="Demo" id="{12b1d2bd-949b-1b26-48d3-109c671d0e50}">
          <p14:sldIdLst>
            <p14:sldId id="259"/>
          </p14:sldIdLst>
        </p14:section>
        <p14:section name="Next steps" id="{efa0cae4-8f1d-d9b2-cb09-e29611a6d2d5}">
          <p14:sldIdLst>
            <p14:sldId id="260"/>
            <p14:sldId id="261"/>
          </p14:sldIdLst>
        </p14:section>
        <p14:section name="Appendix" id="{ff585f54-b5cc-c5b5-2b74-75f23232cb2c}">
          <p14:sldIdLst>
            <p14:sldId id="262"/>
            <p14:sldId id="263"/>
          </p14:sldIdLst>
        </p14:section>
        <p14:section name="Close" id="{20c936d1-ba12-230f-0686-4256f7fdba2f}">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99 pass the safety gates (23 Strong, 30 Vector-led, 45 Gap-led, 1 Conditional) → 263 example products, each shown beside the nearest Staples item → 13 brands already selling on Staples (at-A-Glance, BAGSMART, Bentgo, Blue Sky, CamelBak, Fringe, High Sierra, House of Doolittle, Mead, OttLite,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wooden K-Cup pod drawers 0 of 50 coffee organisers (Strong: both methods; Staples sells 583 single-serve coffee items and 139 coffee makers); adult stainless bento 1 of 318 lunch bags (Strong); journals 0 of 805 planners (Gap-led); barrel chairs 0 of 116 accent chairs (Gap-led; the literal "White Chair").
Backup picks if asked: folding screens under $150 (0 of 99 partitions vs 20% of Wayfair's; Strong), statement wall clocks (Staples' clocks 60% plastic vs 5% at Wayfair; Strong),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95 further archetypes, each with example products, are in the demo.
Next steps: the five steps of slide 5 (same labels and headings). First moves if asked: 1 Prioritise: Link sales &amp; search to the top picks in 2–3 pilot nodes; 2 Protect: Calibrate gates with merchants (60 side-by-side pairs); 3 Expand: Agree the next nodes &amp; benchmark competitors;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If asked about order: deepen the 12 nodes first, then broaden.
1 Prioritise: join sales, traffic and search data to each archetype; profile buyers (B2B vs B2C,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amazon.com/dp/B0DBH21SRN"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BJ34MZ1J"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897</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99</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23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Guided &amp; daily journals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Planner shoppers already come to Staples (805 planners); a journal is the natural add-on</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805</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17%</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The Gratitude Journal 2026: Daily Gratitude Practice to Inspire Thankfulness, Mindfulness, Positivity, Happiness, Upgraded with Pen Holder, Inner Pocket &amp; Elastic Closure Band (Beige)" history="1" highlightClick="0" endSnd="0">
                  <a:extLst>
                    <a:ext uri="{A12FA001-AC4F-418D-AE19-62706E023703}">
                      <ahyp:hlinkClr xmlns:ahyp="http://schemas.microsoft.com/office/drawing/2018/hyperlinkcolor" val="tx"/>
                    </a:ext>
                  </a:extLst>
                </a:hlinkClick>
              </a:rPr>
              <a:t>The Gratitude Journal 2026… · $9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Demand &amp; segment prioritisation</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Cannibalisation &amp; threshold tuning</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Any node, competitor or audience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seller-listing vetting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thresholds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B2B vs B2C,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new 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2026-10-06T15:05:23Z</dcterms:created>
  <dcterms:modified xsi:type="dcterms:W3CDTF">2026-10-06T15:05:23Z</dcterms:modified>
</cp:coreProperties>
</file>