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359bbf7-353d-7f68-b28e-676a747cbcfa}">
          <p14:sldIdLst>
            <p14:sldId id="256"/>
          </p14:sldIdLst>
        </p14:section>
        <p14:section name="Summary" id="{b5f3b055-d130-7a47-f2a2-f0fae7764556}">
          <p14:sldIdLst>
            <p14:sldId id="257"/>
            <p14:sldId id="258"/>
          </p14:sldIdLst>
        </p14:section>
        <p14:section name="Demo" id="{fe848d13-2d49-a93f-c93d-1b1802cb63c6}">
          <p14:sldIdLst>
            <p14:sldId id="259"/>
          </p14:sldIdLst>
        </p14:section>
        <p14:section name="Next steps" id="{d85bbdc2-7545-d483-20ef-c9cf9635cdf2}">
          <p14:sldIdLst>
            <p14:sldId id="260"/>
            <p14:sldId id="261"/>
            <p14:sldId id="262"/>
            <p14:sldId id="263"/>
          </p14:sldIdLst>
        </p14:section>
        <p14:section name="Appendix" id="{271545fa-174d-9a1b-23f6-c56d4c5df505}">
          <p14:sldIdLst>
            <p14:sldId id="264"/>
            <p14:sldId id="265"/>
          </p14:sldIdLst>
        </p14:section>
        <p14:section name="Close" id="{081bd8c5-7b5c-c4d8-70f0-63f020aa2369}">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PoC answers one question for each of 12 Staples nodes: what does the leading competitor (Amazon or Wayfair) carry that Staples does not, and which of those items can Staples add through the marketplace without cannibalising its own assortment. External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a curated, core-adjacent ("White Chair") marketplace for Q1 2027 that does not cannibalise 1P sales, built on external data only.
Funnel: 19,928 product families (3,416 Staples, 6,577 Amazon, 9,935 Wayfair; colour/size variants merged) → 885 archetypes compared → 74 pass the safety gates (22 Strong, 23 Vector-led, 28 Gap-led, 1 Conditional) → 213 example products, each shown beside the nearest Staples item → 13 brands already selling on Staples (at-A-Glance, BAGSMART, Bentgo, CamelBak, Ello, Excello, Fringe, High Sierra, La Crosse Technology, Mead, PlanAhead, STANLEY, Targus).
How: Method 1 compares products in an embedding space (whitespace, fit with Staples, look, cannibalisation risk, price position); Method 2 compares attribute shares (share gap, price, colour, material/style, design). Each has its own cannibalisation gate; the final list is their union.
The four headline picks are anchored to what Staples already sells, so a merchant recognises them; each was checked against the Staples catalog: design-led (luxe) desks 46 of 668 office desks vs 35% of Wayfair's (Strong: both methods; the Hero-node pick; Staples' desks are corporate pieces at a median $729 vs $286 at Wayfair, so these add the home-office look at a lower price); wooden K-Cup pod drawers 0 of 50 coffee organisers (Strong: both methods; Staples sells 583 single-serve coffee items and 139 coffee makers); adult stainless bento 1 of 318 lunch bags (Strong); barrel chairs 0 of 116 accent chairs (the literal "White Chair"; Gap-led: a clear gap, but Method 1 reads most barrel chairs as off-brand for today's Staples customer, so check the fit).
Backup picks if asked: statement / oversized wall clocks (13 of 174 clocks vs 36% of Wayfair's; Strong; Staples' clocks 60% plastic vs 5%, a design trade-up), folding screens under $150 (0 of 99 partitions vs 20% of Wayfair's; Strong), guided / daily journals (0 of 805 planners vs 17% of Amazon's; Gap-led, read as off-brand by Method 1), hiking / outdoor daypacks (5 of 379 vs 31% of Amazon's).
If asked about the assortments: Staples builds for the workplace (57% of accent chairs are reception/lobby seats vs 1% at Wayfair; 83% of partitions tackable vs 2%); Wayfair for the home (38% of accent chairs for living rooms vs 7%); Amazon for the person and the activity (40% of backpacks hiking/outdoor vs 1%). Design-forward share 20% at Staples vs 44% at the competitors (text-based, provisional). Price: Staples desks median $729 vs $286 at Wayfair; 41% of Amazon planners under $10 vs 12%.
More picks: 70 further archetypes, each with example products, are in the demo.
Next steps: the five steps of slide 5 (same labels and headings). First moves if asked: 1 Prioritise: Link sales &amp; search to the top picks in 2–3 pilot nodes; 2 Protect: Tune thresholds with merchants (60 side-by-side pairs); 3 Expand: Pick 2–3 adjacent test categories &amp; a broad competitor; 4 Curate: Vet top picks; start with the 13 brands on Staples; 5 Monitor: Track pilots' GMV, attach &amp; commission.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(as per our research): Hero = Staples' top-performing categories, so we EXTEND them with design-led variants; Probable Hero = a good market where Staples can improve its position, so we BUILD depth; Non-Hero = a smaller Staples presence today, so we EXPLORE via marketplace sellers with near-zero 1P risk.
Competitors (as per our research): each node is compared with its Primary competitor only: Wayfair, the leading online home-furnishing store, for furniture and décor (5 nodes); Amazon, the default everyday marketplace, for supplies, bags and kitchen (7 nodes).
Archetypes recommended: the final gate keeps 3 to 10 per node; Desk Organizers, Water Bottles and Desk Pads have the smallest competitor samples (185, 194 and 61 product families), hence fewer picks.
Disclaimer detail: Amazon 14.6K and Wayfair 11.2K SKUs vs 4.9K Staples SKUs. Because the competitor files are samples, every comparison is a share of each retailer's range with a credibility check, never a raw count. No internal sales, traffic or margin data were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add the demo link here before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PoC engine on Staples data: the same analysis, now on Staples' internal data, shaped by the first review. If asked about order: acquire the product first (build the basket for existing customers), adjacent categories before core.
1 Prioritise (opportunity sizing): opportunity $ per archetype = Staples demand for the node (sessions or units) × the archetype's share (the only competitor input: e.g. 31% of Amazon's backpacks are hiking/outdoor vs 5 of 379 at Staples, scaled to Staples' velocity) × expected conversion × AUR (modelled at Staples' price point; the PoC's competitor median, e.g. $23 for hiking daypacks, is the starting value). Net of cannibalisation and times commission, it gives Staples' own revenue. Stack-rank to the ~20% of gaps that solve 80%, cut per category owner (e.g. furniture, consumer electronics) so each merchant sees their own list, and size it by customer segment: Staples.com (SMB and consumers) first, Staples Business later (e.g. a dialysis chair matters to Staples Business, not to Staples.com). Null searches alone mislead because redirects hide demand: trace search → product page → conversion.
2 Protect: tune the cannibalisation (safety-gate) thresholds with merchants (cannibalisation risk bands, price-position limits, fit-with-Staples cut-offs, picks per node): tighter the closer a category is to core (e.g. desks: no top-line erosion just for unit velocity). Today's checks use supply only (they already hold back 25% of competitor products as substitutes or undercuts); real 1P sales overlap replaces that proxy, plus price and margin floors per node.
3 Expand (adjacent-category whitespace): the flip side of Protect. Relaxing the adjacency thresholds (AAS, Adjacency Affinity Score: fit with Staples) turns today's OFF-BRAND products into whitespace and new verticals instead of exclusions. Test the adjacent categories raised in the review (toys, e.g. waiting-room rewards; hydration; travel and luggage; tech accessories), benchmarking a competitor with a broad assortment to scope each. The PoC already set aside 8,399 competitor families outside the 12 nodes; a new category or competitor is one config entry, no code change.
4 Curate: the same engine scores every seller submission for fit, 1P overlap and price, feeding an approve / review / reject queue that learns from curator decisions. Recruiting: start with the 13 brands behind our picks already on Staples (at-A-Glance, BAGSMART, Bentgo, CamelBak, Ello, Excello, Fringe, High Sierra, La Crosse Technology, Mead, PlanAhead, STANLEY, Targus), then top competitor sellers Staples does not carry; Wayfair's range is mostly house brands, so source the archetype, not the brand.
5 Monitor: quarterly re-crawls flag new and closing gaps. Nothing is live on the Marketplace yet, so track live picks' GMV, attach and conversion against the forecast, scale what proves out, and feed results back into step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paths, read left to right: sense demand early, size and validate it, then act on the basket and with sellers. In each column the top card matters most. Each combines external signals with Staples data; adjacent-category whitespace now sits in step 3 of slide 5.
- Search &amp; funnel gaps: on-site searches and external SEO keywords where competitors rank and Staples does not, mapped to archetypes. Null searches alone are not enough (redirects hide unmet demand), so trace search → product page → need met (satisfaction) → conversion; feeds seller recruiting and product pages.
- Social, trends &amp; retail media: mentions, hashtags and saves per archetype plus Google Trends, scored for growth and sentiment. Signal-based expansion: after Staples enters an adjacent category, these signals (with search and early sales) show which subcategories to develop, so the first load is confident rather than every item. The same audiences guide off-site retail media for new customers: the second workstream (educate and acquire the customer), on a longer horizon once the product is live.
- Demand forecasting: per node and archetype from sales history, with Back-to-School seasonality and trend signals; sizes GMV and commission before listing and feeds the opportunity $ on slide 5.
- Market research &amp; customer surveys: B2B and B2C customers on unmet needs, style and price; concept tests of the top archetypes; results set the prioritisation weights.
- Basket building for existing customers: market-basket analysis plus the business verticals of top customers show which complements are missing; target 1–2 attach items per order. Staples.com customers first; Staples Business is a separate, later channel.
- Competitor best-sellers &amp; seller intelligence: identify the top-selling brands and sellers in competitor categories Staples does not carry, then layer unit conversion and seller performance. This moves from broad visibility to category-specific targets and key players to recruit, and sharpens the opportunity estimates. Note: the PoC deliberately excluded competitor ratings, rank and bought-in-past-month signals; using them is a phase-2 decision for Staples.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curated growth plan for the Staples Marketplace: everything on slides 5 and 6, put in the order agreed in our first review. Product first, customer next (two workstreams); existing customers before new ones (build the basket); adjacent categories before core (so existing merchants are brought along, not challenged); Staples.com before Staples Business; a confident first load, then scale on evidence (launch and learn).
Phase 1 Launch: start from the PoC's 74 safe picks; tune the cannibalisation thresholds and relax the adjacency thresholds with merchants; test the adjacent categories raised (toys, hydration, travel and luggage, tech accessories); vet seller listings and recruit, starting with the 13 brands already on Staples; add basket attach items for existing customers. Output: a curated launch assortment and one story per category owner.
Phase 2 Size &amp; scale: join Staples data to size the prize per archetype by customer segment and keep the top ~20%; search-funnel gaps and demand forecasting; competitor best-seller and seller intelligence; signals choose which subcategories to grow after entry; track pilots and re-crawl quarterly.
Phase 3 Extend: raise core-category gaps with the merchants who own them (e.g. smaller or luxe desks, bento); the customer workstream (education, social, trends, off-site retail media) for new customers; validate with research and surveys; Staples Business as a separate channel for specialist verticals and contract needs.
How we would support it (phased): first organise the data and build the stories for the initial launch, then extend into Staples' data, more analyses and stakeholder use cases, using Staples' existing data and tools and adding external data where useful; the plan adapts to Staples' roadmap rather than a fixed path.
Beyond internal reporting (if asked how this differs from running internal tools): internal data can't show what Staples doesn't carry; we measure both sides with one attribute instrument (885 archetypes); cannibalisation is screened by two independent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model: three tiers, each pairing Staples and LatentView, with a set cadence; issues move up a tier when they need a decision.
Executive team (quarterly): Staples leadership with LatentView leadership. Quarterly business review for value, excellence and innovation; quarterly discussions on long-term planning and strategic alignment; a monthly executive briefing on strategic updates, key risks and mitigation.
Project team (monthly / quarterly): Staples team leads and stakeholders with LatentView client partners and account managers, who collectively own program management. Monthly business review on milestones, feedback and scope; weekly newsletters on project health with critical issues and dependencies escalated.
Delivery team (daily / weekly): the Staples team lead works with the LatentView program manager and a data engineering, BI and data science team. Daily stand-ups with the program manager; weekly review meetings on progress, challenges and upcoming tasks; monthly sprint planning and cross-workstream meetings; a quarterly inspect-and-adapt.
LatentView value adds and investments: access to a scalable analytics team; org expertise from the data engineering and data science &amp; AI horizontals, the BI and supply-chain centres of excellence and service delivery excellence; a buffer pool of trained engineers, scientists, analysts and BI developers for contingency.
How we communicate: maximum transparency, feedback on the partnership and team, insight into team utilisation, identifying opportunities, and new ideas across multiple frontiers. The cadence scales with the phase on the growth plan: light while we build the launch stories, fuller once Staples' data joins.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flow. Prep &amp; mapping: ingest and clean the three sources (PII from Wayfair reviews removed), merge colour/size variants into product families, map each competitor product to the right Staples node with a k-NN classifier over all Staples nodes. Attributes &amp; archetypes: read every product's full text with the same extractor on both sides into 3 tiers of attributes; build archetypes as combinations of 4–6 attributes (no price). Neutral product embeddings: each product becomes a card of its extracted attributes only (same template on both sides, no title, price or brand, so neither retailer's copy style separates them), embedded with bge-base; it powers Method 1, the clustering cross-check and the nearest-Staples match for every example product. Method 1 in embedding space (whitespace, fit with Staples, aesthetic difference, cannibalisation risk, price position) gives VOS. Method 2 on attribute shares (share gap, price, colour, material/style, design) gives TG, with its own attribute cannibalisation check (ACR). Gates: each method has its own safety gate; the final gate takes the union and tiers it. Picks: example products safe under the recommending method, each shown next to the nearest Staples product, plus brand and seller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1 decision map: every competitor product gets one label. First EXCLUDE (identical to a Staples product), then OFF-BRAND (AAS below T_low: poor fit with Staples' catalog and customers), then the CRS band decides. Low CRS (&lt; 30): CURATE if AAS ≥ T_high (true whitespace), else EDGE (hold for phase 2). Middle CRS: LEAN-APPROVE if the look is clearly different (AD ≥ 0.5) and the fit is strong, else REVIEW (merchant calibration queue). High CRS (≥ 70), top-down: UNDERCUT (PPR &lt; 0.85×, hard reject), TRADE-UP (PPR ≥ 1.5× with a design or material upgrade), STYLE-EXTENSION (AD ≥ 0.5), otherwise SUBSTITUTE (same job, same look, reject).
T_low / T_high are set from Staples' own AAS per L2 group (ranges 24–42 and 43–61); all cut-offs are provisional until the merchant calibration session (slide 5, step 2 Protect).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Next steps are on the executive summary and in detail on slides 5–7 (the PoC engine on Staples data, growth paths, and the phased growth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914400"/>
            <a:ext cx="1005840" cy="54864"/>
          </a:xfrm>
          <a:prstGeom prst="rect">
            <a:avLst/>
          </a:prstGeom>
          <a:solidFill>
            <a:srgbClr val="F5A623"/>
          </a:solidFill>
          <a:ln w="12700">
            <a:solidFill>
              <a:srgbClr val="F5A623"/>
            </a:solidFill>
            <a:prstDash val="solid"/>
          </a:ln>
        </p:spPr>
      </p:sp>
      <p:sp>
        <p:nvSpPr>
          <p:cNvPr id="3" name="Shape 1"/>
          <p:cNvSpPr/>
          <p:nvPr/>
        </p:nvSpPr>
        <p:spPr>
          <a:xfrm>
            <a:off x="1417320" y="914400"/>
            <a:ext cx="10360152" cy="54864"/>
          </a:xfrm>
          <a:prstGeom prst="rect">
            <a:avLst/>
          </a:prstGeom>
          <a:solidFill>
            <a:srgbClr val="1F4E9A"/>
          </a:solidFill>
          <a:ln w="12700">
            <a:solidFill>
              <a:srgbClr val="1F4E9A"/>
            </a:solidFill>
            <a:prstDash val="solid"/>
          </a:ln>
        </p:spPr>
      </p:sp>
      <p:sp>
        <p:nvSpPr>
          <p:cNvPr id="4" name="Text 2"/>
          <p:cNvSpPr/>
          <p:nvPr/>
        </p:nvSpPr>
        <p:spPr>
          <a:xfrm>
            <a:off x="411480" y="6528816"/>
            <a:ext cx="7315200" cy="219456"/>
          </a:xfrm>
          <a:prstGeom prst="rect">
            <a:avLst/>
          </a:prstGeom>
          <a:noFill/>
          <a:ln/>
        </p:spPr>
        <p:txBody>
          <a:bodyPr wrap="square" lIns="0" tIns="0" rIns="0" bIns="0" rtlCol="0" anchor="ctr"/>
          <a:lstStyle/>
          <a:p>
            <a:pPr indent="0" marL="0">
              <a:buNone/>
            </a:pPr>
            <a:r>
              <a:rPr lang="en-US" sz="900" dirty="0">
                <a:solidFill>
                  <a:srgbClr val="7A8599"/>
                </a:solidFill>
                <a:latin typeface="Calibri" pitchFamily="34" charset="0"/>
                <a:ea typeface="Calibri" pitchFamily="34" charset="-122"/>
                <a:cs typeface="Calibri" pitchFamily="34" charset="-120"/>
              </a:rPr>
              <a:t>Staples × LatentView  |  Assortment Gap &amp; Archetype PoC  |  Confidential</a:t>
            </a:r>
            <a:endParaRPr lang="en-US" sz="900" dirty="0"/>
          </a:p>
        </p:txBody>
      </p:sp>
      <p:sp>
        <p:nvSpPr>
          <p:cNvPr id="5" name="Text 3"/>
          <p:cNvSpPr/>
          <p:nvPr>
            <p:ph idx="103" type="title" hasCustomPrompt="1"/>
          </p:nvPr>
        </p:nvSpPr>
        <p:spPr>
          <a:xfrm>
            <a:off x="411480" y="219456"/>
            <a:ext cx="11365992" cy="658368"/>
          </a:xfrm>
          <a:prstGeom prst="rect">
            <a:avLst/>
          </a:prstGeom>
          <a:noFill/>
          <a:ln/>
        </p:spPr>
        <p:txBody>
          <a:bodyPr wrap="square" rtlCol="0"/>
          <a:lstStyle>
            <a:lvl1pPr algn="l" indent="0" marL="0">
              <a:buNone/>
              <a:defRPr lang="en-US" sz="2800" b="1" dirty="0">
                <a:solidFill>
                  <a:srgbClr val="1F4E9A"/>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3285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slideLayout" Target="../slideLayouts/slideLayout3.xml"/><Relationship Id="rId1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www.wayfair.com/shop-product-type/pdp/wrought-studio-desk-with-ports-built-in-outlets-glossy-office-use-high-gloss-outlets-for-w115195887.html?piid=906632592" TargetMode="External"/><Relationship Id="rId4" Type="http://schemas.openxmlformats.org/officeDocument/2006/relationships/hyperlink" Target="https://www.amazon.com/dp/B0716B2ZFK" TargetMode="External"/><Relationship Id="rId6" Type="http://schemas.openxmlformats.org/officeDocument/2006/relationships/hyperlink" Target="https://www.amazon.com/dp/B0DBH21SRN" TargetMode="External"/><Relationship Id="rId8" Type="http://schemas.openxmlformats.org/officeDocument/2006/relationships/hyperlink" Target="https://www.wayfair.com/furniture/pdp/hokku-designs-360-swivel-accent-chair-velvet-upholstered-open-back-swivel-barrel-chair-modern-swivel-lounge-chair-for-living-room-dining-room-bedroom-w119643556.html?piid=1272737804" TargetMode="External"/><Relationship Id="rId1" Type="http://schemas.openxmlformats.org/officeDocument/2006/relationships/image" Target="../media/image-2-1.png"/><Relationship Id="rId3" Type="http://schemas.openxmlformats.org/officeDocument/2006/relationships/image" Target="../media/image-2-2.png"/><Relationship Id="rId5" Type="http://schemas.openxmlformats.org/officeDocument/2006/relationships/image" Target="../media/image-2-3.png"/><Relationship Id="rId7"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 Id="rId11" Type="http://schemas.openxmlformats.org/officeDocument/2006/relationships/image" Target="../media/image-2-7.png"/><Relationship Id="rId12" Type="http://schemas.openxmlformats.org/officeDocument/2006/relationships/image" Target="../media/image-2-8.png"/><Relationship Id="rId13" Type="http://schemas.openxmlformats.org/officeDocument/2006/relationships/image" Target="../media/image-2-9.png"/><Relationship Id="rId14" Type="http://schemas.openxmlformats.org/officeDocument/2006/relationships/slideLayout" Target="../slideLayouts/slideLayout2.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slideLayout" Target="../slideLayouts/slideLayout2.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2103120"/>
            <a:ext cx="6675120" cy="86868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Staples Marketplace</a:t>
            </a:r>
            <a:endParaRPr lang="en-US" sz="4400" dirty="0"/>
          </a:p>
        </p:txBody>
      </p:sp>
      <p:sp>
        <p:nvSpPr>
          <p:cNvPr id="3" name="Shape 1"/>
          <p:cNvSpPr/>
          <p:nvPr/>
        </p:nvSpPr>
        <p:spPr>
          <a:xfrm>
            <a:off x="658368" y="3072384"/>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246120"/>
            <a:ext cx="6675120" cy="548640"/>
          </a:xfrm>
          <a:prstGeom prst="rect">
            <a:avLst/>
          </a:prstGeom>
          <a:noFill/>
          <a:ln/>
        </p:spPr>
        <p:txBody>
          <a:bodyPr wrap="square" lIns="0" tIns="0" rIns="0" bIns="0" rtlCol="0" anchor="t"/>
          <a:lstStyle/>
          <a:p>
            <a:pPr indent="0" marL="0">
              <a:buNone/>
            </a:pPr>
            <a:r>
              <a:rPr lang="en-US" sz="2600" dirty="0">
                <a:solidFill>
                  <a:srgbClr val="CADCFC"/>
                </a:solidFill>
                <a:latin typeface="Calibri" pitchFamily="34" charset="0"/>
                <a:ea typeface="Calibri" pitchFamily="34" charset="-122"/>
                <a:cs typeface="Calibri" pitchFamily="34" charset="-120"/>
              </a:rPr>
              <a:t>Assortment Gap &amp; Archetype Recommendation</a:t>
            </a:r>
            <a:endParaRPr lang="en-US" sz="26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
        <p:nvSpPr>
          <p:cNvPr id="6" name="Shape 4"/>
          <p:cNvSpPr/>
          <p:nvPr/>
        </p:nvSpPr>
        <p:spPr>
          <a:xfrm>
            <a:off x="658368" y="4206240"/>
            <a:ext cx="2286000" cy="658368"/>
          </a:xfrm>
          <a:prstGeom prst="roundRect">
            <a:avLst>
              <a:gd name="adj" fmla="val 11111"/>
            </a:avLst>
          </a:prstGeom>
          <a:solidFill>
            <a:srgbClr val="FFFFFF"/>
          </a:solidFill>
          <a:ln w="12700">
            <a:solidFill>
              <a:srgbClr val="FFFFFF"/>
            </a:solidFill>
            <a:prstDash val="solid"/>
          </a:ln>
        </p:spPr>
      </p:sp>
      <p:pic>
        <p:nvPicPr>
          <p:cNvPr id="7" name="Image 0" descr="D:\Testing\My-Staples-PoC\2. AL PoC\V2 - Categ from the scratch\outputs\ppt\assets\title_logo_staples.png">    </p:cNvPr>
          <p:cNvPicPr>
            <a:picLocks noChangeAspect="1"/>
          </p:cNvPicPr>
          <p:nvPr/>
        </p:nvPicPr>
        <p:blipFill>
          <a:blip r:embed="rId1"/>
          <a:srcRect l="0" r="0" t="0" b="0"/>
          <a:stretch/>
        </p:blipFill>
        <p:spPr>
          <a:xfrm>
            <a:off x="822960" y="4361688"/>
            <a:ext cx="1956816" cy="347472"/>
          </a:xfrm>
          <a:prstGeom prst="rect">
            <a:avLst/>
          </a:prstGeom>
        </p:spPr>
      </p:pic>
      <p:sp>
        <p:nvSpPr>
          <p:cNvPr id="8" name="Shape 5"/>
          <p:cNvSpPr/>
          <p:nvPr/>
        </p:nvSpPr>
        <p:spPr>
          <a:xfrm>
            <a:off x="3310128" y="4206240"/>
            <a:ext cx="2286000" cy="658368"/>
          </a:xfrm>
          <a:prstGeom prst="roundRect">
            <a:avLst>
              <a:gd name="adj" fmla="val 11111"/>
            </a:avLst>
          </a:prstGeom>
          <a:solidFill>
            <a:srgbClr val="FFFFFF"/>
          </a:solidFill>
          <a:ln w="12700">
            <a:solidFill>
              <a:srgbClr val="FFFFFF"/>
            </a:solidFill>
            <a:prstDash val="solid"/>
          </a:ln>
        </p:spPr>
      </p:sp>
      <p:pic>
        <p:nvPicPr>
          <p:cNvPr id="9" name="Image 1" descr="D:\Testing\My-Staples-PoC\2. AL PoC\V2 - Categ from the scratch\outputs\ppt\assets\title_logo_latentview.png">    </p:cNvPr>
          <p:cNvPicPr>
            <a:picLocks noChangeAspect="1"/>
          </p:cNvPicPr>
          <p:nvPr/>
        </p:nvPicPr>
        <p:blipFill>
          <a:blip r:embed="rId2"/>
          <a:srcRect l="0" r="0" t="0" b="0"/>
          <a:stretch/>
        </p:blipFill>
        <p:spPr>
          <a:xfrm>
            <a:off x="3474720" y="4325112"/>
            <a:ext cx="1956816" cy="420624"/>
          </a:xfrm>
          <a:prstGeom prst="rect">
            <a:avLst/>
          </a:prstGeom>
        </p:spPr>
      </p:pic>
      <p:sp>
        <p:nvSpPr>
          <p:cNvPr id="10" name="Text 6"/>
          <p:cNvSpPr txBox="1"/>
          <p:nvPr/>
        </p:nvSpPr>
        <p:spPr>
          <a:xfrm>
            <a:off x="763524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HERO</a:t>
            </a:r>
            <a:endParaRPr lang="en-US" sz="1000" dirty="0"/>
          </a:p>
        </p:txBody>
      </p:sp>
      <p:sp>
        <p:nvSpPr>
          <p:cNvPr id="11" name="Shape 7"/>
          <p:cNvSpPr/>
          <p:nvPr/>
        </p:nvSpPr>
        <p:spPr>
          <a:xfrm>
            <a:off x="7635240" y="804672"/>
            <a:ext cx="1188720" cy="1243584"/>
          </a:xfrm>
          <a:prstGeom prst="roundRect">
            <a:avLst>
              <a:gd name="adj" fmla="val 9231"/>
            </a:avLst>
          </a:prstGeom>
          <a:solidFill>
            <a:srgbClr val="1C3A7A"/>
          </a:solidFill>
          <a:ln w="12700">
            <a:solidFill>
              <a:srgbClr val="1C3A7A"/>
            </a:solidFill>
            <a:prstDash val="solid"/>
          </a:ln>
        </p:spPr>
      </p:sp>
      <p:pic>
        <p:nvPicPr>
          <p:cNvPr id="12" name="Image 2" descr="preencoded.png">    </p:cNvPr>
          <p:cNvPicPr>
            <a:picLocks noChangeAspect="1"/>
          </p:cNvPicPr>
          <p:nvPr/>
        </p:nvPicPr>
        <p:blipFill>
          <a:blip r:embed="rId3"/>
          <a:stretch>
            <a:fillRect/>
          </a:stretch>
        </p:blipFill>
        <p:spPr>
          <a:xfrm>
            <a:off x="7991856" y="950976"/>
            <a:ext cx="475488" cy="475488"/>
          </a:xfrm>
          <a:prstGeom prst="rect">
            <a:avLst/>
          </a:prstGeom>
        </p:spPr>
      </p:pic>
      <p:sp>
        <p:nvSpPr>
          <p:cNvPr id="13" name="Text 8"/>
          <p:cNvSpPr txBox="1"/>
          <p:nvPr/>
        </p:nvSpPr>
        <p:spPr>
          <a:xfrm>
            <a:off x="768096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Planners</a:t>
            </a:r>
            <a:endParaRPr lang="en-US" sz="1050" dirty="0"/>
          </a:p>
        </p:txBody>
      </p:sp>
      <p:sp>
        <p:nvSpPr>
          <p:cNvPr id="14" name="Shape 9"/>
          <p:cNvSpPr/>
          <p:nvPr/>
        </p:nvSpPr>
        <p:spPr>
          <a:xfrm>
            <a:off x="7635240" y="2176272"/>
            <a:ext cx="1188720" cy="1243584"/>
          </a:xfrm>
          <a:prstGeom prst="roundRect">
            <a:avLst>
              <a:gd name="adj" fmla="val 9231"/>
            </a:avLst>
          </a:prstGeom>
          <a:solidFill>
            <a:srgbClr val="1C3A7A"/>
          </a:solidFill>
          <a:ln w="12700">
            <a:solidFill>
              <a:srgbClr val="1C3A7A"/>
            </a:solidFill>
            <a:prstDash val="solid"/>
          </a:ln>
        </p:spPr>
      </p:sp>
      <p:pic>
        <p:nvPicPr>
          <p:cNvPr id="15" name="Image 3" descr="preencoded.png">    </p:cNvPr>
          <p:cNvPicPr>
            <a:picLocks noChangeAspect="1"/>
          </p:cNvPicPr>
          <p:nvPr/>
        </p:nvPicPr>
        <p:blipFill>
          <a:blip r:embed="rId4"/>
          <a:stretch>
            <a:fillRect/>
          </a:stretch>
        </p:blipFill>
        <p:spPr>
          <a:xfrm>
            <a:off x="7991856" y="2322576"/>
            <a:ext cx="475488" cy="475488"/>
          </a:xfrm>
          <a:prstGeom prst="rect">
            <a:avLst/>
          </a:prstGeom>
        </p:spPr>
      </p:pic>
      <p:sp>
        <p:nvSpPr>
          <p:cNvPr id="16" name="Text 10"/>
          <p:cNvSpPr txBox="1"/>
          <p:nvPr/>
        </p:nvSpPr>
        <p:spPr>
          <a:xfrm>
            <a:off x="768096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Organizers</a:t>
            </a:r>
            <a:endParaRPr lang="en-US" sz="1050" dirty="0"/>
          </a:p>
        </p:txBody>
      </p:sp>
      <p:sp>
        <p:nvSpPr>
          <p:cNvPr id="17" name="Shape 11"/>
          <p:cNvSpPr/>
          <p:nvPr/>
        </p:nvSpPr>
        <p:spPr>
          <a:xfrm>
            <a:off x="7635240" y="3547872"/>
            <a:ext cx="1188720" cy="1243584"/>
          </a:xfrm>
          <a:prstGeom prst="roundRect">
            <a:avLst>
              <a:gd name="adj" fmla="val 9231"/>
            </a:avLst>
          </a:prstGeom>
          <a:solidFill>
            <a:srgbClr val="1C3A7A"/>
          </a:solidFill>
          <a:ln w="12700">
            <a:solidFill>
              <a:srgbClr val="1C3A7A"/>
            </a:solidFill>
            <a:prstDash val="solid"/>
          </a:ln>
        </p:spPr>
      </p:sp>
      <p:pic>
        <p:nvPicPr>
          <p:cNvPr id="18" name="Image 4" descr="preencoded.png">    </p:cNvPr>
          <p:cNvPicPr>
            <a:picLocks noChangeAspect="1"/>
          </p:cNvPicPr>
          <p:nvPr/>
        </p:nvPicPr>
        <p:blipFill>
          <a:blip r:embed="rId5"/>
          <a:stretch>
            <a:fillRect/>
          </a:stretch>
        </p:blipFill>
        <p:spPr>
          <a:xfrm>
            <a:off x="7991856" y="3694176"/>
            <a:ext cx="475488" cy="475488"/>
          </a:xfrm>
          <a:prstGeom prst="rect">
            <a:avLst/>
          </a:prstGeom>
        </p:spPr>
      </p:pic>
      <p:sp>
        <p:nvSpPr>
          <p:cNvPr id="19" name="Text 12"/>
          <p:cNvSpPr txBox="1"/>
          <p:nvPr/>
        </p:nvSpPr>
        <p:spPr>
          <a:xfrm>
            <a:off x="768096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Backpacks</a:t>
            </a:r>
            <a:endParaRPr lang="en-US" sz="1050" dirty="0"/>
          </a:p>
        </p:txBody>
      </p:sp>
      <p:sp>
        <p:nvSpPr>
          <p:cNvPr id="20" name="Shape 13"/>
          <p:cNvSpPr/>
          <p:nvPr/>
        </p:nvSpPr>
        <p:spPr>
          <a:xfrm>
            <a:off x="7635240" y="4919472"/>
            <a:ext cx="1188720" cy="1243584"/>
          </a:xfrm>
          <a:prstGeom prst="roundRect">
            <a:avLst>
              <a:gd name="adj" fmla="val 9231"/>
            </a:avLst>
          </a:prstGeom>
          <a:solidFill>
            <a:srgbClr val="1C3A7A"/>
          </a:solidFill>
          <a:ln w="12700">
            <a:solidFill>
              <a:srgbClr val="1C3A7A"/>
            </a:solidFill>
            <a:prstDash val="solid"/>
          </a:ln>
        </p:spPr>
      </p:sp>
      <p:pic>
        <p:nvPicPr>
          <p:cNvPr id="21" name="Image 5" descr="preencoded.png">    </p:cNvPr>
          <p:cNvPicPr>
            <a:picLocks noChangeAspect="1"/>
          </p:cNvPicPr>
          <p:nvPr/>
        </p:nvPicPr>
        <p:blipFill>
          <a:blip r:embed="rId6"/>
          <a:stretch>
            <a:fillRect/>
          </a:stretch>
        </p:blipFill>
        <p:spPr>
          <a:xfrm>
            <a:off x="7991856" y="5065776"/>
            <a:ext cx="475488" cy="475488"/>
          </a:xfrm>
          <a:prstGeom prst="rect">
            <a:avLst/>
          </a:prstGeom>
        </p:spPr>
      </p:pic>
      <p:sp>
        <p:nvSpPr>
          <p:cNvPr id="22" name="Text 14"/>
          <p:cNvSpPr txBox="1"/>
          <p:nvPr/>
        </p:nvSpPr>
        <p:spPr>
          <a:xfrm>
            <a:off x="768096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Office Desks</a:t>
            </a:r>
            <a:endParaRPr lang="en-US" sz="1050" dirty="0"/>
          </a:p>
        </p:txBody>
      </p:sp>
      <p:sp>
        <p:nvSpPr>
          <p:cNvPr id="23" name="Text 15"/>
          <p:cNvSpPr txBox="1"/>
          <p:nvPr/>
        </p:nvSpPr>
        <p:spPr>
          <a:xfrm>
            <a:off x="896112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PROBABLE HERO</a:t>
            </a:r>
            <a:endParaRPr lang="en-US" sz="1000" dirty="0"/>
          </a:p>
        </p:txBody>
      </p:sp>
      <p:sp>
        <p:nvSpPr>
          <p:cNvPr id="24" name="Shape 16"/>
          <p:cNvSpPr/>
          <p:nvPr/>
        </p:nvSpPr>
        <p:spPr>
          <a:xfrm>
            <a:off x="8961120" y="804672"/>
            <a:ext cx="1188720" cy="1243584"/>
          </a:xfrm>
          <a:prstGeom prst="roundRect">
            <a:avLst>
              <a:gd name="adj" fmla="val 9231"/>
            </a:avLst>
          </a:prstGeom>
          <a:solidFill>
            <a:srgbClr val="24498F"/>
          </a:solidFill>
          <a:ln w="12700">
            <a:solidFill>
              <a:srgbClr val="24498F"/>
            </a:solidFill>
            <a:prstDash val="solid"/>
          </a:ln>
        </p:spPr>
      </p:sp>
      <p:pic>
        <p:nvPicPr>
          <p:cNvPr id="25" name="Image 6" descr="preencoded.png">    </p:cNvPr>
          <p:cNvPicPr>
            <a:picLocks noChangeAspect="1"/>
          </p:cNvPicPr>
          <p:nvPr/>
        </p:nvPicPr>
        <p:blipFill>
          <a:blip r:embed="rId7"/>
          <a:stretch>
            <a:fillRect/>
          </a:stretch>
        </p:blipFill>
        <p:spPr>
          <a:xfrm>
            <a:off x="9317736" y="950976"/>
            <a:ext cx="475488" cy="475488"/>
          </a:xfrm>
          <a:prstGeom prst="rect">
            <a:avLst/>
          </a:prstGeom>
        </p:spPr>
      </p:pic>
      <p:sp>
        <p:nvSpPr>
          <p:cNvPr id="26" name="Text 17"/>
          <p:cNvSpPr txBox="1"/>
          <p:nvPr/>
        </p:nvSpPr>
        <p:spPr>
          <a:xfrm>
            <a:off x="900684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Water Bottles</a:t>
            </a:r>
            <a:endParaRPr lang="en-US" sz="1050" dirty="0"/>
          </a:p>
        </p:txBody>
      </p:sp>
      <p:sp>
        <p:nvSpPr>
          <p:cNvPr id="27" name="Shape 18"/>
          <p:cNvSpPr/>
          <p:nvPr/>
        </p:nvSpPr>
        <p:spPr>
          <a:xfrm>
            <a:off x="8961120" y="2176272"/>
            <a:ext cx="1188720" cy="1243584"/>
          </a:xfrm>
          <a:prstGeom prst="roundRect">
            <a:avLst>
              <a:gd name="adj" fmla="val 9231"/>
            </a:avLst>
          </a:prstGeom>
          <a:solidFill>
            <a:srgbClr val="24498F"/>
          </a:solidFill>
          <a:ln w="12700">
            <a:solidFill>
              <a:srgbClr val="24498F"/>
            </a:solidFill>
            <a:prstDash val="solid"/>
          </a:ln>
        </p:spPr>
      </p:sp>
      <p:pic>
        <p:nvPicPr>
          <p:cNvPr id="28" name="Image 7" descr="preencoded.png">    </p:cNvPr>
          <p:cNvPicPr>
            <a:picLocks noChangeAspect="1"/>
          </p:cNvPicPr>
          <p:nvPr/>
        </p:nvPicPr>
        <p:blipFill>
          <a:blip r:embed="rId8"/>
          <a:stretch>
            <a:fillRect/>
          </a:stretch>
        </p:blipFill>
        <p:spPr>
          <a:xfrm>
            <a:off x="9317736" y="2322576"/>
            <a:ext cx="475488" cy="475488"/>
          </a:xfrm>
          <a:prstGeom prst="rect">
            <a:avLst/>
          </a:prstGeom>
        </p:spPr>
      </p:pic>
      <p:sp>
        <p:nvSpPr>
          <p:cNvPr id="29" name="Text 19"/>
          <p:cNvSpPr txBox="1"/>
          <p:nvPr/>
        </p:nvSpPr>
        <p:spPr>
          <a:xfrm>
            <a:off x="900684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Accent Chairs</a:t>
            </a:r>
            <a:endParaRPr lang="en-US" sz="1050" dirty="0"/>
          </a:p>
        </p:txBody>
      </p:sp>
      <p:sp>
        <p:nvSpPr>
          <p:cNvPr id="30" name="Shape 20"/>
          <p:cNvSpPr/>
          <p:nvPr/>
        </p:nvSpPr>
        <p:spPr>
          <a:xfrm>
            <a:off x="8961120" y="3547872"/>
            <a:ext cx="1188720" cy="1243584"/>
          </a:xfrm>
          <a:prstGeom prst="roundRect">
            <a:avLst>
              <a:gd name="adj" fmla="val 9231"/>
            </a:avLst>
          </a:prstGeom>
          <a:solidFill>
            <a:srgbClr val="24498F"/>
          </a:solidFill>
          <a:ln w="12700">
            <a:solidFill>
              <a:srgbClr val="24498F"/>
            </a:solidFill>
            <a:prstDash val="solid"/>
          </a:ln>
        </p:spPr>
      </p:sp>
      <p:pic>
        <p:nvPicPr>
          <p:cNvPr id="31" name="Image 8" descr="preencoded.png">    </p:cNvPr>
          <p:cNvPicPr>
            <a:picLocks noChangeAspect="1"/>
          </p:cNvPicPr>
          <p:nvPr/>
        </p:nvPicPr>
        <p:blipFill>
          <a:blip r:embed="rId9"/>
          <a:stretch>
            <a:fillRect/>
          </a:stretch>
        </p:blipFill>
        <p:spPr>
          <a:xfrm>
            <a:off x="9317736" y="3694176"/>
            <a:ext cx="475488" cy="475488"/>
          </a:xfrm>
          <a:prstGeom prst="rect">
            <a:avLst/>
          </a:prstGeom>
        </p:spPr>
      </p:pic>
      <p:sp>
        <p:nvSpPr>
          <p:cNvPr id="32" name="Text 21"/>
          <p:cNvSpPr txBox="1"/>
          <p:nvPr/>
        </p:nvSpPr>
        <p:spPr>
          <a:xfrm>
            <a:off x="900684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Lamps</a:t>
            </a:r>
            <a:endParaRPr lang="en-US" sz="1050" dirty="0"/>
          </a:p>
        </p:txBody>
      </p:sp>
      <p:sp>
        <p:nvSpPr>
          <p:cNvPr id="33" name="Shape 22"/>
          <p:cNvSpPr/>
          <p:nvPr/>
        </p:nvSpPr>
        <p:spPr>
          <a:xfrm>
            <a:off x="8961120" y="4919472"/>
            <a:ext cx="1188720" cy="1243584"/>
          </a:xfrm>
          <a:prstGeom prst="roundRect">
            <a:avLst>
              <a:gd name="adj" fmla="val 9231"/>
            </a:avLst>
          </a:prstGeom>
          <a:solidFill>
            <a:srgbClr val="24498F"/>
          </a:solidFill>
          <a:ln w="12700">
            <a:solidFill>
              <a:srgbClr val="24498F"/>
            </a:solidFill>
            <a:prstDash val="solid"/>
          </a:ln>
        </p:spPr>
      </p:sp>
      <p:pic>
        <p:nvPicPr>
          <p:cNvPr id="34" name="Image 9" descr="preencoded.png">    </p:cNvPr>
          <p:cNvPicPr>
            <a:picLocks noChangeAspect="1"/>
          </p:cNvPicPr>
          <p:nvPr/>
        </p:nvPicPr>
        <p:blipFill>
          <a:blip r:embed="rId10"/>
          <a:stretch>
            <a:fillRect/>
          </a:stretch>
        </p:blipFill>
        <p:spPr>
          <a:xfrm>
            <a:off x="9317736" y="5065776"/>
            <a:ext cx="475488" cy="475488"/>
          </a:xfrm>
          <a:prstGeom prst="rect">
            <a:avLst/>
          </a:prstGeom>
        </p:spPr>
      </p:pic>
      <p:sp>
        <p:nvSpPr>
          <p:cNvPr id="35" name="Text 23"/>
          <p:cNvSpPr txBox="1"/>
          <p:nvPr/>
        </p:nvSpPr>
        <p:spPr>
          <a:xfrm>
            <a:off x="900684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Lunch Bags</a:t>
            </a:r>
            <a:endParaRPr lang="en-US" sz="1050" dirty="0"/>
          </a:p>
        </p:txBody>
      </p:sp>
      <p:sp>
        <p:nvSpPr>
          <p:cNvPr id="36" name="Text 24"/>
          <p:cNvSpPr txBox="1"/>
          <p:nvPr/>
        </p:nvSpPr>
        <p:spPr>
          <a:xfrm>
            <a:off x="1028700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NON-HERO</a:t>
            </a:r>
            <a:endParaRPr lang="en-US" sz="1000" dirty="0"/>
          </a:p>
        </p:txBody>
      </p:sp>
      <p:sp>
        <p:nvSpPr>
          <p:cNvPr id="37" name="Shape 25"/>
          <p:cNvSpPr/>
          <p:nvPr/>
        </p:nvSpPr>
        <p:spPr>
          <a:xfrm>
            <a:off x="10287000" y="804672"/>
            <a:ext cx="1188720" cy="1243584"/>
          </a:xfrm>
          <a:prstGeom prst="roundRect">
            <a:avLst>
              <a:gd name="adj" fmla="val 9231"/>
            </a:avLst>
          </a:prstGeom>
          <a:solidFill>
            <a:srgbClr val="2D5AA6"/>
          </a:solidFill>
          <a:ln w="12700">
            <a:solidFill>
              <a:srgbClr val="2D5AA6"/>
            </a:solidFill>
            <a:prstDash val="solid"/>
          </a:ln>
        </p:spPr>
      </p:sp>
      <p:pic>
        <p:nvPicPr>
          <p:cNvPr id="38" name="Image 10" descr="preencoded.png">    </p:cNvPr>
          <p:cNvPicPr>
            <a:picLocks noChangeAspect="1"/>
          </p:cNvPicPr>
          <p:nvPr/>
        </p:nvPicPr>
        <p:blipFill>
          <a:blip r:embed="rId11"/>
          <a:stretch>
            <a:fillRect/>
          </a:stretch>
        </p:blipFill>
        <p:spPr>
          <a:xfrm>
            <a:off x="10643616" y="950976"/>
            <a:ext cx="475488" cy="475488"/>
          </a:xfrm>
          <a:prstGeom prst="rect">
            <a:avLst/>
          </a:prstGeom>
        </p:spPr>
      </p:pic>
      <p:sp>
        <p:nvSpPr>
          <p:cNvPr id="39" name="Text 26"/>
          <p:cNvSpPr txBox="1"/>
          <p:nvPr/>
        </p:nvSpPr>
        <p:spPr>
          <a:xfrm>
            <a:off x="1033272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Clocks</a:t>
            </a:r>
            <a:endParaRPr lang="en-US" sz="1050" dirty="0"/>
          </a:p>
        </p:txBody>
      </p:sp>
      <p:sp>
        <p:nvSpPr>
          <p:cNvPr id="40" name="Shape 27"/>
          <p:cNvSpPr/>
          <p:nvPr/>
        </p:nvSpPr>
        <p:spPr>
          <a:xfrm>
            <a:off x="10287000" y="2176272"/>
            <a:ext cx="1188720" cy="1243584"/>
          </a:xfrm>
          <a:prstGeom prst="roundRect">
            <a:avLst>
              <a:gd name="adj" fmla="val 9231"/>
            </a:avLst>
          </a:prstGeom>
          <a:solidFill>
            <a:srgbClr val="2D5AA6"/>
          </a:solidFill>
          <a:ln w="12700">
            <a:solidFill>
              <a:srgbClr val="2D5AA6"/>
            </a:solidFill>
            <a:prstDash val="solid"/>
          </a:ln>
        </p:spPr>
      </p:sp>
      <p:pic>
        <p:nvPicPr>
          <p:cNvPr id="41" name="Image 11" descr="preencoded.png">    </p:cNvPr>
          <p:cNvPicPr>
            <a:picLocks noChangeAspect="1"/>
          </p:cNvPicPr>
          <p:nvPr/>
        </p:nvPicPr>
        <p:blipFill>
          <a:blip r:embed="rId12"/>
          <a:stretch>
            <a:fillRect/>
          </a:stretch>
        </p:blipFill>
        <p:spPr>
          <a:xfrm>
            <a:off x="10643616" y="2322576"/>
            <a:ext cx="475488" cy="475488"/>
          </a:xfrm>
          <a:prstGeom prst="rect">
            <a:avLst/>
          </a:prstGeom>
        </p:spPr>
      </p:pic>
      <p:sp>
        <p:nvSpPr>
          <p:cNvPr id="42" name="Text 28"/>
          <p:cNvSpPr txBox="1"/>
          <p:nvPr/>
        </p:nvSpPr>
        <p:spPr>
          <a:xfrm>
            <a:off x="1033272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Pads</a:t>
            </a:r>
            <a:endParaRPr lang="en-US" sz="1050" dirty="0"/>
          </a:p>
        </p:txBody>
      </p:sp>
      <p:sp>
        <p:nvSpPr>
          <p:cNvPr id="43" name="Shape 29"/>
          <p:cNvSpPr/>
          <p:nvPr/>
        </p:nvSpPr>
        <p:spPr>
          <a:xfrm>
            <a:off x="10287000" y="3547872"/>
            <a:ext cx="1188720" cy="1243584"/>
          </a:xfrm>
          <a:prstGeom prst="roundRect">
            <a:avLst>
              <a:gd name="adj" fmla="val 9231"/>
            </a:avLst>
          </a:prstGeom>
          <a:solidFill>
            <a:srgbClr val="2D5AA6"/>
          </a:solidFill>
          <a:ln w="12700">
            <a:solidFill>
              <a:srgbClr val="2D5AA6"/>
            </a:solidFill>
            <a:prstDash val="solid"/>
          </a:ln>
        </p:spPr>
      </p:sp>
      <p:pic>
        <p:nvPicPr>
          <p:cNvPr id="44" name="Image 12" descr="preencoded.png">    </p:cNvPr>
          <p:cNvPicPr>
            <a:picLocks noChangeAspect="1"/>
          </p:cNvPicPr>
          <p:nvPr/>
        </p:nvPicPr>
        <p:blipFill>
          <a:blip r:embed="rId13"/>
          <a:stretch>
            <a:fillRect/>
          </a:stretch>
        </p:blipFill>
        <p:spPr>
          <a:xfrm>
            <a:off x="10643616" y="3694176"/>
            <a:ext cx="475488" cy="475488"/>
          </a:xfrm>
          <a:prstGeom prst="rect">
            <a:avLst/>
          </a:prstGeom>
        </p:spPr>
      </p:pic>
      <p:sp>
        <p:nvSpPr>
          <p:cNvPr id="45" name="Text 30"/>
          <p:cNvSpPr txBox="1"/>
          <p:nvPr/>
        </p:nvSpPr>
        <p:spPr>
          <a:xfrm>
            <a:off x="1033272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Coffee Organizers</a:t>
            </a:r>
            <a:endParaRPr lang="en-US" sz="1050" dirty="0"/>
          </a:p>
        </p:txBody>
      </p:sp>
      <p:sp>
        <p:nvSpPr>
          <p:cNvPr id="46" name="Shape 31"/>
          <p:cNvSpPr/>
          <p:nvPr/>
        </p:nvSpPr>
        <p:spPr>
          <a:xfrm>
            <a:off x="10287000" y="4919472"/>
            <a:ext cx="1188720" cy="1243584"/>
          </a:xfrm>
          <a:prstGeom prst="roundRect">
            <a:avLst>
              <a:gd name="adj" fmla="val 9231"/>
            </a:avLst>
          </a:prstGeom>
          <a:solidFill>
            <a:srgbClr val="2D5AA6"/>
          </a:solidFill>
          <a:ln w="12700">
            <a:solidFill>
              <a:srgbClr val="2D5AA6"/>
            </a:solidFill>
            <a:prstDash val="solid"/>
          </a:ln>
        </p:spPr>
      </p:sp>
      <p:pic>
        <p:nvPicPr>
          <p:cNvPr id="47" name="Image 13" descr="preencoded.png">    </p:cNvPr>
          <p:cNvPicPr>
            <a:picLocks noChangeAspect="1"/>
          </p:cNvPicPr>
          <p:nvPr/>
        </p:nvPicPr>
        <p:blipFill>
          <a:blip r:embed="rId14"/>
          <a:stretch>
            <a:fillRect/>
          </a:stretch>
        </p:blipFill>
        <p:spPr>
          <a:xfrm>
            <a:off x="10643616" y="5065776"/>
            <a:ext cx="475488" cy="475488"/>
          </a:xfrm>
          <a:prstGeom prst="rect">
            <a:avLst/>
          </a:prstGeom>
        </p:spPr>
      </p:pic>
      <p:sp>
        <p:nvSpPr>
          <p:cNvPr id="48" name="Text 32"/>
          <p:cNvSpPr txBox="1"/>
          <p:nvPr/>
        </p:nvSpPr>
        <p:spPr>
          <a:xfrm>
            <a:off x="1033272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Partitions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Executive Summary</a:t>
            </a:r>
            <a:endParaRPr lang="en-US" sz="2800" dirty="0"/>
          </a:p>
        </p:txBody>
      </p:sp>
      <p:sp>
        <p:nvSpPr>
          <p:cNvPr id="3" name="Shape 1"/>
          <p:cNvSpPr/>
          <p:nvPr/>
        </p:nvSpPr>
        <p:spPr>
          <a:xfrm>
            <a:off x="411480" y="1097280"/>
            <a:ext cx="11365992" cy="475488"/>
          </a:xfrm>
          <a:prstGeom prst="roundRect">
            <a:avLst>
              <a:gd name="adj" fmla="val 15385"/>
            </a:avLst>
          </a:prstGeom>
          <a:solidFill>
            <a:srgbClr val="13285B"/>
          </a:solidFill>
          <a:ln w="12700">
            <a:solidFill>
              <a:srgbClr val="13285B"/>
            </a:solidFill>
            <a:prstDash val="solid"/>
          </a:ln>
        </p:spPr>
      </p:sp>
      <p:sp>
        <p:nvSpPr>
          <p:cNvPr id="4" name="Text 2"/>
          <p:cNvSpPr txBox="1"/>
          <p:nvPr/>
        </p:nvSpPr>
        <p:spPr>
          <a:xfrm>
            <a:off x="548640" y="1097280"/>
            <a:ext cx="914400" cy="475488"/>
          </a:xfrm>
          <a:prstGeom prst="rect">
            <a:avLst/>
          </a:prstGeom>
          <a:noFill/>
          <a:ln/>
        </p:spPr>
        <p:txBody>
          <a:bodyPr wrap="square" lIns="0" tIns="0" rIns="0" bIns="0" rtlCol="0" anchor="ctr"/>
          <a:lstStyle/>
          <a:p>
            <a:pPr indent="0" marL="0">
              <a:buNone/>
            </a:pPr>
            <a:r>
              <a:rPr lang="en-US" sz="1200" b="1" spc="100" kern="0" dirty="0">
                <a:solidFill>
                  <a:srgbClr val="F5A623"/>
                </a:solidFill>
                <a:latin typeface="Calibri" pitchFamily="34" charset="0"/>
                <a:ea typeface="Calibri" pitchFamily="34" charset="-122"/>
                <a:cs typeface="Calibri" pitchFamily="34" charset="-120"/>
              </a:rPr>
              <a:t>THE ASK</a:t>
            </a:r>
            <a:endParaRPr lang="en-US" sz="1200" dirty="0"/>
          </a:p>
        </p:txBody>
      </p:sp>
      <p:sp>
        <p:nvSpPr>
          <p:cNvPr id="5" name="Text 3"/>
          <p:cNvSpPr txBox="1"/>
          <p:nvPr/>
        </p:nvSpPr>
        <p:spPr>
          <a:xfrm>
            <a:off x="1481328" y="1097280"/>
            <a:ext cx="10195560"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Which design-led, core-adjacent products can Staples add to its marketplace without cannibalising 1P sales, using only external data?</a:t>
            </a:r>
            <a:endParaRPr lang="en-US" sz="1250" dirty="0"/>
          </a:p>
        </p:txBody>
      </p:sp>
      <p:sp>
        <p:nvSpPr>
          <p:cNvPr id="6" name="Shape 4"/>
          <p:cNvSpPr/>
          <p:nvPr/>
        </p:nvSpPr>
        <p:spPr>
          <a:xfrm>
            <a:off x="411480" y="1755648"/>
            <a:ext cx="2704338" cy="950976"/>
          </a:xfrm>
          <a:prstGeom prst="roundRect">
            <a:avLst>
              <a:gd name="adj" fmla="val 9615"/>
            </a:avLst>
          </a:prstGeom>
          <a:solidFill>
            <a:srgbClr val="EEF3FB"/>
          </a:solidFill>
          <a:ln w="12700">
            <a:solidFill>
              <a:srgbClr val="EEF3FB"/>
            </a:solidFill>
            <a:prstDash val="solid"/>
          </a:ln>
        </p:spPr>
      </p:sp>
      <p:sp>
        <p:nvSpPr>
          <p:cNvPr id="7" name="Text 5"/>
          <p:cNvSpPr txBox="1"/>
          <p:nvPr/>
        </p:nvSpPr>
        <p:spPr>
          <a:xfrm>
            <a:off x="484632"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12</a:t>
            </a:r>
            <a:endParaRPr lang="en-US" sz="2800" dirty="0"/>
          </a:p>
        </p:txBody>
      </p:sp>
      <p:sp>
        <p:nvSpPr>
          <p:cNvPr id="8" name="Text 6"/>
          <p:cNvSpPr txBox="1"/>
          <p:nvPr/>
        </p:nvSpPr>
        <p:spPr>
          <a:xfrm>
            <a:off x="539496"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Staples nodes across 3 segments, vs Amazon &amp; Wayfair</a:t>
            </a:r>
            <a:endParaRPr lang="en-US" sz="1050" dirty="0"/>
          </a:p>
        </p:txBody>
      </p:sp>
      <p:sp>
        <p:nvSpPr>
          <p:cNvPr id="9" name="Shape 7"/>
          <p:cNvSpPr/>
          <p:nvPr/>
        </p:nvSpPr>
        <p:spPr>
          <a:xfrm>
            <a:off x="3298698" y="1755648"/>
            <a:ext cx="2704338" cy="950976"/>
          </a:xfrm>
          <a:prstGeom prst="roundRect">
            <a:avLst>
              <a:gd name="adj" fmla="val 9615"/>
            </a:avLst>
          </a:prstGeom>
          <a:solidFill>
            <a:srgbClr val="EEF3FB"/>
          </a:solidFill>
          <a:ln w="12700">
            <a:solidFill>
              <a:srgbClr val="EEF3FB"/>
            </a:solidFill>
            <a:prstDash val="solid"/>
          </a:ln>
        </p:spPr>
      </p:sp>
      <p:sp>
        <p:nvSpPr>
          <p:cNvPr id="10" name="Text 8"/>
          <p:cNvSpPr txBox="1"/>
          <p:nvPr/>
        </p:nvSpPr>
        <p:spPr>
          <a:xfrm>
            <a:off x="3371850"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19.9K</a:t>
            </a:r>
            <a:endParaRPr lang="en-US" sz="2800" dirty="0"/>
          </a:p>
        </p:txBody>
      </p:sp>
      <p:sp>
        <p:nvSpPr>
          <p:cNvPr id="11" name="Text 9"/>
          <p:cNvSpPr txBox="1"/>
          <p:nvPr/>
        </p:nvSpPr>
        <p:spPr>
          <a:xfrm>
            <a:off x="3426714"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product families analysed: 3.4K Staples, 16.5K competitor</a:t>
            </a:r>
            <a:endParaRPr lang="en-US" sz="1050" dirty="0"/>
          </a:p>
        </p:txBody>
      </p:sp>
      <p:sp>
        <p:nvSpPr>
          <p:cNvPr id="12" name="Shape 10"/>
          <p:cNvSpPr/>
          <p:nvPr/>
        </p:nvSpPr>
        <p:spPr>
          <a:xfrm>
            <a:off x="6185916" y="1755648"/>
            <a:ext cx="2704338" cy="950976"/>
          </a:xfrm>
          <a:prstGeom prst="roundRect">
            <a:avLst>
              <a:gd name="adj" fmla="val 9615"/>
            </a:avLst>
          </a:prstGeom>
          <a:solidFill>
            <a:srgbClr val="EEF3FB"/>
          </a:solidFill>
          <a:ln w="12700">
            <a:solidFill>
              <a:srgbClr val="EEF3FB"/>
            </a:solidFill>
            <a:prstDash val="solid"/>
          </a:ln>
        </p:spPr>
      </p:sp>
      <p:sp>
        <p:nvSpPr>
          <p:cNvPr id="13" name="Text 11"/>
          <p:cNvSpPr txBox="1"/>
          <p:nvPr/>
        </p:nvSpPr>
        <p:spPr>
          <a:xfrm>
            <a:off x="6259068"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885</a:t>
            </a:r>
            <a:endParaRPr lang="en-US" sz="2800" dirty="0"/>
          </a:p>
        </p:txBody>
      </p:sp>
      <p:sp>
        <p:nvSpPr>
          <p:cNvPr id="14" name="Text 12"/>
          <p:cNvSpPr txBox="1"/>
          <p:nvPr/>
        </p:nvSpPr>
        <p:spPr>
          <a:xfrm>
            <a:off x="6313932"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archetypes (attribute combinations) compared</a:t>
            </a:r>
            <a:endParaRPr lang="en-US" sz="1050" dirty="0"/>
          </a:p>
        </p:txBody>
      </p:sp>
      <p:sp>
        <p:nvSpPr>
          <p:cNvPr id="15" name="Shape 13"/>
          <p:cNvSpPr/>
          <p:nvPr/>
        </p:nvSpPr>
        <p:spPr>
          <a:xfrm>
            <a:off x="9073134" y="1755648"/>
            <a:ext cx="2704338" cy="950976"/>
          </a:xfrm>
          <a:prstGeom prst="roundRect">
            <a:avLst>
              <a:gd name="adj" fmla="val 9615"/>
            </a:avLst>
          </a:prstGeom>
          <a:solidFill>
            <a:srgbClr val="DDF3E7"/>
          </a:solidFill>
          <a:ln w="12700">
            <a:solidFill>
              <a:srgbClr val="7CCB9F"/>
            </a:solidFill>
            <a:prstDash val="solid"/>
          </a:ln>
        </p:spPr>
      </p:sp>
      <p:sp>
        <p:nvSpPr>
          <p:cNvPr id="16" name="Text 14"/>
          <p:cNvSpPr txBox="1"/>
          <p:nvPr/>
        </p:nvSpPr>
        <p:spPr>
          <a:xfrm>
            <a:off x="9146286" y="1810512"/>
            <a:ext cx="2558034" cy="420624"/>
          </a:xfrm>
          <a:prstGeom prst="rect">
            <a:avLst/>
          </a:prstGeom>
          <a:noFill/>
          <a:ln/>
        </p:spPr>
        <p:txBody>
          <a:bodyPr wrap="square" lIns="0" tIns="0" rIns="0" bIns="0" rtlCol="0" anchor="ctr"/>
          <a:lstStyle/>
          <a:p>
            <a:pPr algn="ctr" indent="0" marL="0">
              <a:buNone/>
            </a:pPr>
            <a:r>
              <a:rPr lang="en-US" sz="2800" b="1" dirty="0">
                <a:solidFill>
                  <a:srgbClr val="1E8E5A"/>
                </a:solidFill>
                <a:latin typeface="Calibri" pitchFamily="34" charset="0"/>
                <a:ea typeface="Calibri" pitchFamily="34" charset="-122"/>
                <a:cs typeface="Calibri" pitchFamily="34" charset="-120"/>
              </a:rPr>
              <a:t>74</a:t>
            </a:r>
            <a:endParaRPr lang="en-US" sz="2800" dirty="0"/>
          </a:p>
        </p:txBody>
      </p:sp>
      <p:sp>
        <p:nvSpPr>
          <p:cNvPr id="17" name="Text 15"/>
          <p:cNvSpPr txBox="1"/>
          <p:nvPr/>
        </p:nvSpPr>
        <p:spPr>
          <a:xfrm>
            <a:off x="9201150"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safe to add; 22 confirmed by both methods</a:t>
            </a:r>
            <a:endParaRPr lang="en-US" sz="1050" dirty="0"/>
          </a:p>
        </p:txBody>
      </p:sp>
      <p:sp>
        <p:nvSpPr>
          <p:cNvPr id="18" name="Text 16"/>
          <p:cNvSpPr txBox="1"/>
          <p:nvPr/>
        </p:nvSpPr>
        <p:spPr>
          <a:xfrm>
            <a:off x="411480" y="2926080"/>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WHAT STAPLES SHOULD ADD FIRST</a:t>
            </a:r>
            <a:endParaRPr lang="en-US" sz="1200" dirty="0"/>
          </a:p>
        </p:txBody>
      </p:sp>
      <p:sp>
        <p:nvSpPr>
          <p:cNvPr id="19" name="Shape 17"/>
          <p:cNvSpPr/>
          <p:nvPr/>
        </p:nvSpPr>
        <p:spPr>
          <a:xfrm>
            <a:off x="411480"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8"/>
          <p:cNvSpPr/>
          <p:nvPr/>
        </p:nvSpPr>
        <p:spPr>
          <a:xfrm>
            <a:off x="539496" y="3364992"/>
            <a:ext cx="438912" cy="438912"/>
          </a:xfrm>
          <a:prstGeom prst="ellipse">
            <a:avLst/>
          </a:prstGeom>
          <a:solidFill>
            <a:srgbClr val="1F4E9A"/>
          </a:solidFill>
          <a:ln w="12700">
            <a:solidFill>
              <a:srgbClr val="1F4E9A"/>
            </a:solidFill>
            <a:prstDash val="solid"/>
          </a:ln>
        </p:spPr>
      </p:sp>
      <p:pic>
        <p:nvPicPr>
          <p:cNvPr id="21" name="Image 0" descr="preencoded.png">    </p:cNvPr>
          <p:cNvPicPr>
            <a:picLocks noChangeAspect="1"/>
          </p:cNvPicPr>
          <p:nvPr/>
        </p:nvPicPr>
        <p:blipFill>
          <a:blip r:embed="rId1"/>
          <a:stretch>
            <a:fillRect/>
          </a:stretch>
        </p:blipFill>
        <p:spPr>
          <a:xfrm>
            <a:off x="636057" y="3461553"/>
            <a:ext cx="245791" cy="245791"/>
          </a:xfrm>
          <a:prstGeom prst="rect">
            <a:avLst/>
          </a:prstGeom>
        </p:spPr>
      </p:pic>
      <p:sp>
        <p:nvSpPr>
          <p:cNvPr id="22" name="Text 19"/>
          <p:cNvSpPr txBox="1"/>
          <p:nvPr/>
        </p:nvSpPr>
        <p:spPr>
          <a:xfrm>
            <a:off x="1069848"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Design-led (luxe) desks</a:t>
            </a:r>
            <a:endParaRPr lang="en-US" sz="1250" dirty="0"/>
          </a:p>
        </p:txBody>
      </p:sp>
      <p:sp>
        <p:nvSpPr>
          <p:cNvPr id="23" name="Text 20"/>
          <p:cNvSpPr txBox="1"/>
          <p:nvPr/>
        </p:nvSpPr>
        <p:spPr>
          <a:xfrm>
            <a:off x="557784"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desks are corporate-office pieces (81% vs 50% at Wayfair); only 7% luxe vs 35%</a:t>
            </a:r>
            <a:endParaRPr lang="en-US" sz="950" dirty="0"/>
          </a:p>
        </p:txBody>
      </p:sp>
      <p:sp>
        <p:nvSpPr>
          <p:cNvPr id="24" name="Text 21"/>
          <p:cNvSpPr txBox="1"/>
          <p:nvPr/>
        </p:nvSpPr>
        <p:spPr>
          <a:xfrm>
            <a:off x="557784"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46 of 668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35%</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25" name="Text 22"/>
          <p:cNvSpPr txBox="1"/>
          <p:nvPr/>
        </p:nvSpPr>
        <p:spPr>
          <a:xfrm>
            <a:off x="557784"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2" invalidUrl="" action="" tgtFrame="" tooltip="Blue And Gold Writing Desk With USB Ports" history="1" highlightClick="0" endSnd="0">
                  <a:extLst>
                    <a:ext uri="{A12FA001-AC4F-418D-AE19-62706E023703}">
                      <ahyp:hlinkClr xmlns:ahyp="http://schemas.microsoft.com/office/drawing/2018/hyperlinkcolor" val="tx"/>
                    </a:ext>
                  </a:extLst>
                </a:hlinkClick>
              </a:rPr>
              <a:t>Blue And Gold Writing Desk… · $175 ↗</a:t>
            </a:r>
            <a:endParaRPr lang="en-US" sz="950" dirty="0"/>
          </a:p>
        </p:txBody>
      </p:sp>
      <p:sp>
        <p:nvSpPr>
          <p:cNvPr id="26" name="Shape 23"/>
          <p:cNvSpPr/>
          <p:nvPr/>
        </p:nvSpPr>
        <p:spPr>
          <a:xfrm>
            <a:off x="3287268"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7" name="Shape 24"/>
          <p:cNvSpPr/>
          <p:nvPr/>
        </p:nvSpPr>
        <p:spPr>
          <a:xfrm>
            <a:off x="3415284" y="3364992"/>
            <a:ext cx="438912" cy="438912"/>
          </a:xfrm>
          <a:prstGeom prst="ellipse">
            <a:avLst/>
          </a:prstGeom>
          <a:solidFill>
            <a:srgbClr val="1F4E9A"/>
          </a:solidFill>
          <a:ln w="12700">
            <a:solidFill>
              <a:srgbClr val="1F4E9A"/>
            </a:solidFill>
            <a:prstDash val="solid"/>
          </a:ln>
        </p:spPr>
      </p:sp>
      <p:pic>
        <p:nvPicPr>
          <p:cNvPr id="28" name="Image 1" descr="preencoded.png">    </p:cNvPr>
          <p:cNvPicPr>
            <a:picLocks noChangeAspect="1"/>
          </p:cNvPicPr>
          <p:nvPr/>
        </p:nvPicPr>
        <p:blipFill>
          <a:blip r:embed="rId3"/>
          <a:stretch>
            <a:fillRect/>
          </a:stretch>
        </p:blipFill>
        <p:spPr>
          <a:xfrm>
            <a:off x="3511845" y="3461553"/>
            <a:ext cx="245791" cy="245791"/>
          </a:xfrm>
          <a:prstGeom prst="rect">
            <a:avLst/>
          </a:prstGeom>
        </p:spPr>
      </p:pic>
      <p:sp>
        <p:nvSpPr>
          <p:cNvPr id="29" name="Text 25"/>
          <p:cNvSpPr txBox="1"/>
          <p:nvPr/>
        </p:nvSpPr>
        <p:spPr>
          <a:xfrm>
            <a:off x="3945636"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Adult bento boxes for the commute</a:t>
            </a:r>
            <a:endParaRPr lang="en-US" sz="1250" dirty="0"/>
          </a:p>
        </p:txBody>
      </p:sp>
      <p:sp>
        <p:nvSpPr>
          <p:cNvPr id="30" name="Text 26"/>
          <p:cNvSpPr txBox="1"/>
          <p:nvPr/>
        </p:nvSpPr>
        <p:spPr>
          <a:xfrm>
            <a:off x="3433572"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Lunch range built for school (59% kids vs 27% at Amazon); office commuters under-served</a:t>
            </a:r>
            <a:endParaRPr lang="en-US" sz="950" dirty="0"/>
          </a:p>
        </p:txBody>
      </p:sp>
      <p:sp>
        <p:nvSpPr>
          <p:cNvPr id="31" name="Text 27"/>
          <p:cNvSpPr txBox="1"/>
          <p:nvPr/>
        </p:nvSpPr>
        <p:spPr>
          <a:xfrm>
            <a:off x="3433572"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1 of 318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11%</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2" name="Text 28"/>
          <p:cNvSpPr txBox="1"/>
          <p:nvPr/>
        </p:nvSpPr>
        <p:spPr>
          <a:xfrm>
            <a:off x="3433572"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4" invalidUrl="" action="" tgtFrame="" tooltip="Stackable Stainless Steel Bento Box for Adults, 6 Cup with Snack Pod" history="1" highlightClick="0" endSnd="0">
                  <a:extLst>
                    <a:ext uri="{A12FA001-AC4F-418D-AE19-62706E023703}">
                      <ahyp:hlinkClr xmlns:ahyp="http://schemas.microsoft.com/office/drawing/2018/hyperlinkcolor" val="tx"/>
                    </a:ext>
                  </a:extLst>
                </a:hlinkClick>
              </a:rPr>
              <a:t>Stackable Stainless Steel… · $39 ↗</a:t>
            </a:r>
            <a:endParaRPr lang="en-US" sz="950" dirty="0"/>
          </a:p>
        </p:txBody>
      </p:sp>
      <p:sp>
        <p:nvSpPr>
          <p:cNvPr id="33" name="Shape 29"/>
          <p:cNvSpPr/>
          <p:nvPr/>
        </p:nvSpPr>
        <p:spPr>
          <a:xfrm>
            <a:off x="6163056"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6291072" y="3364992"/>
            <a:ext cx="438912" cy="438912"/>
          </a:xfrm>
          <a:prstGeom prst="ellipse">
            <a:avLst/>
          </a:prstGeom>
          <a:solidFill>
            <a:srgbClr val="1F4E9A"/>
          </a:solidFill>
          <a:ln w="12700">
            <a:solidFill>
              <a:srgbClr val="1F4E9A"/>
            </a:solidFill>
            <a:prstDash val="solid"/>
          </a:ln>
        </p:spPr>
      </p:sp>
      <p:pic>
        <p:nvPicPr>
          <p:cNvPr id="35" name="Image 2" descr="preencoded.png">    </p:cNvPr>
          <p:cNvPicPr>
            <a:picLocks noChangeAspect="1"/>
          </p:cNvPicPr>
          <p:nvPr/>
        </p:nvPicPr>
        <p:blipFill>
          <a:blip r:embed="rId5"/>
          <a:stretch>
            <a:fillRect/>
          </a:stretch>
        </p:blipFill>
        <p:spPr>
          <a:xfrm>
            <a:off x="6387633" y="3461553"/>
            <a:ext cx="245791" cy="245791"/>
          </a:xfrm>
          <a:prstGeom prst="rect">
            <a:avLst/>
          </a:prstGeom>
        </p:spPr>
      </p:pic>
      <p:sp>
        <p:nvSpPr>
          <p:cNvPr id="36" name="Text 31"/>
          <p:cNvSpPr txBox="1"/>
          <p:nvPr/>
        </p:nvSpPr>
        <p:spPr>
          <a:xfrm>
            <a:off x="6821424"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Wooden K-Cup pod drawers</a:t>
            </a:r>
            <a:endParaRPr lang="en-US" sz="1250" dirty="0"/>
          </a:p>
        </p:txBody>
      </p:sp>
      <p:sp>
        <p:nvSpPr>
          <p:cNvPr id="37" name="Text 32"/>
          <p:cNvSpPr txBox="1"/>
          <p:nvPr/>
        </p:nvSpPr>
        <p:spPr>
          <a:xfrm>
            <a:off x="6309360"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sells 583 single-serve coffees &amp; 139 coffee makers; its organisers are 62% plastic</a:t>
            </a:r>
            <a:endParaRPr lang="en-US" sz="950" dirty="0"/>
          </a:p>
        </p:txBody>
      </p:sp>
      <p:sp>
        <p:nvSpPr>
          <p:cNvPr id="38" name="Text 33"/>
          <p:cNvSpPr txBox="1"/>
          <p:nvPr/>
        </p:nvSpPr>
        <p:spPr>
          <a:xfrm>
            <a:off x="6309360"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50</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10%</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9" name="Text 34"/>
          <p:cNvSpPr txBox="1"/>
          <p:nvPr/>
        </p:nvSpPr>
        <p:spPr>
          <a:xfrm>
            <a:off x="6309360"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6" invalidUrl="" action="" tgtFrame="" tooltip="HTB K Cup Holder Compatible Coffee Pod Storage Drawer, Wood Brown" history="1" highlightClick="0" endSnd="0">
                  <a:extLst>
                    <a:ext uri="{A12FA001-AC4F-418D-AE19-62706E023703}">
                      <ahyp:hlinkClr xmlns:ahyp="http://schemas.microsoft.com/office/drawing/2018/hyperlinkcolor" val="tx"/>
                    </a:ext>
                  </a:extLst>
                </a:hlinkClick>
              </a:rPr>
              <a:t>HTB K Cup Holder Compatible… · $36 ↗</a:t>
            </a:r>
            <a:endParaRPr lang="en-US" sz="950" dirty="0"/>
          </a:p>
        </p:txBody>
      </p:sp>
      <p:sp>
        <p:nvSpPr>
          <p:cNvPr id="40" name="Shape 35"/>
          <p:cNvSpPr/>
          <p:nvPr/>
        </p:nvSpPr>
        <p:spPr>
          <a:xfrm>
            <a:off x="9038844"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1" name="Shape 36"/>
          <p:cNvSpPr/>
          <p:nvPr/>
        </p:nvSpPr>
        <p:spPr>
          <a:xfrm>
            <a:off x="9166860" y="3364992"/>
            <a:ext cx="438912" cy="438912"/>
          </a:xfrm>
          <a:prstGeom prst="ellipse">
            <a:avLst/>
          </a:prstGeom>
          <a:solidFill>
            <a:srgbClr val="1F4E9A"/>
          </a:solidFill>
          <a:ln w="12700">
            <a:solidFill>
              <a:srgbClr val="1F4E9A"/>
            </a:solidFill>
            <a:prstDash val="solid"/>
          </a:ln>
        </p:spPr>
      </p:sp>
      <p:pic>
        <p:nvPicPr>
          <p:cNvPr id="42" name="Image 3" descr="preencoded.png">    </p:cNvPr>
          <p:cNvPicPr>
            <a:picLocks noChangeAspect="1"/>
          </p:cNvPicPr>
          <p:nvPr/>
        </p:nvPicPr>
        <p:blipFill>
          <a:blip r:embed="rId7"/>
          <a:stretch>
            <a:fillRect/>
          </a:stretch>
        </p:blipFill>
        <p:spPr>
          <a:xfrm>
            <a:off x="9263421" y="3461553"/>
            <a:ext cx="245791" cy="245791"/>
          </a:xfrm>
          <a:prstGeom prst="rect">
            <a:avLst/>
          </a:prstGeom>
        </p:spPr>
      </p:pic>
      <p:sp>
        <p:nvSpPr>
          <p:cNvPr id="43" name="Text 37"/>
          <p:cNvSpPr txBox="1"/>
          <p:nvPr/>
        </p:nvSpPr>
        <p:spPr>
          <a:xfrm>
            <a:off x="9697212"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The "White Chair": swivel barrel chair</a:t>
            </a:r>
            <a:endParaRPr lang="en-US" sz="1250" dirty="0"/>
          </a:p>
        </p:txBody>
      </p:sp>
      <p:sp>
        <p:nvSpPr>
          <p:cNvPr id="44" name="Text 38"/>
          <p:cNvSpPr txBox="1"/>
          <p:nvPr/>
        </p:nvSpPr>
        <p:spPr>
          <a:xfrm>
            <a:off x="9185148"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Accent chairs built for lobbies (57% reception vs 1% at Wayfair); no home-office chair</a:t>
            </a:r>
            <a:endParaRPr lang="en-US" sz="950" dirty="0"/>
          </a:p>
        </p:txBody>
      </p:sp>
      <p:sp>
        <p:nvSpPr>
          <p:cNvPr id="45" name="Text 39"/>
          <p:cNvSpPr txBox="1"/>
          <p:nvPr/>
        </p:nvSpPr>
        <p:spPr>
          <a:xfrm>
            <a:off x="9185148"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116</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13%</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46" name="Text 40"/>
          <p:cNvSpPr txBox="1"/>
          <p:nvPr/>
        </p:nvSpPr>
        <p:spPr>
          <a:xfrm>
            <a:off x="9185148"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8" invalidUrl="" action="" tgtFrame="" tooltip="360° Swivel Accent Chair, Velvet Upholstered Open-Back Swivel Barrel Chair , Modern Swivel Lounge Chair for Living Room, Dining Room, Bedroom" history="1" highlightClick="0" endSnd="0">
                  <a:extLst>
                    <a:ext uri="{A12FA001-AC4F-418D-AE19-62706E023703}">
                      <ahyp:hlinkClr xmlns:ahyp="http://schemas.microsoft.com/office/drawing/2018/hyperlinkcolor" val="tx"/>
                    </a:ext>
                  </a:extLst>
                </a:hlinkClick>
              </a:rPr>
              <a:t>360° Swivel Accent Chair… · $260 ↗</a:t>
            </a:r>
            <a:endParaRPr lang="en-US" sz="950" dirty="0"/>
          </a:p>
        </p:txBody>
      </p:sp>
      <p:sp>
        <p:nvSpPr>
          <p:cNvPr id="47" name="Text 41"/>
          <p:cNvSpPr txBox="1"/>
          <p:nvPr/>
        </p:nvSpPr>
        <p:spPr>
          <a:xfrm>
            <a:off x="411480" y="5175504"/>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NEXT STEPS</a:t>
            </a:r>
            <a:endParaRPr lang="en-US" sz="1200" dirty="0"/>
          </a:p>
        </p:txBody>
      </p:sp>
      <p:sp>
        <p:nvSpPr>
          <p:cNvPr id="48" name="Shape 42"/>
          <p:cNvSpPr/>
          <p:nvPr/>
        </p:nvSpPr>
        <p:spPr>
          <a:xfrm>
            <a:off x="411480" y="5486400"/>
            <a:ext cx="2163470" cy="804672"/>
          </a:xfrm>
          <a:prstGeom prst="roundRect">
            <a:avLst>
              <a:gd name="adj" fmla="val 9091"/>
            </a:avLst>
          </a:prstGeom>
          <a:solidFill>
            <a:srgbClr val="DCE7F8"/>
          </a:solidFill>
          <a:ln w="12700">
            <a:solidFill>
              <a:srgbClr val="DCE7F8"/>
            </a:solidFill>
            <a:prstDash val="solid"/>
          </a:ln>
        </p:spPr>
      </p:sp>
      <p:sp>
        <p:nvSpPr>
          <p:cNvPr id="49" name="Shape 43"/>
          <p:cNvSpPr/>
          <p:nvPr/>
        </p:nvSpPr>
        <p:spPr>
          <a:xfrm>
            <a:off x="411480" y="5486400"/>
            <a:ext cx="2163470" cy="347472"/>
          </a:xfrm>
          <a:prstGeom prst="roundRect">
            <a:avLst>
              <a:gd name="adj" fmla="val 21053"/>
            </a:avLst>
          </a:prstGeom>
          <a:solidFill>
            <a:srgbClr val="1F4E9A"/>
          </a:solidFill>
          <a:ln w="12700">
            <a:solidFill>
              <a:srgbClr val="1F4E9A"/>
            </a:solidFill>
            <a:prstDash val="solid"/>
          </a:ln>
        </p:spPr>
      </p:sp>
      <p:pic>
        <p:nvPicPr>
          <p:cNvPr id="50" name="Image 4" descr="preencoded.png">    </p:cNvPr>
          <p:cNvPicPr>
            <a:picLocks noChangeAspect="1"/>
          </p:cNvPicPr>
          <p:nvPr/>
        </p:nvPicPr>
        <p:blipFill>
          <a:blip r:embed="rId9"/>
          <a:stretch>
            <a:fillRect/>
          </a:stretch>
        </p:blipFill>
        <p:spPr>
          <a:xfrm>
            <a:off x="521208" y="5559552"/>
            <a:ext cx="201168" cy="201168"/>
          </a:xfrm>
          <a:prstGeom prst="rect">
            <a:avLst/>
          </a:prstGeom>
        </p:spPr>
      </p:pic>
      <p:sp>
        <p:nvSpPr>
          <p:cNvPr id="51" name="Text 44"/>
          <p:cNvSpPr txBox="1"/>
          <p:nvPr/>
        </p:nvSpPr>
        <p:spPr>
          <a:xfrm>
            <a:off x="81381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52" name="Text 45"/>
          <p:cNvSpPr txBox="1"/>
          <p:nvPr/>
        </p:nvSpPr>
        <p:spPr>
          <a:xfrm>
            <a:off x="52120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Opportunity sizing &amp; stack-rank</a:t>
            </a:r>
            <a:endParaRPr lang="en-US" sz="1050" dirty="0"/>
          </a:p>
        </p:txBody>
      </p:sp>
      <p:sp>
        <p:nvSpPr>
          <p:cNvPr id="53" name="Shape 46"/>
          <p:cNvSpPr/>
          <p:nvPr/>
        </p:nvSpPr>
        <p:spPr>
          <a:xfrm>
            <a:off x="2712110" y="5486400"/>
            <a:ext cx="2163470" cy="804672"/>
          </a:xfrm>
          <a:prstGeom prst="roundRect">
            <a:avLst>
              <a:gd name="adj" fmla="val 9091"/>
            </a:avLst>
          </a:prstGeom>
          <a:solidFill>
            <a:srgbClr val="DCE7F8"/>
          </a:solidFill>
          <a:ln w="12700">
            <a:solidFill>
              <a:srgbClr val="DCE7F8"/>
            </a:solidFill>
            <a:prstDash val="solid"/>
          </a:ln>
        </p:spPr>
      </p:sp>
      <p:sp>
        <p:nvSpPr>
          <p:cNvPr id="54" name="Shape 47"/>
          <p:cNvSpPr/>
          <p:nvPr/>
        </p:nvSpPr>
        <p:spPr>
          <a:xfrm>
            <a:off x="2712110" y="5486400"/>
            <a:ext cx="2163470" cy="347472"/>
          </a:xfrm>
          <a:prstGeom prst="roundRect">
            <a:avLst>
              <a:gd name="adj" fmla="val 21053"/>
            </a:avLst>
          </a:prstGeom>
          <a:solidFill>
            <a:srgbClr val="1F4E9A"/>
          </a:solidFill>
          <a:ln w="12700">
            <a:solidFill>
              <a:srgbClr val="1F4E9A"/>
            </a:solidFill>
            <a:prstDash val="solid"/>
          </a:ln>
        </p:spPr>
      </p:sp>
      <p:pic>
        <p:nvPicPr>
          <p:cNvPr id="55" name="Image 5" descr="preencoded.png">    </p:cNvPr>
          <p:cNvPicPr>
            <a:picLocks noChangeAspect="1"/>
          </p:cNvPicPr>
          <p:nvPr/>
        </p:nvPicPr>
        <p:blipFill>
          <a:blip r:embed="rId10"/>
          <a:stretch>
            <a:fillRect/>
          </a:stretch>
        </p:blipFill>
        <p:spPr>
          <a:xfrm>
            <a:off x="2821838" y="5559552"/>
            <a:ext cx="201168" cy="201168"/>
          </a:xfrm>
          <a:prstGeom prst="rect">
            <a:avLst/>
          </a:prstGeom>
        </p:spPr>
      </p:pic>
      <p:sp>
        <p:nvSpPr>
          <p:cNvPr id="56" name="Text 48"/>
          <p:cNvSpPr txBox="1"/>
          <p:nvPr/>
        </p:nvSpPr>
        <p:spPr>
          <a:xfrm>
            <a:off x="311444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57" name="Text 49"/>
          <p:cNvSpPr txBox="1"/>
          <p:nvPr/>
        </p:nvSpPr>
        <p:spPr>
          <a:xfrm>
            <a:off x="282183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Core guardrails &amp; cannibalisation</a:t>
            </a:r>
            <a:endParaRPr lang="en-US" sz="1050" dirty="0"/>
          </a:p>
        </p:txBody>
      </p:sp>
      <p:sp>
        <p:nvSpPr>
          <p:cNvPr id="58" name="Shape 50"/>
          <p:cNvSpPr/>
          <p:nvPr/>
        </p:nvSpPr>
        <p:spPr>
          <a:xfrm>
            <a:off x="5012741" y="5486400"/>
            <a:ext cx="2163470" cy="804672"/>
          </a:xfrm>
          <a:prstGeom prst="roundRect">
            <a:avLst>
              <a:gd name="adj" fmla="val 9091"/>
            </a:avLst>
          </a:prstGeom>
          <a:solidFill>
            <a:srgbClr val="DCE7F8"/>
          </a:solidFill>
          <a:ln w="12700">
            <a:solidFill>
              <a:srgbClr val="DCE7F8"/>
            </a:solidFill>
            <a:prstDash val="solid"/>
          </a:ln>
        </p:spPr>
      </p:sp>
      <p:sp>
        <p:nvSpPr>
          <p:cNvPr id="59" name="Shape 51"/>
          <p:cNvSpPr/>
          <p:nvPr/>
        </p:nvSpPr>
        <p:spPr>
          <a:xfrm>
            <a:off x="5012741" y="5486400"/>
            <a:ext cx="2163470" cy="347472"/>
          </a:xfrm>
          <a:prstGeom prst="roundRect">
            <a:avLst>
              <a:gd name="adj" fmla="val 21053"/>
            </a:avLst>
          </a:prstGeom>
          <a:solidFill>
            <a:srgbClr val="2F6FD0"/>
          </a:solidFill>
          <a:ln w="12700">
            <a:solidFill>
              <a:srgbClr val="2F6FD0"/>
            </a:solidFill>
            <a:prstDash val="solid"/>
          </a:ln>
        </p:spPr>
      </p:sp>
      <p:pic>
        <p:nvPicPr>
          <p:cNvPr id="60" name="Image 6" descr="preencoded.png">    </p:cNvPr>
          <p:cNvPicPr>
            <a:picLocks noChangeAspect="1"/>
          </p:cNvPicPr>
          <p:nvPr/>
        </p:nvPicPr>
        <p:blipFill>
          <a:blip r:embed="rId11"/>
          <a:stretch>
            <a:fillRect/>
          </a:stretch>
        </p:blipFill>
        <p:spPr>
          <a:xfrm>
            <a:off x="5122469" y="5559552"/>
            <a:ext cx="201168" cy="201168"/>
          </a:xfrm>
          <a:prstGeom prst="rect">
            <a:avLst/>
          </a:prstGeom>
        </p:spPr>
      </p:pic>
      <p:sp>
        <p:nvSpPr>
          <p:cNvPr id="61" name="Text 52"/>
          <p:cNvSpPr txBox="1"/>
          <p:nvPr/>
        </p:nvSpPr>
        <p:spPr>
          <a:xfrm>
            <a:off x="541507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62" name="Text 53"/>
          <p:cNvSpPr txBox="1"/>
          <p:nvPr/>
        </p:nvSpPr>
        <p:spPr>
          <a:xfrm>
            <a:off x="512246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Adjacent-category whitespace</a:t>
            </a:r>
            <a:endParaRPr lang="en-US" sz="1050" dirty="0"/>
          </a:p>
        </p:txBody>
      </p:sp>
      <p:sp>
        <p:nvSpPr>
          <p:cNvPr id="63" name="Shape 54"/>
          <p:cNvSpPr/>
          <p:nvPr/>
        </p:nvSpPr>
        <p:spPr>
          <a:xfrm>
            <a:off x="7313371" y="5486400"/>
            <a:ext cx="2163470" cy="804672"/>
          </a:xfrm>
          <a:prstGeom prst="roundRect">
            <a:avLst>
              <a:gd name="adj" fmla="val 9091"/>
            </a:avLst>
          </a:prstGeom>
          <a:solidFill>
            <a:srgbClr val="DCE7F8"/>
          </a:solidFill>
          <a:ln w="12700">
            <a:solidFill>
              <a:srgbClr val="DCE7F8"/>
            </a:solidFill>
            <a:prstDash val="solid"/>
          </a:ln>
        </p:spPr>
      </p:sp>
      <p:sp>
        <p:nvSpPr>
          <p:cNvPr id="64" name="Shape 55"/>
          <p:cNvSpPr/>
          <p:nvPr/>
        </p:nvSpPr>
        <p:spPr>
          <a:xfrm>
            <a:off x="7313371" y="5486400"/>
            <a:ext cx="2163470" cy="347472"/>
          </a:xfrm>
          <a:prstGeom prst="roundRect">
            <a:avLst>
              <a:gd name="adj" fmla="val 21053"/>
            </a:avLst>
          </a:prstGeom>
          <a:solidFill>
            <a:srgbClr val="13285B"/>
          </a:solidFill>
          <a:ln w="12700">
            <a:solidFill>
              <a:srgbClr val="13285B"/>
            </a:solidFill>
            <a:prstDash val="solid"/>
          </a:ln>
        </p:spPr>
      </p:sp>
      <p:pic>
        <p:nvPicPr>
          <p:cNvPr id="65" name="Image 7" descr="preencoded.png">    </p:cNvPr>
          <p:cNvPicPr>
            <a:picLocks noChangeAspect="1"/>
          </p:cNvPicPr>
          <p:nvPr/>
        </p:nvPicPr>
        <p:blipFill>
          <a:blip r:embed="rId12"/>
          <a:stretch>
            <a:fillRect/>
          </a:stretch>
        </p:blipFill>
        <p:spPr>
          <a:xfrm>
            <a:off x="7423099" y="5559552"/>
            <a:ext cx="201168" cy="201168"/>
          </a:xfrm>
          <a:prstGeom prst="rect">
            <a:avLst/>
          </a:prstGeom>
        </p:spPr>
      </p:pic>
      <p:sp>
        <p:nvSpPr>
          <p:cNvPr id="66" name="Text 56"/>
          <p:cNvSpPr txBox="1"/>
          <p:nvPr/>
        </p:nvSpPr>
        <p:spPr>
          <a:xfrm>
            <a:off x="771570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67" name="Text 57"/>
          <p:cNvSpPr txBox="1"/>
          <p:nvPr/>
        </p:nvSpPr>
        <p:spPr>
          <a:xfrm>
            <a:off x="742309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Automated vetting &amp; seller recruiting</a:t>
            </a:r>
            <a:endParaRPr lang="en-US" sz="1050" dirty="0"/>
          </a:p>
        </p:txBody>
      </p:sp>
      <p:sp>
        <p:nvSpPr>
          <p:cNvPr id="68" name="Shape 58"/>
          <p:cNvSpPr/>
          <p:nvPr/>
        </p:nvSpPr>
        <p:spPr>
          <a:xfrm>
            <a:off x="9614002" y="5486400"/>
            <a:ext cx="2163470" cy="804672"/>
          </a:xfrm>
          <a:prstGeom prst="roundRect">
            <a:avLst>
              <a:gd name="adj" fmla="val 9091"/>
            </a:avLst>
          </a:prstGeom>
          <a:solidFill>
            <a:srgbClr val="DCE7F8"/>
          </a:solidFill>
          <a:ln w="12700">
            <a:solidFill>
              <a:srgbClr val="DCE7F8"/>
            </a:solidFill>
            <a:prstDash val="solid"/>
          </a:ln>
        </p:spPr>
      </p:sp>
      <p:sp>
        <p:nvSpPr>
          <p:cNvPr id="69" name="Shape 59"/>
          <p:cNvSpPr/>
          <p:nvPr/>
        </p:nvSpPr>
        <p:spPr>
          <a:xfrm>
            <a:off x="9614002" y="5486400"/>
            <a:ext cx="2163470" cy="347472"/>
          </a:xfrm>
          <a:prstGeom prst="roundRect">
            <a:avLst>
              <a:gd name="adj" fmla="val 21053"/>
            </a:avLst>
          </a:prstGeom>
          <a:solidFill>
            <a:srgbClr val="13285B"/>
          </a:solidFill>
          <a:ln w="12700">
            <a:solidFill>
              <a:srgbClr val="13285B"/>
            </a:solidFill>
            <a:prstDash val="solid"/>
          </a:ln>
        </p:spPr>
      </p:sp>
      <p:pic>
        <p:nvPicPr>
          <p:cNvPr id="70" name="Image 8" descr="preencoded.png">    </p:cNvPr>
          <p:cNvPicPr>
            <a:picLocks noChangeAspect="1"/>
          </p:cNvPicPr>
          <p:nvPr/>
        </p:nvPicPr>
        <p:blipFill>
          <a:blip r:embed="rId13"/>
          <a:stretch>
            <a:fillRect/>
          </a:stretch>
        </p:blipFill>
        <p:spPr>
          <a:xfrm>
            <a:off x="9723730" y="5559552"/>
            <a:ext cx="201168" cy="201168"/>
          </a:xfrm>
          <a:prstGeom prst="rect">
            <a:avLst/>
          </a:prstGeom>
        </p:spPr>
      </p:pic>
      <p:sp>
        <p:nvSpPr>
          <p:cNvPr id="71" name="Text 60"/>
          <p:cNvSpPr txBox="1"/>
          <p:nvPr/>
        </p:nvSpPr>
        <p:spPr>
          <a:xfrm>
            <a:off x="10016338"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72" name="Text 61"/>
          <p:cNvSpPr txBox="1"/>
          <p:nvPr/>
        </p:nvSpPr>
        <p:spPr>
          <a:xfrm>
            <a:off x="9723730"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Market radar &amp; pilot tracking</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PoC Scope at a Glance: 12 Nodes · 3 Segments · 2 Competitors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11365992" cy="914400"/>
        </p:xfrm>
        <a:graphic>
          <a:graphicData uri="http://schemas.openxmlformats.org/drawingml/2006/table">
            <a:tbl>
              <a:tblPr/>
              <a:tblGrid>
                <a:gridCol w="1737360"/>
                <a:gridCol w="3017520"/>
                <a:gridCol w="3657600"/>
                <a:gridCol w="1417320"/>
                <a:gridCol w="1536192"/>
              </a:tblGrid>
              <a:tr h="38404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Segment · Play</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Staples node</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Category path</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Primary competitor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Archetypes recommended</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EXTEND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3285B"/>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Planners &amp; Personal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Calendars &amp; Planners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Backpacks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Backpacks &amp; Laptop 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Desks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Desks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Probable 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BUILD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2F6FD0"/>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Water Bottles, Tumblers &amp; Travel Mugs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Water &amp; Beverages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Accent &amp; Waiting Room Chairs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Chairs &amp; Seating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Lamps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Lamps &amp; Lighting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Lunch Bags &amp; Boxes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Totes &amp; Handbags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13285B"/>
                          </a:solidFill>
                          <a:latin typeface="Calibri" pitchFamily="34" charset="0"/>
                          <a:ea typeface="Calibri" pitchFamily="34" charset="-122"/>
                          <a:cs typeface="Calibri" pitchFamily="34" charset="-120"/>
                        </a:rPr>
                        <a:t>Non-Hero</a:t>
                      </a:r>
                      <a:endParaRPr lang="en-US" sz="1300" dirty="0">
                        <a:latin typeface="Calibri" charset="0"/>
                        <a:ea typeface="Calibri" charset="0"/>
                        <a:cs typeface="Calibri" charset="0"/>
                      </a:endParaRPr>
                    </a:p>
                    <a:p>
                      <a:pPr algn="ctr" indent="0" marL="0">
                        <a:buNone/>
                      </a:pPr>
                      <a:r>
                        <a:rPr lang="en-US" sz="1300" b="1" dirty="0">
                          <a:solidFill>
                            <a:srgbClr val="13285B"/>
                          </a:solidFill>
                          <a:latin typeface="Calibri" pitchFamily="34" charset="0"/>
                          <a:ea typeface="Calibri" pitchFamily="34" charset="-122"/>
                          <a:cs typeface="Calibri" pitchFamily="34" charset="-120"/>
                        </a:rPr>
                        <a:t>EXPLORE</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8FB0E8"/>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Clocks &amp; Timers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Decor</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Pads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Coffee Organizers &amp; Dispensers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Coffee, Coffee Makers &amp; Supplies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Partitions &amp; Dividers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Cubicle &amp; Panel Systems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bl>
          </a:graphicData>
        </a:graphic>
      </p:graphicFrame>
      <p:sp>
        <p:nvSpPr>
          <p:cNvPr id="4" name="Shape 1"/>
          <p:cNvSpPr/>
          <p:nvPr/>
        </p:nvSpPr>
        <p:spPr>
          <a:xfrm>
            <a:off x="411480" y="5943600"/>
            <a:ext cx="11365992" cy="384048"/>
          </a:xfrm>
          <a:prstGeom prst="roundRect">
            <a:avLst>
              <a:gd name="adj" fmla="val 19048"/>
            </a:avLst>
          </a:prstGeom>
          <a:solidFill>
            <a:srgbClr val="FFF4E0"/>
          </a:solidFill>
          <a:ln w="12700">
            <a:solidFill>
              <a:srgbClr val="F5A623"/>
            </a:solidFill>
            <a:prstDash val="solid"/>
          </a:ln>
        </p:spPr>
      </p:sp>
      <p:pic>
        <p:nvPicPr>
          <p:cNvPr id="5" name="Image 0" descr="preencoded.png">    </p:cNvPr>
          <p:cNvPicPr>
            <a:picLocks noChangeAspect="1"/>
          </p:cNvPicPr>
          <p:nvPr/>
        </p:nvPicPr>
        <p:blipFill>
          <a:blip r:embed="rId1"/>
          <a:stretch>
            <a:fillRect/>
          </a:stretch>
        </p:blipFill>
        <p:spPr>
          <a:xfrm>
            <a:off x="566928" y="6025896"/>
            <a:ext cx="219456" cy="219456"/>
          </a:xfrm>
          <a:prstGeom prst="rect">
            <a:avLst/>
          </a:prstGeom>
        </p:spPr>
      </p:pic>
      <p:sp>
        <p:nvSpPr>
          <p:cNvPr id="6" name="Text 2"/>
          <p:cNvSpPr txBox="1"/>
          <p:nvPr/>
        </p:nvSpPr>
        <p:spPr>
          <a:xfrm>
            <a:off x="914400" y="5943600"/>
            <a:ext cx="10698480" cy="384048"/>
          </a:xfrm>
          <a:prstGeom prst="rect">
            <a:avLst/>
          </a:prstGeom>
          <a:noFill/>
          <a:ln/>
        </p:spPr>
        <p:txBody>
          <a:bodyPr wrap="square" lIns="0" tIns="0" rIns="0" bIns="0" rtlCol="0" anchor="ctr"/>
          <a:lstStyle/>
          <a:p>
            <a:pPr indent="0" marL="0">
              <a:buNone/>
            </a:pPr>
            <a:r>
              <a:rPr lang="en-US" sz="1100" b="1" dirty="0">
                <a:solidFill>
                  <a:srgbClr val="8A5A00"/>
                </a:solidFill>
                <a:latin typeface="Calibri" pitchFamily="34" charset="0"/>
                <a:ea typeface="Calibri" pitchFamily="34" charset="-122"/>
                <a:cs typeface="Calibri" pitchFamily="34" charset="-120"/>
              </a:rPr>
              <a:t>Data disclaimer:  </a:t>
            </a:r>
            <a:pPr indent="0" marL="0">
              <a:buNone/>
            </a:pPr>
            <a:r>
              <a:rPr lang="en-US" sz="1100" dirty="0">
                <a:solidFill>
                  <a:srgbClr val="1F2937"/>
                </a:solidFill>
                <a:latin typeface="Calibri" pitchFamily="34" charset="0"/>
                <a:ea typeface="Calibri" pitchFamily="34" charset="-122"/>
                <a:cs typeface="Calibri" pitchFamily="34" charset="-120"/>
              </a:rPr>
              <a:t>competitor data are scraped listing samples, not full catalogs; Staples data are close to complete.</a:t>
            </a:r>
            <a:endParaRPr lang="en-US" sz="11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Demo</a:t>
            </a:r>
            <a:endParaRPr lang="en-US" sz="2800" dirty="0"/>
          </a:p>
        </p:txBody>
      </p:sp>
      <p:pic>
        <p:nvPicPr>
          <p:cNvPr id="3" name="Image 0" descr="preencoded.png">    </p:cNvPr>
          <p:cNvPicPr>
            <a:picLocks noChangeAspect="1"/>
          </p:cNvPicPr>
          <p:nvPr/>
        </p:nvPicPr>
        <p:blipFill>
          <a:blip r:embed="rId1"/>
          <a:stretch>
            <a:fillRect/>
          </a:stretch>
        </p:blipFill>
        <p:spPr>
          <a:xfrm>
            <a:off x="5641848" y="1828800"/>
            <a:ext cx="914400" cy="914400"/>
          </a:xfrm>
          <a:prstGeom prst="rect">
            <a:avLst/>
          </a:prstGeom>
        </p:spPr>
      </p:pic>
      <p:sp>
        <p:nvSpPr>
          <p:cNvPr id="4" name="Text 1"/>
          <p:cNvSpPr txBox="1"/>
          <p:nvPr/>
        </p:nvSpPr>
        <p:spPr>
          <a:xfrm>
            <a:off x="411480" y="2880360"/>
            <a:ext cx="11365992" cy="731520"/>
          </a:xfrm>
          <a:prstGeom prst="rect">
            <a:avLst/>
          </a:prstGeom>
          <a:noFill/>
          <a:ln/>
        </p:spPr>
        <p:txBody>
          <a:bodyPr wrap="square" lIns="0" tIns="0" rIns="0" bIns="0" rtlCol="0" anchor="ctr"/>
          <a:lstStyle/>
          <a:p>
            <a:pPr algn="ctr" indent="0" marL="0">
              <a:buNone/>
            </a:pPr>
            <a:r>
              <a:rPr lang="en-US" sz="4000" b="1" dirty="0">
                <a:solidFill>
                  <a:srgbClr val="13285B"/>
                </a:solidFill>
                <a:latin typeface="Calibri" pitchFamily="34" charset="0"/>
                <a:ea typeface="Calibri" pitchFamily="34" charset="-122"/>
                <a:cs typeface="Calibri" pitchFamily="34" charset="-120"/>
              </a:rPr>
              <a:t>Live Demo</a:t>
            </a:r>
            <a:endParaRPr lang="en-US" sz="4000" dirty="0"/>
          </a:p>
        </p:txBody>
      </p:sp>
      <p:sp>
        <p:nvSpPr>
          <p:cNvPr id="5" name="Shape 2"/>
          <p:cNvSpPr/>
          <p:nvPr/>
        </p:nvSpPr>
        <p:spPr>
          <a:xfrm>
            <a:off x="3355848" y="3886200"/>
            <a:ext cx="5486400" cy="640080"/>
          </a:xfrm>
          <a:prstGeom prst="roundRect">
            <a:avLst>
              <a:gd name="adj" fmla="val 14286"/>
            </a:avLst>
          </a:prstGeom>
          <a:solidFill>
            <a:srgbClr val="EEF3FB"/>
          </a:solidFill>
          <a:ln w="9525">
            <a:solidFill>
              <a:srgbClr val="8FB0E8"/>
            </a:solidFill>
            <a:prstDash val="dash"/>
          </a:ln>
        </p:spPr>
      </p:sp>
      <p:pic>
        <p:nvPicPr>
          <p:cNvPr id="6" name="Image 1" descr="preencoded.png">    </p:cNvPr>
          <p:cNvPicPr>
            <a:picLocks noChangeAspect="1"/>
          </p:cNvPicPr>
          <p:nvPr/>
        </p:nvPicPr>
        <p:blipFill>
          <a:blip r:embed="rId2"/>
          <a:stretch>
            <a:fillRect/>
          </a:stretch>
        </p:blipFill>
        <p:spPr>
          <a:xfrm>
            <a:off x="3611880" y="4059936"/>
            <a:ext cx="292608" cy="292608"/>
          </a:xfrm>
          <a:prstGeom prst="rect">
            <a:avLst/>
          </a:prstGeom>
        </p:spPr>
      </p:pic>
      <p:sp>
        <p:nvSpPr>
          <p:cNvPr id="7" name="Text 3"/>
          <p:cNvSpPr txBox="1"/>
          <p:nvPr/>
        </p:nvSpPr>
        <p:spPr>
          <a:xfrm>
            <a:off x="4069080" y="3886200"/>
            <a:ext cx="4572000" cy="640080"/>
          </a:xfrm>
          <a:prstGeom prst="rect">
            <a:avLst/>
          </a:prstGeom>
          <a:noFill/>
          <a:ln/>
        </p:spPr>
        <p:txBody>
          <a:bodyPr wrap="square" lIns="0" tIns="0" rIns="0" bIns="0" rtlCol="0" anchor="ctr"/>
          <a:lstStyle/>
          <a:p>
            <a:pPr indent="0" marL="0">
              <a:buNone/>
            </a:pPr>
            <a:r>
              <a:rPr lang="en-US" sz="1800" dirty="0">
                <a:solidFill>
                  <a:srgbClr val="2F6FD0"/>
                </a:solidFill>
                <a:latin typeface="Calibri" pitchFamily="34" charset="0"/>
                <a:ea typeface="Calibri" pitchFamily="34" charset="-122"/>
                <a:cs typeface="Calibri" pitchFamily="34" charset="-120"/>
              </a:rPr>
              <a:t>Link: [to be added]</a:t>
            </a:r>
            <a:endParaRPr lang="en-US" sz="1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The PoC Engine on Staples Data</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The same Assortment Gap &amp; Recommendation analysis, powered by </a:t>
            </a:r>
            <a:pPr algn="ctr" indent="0" marL="0">
              <a:buNone/>
            </a:pPr>
            <a:r>
              <a:rPr lang="en-US" sz="1150" b="1" dirty="0">
                <a:solidFill>
                  <a:srgbClr val="13285B"/>
                </a:solidFill>
                <a:latin typeface="Calibri" pitchFamily="34" charset="0"/>
                <a:ea typeface="Calibri" pitchFamily="34" charset="-122"/>
                <a:cs typeface="Calibri" pitchFamily="34" charset="-120"/>
              </a:rPr>
              <a:t>real demand</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Staples' own data</a:t>
            </a:r>
            <a:pPr algn="ctr" indent="0" marL="0">
              <a:buNone/>
            </a:pPr>
            <a:r>
              <a:rPr lang="en-US" sz="1150" dirty="0">
                <a:solidFill>
                  <a:srgbClr val="1F2937"/>
                </a:solidFill>
                <a:latin typeface="Calibri" pitchFamily="34" charset="0"/>
                <a:ea typeface="Calibri" pitchFamily="34" charset="-122"/>
                <a:cs typeface="Calibri" pitchFamily="34" charset="-120"/>
              </a:rPr>
              <a:t> and </a:t>
            </a:r>
            <a:pPr algn="ctr" indent="0" marL="0">
              <a:buNone/>
            </a:pPr>
            <a:r>
              <a:rPr lang="en-US" sz="1150" b="1" dirty="0">
                <a:solidFill>
                  <a:srgbClr val="13285B"/>
                </a:solidFill>
                <a:latin typeface="Calibri" pitchFamily="34" charset="0"/>
                <a:ea typeface="Calibri" pitchFamily="34" charset="-122"/>
                <a:cs typeface="Calibri" pitchFamily="34" charset="-120"/>
              </a:rPr>
              <a:t>merchant-set guardrails</a:t>
            </a:r>
            <a:pPr algn="ctr" indent="0" marL="0">
              <a:buNone/>
            </a:pPr>
            <a:r>
              <a:rPr lang="en-US" sz="1150" dirty="0">
                <a:solidFill>
                  <a:srgbClr val="1F2937"/>
                </a:solidFill>
                <a:latin typeface="Calibri" pitchFamily="34" charset="0"/>
                <a:ea typeface="Calibri" pitchFamily="34" charset="-122"/>
                <a:cs typeface="Calibri" pitchFamily="34" charset="-120"/>
              </a:rPr>
              <a:t>.</a:t>
            </a:r>
            <a:endParaRPr lang="en-US" sz="1200" dirty="0"/>
          </a:p>
        </p:txBody>
      </p:sp>
      <p:sp>
        <p:nvSpPr>
          <p:cNvPr id="5" name="Shape 3"/>
          <p:cNvSpPr/>
          <p:nvPr/>
        </p:nvSpPr>
        <p:spPr>
          <a:xfrm>
            <a:off x="411480" y="1737360"/>
            <a:ext cx="2083003" cy="713232"/>
          </a:xfrm>
          <a:prstGeom prst="roundRect">
            <a:avLst>
              <a:gd name="adj" fmla="val 10256"/>
            </a:avLst>
          </a:prstGeom>
          <a:solidFill>
            <a:srgbClr val="1F4E9A"/>
          </a:solidFill>
          <a:ln w="12700">
            <a:solidFill>
              <a:srgbClr val="1F4E9A"/>
            </a:solidFill>
            <a:prstDash val="solid"/>
          </a:ln>
        </p:spPr>
      </p:sp>
      <p:pic>
        <p:nvPicPr>
          <p:cNvPr id="6" name="Image 0" descr="preencoded.png">    </p:cNvPr>
          <p:cNvPicPr>
            <a:picLocks noChangeAspect="1"/>
          </p:cNvPicPr>
          <p:nvPr/>
        </p:nvPicPr>
        <p:blipFill>
          <a:blip r:embed="rId1"/>
          <a:stretch>
            <a:fillRect/>
          </a:stretch>
        </p:blipFill>
        <p:spPr>
          <a:xfrm>
            <a:off x="521208" y="1920240"/>
            <a:ext cx="347472" cy="347472"/>
          </a:xfrm>
          <a:prstGeom prst="rect">
            <a:avLst/>
          </a:prstGeom>
        </p:spPr>
      </p:pic>
      <p:sp>
        <p:nvSpPr>
          <p:cNvPr id="7" name="Text 4"/>
          <p:cNvSpPr txBox="1"/>
          <p:nvPr/>
        </p:nvSpPr>
        <p:spPr>
          <a:xfrm>
            <a:off x="960120"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8" name="Text 5"/>
          <p:cNvSpPr txBox="1"/>
          <p:nvPr/>
        </p:nvSpPr>
        <p:spPr>
          <a:xfrm>
            <a:off x="960120"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Opportunity sizing &amp; stack-rank</a:t>
            </a:r>
            <a:endParaRPr lang="en-US" sz="1100" dirty="0"/>
          </a:p>
        </p:txBody>
      </p:sp>
      <p:sp>
        <p:nvSpPr>
          <p:cNvPr id="9" name="Shape 6"/>
          <p:cNvSpPr/>
          <p:nvPr/>
        </p:nvSpPr>
        <p:spPr>
          <a:xfrm>
            <a:off x="411480" y="2505456"/>
            <a:ext cx="2083003" cy="3401568"/>
          </a:xfrm>
          <a:prstGeom prst="roundRect">
            <a:avLst>
              <a:gd name="adj" fmla="val 3512"/>
            </a:avLst>
          </a:prstGeom>
          <a:solidFill>
            <a:srgbClr val="FFFFFF"/>
          </a:solidFill>
          <a:ln w="9525">
            <a:solidFill>
              <a:srgbClr val="C9D3E3"/>
            </a:solidFill>
            <a:prstDash val="solid"/>
          </a:ln>
        </p:spPr>
      </p:sp>
      <p:sp>
        <p:nvSpPr>
          <p:cNvPr id="10" name="Text 7"/>
          <p:cNvSpPr txBox="1"/>
          <p:nvPr/>
        </p:nvSpPr>
        <p:spPr>
          <a:xfrm>
            <a:off x="521208"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Which gaps are worth the most, and to whom?</a:t>
            </a:r>
            <a:endParaRPr lang="en-US" sz="1000" dirty="0"/>
          </a:p>
        </p:txBody>
      </p:sp>
      <p:sp>
        <p:nvSpPr>
          <p:cNvPr id="11" name="Text 8"/>
          <p:cNvSpPr txBox="1"/>
          <p:nvPr/>
        </p:nvSpPr>
        <p:spPr>
          <a:xfrm>
            <a:off x="502920"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Opportunity $ = node demand × archetype share (competitor-scaled) × conversion × AUR</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Stack-rank to the ~20% of gaps that solve 80%, by category owner</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Size the opportunity by customer segment: Staples.com (SMB, consumers) vs Staples Business</a:t>
            </a:r>
            <a:endParaRPr lang="en-US" sz="950" dirty="0"/>
          </a:p>
        </p:txBody>
      </p:sp>
      <p:sp>
        <p:nvSpPr>
          <p:cNvPr id="12" name="Shape 9"/>
          <p:cNvSpPr/>
          <p:nvPr/>
        </p:nvSpPr>
        <p:spPr>
          <a:xfrm>
            <a:off x="484632" y="4517136"/>
            <a:ext cx="1936699" cy="566928"/>
          </a:xfrm>
          <a:prstGeom prst="roundRect">
            <a:avLst>
              <a:gd name="adj" fmla="val 9677"/>
            </a:avLst>
          </a:prstGeom>
          <a:solidFill>
            <a:srgbClr val="EEF3FB"/>
          </a:solidFill>
          <a:ln w="12700">
            <a:solidFill>
              <a:srgbClr val="EEF3FB"/>
            </a:solidFill>
            <a:prstDash val="solid"/>
          </a:ln>
        </p:spPr>
      </p:sp>
      <p:sp>
        <p:nvSpPr>
          <p:cNvPr id="13" name="Text 10"/>
          <p:cNvSpPr txBox="1"/>
          <p:nvPr/>
        </p:nvSpPr>
        <p:spPr>
          <a:xfrm>
            <a:off x="557784"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14" name="Text 11"/>
          <p:cNvSpPr txBox="1"/>
          <p:nvPr/>
        </p:nvSpPr>
        <p:spPr>
          <a:xfrm>
            <a:off x="557784"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search funnel · conversion</a:t>
            </a:r>
            <a:endParaRPr lang="en-US" sz="950" dirty="0"/>
          </a:p>
        </p:txBody>
      </p:sp>
      <p:sp>
        <p:nvSpPr>
          <p:cNvPr id="15" name="Shape 12"/>
          <p:cNvSpPr/>
          <p:nvPr/>
        </p:nvSpPr>
        <p:spPr>
          <a:xfrm>
            <a:off x="484632" y="5157216"/>
            <a:ext cx="1936699" cy="676656"/>
          </a:xfrm>
          <a:prstGeom prst="roundRect">
            <a:avLst>
              <a:gd name="adj" fmla="val 8108"/>
            </a:avLst>
          </a:prstGeom>
          <a:solidFill>
            <a:srgbClr val="DCE7F8"/>
          </a:solidFill>
          <a:ln w="12700">
            <a:solidFill>
              <a:srgbClr val="DCE7F8"/>
            </a:solidFill>
            <a:prstDash val="solid"/>
          </a:ln>
        </p:spPr>
      </p:sp>
      <p:sp>
        <p:nvSpPr>
          <p:cNvPr id="16" name="Text 13"/>
          <p:cNvSpPr txBox="1"/>
          <p:nvPr/>
        </p:nvSpPr>
        <p:spPr>
          <a:xfrm>
            <a:off x="557784"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7" name="Text 14"/>
          <p:cNvSpPr txBox="1"/>
          <p:nvPr/>
        </p:nvSpPr>
        <p:spPr>
          <a:xfrm>
            <a:off x="557784"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$-ranked shortlist per segment</a:t>
            </a:r>
            <a:endParaRPr lang="en-US" sz="1050" dirty="0"/>
          </a:p>
        </p:txBody>
      </p:sp>
      <p:sp>
        <p:nvSpPr>
          <p:cNvPr id="18" name="Shape 15"/>
          <p:cNvSpPr/>
          <p:nvPr/>
        </p:nvSpPr>
        <p:spPr>
          <a:xfrm>
            <a:off x="2732227" y="1737360"/>
            <a:ext cx="2083003" cy="713232"/>
          </a:xfrm>
          <a:prstGeom prst="roundRect">
            <a:avLst>
              <a:gd name="adj" fmla="val 10256"/>
            </a:avLst>
          </a:prstGeom>
          <a:solidFill>
            <a:srgbClr val="1F4E9A"/>
          </a:solidFill>
          <a:ln w="12700">
            <a:solidFill>
              <a:srgbClr val="1F4E9A"/>
            </a:solidFill>
            <a:prstDash val="solid"/>
          </a:ln>
        </p:spPr>
      </p:sp>
      <p:pic>
        <p:nvPicPr>
          <p:cNvPr id="19" name="Image 1" descr="preencoded.png">    </p:cNvPr>
          <p:cNvPicPr>
            <a:picLocks noChangeAspect="1"/>
          </p:cNvPicPr>
          <p:nvPr/>
        </p:nvPicPr>
        <p:blipFill>
          <a:blip r:embed="rId2"/>
          <a:stretch>
            <a:fillRect/>
          </a:stretch>
        </p:blipFill>
        <p:spPr>
          <a:xfrm>
            <a:off x="2841955" y="1920240"/>
            <a:ext cx="347472" cy="347472"/>
          </a:xfrm>
          <a:prstGeom prst="rect">
            <a:avLst/>
          </a:prstGeom>
        </p:spPr>
      </p:pic>
      <p:sp>
        <p:nvSpPr>
          <p:cNvPr id="20" name="Text 16"/>
          <p:cNvSpPr txBox="1"/>
          <p:nvPr/>
        </p:nvSpPr>
        <p:spPr>
          <a:xfrm>
            <a:off x="3280867"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21" name="Text 17"/>
          <p:cNvSpPr txBox="1"/>
          <p:nvPr/>
        </p:nvSpPr>
        <p:spPr>
          <a:xfrm>
            <a:off x="3280867"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Core guardrails &amp; cannibalisation</a:t>
            </a:r>
            <a:endParaRPr lang="en-US" sz="1100" dirty="0"/>
          </a:p>
        </p:txBody>
      </p:sp>
      <p:sp>
        <p:nvSpPr>
          <p:cNvPr id="22" name="Shape 18"/>
          <p:cNvSpPr/>
          <p:nvPr/>
        </p:nvSpPr>
        <p:spPr>
          <a:xfrm>
            <a:off x="2732227" y="2505456"/>
            <a:ext cx="2083003" cy="3401568"/>
          </a:xfrm>
          <a:prstGeom prst="roundRect">
            <a:avLst>
              <a:gd name="adj" fmla="val 3512"/>
            </a:avLst>
          </a:prstGeom>
          <a:solidFill>
            <a:srgbClr val="FFFFFF"/>
          </a:solidFill>
          <a:ln w="9525">
            <a:solidFill>
              <a:srgbClr val="C9D3E3"/>
            </a:solidFill>
            <a:prstDash val="solid"/>
          </a:ln>
        </p:spPr>
      </p:sp>
      <p:sp>
        <p:nvSpPr>
          <p:cNvPr id="23" name="Text 19"/>
          <p:cNvSpPr txBox="1"/>
          <p:nvPr/>
        </p:nvSpPr>
        <p:spPr>
          <a:xfrm>
            <a:off x="2841955"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Will this listing take sales from 1P?</a:t>
            </a:r>
            <a:endParaRPr lang="en-US" sz="1000" dirty="0"/>
          </a:p>
        </p:txBody>
      </p:sp>
      <p:sp>
        <p:nvSpPr>
          <p:cNvPr id="24" name="Text 20"/>
          <p:cNvSpPr txBox="1"/>
          <p:nvPr/>
        </p:nvSpPr>
        <p:spPr>
          <a:xfrm>
            <a:off x="2823667"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Tune cannibalisation thresholds: tighter the closer to core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Swap today's supply proxy for real 1P sales overlap</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Set price &amp; margin floors per node</a:t>
            </a:r>
            <a:endParaRPr lang="en-US" sz="950" dirty="0"/>
          </a:p>
        </p:txBody>
      </p:sp>
      <p:sp>
        <p:nvSpPr>
          <p:cNvPr id="25" name="Shape 21"/>
          <p:cNvSpPr/>
          <p:nvPr/>
        </p:nvSpPr>
        <p:spPr>
          <a:xfrm>
            <a:off x="2805379" y="4517136"/>
            <a:ext cx="1936699" cy="566928"/>
          </a:xfrm>
          <a:prstGeom prst="roundRect">
            <a:avLst>
              <a:gd name="adj" fmla="val 9677"/>
            </a:avLst>
          </a:prstGeom>
          <a:solidFill>
            <a:srgbClr val="EEF3FB"/>
          </a:solidFill>
          <a:ln w="12700">
            <a:solidFill>
              <a:srgbClr val="EEF3FB"/>
            </a:solidFill>
            <a:prstDash val="solid"/>
          </a:ln>
        </p:spPr>
      </p:sp>
      <p:sp>
        <p:nvSpPr>
          <p:cNvPr id="26" name="Text 22"/>
          <p:cNvSpPr txBox="1"/>
          <p:nvPr/>
        </p:nvSpPr>
        <p:spPr>
          <a:xfrm>
            <a:off x="2878531"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27" name="Text 23"/>
          <p:cNvSpPr txBox="1"/>
          <p:nvPr/>
        </p:nvSpPr>
        <p:spPr>
          <a:xfrm>
            <a:off x="2878531"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1P sales · margin · price history</a:t>
            </a:r>
            <a:endParaRPr lang="en-US" sz="950" dirty="0"/>
          </a:p>
        </p:txBody>
      </p:sp>
      <p:sp>
        <p:nvSpPr>
          <p:cNvPr id="28" name="Shape 24"/>
          <p:cNvSpPr/>
          <p:nvPr/>
        </p:nvSpPr>
        <p:spPr>
          <a:xfrm>
            <a:off x="2805379" y="5157216"/>
            <a:ext cx="1936699" cy="676656"/>
          </a:xfrm>
          <a:prstGeom prst="roundRect">
            <a:avLst>
              <a:gd name="adj" fmla="val 8108"/>
            </a:avLst>
          </a:prstGeom>
          <a:solidFill>
            <a:srgbClr val="DCE7F8"/>
          </a:solidFill>
          <a:ln w="12700">
            <a:solidFill>
              <a:srgbClr val="DCE7F8"/>
            </a:solidFill>
            <a:prstDash val="solid"/>
          </a:ln>
        </p:spPr>
      </p:sp>
      <p:sp>
        <p:nvSpPr>
          <p:cNvPr id="29" name="Text 25"/>
          <p:cNvSpPr txBox="1"/>
          <p:nvPr/>
        </p:nvSpPr>
        <p:spPr>
          <a:xfrm>
            <a:off x="2878531"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30" name="Text 26"/>
          <p:cNvSpPr txBox="1"/>
          <p:nvPr/>
        </p:nvSpPr>
        <p:spPr>
          <a:xfrm>
            <a:off x="2878531"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1P protected: curated, not an everything store</a:t>
            </a:r>
            <a:endParaRPr lang="en-US" sz="1050" dirty="0"/>
          </a:p>
        </p:txBody>
      </p:sp>
      <p:sp>
        <p:nvSpPr>
          <p:cNvPr id="31" name="Shape 27"/>
          <p:cNvSpPr/>
          <p:nvPr/>
        </p:nvSpPr>
        <p:spPr>
          <a:xfrm>
            <a:off x="5052974" y="1737360"/>
            <a:ext cx="2083003" cy="713232"/>
          </a:xfrm>
          <a:prstGeom prst="roundRect">
            <a:avLst>
              <a:gd name="adj" fmla="val 10256"/>
            </a:avLst>
          </a:prstGeom>
          <a:solidFill>
            <a:srgbClr val="2F6FD0"/>
          </a:solidFill>
          <a:ln w="12700">
            <a:solidFill>
              <a:srgbClr val="2F6FD0"/>
            </a:solidFill>
            <a:prstDash val="solid"/>
          </a:ln>
        </p:spPr>
      </p:sp>
      <p:pic>
        <p:nvPicPr>
          <p:cNvPr id="32" name="Image 2" descr="preencoded.png">    </p:cNvPr>
          <p:cNvPicPr>
            <a:picLocks noChangeAspect="1"/>
          </p:cNvPicPr>
          <p:nvPr/>
        </p:nvPicPr>
        <p:blipFill>
          <a:blip r:embed="rId3"/>
          <a:stretch>
            <a:fillRect/>
          </a:stretch>
        </p:blipFill>
        <p:spPr>
          <a:xfrm>
            <a:off x="5162702" y="1920240"/>
            <a:ext cx="347472" cy="347472"/>
          </a:xfrm>
          <a:prstGeom prst="rect">
            <a:avLst/>
          </a:prstGeom>
        </p:spPr>
      </p:pic>
      <p:sp>
        <p:nvSpPr>
          <p:cNvPr id="33" name="Text 28"/>
          <p:cNvSpPr txBox="1"/>
          <p:nvPr/>
        </p:nvSpPr>
        <p:spPr>
          <a:xfrm>
            <a:off x="5601614"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34" name="Text 29"/>
          <p:cNvSpPr txBox="1"/>
          <p:nvPr/>
        </p:nvSpPr>
        <p:spPr>
          <a:xfrm>
            <a:off x="5601614"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Adjacent-category whitespace</a:t>
            </a:r>
            <a:endParaRPr lang="en-US" sz="1100" dirty="0"/>
          </a:p>
        </p:txBody>
      </p:sp>
      <p:sp>
        <p:nvSpPr>
          <p:cNvPr id="35" name="Shape 30"/>
          <p:cNvSpPr/>
          <p:nvPr/>
        </p:nvSpPr>
        <p:spPr>
          <a:xfrm>
            <a:off x="5052974" y="2505456"/>
            <a:ext cx="2083003" cy="3401568"/>
          </a:xfrm>
          <a:prstGeom prst="roundRect">
            <a:avLst>
              <a:gd name="adj" fmla="val 3512"/>
            </a:avLst>
          </a:prstGeom>
          <a:solidFill>
            <a:srgbClr val="FFFFFF"/>
          </a:solidFill>
          <a:ln w="9525">
            <a:solidFill>
              <a:srgbClr val="C9D3E3"/>
            </a:solidFill>
            <a:prstDash val="solid"/>
          </a:ln>
        </p:spPr>
      </p:sp>
      <p:sp>
        <p:nvSpPr>
          <p:cNvPr id="36" name="Text 31"/>
          <p:cNvSpPr txBox="1"/>
          <p:nvPr/>
        </p:nvSpPr>
        <p:spPr>
          <a:xfrm>
            <a:off x="5162702"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Where should Staples grow next?</a:t>
            </a:r>
            <a:endParaRPr lang="en-US" sz="1000" dirty="0"/>
          </a:p>
        </p:txBody>
      </p:sp>
      <p:sp>
        <p:nvSpPr>
          <p:cNvPr id="37" name="Text 32"/>
          <p:cNvSpPr txBox="1"/>
          <p:nvPr/>
        </p:nvSpPr>
        <p:spPr>
          <a:xfrm>
            <a:off x="5144414"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Relax adjacency thresholds to surface whitespace &amp; new verticals: the flip side of Protect</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Test adjacent: toys, hydration, luggage, tech accessories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Benchmark a broad-assortment competitor to scope each</a:t>
            </a:r>
            <a:endParaRPr lang="en-US" sz="950" dirty="0"/>
          </a:p>
        </p:txBody>
      </p:sp>
      <p:sp>
        <p:nvSpPr>
          <p:cNvPr id="38" name="Shape 33"/>
          <p:cNvSpPr/>
          <p:nvPr/>
        </p:nvSpPr>
        <p:spPr>
          <a:xfrm>
            <a:off x="5126126" y="4517136"/>
            <a:ext cx="1936699" cy="566928"/>
          </a:xfrm>
          <a:prstGeom prst="roundRect">
            <a:avLst>
              <a:gd name="adj" fmla="val 9677"/>
            </a:avLst>
          </a:prstGeom>
          <a:solidFill>
            <a:srgbClr val="EEF3FB"/>
          </a:solidFill>
          <a:ln w="12700">
            <a:solidFill>
              <a:srgbClr val="EEF3FB"/>
            </a:solidFill>
            <a:prstDash val="solid"/>
          </a:ln>
        </p:spPr>
      </p:sp>
      <p:sp>
        <p:nvSpPr>
          <p:cNvPr id="39" name="Text 34"/>
          <p:cNvSpPr txBox="1"/>
          <p:nvPr/>
        </p:nvSpPr>
        <p:spPr>
          <a:xfrm>
            <a:off x="5199278"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40" name="Text 35"/>
          <p:cNvSpPr txBox="1"/>
          <p:nvPr/>
        </p:nvSpPr>
        <p:spPr>
          <a:xfrm>
            <a:off x="5199278"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Staples catalog + broad-competitor crawls</a:t>
            </a:r>
            <a:endParaRPr lang="en-US" sz="950" dirty="0"/>
          </a:p>
        </p:txBody>
      </p:sp>
      <p:sp>
        <p:nvSpPr>
          <p:cNvPr id="41" name="Shape 36"/>
          <p:cNvSpPr/>
          <p:nvPr/>
        </p:nvSpPr>
        <p:spPr>
          <a:xfrm>
            <a:off x="5126126" y="5157216"/>
            <a:ext cx="1936699" cy="676656"/>
          </a:xfrm>
          <a:prstGeom prst="roundRect">
            <a:avLst>
              <a:gd name="adj" fmla="val 8108"/>
            </a:avLst>
          </a:prstGeom>
          <a:solidFill>
            <a:srgbClr val="DCE7F8"/>
          </a:solidFill>
          <a:ln w="12700">
            <a:solidFill>
              <a:srgbClr val="DCE7F8"/>
            </a:solidFill>
            <a:prstDash val="solid"/>
          </a:ln>
        </p:spPr>
      </p:sp>
      <p:sp>
        <p:nvSpPr>
          <p:cNvPr id="42" name="Text 37"/>
          <p:cNvSpPr txBox="1"/>
          <p:nvPr/>
        </p:nvSpPr>
        <p:spPr>
          <a:xfrm>
            <a:off x="5199278"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5199278"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Evidence-backed adjacent categories</a:t>
            </a:r>
            <a:endParaRPr lang="en-US" sz="1050" dirty="0"/>
          </a:p>
        </p:txBody>
      </p:sp>
      <p:sp>
        <p:nvSpPr>
          <p:cNvPr id="44" name="Shape 39"/>
          <p:cNvSpPr/>
          <p:nvPr/>
        </p:nvSpPr>
        <p:spPr>
          <a:xfrm>
            <a:off x="7373722" y="1737360"/>
            <a:ext cx="2083003" cy="713232"/>
          </a:xfrm>
          <a:prstGeom prst="roundRect">
            <a:avLst>
              <a:gd name="adj" fmla="val 10256"/>
            </a:avLst>
          </a:prstGeom>
          <a:solidFill>
            <a:srgbClr val="13285B"/>
          </a:solidFill>
          <a:ln w="12700">
            <a:solidFill>
              <a:srgbClr val="13285B"/>
            </a:solidFill>
            <a:prstDash val="solid"/>
          </a:ln>
        </p:spPr>
      </p:sp>
      <p:pic>
        <p:nvPicPr>
          <p:cNvPr id="45" name="Image 3" descr="preencoded.png">    </p:cNvPr>
          <p:cNvPicPr>
            <a:picLocks noChangeAspect="1"/>
          </p:cNvPicPr>
          <p:nvPr/>
        </p:nvPicPr>
        <p:blipFill>
          <a:blip r:embed="rId4"/>
          <a:stretch>
            <a:fillRect/>
          </a:stretch>
        </p:blipFill>
        <p:spPr>
          <a:xfrm>
            <a:off x="7483450" y="1920240"/>
            <a:ext cx="347472" cy="347472"/>
          </a:xfrm>
          <a:prstGeom prst="rect">
            <a:avLst/>
          </a:prstGeom>
        </p:spPr>
      </p:pic>
      <p:sp>
        <p:nvSpPr>
          <p:cNvPr id="46" name="Text 40"/>
          <p:cNvSpPr txBox="1"/>
          <p:nvPr/>
        </p:nvSpPr>
        <p:spPr>
          <a:xfrm>
            <a:off x="7922362"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47" name="Text 41"/>
          <p:cNvSpPr txBox="1"/>
          <p:nvPr/>
        </p:nvSpPr>
        <p:spPr>
          <a:xfrm>
            <a:off x="7922362"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Automated vetting &amp; seller recruiting</a:t>
            </a:r>
            <a:endParaRPr lang="en-US" sz="1100" dirty="0"/>
          </a:p>
        </p:txBody>
      </p:sp>
      <p:sp>
        <p:nvSpPr>
          <p:cNvPr id="48" name="Shape 42"/>
          <p:cNvSpPr/>
          <p:nvPr/>
        </p:nvSpPr>
        <p:spPr>
          <a:xfrm>
            <a:off x="7373722" y="2505456"/>
            <a:ext cx="2083003" cy="3401568"/>
          </a:xfrm>
          <a:prstGeom prst="roundRect">
            <a:avLst>
              <a:gd name="adj" fmla="val 3512"/>
            </a:avLst>
          </a:prstGeom>
          <a:solidFill>
            <a:srgbClr val="FFFFFF"/>
          </a:solidFill>
          <a:ln w="9525">
            <a:solidFill>
              <a:srgbClr val="C9D3E3"/>
            </a:solidFill>
            <a:prstDash val="solid"/>
          </a:ln>
        </p:spPr>
      </p:sp>
      <p:sp>
        <p:nvSpPr>
          <p:cNvPr id="49" name="Text 43"/>
          <p:cNvSpPr txBox="1"/>
          <p:nvPr/>
        </p:nvSpPr>
        <p:spPr>
          <a:xfrm>
            <a:off x="7483450"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Who should supply it, and should it go live?</a:t>
            </a:r>
            <a:endParaRPr lang="en-US" sz="1000" dirty="0"/>
          </a:p>
        </p:txBody>
      </p:sp>
      <p:sp>
        <p:nvSpPr>
          <p:cNvPr id="50" name="Text 44"/>
          <p:cNvSpPr txBox="1"/>
          <p:nvPr/>
        </p:nvSpPr>
        <p:spPr>
          <a:xfrm>
            <a:off x="7465162"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Score every seller submission with the same engine: fit, 1P overlap &amp; price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Approve / review / reject queue that learns from curators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Recruit: start with the 13 brands already on Staples, then top competitor sellers</a:t>
            </a:r>
            <a:endParaRPr lang="en-US" sz="950" dirty="0"/>
          </a:p>
        </p:txBody>
      </p:sp>
      <p:sp>
        <p:nvSpPr>
          <p:cNvPr id="51" name="Shape 45"/>
          <p:cNvSpPr/>
          <p:nvPr/>
        </p:nvSpPr>
        <p:spPr>
          <a:xfrm>
            <a:off x="7446874" y="4517136"/>
            <a:ext cx="1936699" cy="566928"/>
          </a:xfrm>
          <a:prstGeom prst="roundRect">
            <a:avLst>
              <a:gd name="adj" fmla="val 9677"/>
            </a:avLst>
          </a:prstGeom>
          <a:solidFill>
            <a:srgbClr val="EEF3FB"/>
          </a:solidFill>
          <a:ln w="12700">
            <a:solidFill>
              <a:srgbClr val="EEF3FB"/>
            </a:solidFill>
            <a:prstDash val="solid"/>
          </a:ln>
        </p:spPr>
      </p:sp>
      <p:sp>
        <p:nvSpPr>
          <p:cNvPr id="52" name="Text 46"/>
          <p:cNvSpPr txBox="1"/>
          <p:nvPr/>
        </p:nvSpPr>
        <p:spPr>
          <a:xfrm>
            <a:off x="7520026"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53" name="Text 47"/>
          <p:cNvSpPr txBox="1"/>
          <p:nvPr/>
        </p:nvSpPr>
        <p:spPr>
          <a:xfrm>
            <a:off x="7520026"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Seller submissions · curator decisions</a:t>
            </a:r>
            <a:endParaRPr lang="en-US" sz="950" dirty="0"/>
          </a:p>
        </p:txBody>
      </p:sp>
      <p:sp>
        <p:nvSpPr>
          <p:cNvPr id="54" name="Shape 48"/>
          <p:cNvSpPr/>
          <p:nvPr/>
        </p:nvSpPr>
        <p:spPr>
          <a:xfrm>
            <a:off x="7446874" y="5157216"/>
            <a:ext cx="1936699" cy="676656"/>
          </a:xfrm>
          <a:prstGeom prst="roundRect">
            <a:avLst>
              <a:gd name="adj" fmla="val 8108"/>
            </a:avLst>
          </a:prstGeom>
          <a:solidFill>
            <a:srgbClr val="DCE7F8"/>
          </a:solidFill>
          <a:ln w="12700">
            <a:solidFill>
              <a:srgbClr val="DCE7F8"/>
            </a:solidFill>
            <a:prstDash val="solid"/>
          </a:ln>
        </p:spPr>
      </p:sp>
      <p:sp>
        <p:nvSpPr>
          <p:cNvPr id="55" name="Text 49"/>
          <p:cNvSpPr txBox="1"/>
          <p:nvPr/>
        </p:nvSpPr>
        <p:spPr>
          <a:xfrm>
            <a:off x="7520026"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6" name="Text 50"/>
          <p:cNvSpPr txBox="1"/>
          <p:nvPr/>
        </p:nvSpPr>
        <p:spPr>
          <a:xfrm>
            <a:off x="7520026"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Curation that scales + a recruit list</a:t>
            </a:r>
            <a:endParaRPr lang="en-US" sz="1050" dirty="0"/>
          </a:p>
        </p:txBody>
      </p:sp>
      <p:sp>
        <p:nvSpPr>
          <p:cNvPr id="57" name="Shape 51"/>
          <p:cNvSpPr/>
          <p:nvPr/>
        </p:nvSpPr>
        <p:spPr>
          <a:xfrm>
            <a:off x="9694469" y="1737360"/>
            <a:ext cx="2083003" cy="713232"/>
          </a:xfrm>
          <a:prstGeom prst="roundRect">
            <a:avLst>
              <a:gd name="adj" fmla="val 10256"/>
            </a:avLst>
          </a:prstGeom>
          <a:solidFill>
            <a:srgbClr val="13285B"/>
          </a:solidFill>
          <a:ln w="12700">
            <a:solidFill>
              <a:srgbClr val="13285B"/>
            </a:solidFill>
            <a:prstDash val="solid"/>
          </a:ln>
        </p:spPr>
      </p:sp>
      <p:pic>
        <p:nvPicPr>
          <p:cNvPr id="58" name="Image 4" descr="preencoded.png">    </p:cNvPr>
          <p:cNvPicPr>
            <a:picLocks noChangeAspect="1"/>
          </p:cNvPicPr>
          <p:nvPr/>
        </p:nvPicPr>
        <p:blipFill>
          <a:blip r:embed="rId5"/>
          <a:stretch>
            <a:fillRect/>
          </a:stretch>
        </p:blipFill>
        <p:spPr>
          <a:xfrm>
            <a:off x="9804197" y="1920240"/>
            <a:ext cx="347472" cy="347472"/>
          </a:xfrm>
          <a:prstGeom prst="rect">
            <a:avLst/>
          </a:prstGeom>
        </p:spPr>
      </p:pic>
      <p:sp>
        <p:nvSpPr>
          <p:cNvPr id="59" name="Text 52"/>
          <p:cNvSpPr txBox="1"/>
          <p:nvPr/>
        </p:nvSpPr>
        <p:spPr>
          <a:xfrm>
            <a:off x="10243109"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60" name="Text 53"/>
          <p:cNvSpPr txBox="1"/>
          <p:nvPr/>
        </p:nvSpPr>
        <p:spPr>
          <a:xfrm>
            <a:off x="10243109"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Market radar &amp; pilot tracking</a:t>
            </a:r>
            <a:endParaRPr lang="en-US" sz="1100" dirty="0"/>
          </a:p>
        </p:txBody>
      </p:sp>
      <p:sp>
        <p:nvSpPr>
          <p:cNvPr id="61" name="Shape 54"/>
          <p:cNvSpPr/>
          <p:nvPr/>
        </p:nvSpPr>
        <p:spPr>
          <a:xfrm>
            <a:off x="9694469" y="2505456"/>
            <a:ext cx="2083003" cy="3401568"/>
          </a:xfrm>
          <a:prstGeom prst="roundRect">
            <a:avLst>
              <a:gd name="adj" fmla="val 3512"/>
            </a:avLst>
          </a:prstGeom>
          <a:solidFill>
            <a:srgbClr val="FFFFFF"/>
          </a:solidFill>
          <a:ln w="9525">
            <a:solidFill>
              <a:srgbClr val="C9D3E3"/>
            </a:solidFill>
            <a:prstDash val="solid"/>
          </a:ln>
        </p:spPr>
      </p:sp>
      <p:sp>
        <p:nvSpPr>
          <p:cNvPr id="62" name="Text 55"/>
          <p:cNvSpPr txBox="1"/>
          <p:nvPr/>
        </p:nvSpPr>
        <p:spPr>
          <a:xfrm>
            <a:off x="9804197"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What changed, and what worked?</a:t>
            </a:r>
            <a:endParaRPr lang="en-US" sz="1000" dirty="0"/>
          </a:p>
        </p:txBody>
      </p:sp>
      <p:sp>
        <p:nvSpPr>
          <p:cNvPr id="63" name="Text 56"/>
          <p:cNvSpPr txBox="1"/>
          <p:nvPr/>
        </p:nvSpPr>
        <p:spPr>
          <a:xfrm>
            <a:off x="9785909"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Quarterly re-crawls flag new &amp; closing gaps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Track live picks' GMV, attach &amp; conversion vs forecast</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Scale what proves out, drop the rest; feed back into step 1</a:t>
            </a:r>
            <a:endParaRPr lang="en-US" sz="950" dirty="0"/>
          </a:p>
        </p:txBody>
      </p:sp>
      <p:sp>
        <p:nvSpPr>
          <p:cNvPr id="64" name="Shape 57"/>
          <p:cNvSpPr/>
          <p:nvPr/>
        </p:nvSpPr>
        <p:spPr>
          <a:xfrm>
            <a:off x="9767621" y="4517136"/>
            <a:ext cx="1936699" cy="566928"/>
          </a:xfrm>
          <a:prstGeom prst="roundRect">
            <a:avLst>
              <a:gd name="adj" fmla="val 9677"/>
            </a:avLst>
          </a:prstGeom>
          <a:solidFill>
            <a:srgbClr val="EEF3FB"/>
          </a:solidFill>
          <a:ln w="12700">
            <a:solidFill>
              <a:srgbClr val="EEF3FB"/>
            </a:solidFill>
            <a:prstDash val="solid"/>
          </a:ln>
        </p:spPr>
      </p:sp>
      <p:sp>
        <p:nvSpPr>
          <p:cNvPr id="65" name="Text 58"/>
          <p:cNvSpPr txBox="1"/>
          <p:nvPr/>
        </p:nvSpPr>
        <p:spPr>
          <a:xfrm>
            <a:off x="9840773"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66" name="Text 59"/>
          <p:cNvSpPr txBox="1"/>
          <p:nvPr/>
        </p:nvSpPr>
        <p:spPr>
          <a:xfrm>
            <a:off x="9840773"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pilot results (+ competitor crawls)</a:t>
            </a:r>
            <a:endParaRPr lang="en-US" sz="950" dirty="0"/>
          </a:p>
        </p:txBody>
      </p:sp>
      <p:sp>
        <p:nvSpPr>
          <p:cNvPr id="67" name="Shape 60"/>
          <p:cNvSpPr/>
          <p:nvPr/>
        </p:nvSpPr>
        <p:spPr>
          <a:xfrm>
            <a:off x="9767621" y="5157216"/>
            <a:ext cx="1936699" cy="676656"/>
          </a:xfrm>
          <a:prstGeom prst="roundRect">
            <a:avLst>
              <a:gd name="adj" fmla="val 8108"/>
            </a:avLst>
          </a:prstGeom>
          <a:solidFill>
            <a:srgbClr val="DCE7F8"/>
          </a:solidFill>
          <a:ln w="12700">
            <a:solidFill>
              <a:srgbClr val="DCE7F8"/>
            </a:solidFill>
            <a:prstDash val="solid"/>
          </a:ln>
        </p:spPr>
      </p:sp>
      <p:sp>
        <p:nvSpPr>
          <p:cNvPr id="68" name="Text 61"/>
          <p:cNvSpPr txBox="1"/>
          <p:nvPr/>
        </p:nvSpPr>
        <p:spPr>
          <a:xfrm>
            <a:off x="9840773"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9" name="Text 62"/>
          <p:cNvSpPr txBox="1"/>
          <p:nvPr/>
        </p:nvSpPr>
        <p:spPr>
          <a:xfrm>
            <a:off x="9840773"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Live gap list &amp; proven ROI</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Growth Paths for the Marketplace</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Beyond assortment gaps: </a:t>
            </a:r>
            <a:pPr algn="ctr" indent="0" marL="0">
              <a:buNone/>
            </a:pPr>
            <a:r>
              <a:rPr lang="en-US" sz="1150" b="1" dirty="0">
                <a:solidFill>
                  <a:srgbClr val="13285B"/>
                </a:solidFill>
                <a:latin typeface="Calibri" pitchFamily="34" charset="0"/>
                <a:ea typeface="Calibri" pitchFamily="34" charset="-122"/>
                <a:cs typeface="Calibri" pitchFamily="34" charset="-120"/>
              </a:rPr>
              <a:t>six more ways to grow</a:t>
            </a:r>
            <a:pPr algn="ctr" indent="0" marL="0">
              <a:buNone/>
            </a:pPr>
            <a:r>
              <a:rPr lang="en-US" sz="1150" dirty="0">
                <a:solidFill>
                  <a:srgbClr val="1F2937"/>
                </a:solidFill>
                <a:latin typeface="Calibri" pitchFamily="34" charset="0"/>
                <a:ea typeface="Calibri" pitchFamily="34" charset="-122"/>
                <a:cs typeface="Calibri" pitchFamily="34" charset="-120"/>
              </a:rPr>
              <a:t>, combining external signals with Staples data.</a:t>
            </a:r>
            <a:endParaRPr lang="en-US" sz="1200" dirty="0"/>
          </a:p>
        </p:txBody>
      </p:sp>
      <p:sp>
        <p:nvSpPr>
          <p:cNvPr id="5" name="Shape 3"/>
          <p:cNvSpPr/>
          <p:nvPr/>
        </p:nvSpPr>
        <p:spPr>
          <a:xfrm>
            <a:off x="411480" y="1554480"/>
            <a:ext cx="3630168" cy="384048"/>
          </a:xfrm>
          <a:prstGeom prst="roundRect">
            <a:avLst>
              <a:gd name="adj" fmla="val 19048"/>
            </a:avLst>
          </a:prstGeom>
          <a:solidFill>
            <a:srgbClr val="1F4E9A"/>
          </a:solidFill>
          <a:ln w="12700">
            <a:solidFill>
              <a:srgbClr val="1F4E9A"/>
            </a:solidFill>
            <a:prstDash val="solid"/>
          </a:ln>
        </p:spPr>
      </p:sp>
      <p:sp>
        <p:nvSpPr>
          <p:cNvPr id="6" name="Text 4"/>
          <p:cNvSpPr txBox="1"/>
          <p:nvPr/>
        </p:nvSpPr>
        <p:spPr>
          <a:xfrm>
            <a:off x="411480"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1 · SENSE demand early</a:t>
            </a:r>
            <a:endParaRPr lang="en-US" sz="1300" dirty="0"/>
          </a:p>
        </p:txBody>
      </p:sp>
      <p:sp>
        <p:nvSpPr>
          <p:cNvPr id="7" name="Shape 5"/>
          <p:cNvSpPr/>
          <p:nvPr/>
        </p:nvSpPr>
        <p:spPr>
          <a:xfrm>
            <a:off x="4078224" y="1618488"/>
            <a:ext cx="164592" cy="256032"/>
          </a:xfrm>
          <a:prstGeom prst="rightArrow">
            <a:avLst/>
          </a:prstGeom>
          <a:solidFill>
            <a:srgbClr val="A9C3EE"/>
          </a:solidFill>
          <a:ln w="12700">
            <a:solidFill>
              <a:srgbClr val="A9C3EE"/>
            </a:solidFill>
            <a:prstDash val="solid"/>
          </a:ln>
        </p:spPr>
      </p:sp>
      <p:sp>
        <p:nvSpPr>
          <p:cNvPr id="8" name="Shape 6"/>
          <p:cNvSpPr/>
          <p:nvPr/>
        </p:nvSpPr>
        <p:spPr>
          <a:xfrm>
            <a:off x="411480"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9" name="Shape 7"/>
          <p:cNvSpPr/>
          <p:nvPr/>
        </p:nvSpPr>
        <p:spPr>
          <a:xfrm>
            <a:off x="539496" y="2176272"/>
            <a:ext cx="438912" cy="438912"/>
          </a:xfrm>
          <a:prstGeom prst="ellipse">
            <a:avLst/>
          </a:prstGeom>
          <a:solidFill>
            <a:srgbClr val="1F4E9A"/>
          </a:solidFill>
          <a:ln w="12700">
            <a:solidFill>
              <a:srgbClr val="1F4E9A"/>
            </a:solidFill>
            <a:prstDash val="solid"/>
          </a:ln>
        </p:spPr>
      </p:sp>
      <p:pic>
        <p:nvPicPr>
          <p:cNvPr id="10" name="Image 0" descr="preencoded.png">    </p:cNvPr>
          <p:cNvPicPr>
            <a:picLocks noChangeAspect="1"/>
          </p:cNvPicPr>
          <p:nvPr/>
        </p:nvPicPr>
        <p:blipFill>
          <a:blip r:embed="rId1"/>
          <a:stretch>
            <a:fillRect/>
          </a:stretch>
        </p:blipFill>
        <p:spPr>
          <a:xfrm>
            <a:off x="636057" y="2272833"/>
            <a:ext cx="245791" cy="245791"/>
          </a:xfrm>
          <a:prstGeom prst="rect">
            <a:avLst/>
          </a:prstGeom>
        </p:spPr>
      </p:pic>
      <p:sp>
        <p:nvSpPr>
          <p:cNvPr id="11" name="Text 8"/>
          <p:cNvSpPr txBox="1"/>
          <p:nvPr/>
        </p:nvSpPr>
        <p:spPr>
          <a:xfrm>
            <a:off x="1088136"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Search &amp; funnel gaps</a:t>
            </a:r>
            <a:endParaRPr lang="en-US" sz="1250" dirty="0"/>
          </a:p>
        </p:txBody>
      </p:sp>
      <p:sp>
        <p:nvSpPr>
          <p:cNvPr id="12" name="Text 9"/>
          <p:cNvSpPr txBox="1"/>
          <p:nvPr/>
        </p:nvSpPr>
        <p:spPr>
          <a:xfrm>
            <a:off x="1088136"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Where do shoppers search, and drop off?</a:t>
            </a:r>
            <a:endParaRPr lang="en-US" sz="1000" dirty="0"/>
          </a:p>
        </p:txBody>
      </p:sp>
      <p:sp>
        <p:nvSpPr>
          <p:cNvPr id="13" name="Text 10"/>
          <p:cNvSpPr txBox="1"/>
          <p:nvPr/>
        </p:nvSpPr>
        <p:spPr>
          <a:xfrm>
            <a:off x="594360"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Map on-site searches &amp; SEO keywords to archetypes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Search → PDP → need met → conversion (redirects hide demand)</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seller recruiting &amp; product pages</a:t>
            </a:r>
            <a:endParaRPr lang="en-US" sz="1000" dirty="0"/>
          </a:p>
        </p:txBody>
      </p:sp>
      <p:sp>
        <p:nvSpPr>
          <p:cNvPr id="14" name="Shape 11"/>
          <p:cNvSpPr/>
          <p:nvPr/>
        </p:nvSpPr>
        <p:spPr>
          <a:xfrm>
            <a:off x="502920" y="3529584"/>
            <a:ext cx="3447288" cy="493776"/>
          </a:xfrm>
          <a:prstGeom prst="roundRect">
            <a:avLst>
              <a:gd name="adj" fmla="val 11111"/>
            </a:avLst>
          </a:prstGeom>
          <a:solidFill>
            <a:srgbClr val="EEF3FB"/>
          </a:solidFill>
          <a:ln w="12700">
            <a:solidFill>
              <a:srgbClr val="EEF3FB"/>
            </a:solidFill>
            <a:prstDash val="solid"/>
          </a:ln>
        </p:spPr>
      </p:sp>
      <p:sp>
        <p:nvSpPr>
          <p:cNvPr id="15" name="Text 12"/>
          <p:cNvSpPr txBox="1"/>
          <p:nvPr/>
        </p:nvSpPr>
        <p:spPr>
          <a:xfrm>
            <a:off x="594360"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16" name="Text 13"/>
          <p:cNvSpPr txBox="1"/>
          <p:nvPr/>
        </p:nvSpPr>
        <p:spPr>
          <a:xfrm>
            <a:off x="594360"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Search logs · funnel · satisfaction</a:t>
            </a:r>
            <a:endParaRPr lang="en-US" sz="900" dirty="0"/>
          </a:p>
        </p:txBody>
      </p:sp>
      <p:sp>
        <p:nvSpPr>
          <p:cNvPr id="17" name="Text 14"/>
          <p:cNvSpPr txBox="1"/>
          <p:nvPr/>
        </p:nvSpPr>
        <p:spPr>
          <a:xfrm>
            <a:off x="2272284"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8" name="Text 15"/>
          <p:cNvSpPr txBox="1"/>
          <p:nvPr/>
        </p:nvSpPr>
        <p:spPr>
          <a:xfrm>
            <a:off x="2272284"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Existing traffic, converted</a:t>
            </a:r>
            <a:endParaRPr lang="en-US" sz="900" dirty="0"/>
          </a:p>
        </p:txBody>
      </p:sp>
      <p:sp>
        <p:nvSpPr>
          <p:cNvPr id="19" name="Shape 16"/>
          <p:cNvSpPr/>
          <p:nvPr/>
        </p:nvSpPr>
        <p:spPr>
          <a:xfrm>
            <a:off x="411480"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7"/>
          <p:cNvSpPr/>
          <p:nvPr/>
        </p:nvSpPr>
        <p:spPr>
          <a:xfrm>
            <a:off x="539496" y="4334256"/>
            <a:ext cx="438912" cy="438912"/>
          </a:xfrm>
          <a:prstGeom prst="ellipse">
            <a:avLst/>
          </a:prstGeom>
          <a:solidFill>
            <a:srgbClr val="1F4E9A"/>
          </a:solidFill>
          <a:ln w="12700">
            <a:solidFill>
              <a:srgbClr val="1F4E9A"/>
            </a:solidFill>
            <a:prstDash val="solid"/>
          </a:ln>
        </p:spPr>
      </p:sp>
      <p:pic>
        <p:nvPicPr>
          <p:cNvPr id="21" name="Image 1" descr="preencoded.png">    </p:cNvPr>
          <p:cNvPicPr>
            <a:picLocks noChangeAspect="1"/>
          </p:cNvPicPr>
          <p:nvPr/>
        </p:nvPicPr>
        <p:blipFill>
          <a:blip r:embed="rId2"/>
          <a:stretch>
            <a:fillRect/>
          </a:stretch>
        </p:blipFill>
        <p:spPr>
          <a:xfrm>
            <a:off x="636057" y="4430817"/>
            <a:ext cx="245791" cy="245791"/>
          </a:xfrm>
          <a:prstGeom prst="rect">
            <a:avLst/>
          </a:prstGeom>
        </p:spPr>
      </p:pic>
      <p:sp>
        <p:nvSpPr>
          <p:cNvPr id="22" name="Text 18"/>
          <p:cNvSpPr txBox="1"/>
          <p:nvPr/>
        </p:nvSpPr>
        <p:spPr>
          <a:xfrm>
            <a:off x="1088136"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Social, trends &amp; retail media</a:t>
            </a:r>
            <a:endParaRPr lang="en-US" sz="1250" dirty="0"/>
          </a:p>
        </p:txBody>
      </p:sp>
      <p:sp>
        <p:nvSpPr>
          <p:cNvPr id="23" name="Text 19"/>
          <p:cNvSpPr txBox="1"/>
          <p:nvPr/>
        </p:nvSpPr>
        <p:spPr>
          <a:xfrm>
            <a:off x="1088136"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styles are taking off, and for whom?</a:t>
            </a:r>
            <a:endParaRPr lang="en-US" sz="1000" dirty="0"/>
          </a:p>
        </p:txBody>
      </p:sp>
      <p:sp>
        <p:nvSpPr>
          <p:cNvPr id="24" name="Text 20"/>
          <p:cNvSpPr txBox="1"/>
          <p:nvPr/>
        </p:nvSpPr>
        <p:spPr>
          <a:xfrm>
            <a:off x="594360"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Track archetype mentions &amp; saves (TikTok, Pinterest, Reddit, Google Trends)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Signals show which subcategories to grow after entry</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Aim off-site retail media at new customers</a:t>
            </a:r>
            <a:endParaRPr lang="en-US" sz="1000" dirty="0"/>
          </a:p>
        </p:txBody>
      </p:sp>
      <p:sp>
        <p:nvSpPr>
          <p:cNvPr id="25" name="Shape 21"/>
          <p:cNvSpPr/>
          <p:nvPr/>
        </p:nvSpPr>
        <p:spPr>
          <a:xfrm>
            <a:off x="502920" y="5687568"/>
            <a:ext cx="3447288" cy="493776"/>
          </a:xfrm>
          <a:prstGeom prst="roundRect">
            <a:avLst>
              <a:gd name="adj" fmla="val 11111"/>
            </a:avLst>
          </a:prstGeom>
          <a:solidFill>
            <a:srgbClr val="EEF3FB"/>
          </a:solidFill>
          <a:ln w="12700">
            <a:solidFill>
              <a:srgbClr val="EEF3FB"/>
            </a:solidFill>
            <a:prstDash val="solid"/>
          </a:ln>
        </p:spPr>
      </p:sp>
      <p:sp>
        <p:nvSpPr>
          <p:cNvPr id="26" name="Text 22"/>
          <p:cNvSpPr txBox="1"/>
          <p:nvPr/>
        </p:nvSpPr>
        <p:spPr>
          <a:xfrm>
            <a:off x="594360"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27" name="Text 23"/>
          <p:cNvSpPr txBox="1"/>
          <p:nvPr/>
        </p:nvSpPr>
        <p:spPr>
          <a:xfrm>
            <a:off x="594360"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Social &amp; trend data + Staples sales</a:t>
            </a:r>
            <a:endParaRPr lang="en-US" sz="900" dirty="0"/>
          </a:p>
        </p:txBody>
      </p:sp>
      <p:sp>
        <p:nvSpPr>
          <p:cNvPr id="28" name="Text 24"/>
          <p:cNvSpPr txBox="1"/>
          <p:nvPr/>
        </p:nvSpPr>
        <p:spPr>
          <a:xfrm>
            <a:off x="2272284"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29" name="Text 25"/>
          <p:cNvSpPr txBox="1"/>
          <p:nvPr/>
        </p:nvSpPr>
        <p:spPr>
          <a:xfrm>
            <a:off x="2272284"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Grow on signals; reach new customers</a:t>
            </a:r>
            <a:endParaRPr lang="en-US" sz="900" dirty="0"/>
          </a:p>
        </p:txBody>
      </p:sp>
      <p:sp>
        <p:nvSpPr>
          <p:cNvPr id="30" name="Shape 26"/>
          <p:cNvSpPr/>
          <p:nvPr/>
        </p:nvSpPr>
        <p:spPr>
          <a:xfrm>
            <a:off x="4279392" y="1554480"/>
            <a:ext cx="3630168" cy="384048"/>
          </a:xfrm>
          <a:prstGeom prst="roundRect">
            <a:avLst>
              <a:gd name="adj" fmla="val 19048"/>
            </a:avLst>
          </a:prstGeom>
          <a:solidFill>
            <a:srgbClr val="2F6FD0"/>
          </a:solidFill>
          <a:ln w="12700">
            <a:solidFill>
              <a:srgbClr val="2F6FD0"/>
            </a:solidFill>
            <a:prstDash val="solid"/>
          </a:ln>
        </p:spPr>
      </p:sp>
      <p:sp>
        <p:nvSpPr>
          <p:cNvPr id="31" name="Text 27"/>
          <p:cNvSpPr txBox="1"/>
          <p:nvPr/>
        </p:nvSpPr>
        <p:spPr>
          <a:xfrm>
            <a:off x="4279392"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2 · SIZE &amp; VALIDATE</a:t>
            </a:r>
            <a:endParaRPr lang="en-US" sz="1300" dirty="0"/>
          </a:p>
        </p:txBody>
      </p:sp>
      <p:sp>
        <p:nvSpPr>
          <p:cNvPr id="32" name="Shape 28"/>
          <p:cNvSpPr/>
          <p:nvPr/>
        </p:nvSpPr>
        <p:spPr>
          <a:xfrm>
            <a:off x="7946136" y="1618488"/>
            <a:ext cx="164592" cy="256032"/>
          </a:xfrm>
          <a:prstGeom prst="rightArrow">
            <a:avLst/>
          </a:prstGeom>
          <a:solidFill>
            <a:srgbClr val="A9C3EE"/>
          </a:solidFill>
          <a:ln w="12700">
            <a:solidFill>
              <a:srgbClr val="A9C3EE"/>
            </a:solidFill>
            <a:prstDash val="solid"/>
          </a:ln>
        </p:spPr>
      </p:sp>
      <p:sp>
        <p:nvSpPr>
          <p:cNvPr id="33" name="Shape 29"/>
          <p:cNvSpPr/>
          <p:nvPr/>
        </p:nvSpPr>
        <p:spPr>
          <a:xfrm>
            <a:off x="4279392"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4407408" y="2176272"/>
            <a:ext cx="438912" cy="438912"/>
          </a:xfrm>
          <a:prstGeom prst="ellipse">
            <a:avLst/>
          </a:prstGeom>
          <a:solidFill>
            <a:srgbClr val="2F6FD0"/>
          </a:solidFill>
          <a:ln w="12700">
            <a:solidFill>
              <a:srgbClr val="2F6FD0"/>
            </a:solidFill>
            <a:prstDash val="solid"/>
          </a:ln>
        </p:spPr>
      </p:sp>
      <p:pic>
        <p:nvPicPr>
          <p:cNvPr id="35" name="Image 2" descr="preencoded.png">    </p:cNvPr>
          <p:cNvPicPr>
            <a:picLocks noChangeAspect="1"/>
          </p:cNvPicPr>
          <p:nvPr/>
        </p:nvPicPr>
        <p:blipFill>
          <a:blip r:embed="rId3"/>
          <a:stretch>
            <a:fillRect/>
          </a:stretch>
        </p:blipFill>
        <p:spPr>
          <a:xfrm>
            <a:off x="4503969" y="2272833"/>
            <a:ext cx="245791" cy="245791"/>
          </a:xfrm>
          <a:prstGeom prst="rect">
            <a:avLst/>
          </a:prstGeom>
        </p:spPr>
      </p:pic>
      <p:sp>
        <p:nvSpPr>
          <p:cNvPr id="36" name="Text 31"/>
          <p:cNvSpPr txBox="1"/>
          <p:nvPr/>
        </p:nvSpPr>
        <p:spPr>
          <a:xfrm>
            <a:off x="4956048"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Demand forecasting</a:t>
            </a:r>
            <a:endParaRPr lang="en-US" sz="1250" dirty="0"/>
          </a:p>
        </p:txBody>
      </p:sp>
      <p:sp>
        <p:nvSpPr>
          <p:cNvPr id="37" name="Text 32"/>
          <p:cNvSpPr txBox="1"/>
          <p:nvPr/>
        </p:nvSpPr>
        <p:spPr>
          <a:xfrm>
            <a:off x="4956048"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How much will each archetype sell?</a:t>
            </a:r>
            <a:endParaRPr lang="en-US" sz="1000" dirty="0"/>
          </a:p>
        </p:txBody>
      </p:sp>
      <p:sp>
        <p:nvSpPr>
          <p:cNvPr id="38" name="Text 33"/>
          <p:cNvSpPr txBox="1"/>
          <p:nvPr/>
        </p:nvSpPr>
        <p:spPr>
          <a:xfrm>
            <a:off x="4462272"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Forecast demand per node &amp; archetype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seasonality (Back-to-School) &amp; trend signals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Size GMV &amp; commission before listing</a:t>
            </a:r>
            <a:endParaRPr lang="en-US" sz="1000" dirty="0"/>
          </a:p>
        </p:txBody>
      </p:sp>
      <p:sp>
        <p:nvSpPr>
          <p:cNvPr id="39" name="Shape 34"/>
          <p:cNvSpPr/>
          <p:nvPr/>
        </p:nvSpPr>
        <p:spPr>
          <a:xfrm>
            <a:off x="4370832" y="3529584"/>
            <a:ext cx="3447288" cy="493776"/>
          </a:xfrm>
          <a:prstGeom prst="roundRect">
            <a:avLst>
              <a:gd name="adj" fmla="val 11111"/>
            </a:avLst>
          </a:prstGeom>
          <a:solidFill>
            <a:srgbClr val="EEF3FB"/>
          </a:solidFill>
          <a:ln w="12700">
            <a:solidFill>
              <a:srgbClr val="EEF3FB"/>
            </a:solidFill>
            <a:prstDash val="solid"/>
          </a:ln>
        </p:spPr>
      </p:sp>
      <p:sp>
        <p:nvSpPr>
          <p:cNvPr id="40" name="Text 35"/>
          <p:cNvSpPr txBox="1"/>
          <p:nvPr/>
        </p:nvSpPr>
        <p:spPr>
          <a:xfrm>
            <a:off x="4462272"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41" name="Text 36"/>
          <p:cNvSpPr txBox="1"/>
          <p:nvPr/>
        </p:nvSpPr>
        <p:spPr>
          <a:xfrm>
            <a:off x="4462272"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Sales history + trend signals</a:t>
            </a:r>
            <a:endParaRPr lang="en-US" sz="900" dirty="0"/>
          </a:p>
        </p:txBody>
      </p:sp>
      <p:sp>
        <p:nvSpPr>
          <p:cNvPr id="42" name="Text 37"/>
          <p:cNvSpPr txBox="1"/>
          <p:nvPr/>
        </p:nvSpPr>
        <p:spPr>
          <a:xfrm>
            <a:off x="6140196"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6140196"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Supply in place before the season</a:t>
            </a:r>
            <a:endParaRPr lang="en-US" sz="900" dirty="0"/>
          </a:p>
        </p:txBody>
      </p:sp>
      <p:sp>
        <p:nvSpPr>
          <p:cNvPr id="44" name="Shape 39"/>
          <p:cNvSpPr/>
          <p:nvPr/>
        </p:nvSpPr>
        <p:spPr>
          <a:xfrm>
            <a:off x="4279392"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5" name="Shape 40"/>
          <p:cNvSpPr/>
          <p:nvPr/>
        </p:nvSpPr>
        <p:spPr>
          <a:xfrm>
            <a:off x="4407408" y="4334256"/>
            <a:ext cx="438912" cy="438912"/>
          </a:xfrm>
          <a:prstGeom prst="ellipse">
            <a:avLst/>
          </a:prstGeom>
          <a:solidFill>
            <a:srgbClr val="2F6FD0"/>
          </a:solidFill>
          <a:ln w="12700">
            <a:solidFill>
              <a:srgbClr val="2F6FD0"/>
            </a:solidFill>
            <a:prstDash val="solid"/>
          </a:ln>
        </p:spPr>
      </p:sp>
      <p:pic>
        <p:nvPicPr>
          <p:cNvPr id="46" name="Image 3" descr="preencoded.png">    </p:cNvPr>
          <p:cNvPicPr>
            <a:picLocks noChangeAspect="1"/>
          </p:cNvPicPr>
          <p:nvPr/>
        </p:nvPicPr>
        <p:blipFill>
          <a:blip r:embed="rId4"/>
          <a:stretch>
            <a:fillRect/>
          </a:stretch>
        </p:blipFill>
        <p:spPr>
          <a:xfrm>
            <a:off x="4503969" y="4430817"/>
            <a:ext cx="245791" cy="245791"/>
          </a:xfrm>
          <a:prstGeom prst="rect">
            <a:avLst/>
          </a:prstGeom>
        </p:spPr>
      </p:pic>
      <p:sp>
        <p:nvSpPr>
          <p:cNvPr id="47" name="Text 41"/>
          <p:cNvSpPr txBox="1"/>
          <p:nvPr/>
        </p:nvSpPr>
        <p:spPr>
          <a:xfrm>
            <a:off x="4956048"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Market research &amp; customer surveys</a:t>
            </a:r>
            <a:endParaRPr lang="en-US" sz="1250" dirty="0"/>
          </a:p>
        </p:txBody>
      </p:sp>
      <p:sp>
        <p:nvSpPr>
          <p:cNvPr id="48" name="Text 42"/>
          <p:cNvSpPr txBox="1"/>
          <p:nvPr/>
        </p:nvSpPr>
        <p:spPr>
          <a:xfrm>
            <a:off x="4956048"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What do Staples customers actually want?</a:t>
            </a:r>
            <a:endParaRPr lang="en-US" sz="1000" dirty="0"/>
          </a:p>
        </p:txBody>
      </p:sp>
      <p:sp>
        <p:nvSpPr>
          <p:cNvPr id="49" name="Text 43"/>
          <p:cNvSpPr txBox="1"/>
          <p:nvPr/>
        </p:nvSpPr>
        <p:spPr>
          <a:xfrm>
            <a:off x="4462272"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Survey B2B &amp; B2C customers on needs, style &amp; price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Concept-test the top archetypes with images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results into the prioritisation weights</a:t>
            </a:r>
            <a:endParaRPr lang="en-US" sz="1000" dirty="0"/>
          </a:p>
        </p:txBody>
      </p:sp>
      <p:sp>
        <p:nvSpPr>
          <p:cNvPr id="50" name="Shape 44"/>
          <p:cNvSpPr/>
          <p:nvPr/>
        </p:nvSpPr>
        <p:spPr>
          <a:xfrm>
            <a:off x="4370832" y="5687568"/>
            <a:ext cx="3447288" cy="493776"/>
          </a:xfrm>
          <a:prstGeom prst="roundRect">
            <a:avLst>
              <a:gd name="adj" fmla="val 11111"/>
            </a:avLst>
          </a:prstGeom>
          <a:solidFill>
            <a:srgbClr val="EEF3FB"/>
          </a:solidFill>
          <a:ln w="12700">
            <a:solidFill>
              <a:srgbClr val="EEF3FB"/>
            </a:solidFill>
            <a:prstDash val="solid"/>
          </a:ln>
        </p:spPr>
      </p:sp>
      <p:sp>
        <p:nvSpPr>
          <p:cNvPr id="51" name="Text 45"/>
          <p:cNvSpPr txBox="1"/>
          <p:nvPr/>
        </p:nvSpPr>
        <p:spPr>
          <a:xfrm>
            <a:off x="4462272"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52" name="Text 46"/>
          <p:cNvSpPr txBox="1"/>
          <p:nvPr/>
        </p:nvSpPr>
        <p:spPr>
          <a:xfrm>
            <a:off x="4462272"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Customer panel · email base</a:t>
            </a:r>
            <a:endParaRPr lang="en-US" sz="900" dirty="0"/>
          </a:p>
        </p:txBody>
      </p:sp>
      <p:sp>
        <p:nvSpPr>
          <p:cNvPr id="53" name="Text 47"/>
          <p:cNvSpPr txBox="1"/>
          <p:nvPr/>
        </p:nvSpPr>
        <p:spPr>
          <a:xfrm>
            <a:off x="6140196"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4" name="Text 48"/>
          <p:cNvSpPr txBox="1"/>
          <p:nvPr/>
        </p:nvSpPr>
        <p:spPr>
          <a:xfrm>
            <a:off x="6140196"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Picks validated by Staples' own customers</a:t>
            </a:r>
            <a:endParaRPr lang="en-US" sz="900" dirty="0"/>
          </a:p>
        </p:txBody>
      </p:sp>
      <p:sp>
        <p:nvSpPr>
          <p:cNvPr id="55" name="Shape 49"/>
          <p:cNvSpPr/>
          <p:nvPr/>
        </p:nvSpPr>
        <p:spPr>
          <a:xfrm>
            <a:off x="8147304" y="1554480"/>
            <a:ext cx="3630168" cy="384048"/>
          </a:xfrm>
          <a:prstGeom prst="roundRect">
            <a:avLst>
              <a:gd name="adj" fmla="val 19048"/>
            </a:avLst>
          </a:prstGeom>
          <a:solidFill>
            <a:srgbClr val="13285B"/>
          </a:solidFill>
          <a:ln w="12700">
            <a:solidFill>
              <a:srgbClr val="13285B"/>
            </a:solidFill>
            <a:prstDash val="solid"/>
          </a:ln>
        </p:spPr>
      </p:sp>
      <p:sp>
        <p:nvSpPr>
          <p:cNvPr id="56" name="Text 50"/>
          <p:cNvSpPr txBox="1"/>
          <p:nvPr/>
        </p:nvSpPr>
        <p:spPr>
          <a:xfrm>
            <a:off x="8147304"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3 · ACT on basket &amp; sellers</a:t>
            </a:r>
            <a:endParaRPr lang="en-US" sz="1300" dirty="0"/>
          </a:p>
        </p:txBody>
      </p:sp>
      <p:sp>
        <p:nvSpPr>
          <p:cNvPr id="57" name="Shape 51"/>
          <p:cNvSpPr/>
          <p:nvPr/>
        </p:nvSpPr>
        <p:spPr>
          <a:xfrm>
            <a:off x="8147304"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58" name="Shape 52"/>
          <p:cNvSpPr/>
          <p:nvPr/>
        </p:nvSpPr>
        <p:spPr>
          <a:xfrm>
            <a:off x="8275320" y="2176272"/>
            <a:ext cx="438912" cy="438912"/>
          </a:xfrm>
          <a:prstGeom prst="ellipse">
            <a:avLst/>
          </a:prstGeom>
          <a:solidFill>
            <a:srgbClr val="13285B"/>
          </a:solidFill>
          <a:ln w="12700">
            <a:solidFill>
              <a:srgbClr val="13285B"/>
            </a:solidFill>
            <a:prstDash val="solid"/>
          </a:ln>
        </p:spPr>
      </p:sp>
      <p:pic>
        <p:nvPicPr>
          <p:cNvPr id="59" name="Image 4" descr="preencoded.png">    </p:cNvPr>
          <p:cNvPicPr>
            <a:picLocks noChangeAspect="1"/>
          </p:cNvPicPr>
          <p:nvPr/>
        </p:nvPicPr>
        <p:blipFill>
          <a:blip r:embed="rId5"/>
          <a:stretch>
            <a:fillRect/>
          </a:stretch>
        </p:blipFill>
        <p:spPr>
          <a:xfrm>
            <a:off x="8371881" y="2272833"/>
            <a:ext cx="245791" cy="245791"/>
          </a:xfrm>
          <a:prstGeom prst="rect">
            <a:avLst/>
          </a:prstGeom>
        </p:spPr>
      </p:pic>
      <p:sp>
        <p:nvSpPr>
          <p:cNvPr id="60" name="Text 53"/>
          <p:cNvSpPr txBox="1"/>
          <p:nvPr/>
        </p:nvSpPr>
        <p:spPr>
          <a:xfrm>
            <a:off x="8823960"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Basket building for existing customers</a:t>
            </a:r>
            <a:endParaRPr lang="en-US" sz="1250" dirty="0"/>
          </a:p>
        </p:txBody>
      </p:sp>
      <p:sp>
        <p:nvSpPr>
          <p:cNvPr id="61" name="Text 54"/>
          <p:cNvSpPr txBox="1"/>
          <p:nvPr/>
        </p:nvSpPr>
        <p:spPr>
          <a:xfrm>
            <a:off x="8823960"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item would complete the basket?</a:t>
            </a:r>
            <a:endParaRPr lang="en-US" sz="1000" dirty="0"/>
          </a:p>
        </p:txBody>
      </p:sp>
      <p:sp>
        <p:nvSpPr>
          <p:cNvPr id="62" name="Text 55"/>
          <p:cNvSpPr txBox="1"/>
          <p:nvPr/>
        </p:nvSpPr>
        <p:spPr>
          <a:xfrm>
            <a:off x="8330184"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Market-basket analysis on transactions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Top customers' verticals → missing complements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Recruit sellers for 1–2 attach items per order</a:t>
            </a:r>
            <a:endParaRPr lang="en-US" sz="1000" dirty="0"/>
          </a:p>
        </p:txBody>
      </p:sp>
      <p:sp>
        <p:nvSpPr>
          <p:cNvPr id="63" name="Shape 56"/>
          <p:cNvSpPr/>
          <p:nvPr/>
        </p:nvSpPr>
        <p:spPr>
          <a:xfrm>
            <a:off x="8238744" y="3529584"/>
            <a:ext cx="3447288" cy="493776"/>
          </a:xfrm>
          <a:prstGeom prst="roundRect">
            <a:avLst>
              <a:gd name="adj" fmla="val 11111"/>
            </a:avLst>
          </a:prstGeom>
          <a:solidFill>
            <a:srgbClr val="EEF3FB"/>
          </a:solidFill>
          <a:ln w="12700">
            <a:solidFill>
              <a:srgbClr val="EEF3FB"/>
            </a:solidFill>
            <a:prstDash val="solid"/>
          </a:ln>
        </p:spPr>
      </p:sp>
      <p:sp>
        <p:nvSpPr>
          <p:cNvPr id="64" name="Text 57"/>
          <p:cNvSpPr txBox="1"/>
          <p:nvPr/>
        </p:nvSpPr>
        <p:spPr>
          <a:xfrm>
            <a:off x="8330184"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65" name="Text 58"/>
          <p:cNvSpPr txBox="1"/>
          <p:nvPr/>
        </p:nvSpPr>
        <p:spPr>
          <a:xfrm>
            <a:off x="8330184"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Transactions · customer verticals</a:t>
            </a:r>
            <a:endParaRPr lang="en-US" sz="900" dirty="0"/>
          </a:p>
        </p:txBody>
      </p:sp>
      <p:sp>
        <p:nvSpPr>
          <p:cNvPr id="66" name="Text 59"/>
          <p:cNvSpPr txBox="1"/>
          <p:nvPr/>
        </p:nvSpPr>
        <p:spPr>
          <a:xfrm>
            <a:off x="10008108"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7" name="Text 60"/>
          <p:cNvSpPr txBox="1"/>
          <p:nvPr/>
        </p:nvSpPr>
        <p:spPr>
          <a:xfrm>
            <a:off x="10008108"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Bigger baskets, new commission</a:t>
            </a:r>
            <a:endParaRPr lang="en-US" sz="900" dirty="0"/>
          </a:p>
        </p:txBody>
      </p:sp>
      <p:sp>
        <p:nvSpPr>
          <p:cNvPr id="68" name="Shape 61"/>
          <p:cNvSpPr/>
          <p:nvPr/>
        </p:nvSpPr>
        <p:spPr>
          <a:xfrm>
            <a:off x="8147304"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69" name="Shape 62"/>
          <p:cNvSpPr/>
          <p:nvPr/>
        </p:nvSpPr>
        <p:spPr>
          <a:xfrm>
            <a:off x="8275320" y="4334256"/>
            <a:ext cx="438912" cy="438912"/>
          </a:xfrm>
          <a:prstGeom prst="ellipse">
            <a:avLst/>
          </a:prstGeom>
          <a:solidFill>
            <a:srgbClr val="13285B"/>
          </a:solidFill>
          <a:ln w="12700">
            <a:solidFill>
              <a:srgbClr val="13285B"/>
            </a:solidFill>
            <a:prstDash val="solid"/>
          </a:ln>
        </p:spPr>
      </p:sp>
      <p:pic>
        <p:nvPicPr>
          <p:cNvPr id="70" name="Image 5" descr="preencoded.png">    </p:cNvPr>
          <p:cNvPicPr>
            <a:picLocks noChangeAspect="1"/>
          </p:cNvPicPr>
          <p:nvPr/>
        </p:nvPicPr>
        <p:blipFill>
          <a:blip r:embed="rId6"/>
          <a:stretch>
            <a:fillRect/>
          </a:stretch>
        </p:blipFill>
        <p:spPr>
          <a:xfrm>
            <a:off x="8371881" y="4430817"/>
            <a:ext cx="245791" cy="245791"/>
          </a:xfrm>
          <a:prstGeom prst="rect">
            <a:avLst/>
          </a:prstGeom>
        </p:spPr>
      </p:pic>
      <p:sp>
        <p:nvSpPr>
          <p:cNvPr id="71" name="Text 63"/>
          <p:cNvSpPr txBox="1"/>
          <p:nvPr/>
        </p:nvSpPr>
        <p:spPr>
          <a:xfrm>
            <a:off x="8823960"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Best-seller &amp; seller intelligence</a:t>
            </a:r>
            <a:endParaRPr lang="en-US" sz="1250" dirty="0"/>
          </a:p>
        </p:txBody>
      </p:sp>
      <p:sp>
        <p:nvSpPr>
          <p:cNvPr id="72" name="Text 64"/>
          <p:cNvSpPr txBox="1"/>
          <p:nvPr/>
        </p:nvSpPr>
        <p:spPr>
          <a:xfrm>
            <a:off x="8823960"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Who wins where Staples is absent?</a:t>
            </a:r>
            <a:endParaRPr lang="en-US" sz="1000" dirty="0"/>
          </a:p>
        </p:txBody>
      </p:sp>
      <p:sp>
        <p:nvSpPr>
          <p:cNvPr id="73" name="Text 65"/>
          <p:cNvSpPr txBox="1"/>
          <p:nvPr/>
        </p:nvSpPr>
        <p:spPr>
          <a:xfrm>
            <a:off x="8330184"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Top-selling brands &amp; sellers in categories Staples doesn't carry</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Layer unit conversion &amp; seller performance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Category-specific targets &amp; key players to recruit</a:t>
            </a:r>
            <a:endParaRPr lang="en-US" sz="1000" dirty="0"/>
          </a:p>
        </p:txBody>
      </p:sp>
      <p:sp>
        <p:nvSpPr>
          <p:cNvPr id="74" name="Shape 66"/>
          <p:cNvSpPr/>
          <p:nvPr/>
        </p:nvSpPr>
        <p:spPr>
          <a:xfrm>
            <a:off x="8238744" y="5687568"/>
            <a:ext cx="3447288" cy="493776"/>
          </a:xfrm>
          <a:prstGeom prst="roundRect">
            <a:avLst>
              <a:gd name="adj" fmla="val 11111"/>
            </a:avLst>
          </a:prstGeom>
          <a:solidFill>
            <a:srgbClr val="EEF3FB"/>
          </a:solidFill>
          <a:ln w="12700">
            <a:solidFill>
              <a:srgbClr val="EEF3FB"/>
            </a:solidFill>
            <a:prstDash val="solid"/>
          </a:ln>
        </p:spPr>
      </p:sp>
      <p:sp>
        <p:nvSpPr>
          <p:cNvPr id="75" name="Text 67"/>
          <p:cNvSpPr txBox="1"/>
          <p:nvPr/>
        </p:nvSpPr>
        <p:spPr>
          <a:xfrm>
            <a:off x="8330184"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76" name="Text 68"/>
          <p:cNvSpPr txBox="1"/>
          <p:nvPr/>
        </p:nvSpPr>
        <p:spPr>
          <a:xfrm>
            <a:off x="8330184"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Competitor sales signals · seller performance</a:t>
            </a:r>
            <a:endParaRPr lang="en-US" sz="900" dirty="0"/>
          </a:p>
        </p:txBody>
      </p:sp>
      <p:sp>
        <p:nvSpPr>
          <p:cNvPr id="77" name="Text 69"/>
          <p:cNvSpPr txBox="1"/>
          <p:nvPr/>
        </p:nvSpPr>
        <p:spPr>
          <a:xfrm>
            <a:off x="10008108"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78" name="Text 70"/>
          <p:cNvSpPr txBox="1"/>
          <p:nvPr/>
        </p:nvSpPr>
        <p:spPr>
          <a:xfrm>
            <a:off x="10008108"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Sharper $ estimates &amp; a recruit shortlist</a:t>
            </a:r>
            <a:endParaRPr lang="en-US" sz="9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A Curated Growth Plan for the Staples Marketplace</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Everything on slides 5–6, sequenced: </a:t>
            </a:r>
            <a:pPr algn="ctr" indent="0" marL="0">
              <a:buNone/>
            </a:pPr>
            <a:r>
              <a:rPr lang="en-US" sz="1150" b="1" dirty="0">
                <a:solidFill>
                  <a:srgbClr val="13285B"/>
                </a:solidFill>
                <a:latin typeface="Calibri" pitchFamily="34" charset="0"/>
                <a:ea typeface="Calibri" pitchFamily="34" charset="-122"/>
                <a:cs typeface="Calibri" pitchFamily="34" charset="-120"/>
              </a:rPr>
              <a:t>product first</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adjacent first</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scale on evidence</a:t>
            </a:r>
            <a:pPr algn="ctr" indent="0" marL="0">
              <a:buNone/>
            </a:pPr>
            <a:r>
              <a:rPr lang="en-US" sz="1150" dirty="0">
                <a:solidFill>
                  <a:srgbClr val="1F2937"/>
                </a:solidFill>
                <a:latin typeface="Calibri" pitchFamily="34" charset="0"/>
                <a:ea typeface="Calibri" pitchFamily="34" charset="-122"/>
                <a:cs typeface="Calibri" pitchFamily="34" charset="-120"/>
              </a:rPr>
              <a:t>.</a:t>
            </a:r>
            <a:endParaRPr lang="en-US" sz="1200" dirty="0"/>
          </a:p>
        </p:txBody>
      </p:sp>
      <p:sp>
        <p:nvSpPr>
          <p:cNvPr id="5" name="Shape 3"/>
          <p:cNvSpPr/>
          <p:nvPr/>
        </p:nvSpPr>
        <p:spPr>
          <a:xfrm>
            <a:off x="411480" y="1554480"/>
            <a:ext cx="3630168" cy="658368"/>
          </a:xfrm>
          <a:prstGeom prst="roundRect">
            <a:avLst>
              <a:gd name="adj" fmla="val 11111"/>
            </a:avLst>
          </a:prstGeom>
          <a:solidFill>
            <a:srgbClr val="1F4E9A"/>
          </a:solidFill>
          <a:ln w="12700">
            <a:solidFill>
              <a:srgbClr val="1F4E9A"/>
            </a:solidFill>
            <a:prstDash val="solid"/>
          </a:ln>
        </p:spPr>
      </p:sp>
      <p:pic>
        <p:nvPicPr>
          <p:cNvPr id="6" name="Image 0" descr="preencoded.png">    </p:cNvPr>
          <p:cNvPicPr>
            <a:picLocks noChangeAspect="1"/>
          </p:cNvPicPr>
          <p:nvPr/>
        </p:nvPicPr>
        <p:blipFill>
          <a:blip r:embed="rId1"/>
          <a:stretch>
            <a:fillRect/>
          </a:stretch>
        </p:blipFill>
        <p:spPr>
          <a:xfrm>
            <a:off x="557784" y="1709928"/>
            <a:ext cx="347472" cy="347472"/>
          </a:xfrm>
          <a:prstGeom prst="rect">
            <a:avLst/>
          </a:prstGeom>
        </p:spPr>
      </p:pic>
      <p:sp>
        <p:nvSpPr>
          <p:cNvPr id="7" name="Text 4"/>
          <p:cNvSpPr txBox="1"/>
          <p:nvPr/>
        </p:nvSpPr>
        <p:spPr>
          <a:xfrm>
            <a:off x="1051560" y="1618488"/>
            <a:ext cx="2852928" cy="256032"/>
          </a:xfrm>
          <a:prstGeom prst="rect">
            <a:avLst/>
          </a:prstGeom>
          <a:noFill/>
          <a:ln/>
        </p:spPr>
        <p:txBody>
          <a:bodyPr wrap="square" lIns="0" tIns="0" rIns="0" bIns="0" rtlCol="0" anchor="ctr"/>
          <a:lstStyle/>
          <a:p>
            <a:pPr indent="0" marL="0">
              <a:buNone/>
            </a:pPr>
            <a:r>
              <a:rPr lang="en-US" sz="1100" b="1" spc="100" kern="0" dirty="0">
                <a:solidFill>
                  <a:srgbClr val="F5A623"/>
                </a:solidFill>
                <a:latin typeface="Calibri" pitchFamily="34" charset="0"/>
                <a:ea typeface="Calibri" pitchFamily="34" charset="-122"/>
                <a:cs typeface="Calibri" pitchFamily="34" charset="-120"/>
              </a:rPr>
              <a:t>PHASE 1 · LAUNCH</a:t>
            </a:r>
            <a:endParaRPr lang="en-US" sz="1100" dirty="0"/>
          </a:p>
        </p:txBody>
      </p:sp>
      <p:sp>
        <p:nvSpPr>
          <p:cNvPr id="8" name="Text 5"/>
          <p:cNvSpPr txBox="1"/>
          <p:nvPr/>
        </p:nvSpPr>
        <p:spPr>
          <a:xfrm>
            <a:off x="1051560" y="1874520"/>
            <a:ext cx="2852928"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Load a confident first assortment</a:t>
            </a:r>
            <a:endParaRPr lang="en-US" sz="1250" dirty="0"/>
          </a:p>
        </p:txBody>
      </p:sp>
      <p:sp>
        <p:nvSpPr>
          <p:cNvPr id="9" name="Shape 6"/>
          <p:cNvSpPr/>
          <p:nvPr/>
        </p:nvSpPr>
        <p:spPr>
          <a:xfrm>
            <a:off x="4078224" y="1755648"/>
            <a:ext cx="164592" cy="256032"/>
          </a:xfrm>
          <a:prstGeom prst="rightArrow">
            <a:avLst/>
          </a:prstGeom>
          <a:solidFill>
            <a:srgbClr val="A9C3EE"/>
          </a:solidFill>
          <a:ln w="12700">
            <a:solidFill>
              <a:srgbClr val="A9C3EE"/>
            </a:solidFill>
            <a:prstDash val="solid"/>
          </a:ln>
        </p:spPr>
      </p:sp>
      <p:sp>
        <p:nvSpPr>
          <p:cNvPr id="10" name="Shape 7"/>
          <p:cNvSpPr/>
          <p:nvPr/>
        </p:nvSpPr>
        <p:spPr>
          <a:xfrm>
            <a:off x="411480" y="2304288"/>
            <a:ext cx="3630168" cy="3127248"/>
          </a:xfrm>
          <a:prstGeom prst="roundRect">
            <a:avLst>
              <a:gd name="adj" fmla="val 2339"/>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11" name="Shape 8"/>
          <p:cNvSpPr/>
          <p:nvPr/>
        </p:nvSpPr>
        <p:spPr>
          <a:xfrm>
            <a:off x="521208" y="2414016"/>
            <a:ext cx="1112520" cy="256032"/>
          </a:xfrm>
          <a:prstGeom prst="roundRect">
            <a:avLst>
              <a:gd name="adj" fmla="val 50000"/>
            </a:avLst>
          </a:prstGeom>
          <a:solidFill>
            <a:srgbClr val="DCE7F8"/>
          </a:solidFill>
          <a:ln w="12700">
            <a:solidFill>
              <a:srgbClr val="DCE7F8"/>
            </a:solidFill>
            <a:prstDash val="solid"/>
          </a:ln>
        </p:spPr>
      </p:sp>
      <p:sp>
        <p:nvSpPr>
          <p:cNvPr id="12" name="Text 9"/>
          <p:cNvSpPr txBox="1"/>
          <p:nvPr/>
        </p:nvSpPr>
        <p:spPr>
          <a:xfrm>
            <a:off x="521208"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Adjacent first</a:t>
            </a:r>
            <a:endParaRPr lang="en-US" sz="850" dirty="0"/>
          </a:p>
        </p:txBody>
      </p:sp>
      <p:sp>
        <p:nvSpPr>
          <p:cNvPr id="13" name="Shape 10"/>
          <p:cNvSpPr/>
          <p:nvPr/>
        </p:nvSpPr>
        <p:spPr>
          <a:xfrm>
            <a:off x="1670304" y="2414016"/>
            <a:ext cx="1112520" cy="256032"/>
          </a:xfrm>
          <a:prstGeom prst="roundRect">
            <a:avLst>
              <a:gd name="adj" fmla="val 50000"/>
            </a:avLst>
          </a:prstGeom>
          <a:solidFill>
            <a:srgbClr val="DCE7F8"/>
          </a:solidFill>
          <a:ln w="12700">
            <a:solidFill>
              <a:srgbClr val="DCE7F8"/>
            </a:solidFill>
            <a:prstDash val="solid"/>
          </a:ln>
        </p:spPr>
      </p:sp>
      <p:sp>
        <p:nvSpPr>
          <p:cNvPr id="14" name="Text 11"/>
          <p:cNvSpPr txBox="1"/>
          <p:nvPr/>
        </p:nvSpPr>
        <p:spPr>
          <a:xfrm>
            <a:off x="1670304"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Existing customers</a:t>
            </a:r>
            <a:endParaRPr lang="en-US" sz="850" dirty="0"/>
          </a:p>
        </p:txBody>
      </p:sp>
      <p:sp>
        <p:nvSpPr>
          <p:cNvPr id="15" name="Shape 12"/>
          <p:cNvSpPr/>
          <p:nvPr/>
        </p:nvSpPr>
        <p:spPr>
          <a:xfrm>
            <a:off x="2819400" y="2414016"/>
            <a:ext cx="1112520" cy="256032"/>
          </a:xfrm>
          <a:prstGeom prst="roundRect">
            <a:avLst>
              <a:gd name="adj" fmla="val 50000"/>
            </a:avLst>
          </a:prstGeom>
          <a:solidFill>
            <a:srgbClr val="DCE7F8"/>
          </a:solidFill>
          <a:ln w="12700">
            <a:solidFill>
              <a:srgbClr val="DCE7F8"/>
            </a:solidFill>
            <a:prstDash val="solid"/>
          </a:ln>
        </p:spPr>
      </p:sp>
      <p:sp>
        <p:nvSpPr>
          <p:cNvPr id="16" name="Text 13"/>
          <p:cNvSpPr txBox="1"/>
          <p:nvPr/>
        </p:nvSpPr>
        <p:spPr>
          <a:xfrm>
            <a:off x="2819400"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Staples.com</a:t>
            </a:r>
            <a:endParaRPr lang="en-US" sz="850" dirty="0"/>
          </a:p>
        </p:txBody>
      </p:sp>
      <p:sp>
        <p:nvSpPr>
          <p:cNvPr id="17" name="Text 14"/>
          <p:cNvSpPr txBox="1"/>
          <p:nvPr/>
        </p:nvSpPr>
        <p:spPr>
          <a:xfrm>
            <a:off x="521208" y="2798064"/>
            <a:ext cx="3410712" cy="18288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Start from the PoC's 74 safe picks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PoC</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Tune cannibalisation &amp; relax adjacency thresholds with merchants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Protect, Expand</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Test toys, hydration, luggage, tech</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Expand</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Vet listings; recruit from the 13 brands on Staples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Curate</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Basket building: 1–2 attach items per order</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p:txBody>
      </p:sp>
      <p:sp>
        <p:nvSpPr>
          <p:cNvPr id="18" name="Shape 15"/>
          <p:cNvSpPr/>
          <p:nvPr/>
        </p:nvSpPr>
        <p:spPr>
          <a:xfrm>
            <a:off x="502920" y="4700016"/>
            <a:ext cx="3447288" cy="640080"/>
          </a:xfrm>
          <a:prstGeom prst="roundRect">
            <a:avLst>
              <a:gd name="adj" fmla="val 8571"/>
            </a:avLst>
          </a:prstGeom>
          <a:solidFill>
            <a:srgbClr val="DCE7F8"/>
          </a:solidFill>
          <a:ln w="12700">
            <a:solidFill>
              <a:srgbClr val="DCE7F8"/>
            </a:solidFill>
            <a:prstDash val="solid"/>
          </a:ln>
        </p:spPr>
      </p:sp>
      <p:sp>
        <p:nvSpPr>
          <p:cNvPr id="19" name="Text 16"/>
          <p:cNvSpPr txBox="1"/>
          <p:nvPr/>
        </p:nvSpPr>
        <p:spPr>
          <a:xfrm>
            <a:off x="594360" y="4745736"/>
            <a:ext cx="326440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20" name="Text 17"/>
          <p:cNvSpPr txBox="1"/>
          <p:nvPr/>
        </p:nvSpPr>
        <p:spPr>
          <a:xfrm>
            <a:off x="594360" y="4910328"/>
            <a:ext cx="3264408" cy="384048"/>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A curated launch assortment, one story per category owner</a:t>
            </a:r>
            <a:endParaRPr lang="en-US" sz="1100" dirty="0"/>
          </a:p>
        </p:txBody>
      </p:sp>
      <p:sp>
        <p:nvSpPr>
          <p:cNvPr id="21" name="Shape 18"/>
          <p:cNvSpPr/>
          <p:nvPr/>
        </p:nvSpPr>
        <p:spPr>
          <a:xfrm>
            <a:off x="4279392" y="1554480"/>
            <a:ext cx="3630168" cy="658368"/>
          </a:xfrm>
          <a:prstGeom prst="roundRect">
            <a:avLst>
              <a:gd name="adj" fmla="val 11111"/>
            </a:avLst>
          </a:prstGeom>
          <a:solidFill>
            <a:srgbClr val="2F6FD0"/>
          </a:solidFill>
          <a:ln w="12700">
            <a:solidFill>
              <a:srgbClr val="2F6FD0"/>
            </a:solidFill>
            <a:prstDash val="solid"/>
          </a:ln>
        </p:spPr>
      </p:sp>
      <p:pic>
        <p:nvPicPr>
          <p:cNvPr id="22" name="Image 1" descr="preencoded.png">    </p:cNvPr>
          <p:cNvPicPr>
            <a:picLocks noChangeAspect="1"/>
          </p:cNvPicPr>
          <p:nvPr/>
        </p:nvPicPr>
        <p:blipFill>
          <a:blip r:embed="rId2"/>
          <a:stretch>
            <a:fillRect/>
          </a:stretch>
        </p:blipFill>
        <p:spPr>
          <a:xfrm>
            <a:off x="4425696" y="1709928"/>
            <a:ext cx="347472" cy="347472"/>
          </a:xfrm>
          <a:prstGeom prst="rect">
            <a:avLst/>
          </a:prstGeom>
        </p:spPr>
      </p:pic>
      <p:sp>
        <p:nvSpPr>
          <p:cNvPr id="23" name="Text 19"/>
          <p:cNvSpPr txBox="1"/>
          <p:nvPr/>
        </p:nvSpPr>
        <p:spPr>
          <a:xfrm>
            <a:off x="4919472" y="1618488"/>
            <a:ext cx="2852928" cy="256032"/>
          </a:xfrm>
          <a:prstGeom prst="rect">
            <a:avLst/>
          </a:prstGeom>
          <a:noFill/>
          <a:ln/>
        </p:spPr>
        <p:txBody>
          <a:bodyPr wrap="square" lIns="0" tIns="0" rIns="0" bIns="0" rtlCol="0" anchor="ctr"/>
          <a:lstStyle/>
          <a:p>
            <a:pPr indent="0" marL="0">
              <a:buNone/>
            </a:pPr>
            <a:r>
              <a:rPr lang="en-US" sz="1100" b="1" spc="100" kern="0" dirty="0">
                <a:solidFill>
                  <a:srgbClr val="F5A623"/>
                </a:solidFill>
                <a:latin typeface="Calibri" pitchFamily="34" charset="0"/>
                <a:ea typeface="Calibri" pitchFamily="34" charset="-122"/>
                <a:cs typeface="Calibri" pitchFamily="34" charset="-120"/>
              </a:rPr>
              <a:t>PHASE 2 · SIZE &amp; SCALE</a:t>
            </a:r>
            <a:endParaRPr lang="en-US" sz="1100" dirty="0"/>
          </a:p>
        </p:txBody>
      </p:sp>
      <p:sp>
        <p:nvSpPr>
          <p:cNvPr id="24" name="Text 20"/>
          <p:cNvSpPr txBox="1"/>
          <p:nvPr/>
        </p:nvSpPr>
        <p:spPr>
          <a:xfrm>
            <a:off x="4919472" y="1874520"/>
            <a:ext cx="2852928"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Size the prize, scale what works</a:t>
            </a:r>
            <a:endParaRPr lang="en-US" sz="1250" dirty="0"/>
          </a:p>
        </p:txBody>
      </p:sp>
      <p:sp>
        <p:nvSpPr>
          <p:cNvPr id="25" name="Shape 21"/>
          <p:cNvSpPr/>
          <p:nvPr/>
        </p:nvSpPr>
        <p:spPr>
          <a:xfrm>
            <a:off x="7946136" y="1755648"/>
            <a:ext cx="164592" cy="256032"/>
          </a:xfrm>
          <a:prstGeom prst="rightArrow">
            <a:avLst/>
          </a:prstGeom>
          <a:solidFill>
            <a:srgbClr val="A9C3EE"/>
          </a:solidFill>
          <a:ln w="12700">
            <a:solidFill>
              <a:srgbClr val="A9C3EE"/>
            </a:solidFill>
            <a:prstDash val="solid"/>
          </a:ln>
        </p:spPr>
      </p:sp>
      <p:sp>
        <p:nvSpPr>
          <p:cNvPr id="26" name="Shape 22"/>
          <p:cNvSpPr/>
          <p:nvPr/>
        </p:nvSpPr>
        <p:spPr>
          <a:xfrm>
            <a:off x="4279392" y="2304288"/>
            <a:ext cx="3630168" cy="3127248"/>
          </a:xfrm>
          <a:prstGeom prst="roundRect">
            <a:avLst>
              <a:gd name="adj" fmla="val 2339"/>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7" name="Shape 23"/>
          <p:cNvSpPr/>
          <p:nvPr/>
        </p:nvSpPr>
        <p:spPr>
          <a:xfrm>
            <a:off x="4389120" y="2414016"/>
            <a:ext cx="1112520" cy="256032"/>
          </a:xfrm>
          <a:prstGeom prst="roundRect">
            <a:avLst>
              <a:gd name="adj" fmla="val 50000"/>
            </a:avLst>
          </a:prstGeom>
          <a:solidFill>
            <a:srgbClr val="DCE7F8"/>
          </a:solidFill>
          <a:ln w="12700">
            <a:solidFill>
              <a:srgbClr val="DCE7F8"/>
            </a:solidFill>
            <a:prstDash val="solid"/>
          </a:ln>
        </p:spPr>
      </p:sp>
      <p:sp>
        <p:nvSpPr>
          <p:cNvPr id="28" name="Text 24"/>
          <p:cNvSpPr txBox="1"/>
          <p:nvPr/>
        </p:nvSpPr>
        <p:spPr>
          <a:xfrm>
            <a:off x="4389120"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Adjacent + near-core</a:t>
            </a:r>
            <a:endParaRPr lang="en-US" sz="850" dirty="0"/>
          </a:p>
        </p:txBody>
      </p:sp>
      <p:sp>
        <p:nvSpPr>
          <p:cNvPr id="29" name="Shape 25"/>
          <p:cNvSpPr/>
          <p:nvPr/>
        </p:nvSpPr>
        <p:spPr>
          <a:xfrm>
            <a:off x="5538216" y="2414016"/>
            <a:ext cx="1112520" cy="256032"/>
          </a:xfrm>
          <a:prstGeom prst="roundRect">
            <a:avLst>
              <a:gd name="adj" fmla="val 50000"/>
            </a:avLst>
          </a:prstGeom>
          <a:solidFill>
            <a:srgbClr val="DCE7F8"/>
          </a:solidFill>
          <a:ln w="12700">
            <a:solidFill>
              <a:srgbClr val="DCE7F8"/>
            </a:solidFill>
            <a:prstDash val="solid"/>
          </a:ln>
        </p:spPr>
      </p:sp>
      <p:sp>
        <p:nvSpPr>
          <p:cNvPr id="30" name="Text 26"/>
          <p:cNvSpPr txBox="1"/>
          <p:nvPr/>
        </p:nvSpPr>
        <p:spPr>
          <a:xfrm>
            <a:off x="5538216"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Existing customers</a:t>
            </a:r>
            <a:endParaRPr lang="en-US" sz="850" dirty="0"/>
          </a:p>
        </p:txBody>
      </p:sp>
      <p:sp>
        <p:nvSpPr>
          <p:cNvPr id="31" name="Shape 27"/>
          <p:cNvSpPr/>
          <p:nvPr/>
        </p:nvSpPr>
        <p:spPr>
          <a:xfrm>
            <a:off x="6687312" y="2414016"/>
            <a:ext cx="1112520" cy="256032"/>
          </a:xfrm>
          <a:prstGeom prst="roundRect">
            <a:avLst>
              <a:gd name="adj" fmla="val 50000"/>
            </a:avLst>
          </a:prstGeom>
          <a:solidFill>
            <a:srgbClr val="DCE7F8"/>
          </a:solidFill>
          <a:ln w="12700">
            <a:solidFill>
              <a:srgbClr val="DCE7F8"/>
            </a:solidFill>
            <a:prstDash val="solid"/>
          </a:ln>
        </p:spPr>
      </p:sp>
      <p:sp>
        <p:nvSpPr>
          <p:cNvPr id="32" name="Text 28"/>
          <p:cNvSpPr txBox="1"/>
          <p:nvPr/>
        </p:nvSpPr>
        <p:spPr>
          <a:xfrm>
            <a:off x="6687312"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Staples.com</a:t>
            </a:r>
            <a:endParaRPr lang="en-US" sz="850" dirty="0"/>
          </a:p>
        </p:txBody>
      </p:sp>
      <p:sp>
        <p:nvSpPr>
          <p:cNvPr id="33" name="Text 29"/>
          <p:cNvSpPr txBox="1"/>
          <p:nvPr/>
        </p:nvSpPr>
        <p:spPr>
          <a:xfrm>
            <a:off x="4389120" y="2798064"/>
            <a:ext cx="3410712" cy="18288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Opportunity $ by customer segment; top ~20%</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Prioritise</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Search &amp; funnel gaps, demand forecasting</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Best-seller &amp; seller intelligence</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Signals pick the subcategories to grow</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Track pilots; quarterly re-crawls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Monitor</a:t>
            </a:r>
            <a:endParaRPr lang="en-US" sz="1200" dirty="0"/>
          </a:p>
        </p:txBody>
      </p:sp>
      <p:sp>
        <p:nvSpPr>
          <p:cNvPr id="34" name="Shape 30"/>
          <p:cNvSpPr/>
          <p:nvPr/>
        </p:nvSpPr>
        <p:spPr>
          <a:xfrm>
            <a:off x="4370832" y="4700016"/>
            <a:ext cx="3447288" cy="640080"/>
          </a:xfrm>
          <a:prstGeom prst="roundRect">
            <a:avLst>
              <a:gd name="adj" fmla="val 8571"/>
            </a:avLst>
          </a:prstGeom>
          <a:solidFill>
            <a:srgbClr val="DCE7F8"/>
          </a:solidFill>
          <a:ln w="12700">
            <a:solidFill>
              <a:srgbClr val="DCE7F8"/>
            </a:solidFill>
            <a:prstDash val="solid"/>
          </a:ln>
        </p:spPr>
      </p:sp>
      <p:sp>
        <p:nvSpPr>
          <p:cNvPr id="35" name="Text 31"/>
          <p:cNvSpPr txBox="1"/>
          <p:nvPr/>
        </p:nvSpPr>
        <p:spPr>
          <a:xfrm>
            <a:off x="4462272" y="4745736"/>
            <a:ext cx="326440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36" name="Text 32"/>
          <p:cNvSpPr txBox="1"/>
          <p:nvPr/>
        </p:nvSpPr>
        <p:spPr>
          <a:xfrm>
            <a:off x="4462272" y="4910328"/>
            <a:ext cx="3264408" cy="384048"/>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A $-ranked opportunity landscape; scale on evidence</a:t>
            </a:r>
            <a:endParaRPr lang="en-US" sz="1100" dirty="0"/>
          </a:p>
        </p:txBody>
      </p:sp>
      <p:sp>
        <p:nvSpPr>
          <p:cNvPr id="37" name="Shape 33"/>
          <p:cNvSpPr/>
          <p:nvPr/>
        </p:nvSpPr>
        <p:spPr>
          <a:xfrm>
            <a:off x="8147304" y="1554480"/>
            <a:ext cx="3630168" cy="658368"/>
          </a:xfrm>
          <a:prstGeom prst="roundRect">
            <a:avLst>
              <a:gd name="adj" fmla="val 11111"/>
            </a:avLst>
          </a:prstGeom>
          <a:solidFill>
            <a:srgbClr val="13285B"/>
          </a:solidFill>
          <a:ln w="12700">
            <a:solidFill>
              <a:srgbClr val="13285B"/>
            </a:solidFill>
            <a:prstDash val="solid"/>
          </a:ln>
        </p:spPr>
      </p:sp>
      <p:pic>
        <p:nvPicPr>
          <p:cNvPr id="38" name="Image 2" descr="preencoded.png">    </p:cNvPr>
          <p:cNvPicPr>
            <a:picLocks noChangeAspect="1"/>
          </p:cNvPicPr>
          <p:nvPr/>
        </p:nvPicPr>
        <p:blipFill>
          <a:blip r:embed="rId3"/>
          <a:stretch>
            <a:fillRect/>
          </a:stretch>
        </p:blipFill>
        <p:spPr>
          <a:xfrm>
            <a:off x="8293608" y="1709928"/>
            <a:ext cx="347472" cy="347472"/>
          </a:xfrm>
          <a:prstGeom prst="rect">
            <a:avLst/>
          </a:prstGeom>
        </p:spPr>
      </p:pic>
      <p:sp>
        <p:nvSpPr>
          <p:cNvPr id="39" name="Text 34"/>
          <p:cNvSpPr txBox="1"/>
          <p:nvPr/>
        </p:nvSpPr>
        <p:spPr>
          <a:xfrm>
            <a:off x="8787384" y="1618488"/>
            <a:ext cx="2852928" cy="256032"/>
          </a:xfrm>
          <a:prstGeom prst="rect">
            <a:avLst/>
          </a:prstGeom>
          <a:noFill/>
          <a:ln/>
        </p:spPr>
        <p:txBody>
          <a:bodyPr wrap="square" lIns="0" tIns="0" rIns="0" bIns="0" rtlCol="0" anchor="ctr"/>
          <a:lstStyle/>
          <a:p>
            <a:pPr indent="0" marL="0">
              <a:buNone/>
            </a:pPr>
            <a:r>
              <a:rPr lang="en-US" sz="1100" b="1" spc="100" kern="0" dirty="0">
                <a:solidFill>
                  <a:srgbClr val="F5A623"/>
                </a:solidFill>
                <a:latin typeface="Calibri" pitchFamily="34" charset="0"/>
                <a:ea typeface="Calibri" pitchFamily="34" charset="-122"/>
                <a:cs typeface="Calibri" pitchFamily="34" charset="-120"/>
              </a:rPr>
              <a:t>PHASE 3 · EXTEND</a:t>
            </a:r>
            <a:endParaRPr lang="en-US" sz="1100" dirty="0"/>
          </a:p>
        </p:txBody>
      </p:sp>
      <p:sp>
        <p:nvSpPr>
          <p:cNvPr id="40" name="Text 35"/>
          <p:cNvSpPr txBox="1"/>
          <p:nvPr/>
        </p:nvSpPr>
        <p:spPr>
          <a:xfrm>
            <a:off x="8787384" y="1874520"/>
            <a:ext cx="2852928"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Into core and new customers</a:t>
            </a:r>
            <a:endParaRPr lang="en-US" sz="1250" dirty="0"/>
          </a:p>
        </p:txBody>
      </p:sp>
      <p:sp>
        <p:nvSpPr>
          <p:cNvPr id="41" name="Shape 36"/>
          <p:cNvSpPr/>
          <p:nvPr/>
        </p:nvSpPr>
        <p:spPr>
          <a:xfrm>
            <a:off x="8147304" y="2304288"/>
            <a:ext cx="3630168" cy="3127248"/>
          </a:xfrm>
          <a:prstGeom prst="roundRect">
            <a:avLst>
              <a:gd name="adj" fmla="val 2339"/>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2" name="Shape 37"/>
          <p:cNvSpPr/>
          <p:nvPr/>
        </p:nvSpPr>
        <p:spPr>
          <a:xfrm>
            <a:off x="8257032" y="2414016"/>
            <a:ext cx="1112520" cy="256032"/>
          </a:xfrm>
          <a:prstGeom prst="roundRect">
            <a:avLst>
              <a:gd name="adj" fmla="val 50000"/>
            </a:avLst>
          </a:prstGeom>
          <a:solidFill>
            <a:srgbClr val="DCE7F8"/>
          </a:solidFill>
          <a:ln w="12700">
            <a:solidFill>
              <a:srgbClr val="DCE7F8"/>
            </a:solidFill>
            <a:prstDash val="solid"/>
          </a:ln>
        </p:spPr>
      </p:sp>
      <p:sp>
        <p:nvSpPr>
          <p:cNvPr id="43" name="Text 38"/>
          <p:cNvSpPr txBox="1"/>
          <p:nvPr/>
        </p:nvSpPr>
        <p:spPr>
          <a:xfrm>
            <a:off x="8257032"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Core gaps</a:t>
            </a:r>
            <a:endParaRPr lang="en-US" sz="850" dirty="0"/>
          </a:p>
        </p:txBody>
      </p:sp>
      <p:sp>
        <p:nvSpPr>
          <p:cNvPr id="44" name="Shape 39"/>
          <p:cNvSpPr/>
          <p:nvPr/>
        </p:nvSpPr>
        <p:spPr>
          <a:xfrm>
            <a:off x="9406128" y="2414016"/>
            <a:ext cx="1112520" cy="256032"/>
          </a:xfrm>
          <a:prstGeom prst="roundRect">
            <a:avLst>
              <a:gd name="adj" fmla="val 50000"/>
            </a:avLst>
          </a:prstGeom>
          <a:solidFill>
            <a:srgbClr val="DCE7F8"/>
          </a:solidFill>
          <a:ln w="12700">
            <a:solidFill>
              <a:srgbClr val="DCE7F8"/>
            </a:solidFill>
            <a:prstDash val="solid"/>
          </a:ln>
        </p:spPr>
      </p:sp>
      <p:sp>
        <p:nvSpPr>
          <p:cNvPr id="45" name="Text 40"/>
          <p:cNvSpPr txBox="1"/>
          <p:nvPr/>
        </p:nvSpPr>
        <p:spPr>
          <a:xfrm>
            <a:off x="9406128"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New customers</a:t>
            </a:r>
            <a:endParaRPr lang="en-US" sz="850" dirty="0"/>
          </a:p>
        </p:txBody>
      </p:sp>
      <p:sp>
        <p:nvSpPr>
          <p:cNvPr id="46" name="Shape 41"/>
          <p:cNvSpPr/>
          <p:nvPr/>
        </p:nvSpPr>
        <p:spPr>
          <a:xfrm>
            <a:off x="10555224" y="2414016"/>
            <a:ext cx="1112520" cy="256032"/>
          </a:xfrm>
          <a:prstGeom prst="roundRect">
            <a:avLst>
              <a:gd name="adj" fmla="val 50000"/>
            </a:avLst>
          </a:prstGeom>
          <a:solidFill>
            <a:srgbClr val="DCE7F8"/>
          </a:solidFill>
          <a:ln w="12700">
            <a:solidFill>
              <a:srgbClr val="DCE7F8"/>
            </a:solidFill>
            <a:prstDash val="solid"/>
          </a:ln>
        </p:spPr>
      </p:sp>
      <p:sp>
        <p:nvSpPr>
          <p:cNvPr id="47" name="Text 42"/>
          <p:cNvSpPr txBox="1"/>
          <p:nvPr/>
        </p:nvSpPr>
        <p:spPr>
          <a:xfrm>
            <a:off x="10555224"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 Staples Business</a:t>
            </a:r>
            <a:endParaRPr lang="en-US" sz="850" dirty="0"/>
          </a:p>
        </p:txBody>
      </p:sp>
      <p:sp>
        <p:nvSpPr>
          <p:cNvPr id="48" name="Text 43"/>
          <p:cNvSpPr txBox="1"/>
          <p:nvPr/>
        </p:nvSpPr>
        <p:spPr>
          <a:xfrm>
            <a:off x="8257032" y="2798064"/>
            <a:ext cx="3410712" cy="18288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Core gaps raised with merchants, e.g. smaller or luxe desks, bento</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with merchants</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Educate &amp; acquire customers: social, trends, off-site retail media</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Validate with market research &amp; surveys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Staples Business: specialist verticals &amp; contract needs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new channel</a:t>
            </a:r>
            <a:endParaRPr lang="en-US" sz="1200" dirty="0"/>
          </a:p>
        </p:txBody>
      </p:sp>
      <p:sp>
        <p:nvSpPr>
          <p:cNvPr id="49" name="Shape 44"/>
          <p:cNvSpPr/>
          <p:nvPr/>
        </p:nvSpPr>
        <p:spPr>
          <a:xfrm>
            <a:off x="8238744" y="4700016"/>
            <a:ext cx="3447288" cy="640080"/>
          </a:xfrm>
          <a:prstGeom prst="roundRect">
            <a:avLst>
              <a:gd name="adj" fmla="val 8571"/>
            </a:avLst>
          </a:prstGeom>
          <a:solidFill>
            <a:srgbClr val="DCE7F8"/>
          </a:solidFill>
          <a:ln w="12700">
            <a:solidFill>
              <a:srgbClr val="DCE7F8"/>
            </a:solidFill>
            <a:prstDash val="solid"/>
          </a:ln>
        </p:spPr>
      </p:sp>
      <p:sp>
        <p:nvSpPr>
          <p:cNvPr id="50" name="Text 45"/>
          <p:cNvSpPr txBox="1"/>
          <p:nvPr/>
        </p:nvSpPr>
        <p:spPr>
          <a:xfrm>
            <a:off x="8330184" y="4745736"/>
            <a:ext cx="326440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1" name="Text 46"/>
          <p:cNvSpPr txBox="1"/>
          <p:nvPr/>
        </p:nvSpPr>
        <p:spPr>
          <a:xfrm>
            <a:off x="8330184" y="4910328"/>
            <a:ext cx="3264408" cy="384048"/>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Core growth merchants sign up to; new customers reached</a:t>
            </a:r>
            <a:endParaRPr lang="en-US" sz="1100" dirty="0"/>
          </a:p>
        </p:txBody>
      </p:sp>
      <p:sp>
        <p:nvSpPr>
          <p:cNvPr id="52" name="Shape 47"/>
          <p:cNvSpPr/>
          <p:nvPr/>
        </p:nvSpPr>
        <p:spPr>
          <a:xfrm>
            <a:off x="411480" y="5559552"/>
            <a:ext cx="11365992" cy="768096"/>
          </a:xfrm>
          <a:prstGeom prst="roundRect">
            <a:avLst>
              <a:gd name="adj" fmla="val 9524"/>
            </a:avLst>
          </a:prstGeom>
          <a:solidFill>
            <a:srgbClr val="EEF3FB"/>
          </a:solidFill>
          <a:ln w="9525">
            <a:solidFill>
              <a:srgbClr val="8FB0E8"/>
            </a:solidFill>
            <a:prstDash val="solid"/>
          </a:ln>
        </p:spPr>
      </p:sp>
      <p:sp>
        <p:nvSpPr>
          <p:cNvPr id="53" name="Text 48"/>
          <p:cNvSpPr txBox="1"/>
          <p:nvPr/>
        </p:nvSpPr>
        <p:spPr>
          <a:xfrm>
            <a:off x="566928" y="5559552"/>
            <a:ext cx="1828800" cy="768096"/>
          </a:xfrm>
          <a:prstGeom prst="rect">
            <a:avLst/>
          </a:prstGeom>
          <a:noFill/>
          <a:ln/>
        </p:spPr>
        <p:txBody>
          <a:bodyPr wrap="square" lIns="0" tIns="0" rIns="0" bIns="0" rtlCol="0" anchor="ctr"/>
          <a:lstStyle/>
          <a:p>
            <a:pPr indent="0" marL="0">
              <a:buNone/>
            </a:pPr>
            <a:r>
              <a:rPr lang="en-US" sz="1050" b="1" spc="100" kern="0" dirty="0">
                <a:solidFill>
                  <a:srgbClr val="1F4E9A"/>
                </a:solidFill>
                <a:latin typeface="Calibri" pitchFamily="34" charset="0"/>
                <a:ea typeface="Calibri" pitchFamily="34" charset="-122"/>
                <a:cs typeface="Calibri" pitchFamily="34" charset="-120"/>
              </a:rPr>
              <a:t>BEYOND INTERNAL REPORTING</a:t>
            </a:r>
            <a:endParaRPr lang="en-US" sz="1050" dirty="0"/>
          </a:p>
        </p:txBody>
      </p:sp>
      <p:pic>
        <p:nvPicPr>
          <p:cNvPr id="54" name="Image 3" descr="preencoded.png">    </p:cNvPr>
          <p:cNvPicPr>
            <a:picLocks noChangeAspect="1"/>
          </p:cNvPicPr>
          <p:nvPr/>
        </p:nvPicPr>
        <p:blipFill>
          <a:blip r:embed="rId4"/>
          <a:stretch>
            <a:fillRect/>
          </a:stretch>
        </p:blipFill>
        <p:spPr>
          <a:xfrm>
            <a:off x="2514600" y="5769864"/>
            <a:ext cx="347472" cy="347472"/>
          </a:xfrm>
          <a:prstGeom prst="rect">
            <a:avLst/>
          </a:prstGeom>
        </p:spPr>
      </p:pic>
      <p:sp>
        <p:nvSpPr>
          <p:cNvPr id="55" name="Text 49"/>
          <p:cNvSpPr txBox="1"/>
          <p:nvPr/>
        </p:nvSpPr>
        <p:spPr>
          <a:xfrm>
            <a:off x="2971800" y="5614416"/>
            <a:ext cx="2538984" cy="65836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Sees outside Staples</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the competitor side internal data can't show</a:t>
            </a:r>
            <a:endParaRPr lang="en-US" sz="1050" dirty="0"/>
          </a:p>
        </p:txBody>
      </p:sp>
      <p:pic>
        <p:nvPicPr>
          <p:cNvPr id="56" name="Image 4" descr="preencoded.png">    </p:cNvPr>
          <p:cNvPicPr>
            <a:picLocks noChangeAspect="1"/>
          </p:cNvPicPr>
          <p:nvPr/>
        </p:nvPicPr>
        <p:blipFill>
          <a:blip r:embed="rId5"/>
          <a:stretch>
            <a:fillRect/>
          </a:stretch>
        </p:blipFill>
        <p:spPr>
          <a:xfrm>
            <a:off x="5602224" y="5769864"/>
            <a:ext cx="347472" cy="347472"/>
          </a:xfrm>
          <a:prstGeom prst="rect">
            <a:avLst/>
          </a:prstGeom>
        </p:spPr>
      </p:pic>
      <p:sp>
        <p:nvSpPr>
          <p:cNvPr id="57" name="Text 50"/>
          <p:cNvSpPr txBox="1"/>
          <p:nvPr/>
        </p:nvSpPr>
        <p:spPr>
          <a:xfrm>
            <a:off x="6059424" y="5614416"/>
            <a:ext cx="2538984" cy="65836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Same yardstick on both sides</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885 archetypes, one attribute extractor</a:t>
            </a:r>
            <a:endParaRPr lang="en-US" sz="1050" dirty="0"/>
          </a:p>
        </p:txBody>
      </p:sp>
      <p:pic>
        <p:nvPicPr>
          <p:cNvPr id="58" name="Image 5" descr="preencoded.png">    </p:cNvPr>
          <p:cNvPicPr>
            <a:picLocks noChangeAspect="1"/>
          </p:cNvPicPr>
          <p:nvPr/>
        </p:nvPicPr>
        <p:blipFill>
          <a:blip r:embed="rId6"/>
          <a:stretch>
            <a:fillRect/>
          </a:stretch>
        </p:blipFill>
        <p:spPr>
          <a:xfrm>
            <a:off x="8689848" y="5769864"/>
            <a:ext cx="347472" cy="347472"/>
          </a:xfrm>
          <a:prstGeom prst="rect">
            <a:avLst/>
          </a:prstGeom>
        </p:spPr>
      </p:pic>
      <p:sp>
        <p:nvSpPr>
          <p:cNvPr id="59" name="Text 51"/>
          <p:cNvSpPr txBox="1"/>
          <p:nvPr/>
        </p:nvSpPr>
        <p:spPr>
          <a:xfrm>
            <a:off x="9147048" y="5614416"/>
            <a:ext cx="2538984" cy="65836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Two independent safety gates</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cannibalisation checked twice</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Our Governance Model: LatentView × Staples</a:t>
            </a:r>
            <a:endParaRPr lang="en-US" sz="2800" dirty="0"/>
          </a:p>
        </p:txBody>
      </p:sp>
      <p:sp>
        <p:nvSpPr>
          <p:cNvPr id="3" name="Shape 1"/>
          <p:cNvSpPr/>
          <p:nvPr/>
        </p:nvSpPr>
        <p:spPr>
          <a:xfrm>
            <a:off x="274320" y="1051560"/>
            <a:ext cx="8366760" cy="347472"/>
          </a:xfrm>
          <a:prstGeom prst="rect">
            <a:avLst/>
          </a:prstGeom>
          <a:solidFill>
            <a:srgbClr val="13285B"/>
          </a:solidFill>
          <a:ln w="12700">
            <a:solidFill>
              <a:srgbClr val="13285B"/>
            </a:solidFill>
            <a:prstDash val="solid"/>
          </a:ln>
        </p:spPr>
      </p:sp>
      <p:sp>
        <p:nvSpPr>
          <p:cNvPr id="4" name="Text 2"/>
          <p:cNvSpPr txBox="1"/>
          <p:nvPr/>
        </p:nvSpPr>
        <p:spPr>
          <a:xfrm>
            <a:off x="320040" y="1051560"/>
            <a:ext cx="827532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3-Tiered Robust Governance Structure with Cadence for Seamless Communication and Feedback Alignment</a:t>
            </a:r>
            <a:endParaRPr lang="en-US" sz="1150" dirty="0"/>
          </a:p>
        </p:txBody>
      </p:sp>
      <p:sp>
        <p:nvSpPr>
          <p:cNvPr id="5" name="Shape 3"/>
          <p:cNvSpPr/>
          <p:nvPr/>
        </p:nvSpPr>
        <p:spPr>
          <a:xfrm>
            <a:off x="8851392" y="1051560"/>
            <a:ext cx="2926080" cy="347472"/>
          </a:xfrm>
          <a:prstGeom prst="rect">
            <a:avLst/>
          </a:prstGeom>
          <a:solidFill>
            <a:srgbClr val="7E62A8"/>
          </a:solidFill>
          <a:ln w="12700">
            <a:solidFill>
              <a:srgbClr val="7E62A8"/>
            </a:solidFill>
            <a:prstDash val="solid"/>
          </a:ln>
        </p:spPr>
      </p:sp>
      <p:sp>
        <p:nvSpPr>
          <p:cNvPr id="6" name="Text 4"/>
          <p:cNvSpPr txBox="1"/>
          <p:nvPr/>
        </p:nvSpPr>
        <p:spPr>
          <a:xfrm>
            <a:off x="8851392" y="1051560"/>
            <a:ext cx="292608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LatentView Value Adds &amp; Investments</a:t>
            </a:r>
            <a:endParaRPr lang="en-US" sz="1100" dirty="0"/>
          </a:p>
        </p:txBody>
      </p:sp>
      <p:sp>
        <p:nvSpPr>
          <p:cNvPr id="7" name="Text 5"/>
          <p:cNvSpPr txBox="1"/>
          <p:nvPr/>
        </p:nvSpPr>
        <p:spPr>
          <a:xfrm>
            <a:off x="274320" y="1572768"/>
            <a:ext cx="1691640" cy="274320"/>
          </a:xfrm>
          <a:prstGeom prst="rect">
            <a:avLst/>
          </a:prstGeom>
          <a:noFill/>
          <a:ln/>
        </p:spPr>
        <p:txBody>
          <a:bodyPr wrap="square" lIns="0" tIns="0" rIns="0" bIns="0" rtlCol="0" anchor="ctr"/>
          <a:lstStyle/>
          <a:p>
            <a:pPr algn="ctr" indent="0" marL="0">
              <a:buNone/>
            </a:pPr>
            <a:r>
              <a:rPr lang="en-US" sz="1250" b="1" dirty="0">
                <a:solidFill>
                  <a:srgbClr val="1F4E9A"/>
                </a:solidFill>
                <a:latin typeface="Calibri" pitchFamily="34" charset="0"/>
                <a:ea typeface="Calibri" pitchFamily="34" charset="-122"/>
                <a:cs typeface="Calibri" pitchFamily="34" charset="-120"/>
              </a:rPr>
              <a:t>Executive Team</a:t>
            </a:r>
            <a:endParaRPr lang="en-US" sz="1250" dirty="0"/>
          </a:p>
        </p:txBody>
      </p:sp>
      <p:sp>
        <p:nvSpPr>
          <p:cNvPr id="8" name="Text 6"/>
          <p:cNvSpPr txBox="1"/>
          <p:nvPr/>
        </p:nvSpPr>
        <p:spPr>
          <a:xfrm>
            <a:off x="274320" y="1847088"/>
            <a:ext cx="1691640" cy="219456"/>
          </a:xfrm>
          <a:prstGeom prst="rect">
            <a:avLst/>
          </a:prstGeom>
          <a:noFill/>
          <a:ln/>
        </p:spPr>
        <p:txBody>
          <a:bodyPr wrap="square" lIns="0" tIns="0" rIns="0" bIns="0" rtlCol="0" anchor="ctr"/>
          <a:lstStyle/>
          <a:p>
            <a:pPr algn="ctr" indent="0" marL="0">
              <a:buNone/>
            </a:pPr>
            <a:r>
              <a:rPr lang="en-US" sz="1050" b="1" i="1" dirty="0">
                <a:solidFill>
                  <a:srgbClr val="A31515"/>
                </a:solidFill>
                <a:latin typeface="Calibri" pitchFamily="34" charset="0"/>
                <a:ea typeface="Calibri" pitchFamily="34" charset="-122"/>
                <a:cs typeface="Calibri" pitchFamily="34" charset="-120"/>
              </a:rPr>
              <a:t>Quarterly</a:t>
            </a:r>
            <a:endParaRPr lang="en-US" sz="1050" dirty="0"/>
          </a:p>
        </p:txBody>
      </p:sp>
      <p:sp>
        <p:nvSpPr>
          <p:cNvPr id="9" name="Text 7"/>
          <p:cNvSpPr txBox="1"/>
          <p:nvPr/>
        </p:nvSpPr>
        <p:spPr>
          <a:xfrm>
            <a:off x="274320" y="2084832"/>
            <a:ext cx="1691640" cy="384048"/>
          </a:xfrm>
          <a:prstGeom prst="rect">
            <a:avLst/>
          </a:prstGeom>
          <a:noFill/>
          <a:ln/>
        </p:spPr>
        <p:txBody>
          <a:bodyPr wrap="square" lIns="0" tIns="0" rIns="0" bIns="0" rtlCol="0" anchor="t"/>
          <a:lstStyle/>
          <a:p>
            <a:pPr algn="ctr" indent="0" marL="0">
              <a:buNone/>
            </a:pPr>
            <a:r>
              <a:rPr lang="en-US" sz="850" i="1" dirty="0">
                <a:solidFill>
                  <a:srgbClr val="7A8599"/>
                </a:solidFill>
                <a:latin typeface="Calibri" pitchFamily="34" charset="0"/>
                <a:ea typeface="Calibri" pitchFamily="34" charset="-122"/>
                <a:cs typeface="Calibri" pitchFamily="34" charset="-120"/>
              </a:rPr>
              <a:t>Quarterly business review · Monthly executive briefing</a:t>
            </a:r>
            <a:endParaRPr lang="en-US" sz="850" dirty="0"/>
          </a:p>
        </p:txBody>
      </p:sp>
      <p:sp>
        <p:nvSpPr>
          <p:cNvPr id="10" name="Text 8"/>
          <p:cNvSpPr txBox="1"/>
          <p:nvPr/>
        </p:nvSpPr>
        <p:spPr>
          <a:xfrm>
            <a:off x="274320" y="2743200"/>
            <a:ext cx="1691640" cy="274320"/>
          </a:xfrm>
          <a:prstGeom prst="rect">
            <a:avLst/>
          </a:prstGeom>
          <a:noFill/>
          <a:ln/>
        </p:spPr>
        <p:txBody>
          <a:bodyPr wrap="square" lIns="0" tIns="0" rIns="0" bIns="0" rtlCol="0" anchor="ctr"/>
          <a:lstStyle/>
          <a:p>
            <a:pPr algn="ctr" indent="0" marL="0">
              <a:buNone/>
            </a:pPr>
            <a:r>
              <a:rPr lang="en-US" sz="1250" b="1" dirty="0">
                <a:solidFill>
                  <a:srgbClr val="1F4E9A"/>
                </a:solidFill>
                <a:latin typeface="Calibri" pitchFamily="34" charset="0"/>
                <a:ea typeface="Calibri" pitchFamily="34" charset="-122"/>
                <a:cs typeface="Calibri" pitchFamily="34" charset="-120"/>
              </a:rPr>
              <a:t>Project Team</a:t>
            </a:r>
            <a:endParaRPr lang="en-US" sz="1250" dirty="0"/>
          </a:p>
        </p:txBody>
      </p:sp>
      <p:sp>
        <p:nvSpPr>
          <p:cNvPr id="11" name="Text 9"/>
          <p:cNvSpPr txBox="1"/>
          <p:nvPr/>
        </p:nvSpPr>
        <p:spPr>
          <a:xfrm>
            <a:off x="274320" y="3017520"/>
            <a:ext cx="1691640" cy="219456"/>
          </a:xfrm>
          <a:prstGeom prst="rect">
            <a:avLst/>
          </a:prstGeom>
          <a:noFill/>
          <a:ln/>
        </p:spPr>
        <p:txBody>
          <a:bodyPr wrap="square" lIns="0" tIns="0" rIns="0" bIns="0" rtlCol="0" anchor="ctr"/>
          <a:lstStyle/>
          <a:p>
            <a:pPr algn="ctr" indent="0" marL="0">
              <a:buNone/>
            </a:pPr>
            <a:r>
              <a:rPr lang="en-US" sz="1050" b="1" i="1" dirty="0">
                <a:solidFill>
                  <a:srgbClr val="A31515"/>
                </a:solidFill>
                <a:latin typeface="Calibri" pitchFamily="34" charset="0"/>
                <a:ea typeface="Calibri" pitchFamily="34" charset="-122"/>
                <a:cs typeface="Calibri" pitchFamily="34" charset="-120"/>
              </a:rPr>
              <a:t>Monthly / Quarterly</a:t>
            </a:r>
            <a:endParaRPr lang="en-US" sz="1050" dirty="0"/>
          </a:p>
        </p:txBody>
      </p:sp>
      <p:sp>
        <p:nvSpPr>
          <p:cNvPr id="12" name="Text 10"/>
          <p:cNvSpPr txBox="1"/>
          <p:nvPr/>
        </p:nvSpPr>
        <p:spPr>
          <a:xfrm>
            <a:off x="274320" y="3255264"/>
            <a:ext cx="1691640" cy="384048"/>
          </a:xfrm>
          <a:prstGeom prst="rect">
            <a:avLst/>
          </a:prstGeom>
          <a:noFill/>
          <a:ln/>
        </p:spPr>
        <p:txBody>
          <a:bodyPr wrap="square" lIns="0" tIns="0" rIns="0" bIns="0" rtlCol="0" anchor="t"/>
          <a:lstStyle/>
          <a:p>
            <a:pPr algn="ctr" indent="0" marL="0">
              <a:buNone/>
            </a:pPr>
            <a:r>
              <a:rPr lang="en-US" sz="850" i="1" dirty="0">
                <a:solidFill>
                  <a:srgbClr val="7A8599"/>
                </a:solidFill>
                <a:latin typeface="Calibri" pitchFamily="34" charset="0"/>
                <a:ea typeface="Calibri" pitchFamily="34" charset="-122"/>
                <a:cs typeface="Calibri" pitchFamily="34" charset="-120"/>
              </a:rPr>
              <a:t>Monthly business review · Weekly status newsletter</a:t>
            </a:r>
            <a:endParaRPr lang="en-US" sz="850" dirty="0"/>
          </a:p>
        </p:txBody>
      </p:sp>
      <p:sp>
        <p:nvSpPr>
          <p:cNvPr id="13" name="Text 11"/>
          <p:cNvSpPr txBox="1"/>
          <p:nvPr/>
        </p:nvSpPr>
        <p:spPr>
          <a:xfrm>
            <a:off x="274320" y="4407408"/>
            <a:ext cx="1691640" cy="274320"/>
          </a:xfrm>
          <a:prstGeom prst="rect">
            <a:avLst/>
          </a:prstGeom>
          <a:noFill/>
          <a:ln/>
        </p:spPr>
        <p:txBody>
          <a:bodyPr wrap="square" lIns="0" tIns="0" rIns="0" bIns="0" rtlCol="0" anchor="ctr"/>
          <a:lstStyle/>
          <a:p>
            <a:pPr algn="ctr" indent="0" marL="0">
              <a:buNone/>
            </a:pPr>
            <a:r>
              <a:rPr lang="en-US" sz="1250" b="1" dirty="0">
                <a:solidFill>
                  <a:srgbClr val="1F4E9A"/>
                </a:solidFill>
                <a:latin typeface="Calibri" pitchFamily="34" charset="0"/>
                <a:ea typeface="Calibri" pitchFamily="34" charset="-122"/>
                <a:cs typeface="Calibri" pitchFamily="34" charset="-120"/>
              </a:rPr>
              <a:t>Delivery Team</a:t>
            </a:r>
            <a:endParaRPr lang="en-US" sz="1250" dirty="0"/>
          </a:p>
        </p:txBody>
      </p:sp>
      <p:sp>
        <p:nvSpPr>
          <p:cNvPr id="14" name="Text 12"/>
          <p:cNvSpPr txBox="1"/>
          <p:nvPr/>
        </p:nvSpPr>
        <p:spPr>
          <a:xfrm>
            <a:off x="274320" y="4681728"/>
            <a:ext cx="1691640" cy="219456"/>
          </a:xfrm>
          <a:prstGeom prst="rect">
            <a:avLst/>
          </a:prstGeom>
          <a:noFill/>
          <a:ln/>
        </p:spPr>
        <p:txBody>
          <a:bodyPr wrap="square" lIns="0" tIns="0" rIns="0" bIns="0" rtlCol="0" anchor="ctr"/>
          <a:lstStyle/>
          <a:p>
            <a:pPr algn="ctr" indent="0" marL="0">
              <a:buNone/>
            </a:pPr>
            <a:r>
              <a:rPr lang="en-US" sz="1050" b="1" i="1" dirty="0">
                <a:solidFill>
                  <a:srgbClr val="A31515"/>
                </a:solidFill>
                <a:latin typeface="Calibri" pitchFamily="34" charset="0"/>
                <a:ea typeface="Calibri" pitchFamily="34" charset="-122"/>
                <a:cs typeface="Calibri" pitchFamily="34" charset="-120"/>
              </a:rPr>
              <a:t>Daily / Weekly</a:t>
            </a:r>
            <a:endParaRPr lang="en-US" sz="1050" dirty="0"/>
          </a:p>
        </p:txBody>
      </p:sp>
      <p:sp>
        <p:nvSpPr>
          <p:cNvPr id="15" name="Text 13"/>
          <p:cNvSpPr txBox="1"/>
          <p:nvPr/>
        </p:nvSpPr>
        <p:spPr>
          <a:xfrm>
            <a:off x="274320" y="4919472"/>
            <a:ext cx="1691640" cy="384048"/>
          </a:xfrm>
          <a:prstGeom prst="rect">
            <a:avLst/>
          </a:prstGeom>
          <a:noFill/>
          <a:ln/>
        </p:spPr>
        <p:txBody>
          <a:bodyPr wrap="square" lIns="0" tIns="0" rIns="0" bIns="0" rtlCol="0" anchor="t"/>
          <a:lstStyle/>
          <a:p>
            <a:pPr algn="ctr" indent="0" marL="0">
              <a:buNone/>
            </a:pPr>
            <a:r>
              <a:rPr lang="en-US" sz="850" i="1" dirty="0">
                <a:solidFill>
                  <a:srgbClr val="7A8599"/>
                </a:solidFill>
                <a:latin typeface="Calibri" pitchFamily="34" charset="0"/>
                <a:ea typeface="Calibri" pitchFamily="34" charset="-122"/>
                <a:cs typeface="Calibri" pitchFamily="34" charset="-120"/>
              </a:rPr>
              <a:t>Daily stand-ups · Weekly reviews · Sprint planning</a:t>
            </a:r>
            <a:endParaRPr lang="en-US" sz="850" dirty="0"/>
          </a:p>
        </p:txBody>
      </p:sp>
      <p:sp>
        <p:nvSpPr>
          <p:cNvPr id="16" name="Shape 14"/>
          <p:cNvSpPr/>
          <p:nvPr/>
        </p:nvSpPr>
        <p:spPr>
          <a:xfrm>
            <a:off x="274320" y="2578608"/>
            <a:ext cx="8275320" cy="0"/>
          </a:xfrm>
          <a:prstGeom prst="line">
            <a:avLst/>
          </a:prstGeom>
          <a:noFill/>
          <a:ln w="12700">
            <a:solidFill>
              <a:srgbClr val="1F4E9A"/>
            </a:solidFill>
            <a:prstDash val="dash"/>
          </a:ln>
        </p:spPr>
      </p:sp>
      <p:sp>
        <p:nvSpPr>
          <p:cNvPr id="17" name="Shape 15"/>
          <p:cNvSpPr/>
          <p:nvPr/>
        </p:nvSpPr>
        <p:spPr>
          <a:xfrm>
            <a:off x="274320" y="4206240"/>
            <a:ext cx="8275320" cy="0"/>
          </a:xfrm>
          <a:prstGeom prst="line">
            <a:avLst/>
          </a:prstGeom>
          <a:noFill/>
          <a:ln w="12700">
            <a:solidFill>
              <a:srgbClr val="1F4E9A"/>
            </a:solidFill>
            <a:prstDash val="dash"/>
          </a:ln>
        </p:spPr>
      </p:sp>
      <p:pic>
        <p:nvPicPr>
          <p:cNvPr id="18" name="Image 0" descr="D:\Testing\My-Staples-PoC\2. AL PoC\V2 - Categ from the scratch\outputs\ppt\assets\title_logo_staples.png">    </p:cNvPr>
          <p:cNvPicPr>
            <a:picLocks noChangeAspect="1"/>
          </p:cNvPicPr>
          <p:nvPr/>
        </p:nvPicPr>
        <p:blipFill>
          <a:blip r:embed="rId1"/>
          <a:srcRect l="0" r="0" t="0" b="0"/>
          <a:stretch/>
        </p:blipFill>
        <p:spPr>
          <a:xfrm>
            <a:off x="2011680" y="1856232"/>
            <a:ext cx="1188720" cy="246888"/>
          </a:xfrm>
          <a:prstGeom prst="rect">
            <a:avLst/>
          </a:prstGeom>
        </p:spPr>
      </p:pic>
      <p:sp>
        <p:nvSpPr>
          <p:cNvPr id="19" name="Shape 16"/>
          <p:cNvSpPr/>
          <p:nvPr/>
        </p:nvSpPr>
        <p:spPr>
          <a:xfrm>
            <a:off x="3337560" y="1591056"/>
            <a:ext cx="3017520" cy="786384"/>
          </a:xfrm>
          <a:prstGeom prst="rect">
            <a:avLst/>
          </a:prstGeom>
          <a:ln w="12700">
            <a:solidFill>
              <a:srgbClr val="7F9CC0"/>
            </a:solidFill>
            <a:prstDash val="sysDot"/>
          </a:ln>
        </p:spPr>
      </p:sp>
      <p:sp>
        <p:nvSpPr>
          <p:cNvPr id="20" name="Shape 17"/>
          <p:cNvSpPr/>
          <p:nvPr/>
        </p:nvSpPr>
        <p:spPr>
          <a:xfrm>
            <a:off x="3547872" y="1746504"/>
            <a:ext cx="1188720" cy="475488"/>
          </a:xfrm>
          <a:prstGeom prst="roundRect">
            <a:avLst>
              <a:gd name="adj" fmla="val 15385"/>
            </a:avLst>
          </a:prstGeom>
          <a:solidFill>
            <a:srgbClr val="B0504E"/>
          </a:solidFill>
          <a:ln w="12700">
            <a:solidFill>
              <a:srgbClr val="B0504E"/>
            </a:solidFill>
            <a:prstDash val="solid"/>
          </a:ln>
        </p:spPr>
      </p:sp>
      <p:sp>
        <p:nvSpPr>
          <p:cNvPr id="21" name="Text 18"/>
          <p:cNvSpPr txBox="1"/>
          <p:nvPr/>
        </p:nvSpPr>
        <p:spPr>
          <a:xfrm>
            <a:off x="3584448" y="1746504"/>
            <a:ext cx="1115568" cy="475488"/>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Staples</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Leadership</a:t>
            </a:r>
            <a:endParaRPr lang="en-US" sz="950" dirty="0"/>
          </a:p>
        </p:txBody>
      </p:sp>
      <p:sp>
        <p:nvSpPr>
          <p:cNvPr id="22" name="Shape 19"/>
          <p:cNvSpPr/>
          <p:nvPr/>
        </p:nvSpPr>
        <p:spPr>
          <a:xfrm>
            <a:off x="4956048" y="1746504"/>
            <a:ext cx="1188720" cy="475488"/>
          </a:xfrm>
          <a:prstGeom prst="roundRect">
            <a:avLst>
              <a:gd name="adj" fmla="val 15385"/>
            </a:avLst>
          </a:prstGeom>
          <a:solidFill>
            <a:srgbClr val="1F4E9A"/>
          </a:solidFill>
          <a:ln w="12700">
            <a:solidFill>
              <a:srgbClr val="1F4E9A"/>
            </a:solidFill>
            <a:prstDash val="solid"/>
          </a:ln>
        </p:spPr>
      </p:sp>
      <p:sp>
        <p:nvSpPr>
          <p:cNvPr id="23" name="Text 20"/>
          <p:cNvSpPr txBox="1"/>
          <p:nvPr/>
        </p:nvSpPr>
        <p:spPr>
          <a:xfrm>
            <a:off x="4992624" y="1746504"/>
            <a:ext cx="1115568" cy="475488"/>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LatentView</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Leadership</a:t>
            </a:r>
            <a:endParaRPr lang="en-US" sz="950" dirty="0"/>
          </a:p>
        </p:txBody>
      </p:sp>
      <p:pic>
        <p:nvPicPr>
          <p:cNvPr id="24" name="Image 1" descr="D:\Testing\My-Staples-PoC\2. AL PoC\V2 - Categ from the scratch\outputs\ppt\assets\title_logo_latentview.png">    </p:cNvPr>
          <p:cNvPicPr>
            <a:picLocks noChangeAspect="1"/>
          </p:cNvPicPr>
          <p:nvPr/>
        </p:nvPicPr>
        <p:blipFill>
          <a:blip r:embed="rId2"/>
          <a:srcRect l="0" r="0" t="0" b="0"/>
          <a:stretch/>
        </p:blipFill>
        <p:spPr>
          <a:xfrm>
            <a:off x="6537960" y="1847088"/>
            <a:ext cx="1188720" cy="274320"/>
          </a:xfrm>
          <a:prstGeom prst="rect">
            <a:avLst/>
          </a:prstGeom>
        </p:spPr>
      </p:pic>
      <p:sp>
        <p:nvSpPr>
          <p:cNvPr id="25" name="Shape 21"/>
          <p:cNvSpPr/>
          <p:nvPr/>
        </p:nvSpPr>
        <p:spPr>
          <a:xfrm>
            <a:off x="4846320" y="2395728"/>
            <a:ext cx="0" cy="329184"/>
          </a:xfrm>
          <a:prstGeom prst="line">
            <a:avLst/>
          </a:prstGeom>
          <a:noFill/>
          <a:ln w="15875">
            <a:solidFill>
              <a:srgbClr val="000000"/>
            </a:solidFill>
            <a:prstDash val="solid"/>
            <a:headEnd type="triangle"/>
          </a:ln>
        </p:spPr>
      </p:sp>
      <p:sp>
        <p:nvSpPr>
          <p:cNvPr id="26" name="Shape 22"/>
          <p:cNvSpPr/>
          <p:nvPr/>
        </p:nvSpPr>
        <p:spPr>
          <a:xfrm>
            <a:off x="3337560" y="2743200"/>
            <a:ext cx="3017520" cy="1207008"/>
          </a:xfrm>
          <a:prstGeom prst="rect">
            <a:avLst/>
          </a:prstGeom>
          <a:ln w="12700">
            <a:solidFill>
              <a:srgbClr val="7F9CC0"/>
            </a:solidFill>
            <a:prstDash val="sysDot"/>
          </a:ln>
        </p:spPr>
      </p:sp>
      <p:sp>
        <p:nvSpPr>
          <p:cNvPr id="27" name="Shape 23"/>
          <p:cNvSpPr/>
          <p:nvPr/>
        </p:nvSpPr>
        <p:spPr>
          <a:xfrm>
            <a:off x="3493008" y="2852928"/>
            <a:ext cx="1261872" cy="420624"/>
          </a:xfrm>
          <a:prstGeom prst="roundRect">
            <a:avLst>
              <a:gd name="adj" fmla="val 17391"/>
            </a:avLst>
          </a:prstGeom>
          <a:solidFill>
            <a:srgbClr val="B0504E"/>
          </a:solidFill>
          <a:ln w="12700">
            <a:solidFill>
              <a:srgbClr val="B0504E"/>
            </a:solidFill>
            <a:prstDash val="solid"/>
          </a:ln>
        </p:spPr>
      </p:sp>
      <p:sp>
        <p:nvSpPr>
          <p:cNvPr id="28" name="Text 24"/>
          <p:cNvSpPr txBox="1"/>
          <p:nvPr/>
        </p:nvSpPr>
        <p:spPr>
          <a:xfrm>
            <a:off x="3529584" y="2852928"/>
            <a:ext cx="1188720" cy="42062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Staples Team</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Leads</a:t>
            </a:r>
            <a:endParaRPr lang="en-US" sz="950" dirty="0"/>
          </a:p>
        </p:txBody>
      </p:sp>
      <p:sp>
        <p:nvSpPr>
          <p:cNvPr id="29" name="Shape 25"/>
          <p:cNvSpPr/>
          <p:nvPr/>
        </p:nvSpPr>
        <p:spPr>
          <a:xfrm>
            <a:off x="3493008" y="3401568"/>
            <a:ext cx="1261872" cy="420624"/>
          </a:xfrm>
          <a:prstGeom prst="roundRect">
            <a:avLst>
              <a:gd name="adj" fmla="val 17391"/>
            </a:avLst>
          </a:prstGeom>
          <a:solidFill>
            <a:srgbClr val="B0504E"/>
          </a:solidFill>
          <a:ln w="12700">
            <a:solidFill>
              <a:srgbClr val="B0504E"/>
            </a:solidFill>
            <a:prstDash val="solid"/>
          </a:ln>
        </p:spPr>
      </p:sp>
      <p:sp>
        <p:nvSpPr>
          <p:cNvPr id="30" name="Text 26"/>
          <p:cNvSpPr txBox="1"/>
          <p:nvPr/>
        </p:nvSpPr>
        <p:spPr>
          <a:xfrm>
            <a:off x="3529584" y="3401568"/>
            <a:ext cx="1188720" cy="42062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Staples</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Stakeholders</a:t>
            </a:r>
            <a:endParaRPr lang="en-US" sz="950" dirty="0"/>
          </a:p>
        </p:txBody>
      </p:sp>
      <p:sp>
        <p:nvSpPr>
          <p:cNvPr id="31" name="Shape 27"/>
          <p:cNvSpPr/>
          <p:nvPr/>
        </p:nvSpPr>
        <p:spPr>
          <a:xfrm>
            <a:off x="4956048" y="2852928"/>
            <a:ext cx="1261872" cy="420624"/>
          </a:xfrm>
          <a:prstGeom prst="roundRect">
            <a:avLst>
              <a:gd name="adj" fmla="val 17391"/>
            </a:avLst>
          </a:prstGeom>
          <a:solidFill>
            <a:srgbClr val="1F4E9A"/>
          </a:solidFill>
          <a:ln w="12700">
            <a:solidFill>
              <a:srgbClr val="1F4E9A"/>
            </a:solidFill>
            <a:prstDash val="solid"/>
          </a:ln>
        </p:spPr>
      </p:sp>
      <p:sp>
        <p:nvSpPr>
          <p:cNvPr id="32" name="Text 28"/>
          <p:cNvSpPr txBox="1"/>
          <p:nvPr/>
        </p:nvSpPr>
        <p:spPr>
          <a:xfrm>
            <a:off x="4992624" y="2852928"/>
            <a:ext cx="1188720" cy="42062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LatentView Client</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Partners</a:t>
            </a:r>
            <a:endParaRPr lang="en-US" sz="950" dirty="0"/>
          </a:p>
        </p:txBody>
      </p:sp>
      <p:sp>
        <p:nvSpPr>
          <p:cNvPr id="33" name="Shape 29"/>
          <p:cNvSpPr/>
          <p:nvPr/>
        </p:nvSpPr>
        <p:spPr>
          <a:xfrm>
            <a:off x="4956048" y="3401568"/>
            <a:ext cx="1261872" cy="420624"/>
          </a:xfrm>
          <a:prstGeom prst="roundRect">
            <a:avLst>
              <a:gd name="adj" fmla="val 17391"/>
            </a:avLst>
          </a:prstGeom>
          <a:solidFill>
            <a:srgbClr val="1F4E9A"/>
          </a:solidFill>
          <a:ln w="12700">
            <a:solidFill>
              <a:srgbClr val="1F4E9A"/>
            </a:solidFill>
            <a:prstDash val="solid"/>
          </a:ln>
        </p:spPr>
      </p:sp>
      <p:sp>
        <p:nvSpPr>
          <p:cNvPr id="34" name="Text 30"/>
          <p:cNvSpPr txBox="1"/>
          <p:nvPr/>
        </p:nvSpPr>
        <p:spPr>
          <a:xfrm>
            <a:off x="4992624" y="3401568"/>
            <a:ext cx="1188720" cy="42062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LatentView Account</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Managers</a:t>
            </a:r>
            <a:endParaRPr lang="en-US" sz="950" dirty="0"/>
          </a:p>
        </p:txBody>
      </p:sp>
      <p:sp>
        <p:nvSpPr>
          <p:cNvPr id="35" name="Shape 31"/>
          <p:cNvSpPr/>
          <p:nvPr/>
        </p:nvSpPr>
        <p:spPr>
          <a:xfrm>
            <a:off x="6217920" y="3063240"/>
            <a:ext cx="219456" cy="0"/>
          </a:xfrm>
          <a:prstGeom prst="line">
            <a:avLst/>
          </a:prstGeom>
          <a:noFill/>
          <a:ln w="12700">
            <a:solidFill>
              <a:srgbClr val="44546A"/>
            </a:solidFill>
            <a:prstDash val="solid"/>
          </a:ln>
        </p:spPr>
      </p:sp>
      <p:sp>
        <p:nvSpPr>
          <p:cNvPr id="36" name="Shape 32"/>
          <p:cNvSpPr/>
          <p:nvPr/>
        </p:nvSpPr>
        <p:spPr>
          <a:xfrm>
            <a:off x="6217920" y="3611880"/>
            <a:ext cx="219456" cy="0"/>
          </a:xfrm>
          <a:prstGeom prst="line">
            <a:avLst/>
          </a:prstGeom>
          <a:noFill/>
          <a:ln w="12700">
            <a:solidFill>
              <a:srgbClr val="44546A"/>
            </a:solidFill>
            <a:prstDash val="solid"/>
          </a:ln>
        </p:spPr>
      </p:sp>
      <p:sp>
        <p:nvSpPr>
          <p:cNvPr id="37" name="Shape 33"/>
          <p:cNvSpPr/>
          <p:nvPr/>
        </p:nvSpPr>
        <p:spPr>
          <a:xfrm>
            <a:off x="6437376" y="3063240"/>
            <a:ext cx="0" cy="548640"/>
          </a:xfrm>
          <a:prstGeom prst="line">
            <a:avLst/>
          </a:prstGeom>
          <a:noFill/>
          <a:ln w="12700">
            <a:solidFill>
              <a:srgbClr val="44546A"/>
            </a:solidFill>
            <a:prstDash val="solid"/>
          </a:ln>
        </p:spPr>
      </p:sp>
      <p:sp>
        <p:nvSpPr>
          <p:cNvPr id="38" name="Shape 34"/>
          <p:cNvSpPr/>
          <p:nvPr/>
        </p:nvSpPr>
        <p:spPr>
          <a:xfrm>
            <a:off x="6437376" y="3337560"/>
            <a:ext cx="201168" cy="0"/>
          </a:xfrm>
          <a:prstGeom prst="line">
            <a:avLst/>
          </a:prstGeom>
          <a:noFill/>
          <a:ln w="12700">
            <a:solidFill>
              <a:srgbClr val="44546A"/>
            </a:solidFill>
            <a:prstDash val="solid"/>
            <a:tailEnd type="triangle"/>
          </a:ln>
        </p:spPr>
      </p:sp>
      <p:sp>
        <p:nvSpPr>
          <p:cNvPr id="39" name="Shape 35"/>
          <p:cNvSpPr/>
          <p:nvPr/>
        </p:nvSpPr>
        <p:spPr>
          <a:xfrm>
            <a:off x="6656832" y="3017520"/>
            <a:ext cx="1463040" cy="640080"/>
          </a:xfrm>
          <a:prstGeom prst="roundRect">
            <a:avLst>
              <a:gd name="adj" fmla="val 17143"/>
            </a:avLst>
          </a:prstGeom>
          <a:solidFill>
            <a:srgbClr val="E6E6E6"/>
          </a:solidFill>
          <a:ln w="12700">
            <a:solidFill>
              <a:srgbClr val="E6E6E6"/>
            </a:solidFill>
            <a:prstDash val="solid"/>
          </a:ln>
        </p:spPr>
      </p:sp>
      <p:sp>
        <p:nvSpPr>
          <p:cNvPr id="40" name="Text 36"/>
          <p:cNvSpPr txBox="1"/>
          <p:nvPr/>
        </p:nvSpPr>
        <p:spPr>
          <a:xfrm>
            <a:off x="6711696" y="3017520"/>
            <a:ext cx="1353312" cy="64008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Collectively own program management</a:t>
            </a:r>
            <a:endParaRPr lang="en-US" sz="950" dirty="0"/>
          </a:p>
        </p:txBody>
      </p:sp>
      <p:sp>
        <p:nvSpPr>
          <p:cNvPr id="41" name="Shape 37"/>
          <p:cNvSpPr/>
          <p:nvPr/>
        </p:nvSpPr>
        <p:spPr>
          <a:xfrm>
            <a:off x="4846320" y="3968496"/>
            <a:ext cx="0" cy="347472"/>
          </a:xfrm>
          <a:prstGeom prst="line">
            <a:avLst/>
          </a:prstGeom>
          <a:noFill/>
          <a:ln w="15875">
            <a:solidFill>
              <a:srgbClr val="000000"/>
            </a:solidFill>
            <a:prstDash val="solid"/>
            <a:headEnd type="triangle"/>
          </a:ln>
        </p:spPr>
      </p:sp>
      <p:sp>
        <p:nvSpPr>
          <p:cNvPr id="42" name="Shape 38"/>
          <p:cNvSpPr/>
          <p:nvPr/>
        </p:nvSpPr>
        <p:spPr>
          <a:xfrm>
            <a:off x="2194560" y="4334256"/>
            <a:ext cx="5943600" cy="1682496"/>
          </a:xfrm>
          <a:prstGeom prst="rect">
            <a:avLst/>
          </a:prstGeom>
          <a:ln w="12700">
            <a:solidFill>
              <a:srgbClr val="7F9CC0"/>
            </a:solidFill>
            <a:prstDash val="sysDot"/>
          </a:ln>
        </p:spPr>
      </p:sp>
      <p:sp>
        <p:nvSpPr>
          <p:cNvPr id="43" name="Shape 39"/>
          <p:cNvSpPr/>
          <p:nvPr/>
        </p:nvSpPr>
        <p:spPr>
          <a:xfrm>
            <a:off x="2313432" y="4425696"/>
            <a:ext cx="5705856" cy="1499616"/>
          </a:xfrm>
          <a:prstGeom prst="rect">
            <a:avLst/>
          </a:prstGeom>
          <a:solidFill>
            <a:srgbClr val="FFFFFF"/>
          </a:solidFill>
          <a:ln w="12700">
            <a:solidFill>
              <a:srgbClr val="C0504D"/>
            </a:solidFill>
            <a:prstDash val="solid"/>
          </a:ln>
        </p:spPr>
      </p:sp>
      <p:sp>
        <p:nvSpPr>
          <p:cNvPr id="44" name="Text 40"/>
          <p:cNvSpPr txBox="1"/>
          <p:nvPr/>
        </p:nvSpPr>
        <p:spPr>
          <a:xfrm>
            <a:off x="2313432" y="4462272"/>
            <a:ext cx="5705856" cy="237744"/>
          </a:xfrm>
          <a:prstGeom prst="rect">
            <a:avLst/>
          </a:prstGeom>
          <a:noFill/>
          <a:ln/>
        </p:spPr>
        <p:txBody>
          <a:bodyPr wrap="square" lIns="0" tIns="0" rIns="0" bIns="0" rtlCol="0" anchor="ctr"/>
          <a:lstStyle/>
          <a:p>
            <a:pPr algn="ctr" indent="0" marL="0">
              <a:buNone/>
            </a:pPr>
            <a:r>
              <a:rPr lang="en-US" sz="1050" b="1" dirty="0">
                <a:solidFill>
                  <a:srgbClr val="13285B"/>
                </a:solidFill>
                <a:latin typeface="Calibri" pitchFamily="34" charset="0"/>
                <a:ea typeface="Calibri" pitchFamily="34" charset="-122"/>
                <a:cs typeface="Calibri" pitchFamily="34" charset="-120"/>
              </a:rPr>
              <a:t>Data Engineering / Business Intelligence / Data Science Team</a:t>
            </a:r>
            <a:endParaRPr lang="en-US" sz="1050" dirty="0"/>
          </a:p>
        </p:txBody>
      </p:sp>
      <p:pic>
        <p:nvPicPr>
          <p:cNvPr id="45" name="Image 2" descr="preencoded.png">    </p:cNvPr>
          <p:cNvPicPr>
            <a:picLocks noChangeAspect="1"/>
          </p:cNvPicPr>
          <p:nvPr/>
        </p:nvPicPr>
        <p:blipFill>
          <a:blip r:embed="rId3"/>
          <a:stretch>
            <a:fillRect/>
          </a:stretch>
        </p:blipFill>
        <p:spPr>
          <a:xfrm>
            <a:off x="4206240" y="4736592"/>
            <a:ext cx="274320" cy="274320"/>
          </a:xfrm>
          <a:prstGeom prst="rect">
            <a:avLst/>
          </a:prstGeom>
        </p:spPr>
      </p:pic>
      <p:sp>
        <p:nvSpPr>
          <p:cNvPr id="46" name="Text 41"/>
          <p:cNvSpPr txBox="1"/>
          <p:nvPr/>
        </p:nvSpPr>
        <p:spPr>
          <a:xfrm>
            <a:off x="3840480" y="5020056"/>
            <a:ext cx="1005840" cy="164592"/>
          </a:xfrm>
          <a:prstGeom prst="rect">
            <a:avLst/>
          </a:prstGeom>
          <a:noFill/>
          <a:ln/>
        </p:spPr>
        <p:txBody>
          <a:bodyPr wrap="square" lIns="0" tIns="0" rIns="0" bIns="0" rtlCol="0" anchor="t"/>
          <a:lstStyle/>
          <a:p>
            <a:pPr algn="ctr" indent="0" marL="0">
              <a:buNone/>
            </a:pPr>
            <a:r>
              <a:rPr lang="en-US" sz="750" b="1" dirty="0">
                <a:solidFill>
                  <a:srgbClr val="13285B"/>
                </a:solidFill>
                <a:latin typeface="Calibri" pitchFamily="34" charset="0"/>
                <a:ea typeface="Calibri" pitchFamily="34" charset="-122"/>
                <a:cs typeface="Calibri" pitchFamily="34" charset="-120"/>
              </a:rPr>
              <a:t>Staples Team Lead</a:t>
            </a:r>
            <a:endParaRPr lang="en-US" sz="750" dirty="0"/>
          </a:p>
        </p:txBody>
      </p:sp>
      <p:sp>
        <p:nvSpPr>
          <p:cNvPr id="47" name="Shape 42"/>
          <p:cNvSpPr/>
          <p:nvPr/>
        </p:nvSpPr>
        <p:spPr>
          <a:xfrm>
            <a:off x="4572000" y="4818888"/>
            <a:ext cx="640080" cy="118872"/>
          </a:xfrm>
          <a:prstGeom prst="leftRightArrow">
            <a:avLst/>
          </a:prstGeom>
          <a:solidFill>
            <a:srgbClr val="A6A6A6"/>
          </a:solidFill>
          <a:ln w="12700">
            <a:solidFill>
              <a:srgbClr val="A6A6A6"/>
            </a:solidFill>
            <a:prstDash val="solid"/>
          </a:ln>
        </p:spPr>
      </p:sp>
      <p:pic>
        <p:nvPicPr>
          <p:cNvPr id="48" name="Image 3" descr="preencoded.png">    </p:cNvPr>
          <p:cNvPicPr>
            <a:picLocks noChangeAspect="1"/>
          </p:cNvPicPr>
          <p:nvPr/>
        </p:nvPicPr>
        <p:blipFill>
          <a:blip r:embed="rId4"/>
          <a:stretch>
            <a:fillRect/>
          </a:stretch>
        </p:blipFill>
        <p:spPr>
          <a:xfrm>
            <a:off x="5303520" y="4736592"/>
            <a:ext cx="274320" cy="274320"/>
          </a:xfrm>
          <a:prstGeom prst="rect">
            <a:avLst/>
          </a:prstGeom>
        </p:spPr>
      </p:pic>
      <p:sp>
        <p:nvSpPr>
          <p:cNvPr id="49" name="Text 43"/>
          <p:cNvSpPr txBox="1"/>
          <p:nvPr/>
        </p:nvSpPr>
        <p:spPr>
          <a:xfrm>
            <a:off x="4937760" y="5020056"/>
            <a:ext cx="1005840" cy="164592"/>
          </a:xfrm>
          <a:prstGeom prst="rect">
            <a:avLst/>
          </a:prstGeom>
          <a:noFill/>
          <a:ln/>
        </p:spPr>
        <p:txBody>
          <a:bodyPr wrap="square" lIns="0" tIns="0" rIns="0" bIns="0" rtlCol="0" anchor="t"/>
          <a:lstStyle/>
          <a:p>
            <a:pPr algn="ctr" indent="0" marL="0">
              <a:buNone/>
            </a:pPr>
            <a:r>
              <a:rPr lang="en-US" sz="750" b="1" dirty="0">
                <a:solidFill>
                  <a:srgbClr val="13285B"/>
                </a:solidFill>
                <a:latin typeface="Calibri" pitchFamily="34" charset="0"/>
                <a:ea typeface="Calibri" pitchFamily="34" charset="-122"/>
                <a:cs typeface="Calibri" pitchFamily="34" charset="-120"/>
              </a:rPr>
              <a:t>LV Program Manager</a:t>
            </a:r>
            <a:endParaRPr lang="en-US" sz="750" dirty="0"/>
          </a:p>
        </p:txBody>
      </p:sp>
      <p:sp>
        <p:nvSpPr>
          <p:cNvPr id="50" name="Shape 44"/>
          <p:cNvSpPr/>
          <p:nvPr/>
        </p:nvSpPr>
        <p:spPr>
          <a:xfrm>
            <a:off x="5367528" y="5212080"/>
            <a:ext cx="109728" cy="237744"/>
          </a:xfrm>
          <a:prstGeom prst="upDownArrow">
            <a:avLst/>
          </a:prstGeom>
          <a:solidFill>
            <a:srgbClr val="A6A6A6"/>
          </a:solidFill>
          <a:ln w="12700">
            <a:solidFill>
              <a:srgbClr val="A6A6A6"/>
            </a:solidFill>
            <a:prstDash val="solid"/>
          </a:ln>
        </p:spPr>
      </p:sp>
      <p:sp>
        <p:nvSpPr>
          <p:cNvPr id="51" name="Shape 45"/>
          <p:cNvSpPr/>
          <p:nvPr/>
        </p:nvSpPr>
        <p:spPr>
          <a:xfrm>
            <a:off x="2468880" y="5486400"/>
            <a:ext cx="5394960" cy="347472"/>
          </a:xfrm>
          <a:prstGeom prst="rect">
            <a:avLst/>
          </a:prstGeom>
          <a:solidFill>
            <a:srgbClr val="F0F0F0"/>
          </a:solidFill>
          <a:ln w="12700">
            <a:solidFill>
              <a:srgbClr val="F0F0F0"/>
            </a:solidFill>
            <a:prstDash val="solid"/>
          </a:ln>
        </p:spPr>
      </p:sp>
      <p:sp>
        <p:nvSpPr>
          <p:cNvPr id="52" name="Text 46"/>
          <p:cNvSpPr txBox="1"/>
          <p:nvPr/>
        </p:nvSpPr>
        <p:spPr>
          <a:xfrm>
            <a:off x="2560320" y="5486400"/>
            <a:ext cx="1645920" cy="347472"/>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Big Data Engineer</a:t>
            </a:r>
            <a:endParaRPr lang="en-US" sz="850" dirty="0"/>
          </a:p>
          <a:p>
            <a:pPr algn="ctr" indent="0" marL="0">
              <a:buNone/>
            </a:pPr>
            <a:r>
              <a:rPr lang="en-US" sz="850" dirty="0">
                <a:solidFill>
                  <a:srgbClr val="1F2937"/>
                </a:solidFill>
                <a:latin typeface="Calibri" pitchFamily="34" charset="0"/>
                <a:ea typeface="Calibri" pitchFamily="34" charset="-122"/>
                <a:cs typeface="Calibri" pitchFamily="34" charset="-120"/>
              </a:rPr>
              <a:t>Data Architect</a:t>
            </a:r>
            <a:endParaRPr lang="en-US" sz="850" dirty="0"/>
          </a:p>
        </p:txBody>
      </p:sp>
      <p:sp>
        <p:nvSpPr>
          <p:cNvPr id="53" name="Text 47"/>
          <p:cNvSpPr txBox="1"/>
          <p:nvPr/>
        </p:nvSpPr>
        <p:spPr>
          <a:xfrm>
            <a:off x="4343400" y="5486400"/>
            <a:ext cx="1645920" cy="347472"/>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BI Developer</a:t>
            </a:r>
            <a:endParaRPr lang="en-US" sz="850" dirty="0"/>
          </a:p>
          <a:p>
            <a:pPr algn="ctr" indent="0" marL="0">
              <a:buNone/>
            </a:pPr>
            <a:r>
              <a:rPr lang="en-US" sz="850" dirty="0">
                <a:solidFill>
                  <a:srgbClr val="1F2937"/>
                </a:solidFill>
                <a:latin typeface="Calibri" pitchFamily="34" charset="0"/>
                <a:ea typeface="Calibri" pitchFamily="34" charset="-122"/>
                <a:cs typeface="Calibri" pitchFamily="34" charset="-120"/>
              </a:rPr>
              <a:t>BI Analyst</a:t>
            </a:r>
            <a:endParaRPr lang="en-US" sz="850" dirty="0"/>
          </a:p>
        </p:txBody>
      </p:sp>
      <p:sp>
        <p:nvSpPr>
          <p:cNvPr id="54" name="Text 48"/>
          <p:cNvSpPr txBox="1"/>
          <p:nvPr/>
        </p:nvSpPr>
        <p:spPr>
          <a:xfrm>
            <a:off x="6126480" y="5486400"/>
            <a:ext cx="1645920" cy="347472"/>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Data Scientist</a:t>
            </a:r>
            <a:endParaRPr lang="en-US" sz="850" dirty="0"/>
          </a:p>
          <a:p>
            <a:pPr algn="ctr" indent="0" marL="0">
              <a:buNone/>
            </a:pPr>
            <a:r>
              <a:rPr lang="en-US" sz="850" dirty="0">
                <a:solidFill>
                  <a:srgbClr val="1F2937"/>
                </a:solidFill>
                <a:latin typeface="Calibri" pitchFamily="34" charset="0"/>
                <a:ea typeface="Calibri" pitchFamily="34" charset="-122"/>
                <a:cs typeface="Calibri" pitchFamily="34" charset="-120"/>
              </a:rPr>
              <a:t>Data Analyst</a:t>
            </a:r>
            <a:endParaRPr lang="en-US" sz="850" dirty="0"/>
          </a:p>
        </p:txBody>
      </p:sp>
      <p:pic>
        <p:nvPicPr>
          <p:cNvPr id="55" name="Image 4" descr="preencoded.png">    </p:cNvPr>
          <p:cNvPicPr>
            <a:picLocks noChangeAspect="1"/>
          </p:cNvPicPr>
          <p:nvPr/>
        </p:nvPicPr>
        <p:blipFill>
          <a:blip r:embed="rId5"/>
          <a:stretch>
            <a:fillRect/>
          </a:stretch>
        </p:blipFill>
        <p:spPr>
          <a:xfrm>
            <a:off x="274320" y="6217920"/>
            <a:ext cx="182880" cy="182880"/>
          </a:xfrm>
          <a:prstGeom prst="rect">
            <a:avLst/>
          </a:prstGeom>
        </p:spPr>
      </p:pic>
      <p:sp>
        <p:nvSpPr>
          <p:cNvPr id="56" name="Text 49"/>
          <p:cNvSpPr txBox="1"/>
          <p:nvPr/>
        </p:nvSpPr>
        <p:spPr>
          <a:xfrm>
            <a:off x="493776" y="6217920"/>
            <a:ext cx="731520" cy="18288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Staples</a:t>
            </a:r>
            <a:endParaRPr lang="en-US" sz="950" dirty="0"/>
          </a:p>
        </p:txBody>
      </p:sp>
      <p:pic>
        <p:nvPicPr>
          <p:cNvPr id="57" name="Image 5" descr="preencoded.png">    </p:cNvPr>
          <p:cNvPicPr>
            <a:picLocks noChangeAspect="1"/>
          </p:cNvPicPr>
          <p:nvPr/>
        </p:nvPicPr>
        <p:blipFill>
          <a:blip r:embed="rId6"/>
          <a:stretch>
            <a:fillRect/>
          </a:stretch>
        </p:blipFill>
        <p:spPr>
          <a:xfrm>
            <a:off x="1234440" y="6217920"/>
            <a:ext cx="182880" cy="182880"/>
          </a:xfrm>
          <a:prstGeom prst="rect">
            <a:avLst/>
          </a:prstGeom>
        </p:spPr>
      </p:pic>
      <p:sp>
        <p:nvSpPr>
          <p:cNvPr id="58" name="Text 50"/>
          <p:cNvSpPr txBox="1"/>
          <p:nvPr/>
        </p:nvSpPr>
        <p:spPr>
          <a:xfrm>
            <a:off x="1453896" y="6217920"/>
            <a:ext cx="914400" cy="18288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LatentView</a:t>
            </a:r>
            <a:endParaRPr lang="en-US" sz="950" dirty="0"/>
          </a:p>
        </p:txBody>
      </p:sp>
      <p:sp>
        <p:nvSpPr>
          <p:cNvPr id="59" name="Shape 51"/>
          <p:cNvSpPr/>
          <p:nvPr/>
        </p:nvSpPr>
        <p:spPr>
          <a:xfrm>
            <a:off x="8741664" y="1508760"/>
            <a:ext cx="0" cy="4526280"/>
          </a:xfrm>
          <a:prstGeom prst="line">
            <a:avLst/>
          </a:prstGeom>
          <a:noFill/>
          <a:ln w="9525">
            <a:solidFill>
              <a:srgbClr val="7F9CC0"/>
            </a:solidFill>
            <a:prstDash val="dash"/>
          </a:ln>
        </p:spPr>
      </p:sp>
      <p:sp>
        <p:nvSpPr>
          <p:cNvPr id="60" name="Shape 52"/>
          <p:cNvSpPr/>
          <p:nvPr/>
        </p:nvSpPr>
        <p:spPr>
          <a:xfrm>
            <a:off x="8851392" y="1508760"/>
            <a:ext cx="2926080" cy="4023360"/>
          </a:xfrm>
          <a:prstGeom prst="rect">
            <a:avLst/>
          </a:prstGeom>
          <a:solidFill>
            <a:srgbClr val="F3F3F3"/>
          </a:solidFill>
          <a:ln w="12700">
            <a:solidFill>
              <a:srgbClr val="F3F3F3"/>
            </a:solidFill>
            <a:prstDash val="solid"/>
          </a:ln>
        </p:spPr>
      </p:sp>
      <p:pic>
        <p:nvPicPr>
          <p:cNvPr id="61" name="Image 6" descr="preencoded.png">    </p:cNvPr>
          <p:cNvPicPr>
            <a:picLocks noChangeAspect="1"/>
          </p:cNvPicPr>
          <p:nvPr/>
        </p:nvPicPr>
        <p:blipFill>
          <a:blip r:embed="rId7"/>
          <a:stretch>
            <a:fillRect/>
          </a:stretch>
        </p:blipFill>
        <p:spPr>
          <a:xfrm>
            <a:off x="8906256" y="1572768"/>
            <a:ext cx="182880" cy="182880"/>
          </a:xfrm>
          <a:prstGeom prst="rect">
            <a:avLst/>
          </a:prstGeom>
        </p:spPr>
      </p:pic>
      <p:sp>
        <p:nvSpPr>
          <p:cNvPr id="62" name="Shape 53"/>
          <p:cNvSpPr/>
          <p:nvPr/>
        </p:nvSpPr>
        <p:spPr>
          <a:xfrm>
            <a:off x="9125712" y="1627632"/>
            <a:ext cx="2514600" cy="329184"/>
          </a:xfrm>
          <a:prstGeom prst="rect">
            <a:avLst/>
          </a:prstGeom>
          <a:ln w="12700">
            <a:solidFill>
              <a:srgbClr val="7F9CC0"/>
            </a:solidFill>
            <a:prstDash val="sysDot"/>
          </a:ln>
        </p:spPr>
      </p:sp>
      <p:sp>
        <p:nvSpPr>
          <p:cNvPr id="63" name="Text 54"/>
          <p:cNvSpPr txBox="1"/>
          <p:nvPr/>
        </p:nvSpPr>
        <p:spPr>
          <a:xfrm>
            <a:off x="9125712" y="1627632"/>
            <a:ext cx="2514600" cy="329184"/>
          </a:xfrm>
          <a:prstGeom prst="rect">
            <a:avLst/>
          </a:prstGeom>
          <a:noFill/>
          <a:ln/>
        </p:spPr>
        <p:txBody>
          <a:bodyPr wrap="square" lIns="0" tIns="0" rIns="0" bIns="0" rtlCol="0" anchor="ctr"/>
          <a:lstStyle/>
          <a:p>
            <a:pPr algn="ctr" indent="0" marL="0">
              <a:buNone/>
            </a:pPr>
            <a:r>
              <a:rPr lang="en-US" sz="1000" b="1" dirty="0">
                <a:solidFill>
                  <a:srgbClr val="1F4E9A"/>
                </a:solidFill>
                <a:latin typeface="Calibri" pitchFamily="34" charset="0"/>
                <a:ea typeface="Calibri" pitchFamily="34" charset="-122"/>
                <a:cs typeface="Calibri" pitchFamily="34" charset="-120"/>
              </a:rPr>
              <a:t>Access To Scalable analytics team</a:t>
            </a:r>
            <a:endParaRPr lang="en-US" sz="1000" dirty="0"/>
          </a:p>
        </p:txBody>
      </p:sp>
      <p:sp>
        <p:nvSpPr>
          <p:cNvPr id="64" name="Shape 55"/>
          <p:cNvSpPr/>
          <p:nvPr/>
        </p:nvSpPr>
        <p:spPr>
          <a:xfrm>
            <a:off x="9034272" y="2084832"/>
            <a:ext cx="2560320" cy="2139696"/>
          </a:xfrm>
          <a:prstGeom prst="rect">
            <a:avLst/>
          </a:prstGeom>
          <a:ln w="12700">
            <a:solidFill>
              <a:srgbClr val="7F9CC0"/>
            </a:solidFill>
            <a:prstDash val="sysDot"/>
          </a:ln>
        </p:spPr>
      </p:sp>
      <p:sp>
        <p:nvSpPr>
          <p:cNvPr id="65" name="Text 56"/>
          <p:cNvSpPr txBox="1"/>
          <p:nvPr/>
        </p:nvSpPr>
        <p:spPr>
          <a:xfrm>
            <a:off x="9034272" y="2121408"/>
            <a:ext cx="2560320" cy="256032"/>
          </a:xfrm>
          <a:prstGeom prst="rect">
            <a:avLst/>
          </a:prstGeom>
          <a:noFill/>
          <a:ln/>
        </p:spPr>
        <p:txBody>
          <a:bodyPr wrap="square" lIns="0" tIns="0" rIns="0" bIns="0" rtlCol="0" anchor="ctr"/>
          <a:lstStyle/>
          <a:p>
            <a:pPr algn="ctr" indent="0" marL="0">
              <a:buNone/>
            </a:pPr>
            <a:r>
              <a:rPr lang="en-US" sz="1150" b="1" dirty="0">
                <a:solidFill>
                  <a:srgbClr val="000000"/>
                </a:solidFill>
                <a:latin typeface="Calibri" pitchFamily="34" charset="0"/>
                <a:ea typeface="Calibri" pitchFamily="34" charset="-122"/>
                <a:cs typeface="Calibri" pitchFamily="34" charset="-120"/>
              </a:rPr>
              <a:t>Org Expertise</a:t>
            </a:r>
            <a:endParaRPr lang="en-US" sz="1150" dirty="0"/>
          </a:p>
        </p:txBody>
      </p:sp>
      <p:sp>
        <p:nvSpPr>
          <p:cNvPr id="66" name="Shape 57"/>
          <p:cNvSpPr/>
          <p:nvPr/>
        </p:nvSpPr>
        <p:spPr>
          <a:xfrm>
            <a:off x="9189720" y="2414016"/>
            <a:ext cx="2249424" cy="0"/>
          </a:xfrm>
          <a:prstGeom prst="line">
            <a:avLst/>
          </a:prstGeom>
          <a:noFill/>
          <a:ln w="9525">
            <a:solidFill>
              <a:srgbClr val="1F4E9A"/>
            </a:solidFill>
            <a:prstDash val="dash"/>
          </a:ln>
        </p:spPr>
      </p:sp>
      <p:sp>
        <p:nvSpPr>
          <p:cNvPr id="67" name="Shape 58"/>
          <p:cNvSpPr/>
          <p:nvPr/>
        </p:nvSpPr>
        <p:spPr>
          <a:xfrm>
            <a:off x="9125712" y="2505456"/>
            <a:ext cx="1170432" cy="457200"/>
          </a:xfrm>
          <a:prstGeom prst="roundRect">
            <a:avLst>
              <a:gd name="adj" fmla="val 16000"/>
            </a:avLst>
          </a:prstGeom>
          <a:solidFill>
            <a:srgbClr val="1F4E9A"/>
          </a:solidFill>
          <a:ln w="12700">
            <a:solidFill>
              <a:srgbClr val="1F4E9A"/>
            </a:solidFill>
            <a:prstDash val="solid"/>
          </a:ln>
        </p:spPr>
      </p:sp>
      <p:sp>
        <p:nvSpPr>
          <p:cNvPr id="68" name="Text 59"/>
          <p:cNvSpPr txBox="1"/>
          <p:nvPr/>
        </p:nvSpPr>
        <p:spPr>
          <a:xfrm>
            <a:off x="9162288" y="2505456"/>
            <a:ext cx="1097280" cy="45720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LatentView</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DE Horizontal</a:t>
            </a:r>
            <a:endParaRPr lang="en-US" sz="850" dirty="0"/>
          </a:p>
        </p:txBody>
      </p:sp>
      <p:sp>
        <p:nvSpPr>
          <p:cNvPr id="69" name="Shape 60"/>
          <p:cNvSpPr/>
          <p:nvPr/>
        </p:nvSpPr>
        <p:spPr>
          <a:xfrm>
            <a:off x="10332720" y="2505456"/>
            <a:ext cx="1170432" cy="457200"/>
          </a:xfrm>
          <a:prstGeom prst="roundRect">
            <a:avLst>
              <a:gd name="adj" fmla="val 16000"/>
            </a:avLst>
          </a:prstGeom>
          <a:solidFill>
            <a:srgbClr val="1F4E9A"/>
          </a:solidFill>
          <a:ln w="12700">
            <a:solidFill>
              <a:srgbClr val="1F4E9A"/>
            </a:solidFill>
            <a:prstDash val="solid"/>
          </a:ln>
        </p:spPr>
      </p:sp>
      <p:sp>
        <p:nvSpPr>
          <p:cNvPr id="70" name="Text 61"/>
          <p:cNvSpPr txBox="1"/>
          <p:nvPr/>
        </p:nvSpPr>
        <p:spPr>
          <a:xfrm>
            <a:off x="10369296" y="2505456"/>
            <a:ext cx="1097280" cy="45720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LatentView Data</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Science &amp; AI Horizontal</a:t>
            </a:r>
            <a:endParaRPr lang="en-US" sz="850" dirty="0"/>
          </a:p>
        </p:txBody>
      </p:sp>
      <p:sp>
        <p:nvSpPr>
          <p:cNvPr id="71" name="Shape 62"/>
          <p:cNvSpPr/>
          <p:nvPr/>
        </p:nvSpPr>
        <p:spPr>
          <a:xfrm>
            <a:off x="9125712" y="3035808"/>
            <a:ext cx="1170432" cy="457200"/>
          </a:xfrm>
          <a:prstGeom prst="roundRect">
            <a:avLst>
              <a:gd name="adj" fmla="val 16000"/>
            </a:avLst>
          </a:prstGeom>
          <a:solidFill>
            <a:srgbClr val="1F4E9A"/>
          </a:solidFill>
          <a:ln w="12700">
            <a:solidFill>
              <a:srgbClr val="1F4E9A"/>
            </a:solidFill>
            <a:prstDash val="solid"/>
          </a:ln>
        </p:spPr>
      </p:sp>
      <p:sp>
        <p:nvSpPr>
          <p:cNvPr id="72" name="Text 63"/>
          <p:cNvSpPr txBox="1"/>
          <p:nvPr/>
        </p:nvSpPr>
        <p:spPr>
          <a:xfrm>
            <a:off x="9162288" y="3035808"/>
            <a:ext cx="1097280" cy="45720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LatentView BI</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Center of Excellence</a:t>
            </a:r>
            <a:endParaRPr lang="en-US" sz="850" dirty="0"/>
          </a:p>
        </p:txBody>
      </p:sp>
      <p:sp>
        <p:nvSpPr>
          <p:cNvPr id="73" name="Shape 64"/>
          <p:cNvSpPr/>
          <p:nvPr/>
        </p:nvSpPr>
        <p:spPr>
          <a:xfrm>
            <a:off x="10332720" y="3035808"/>
            <a:ext cx="1170432" cy="457200"/>
          </a:xfrm>
          <a:prstGeom prst="roundRect">
            <a:avLst>
              <a:gd name="adj" fmla="val 16000"/>
            </a:avLst>
          </a:prstGeom>
          <a:solidFill>
            <a:srgbClr val="1F4E9A"/>
          </a:solidFill>
          <a:ln w="12700">
            <a:solidFill>
              <a:srgbClr val="1F4E9A"/>
            </a:solidFill>
            <a:prstDash val="solid"/>
          </a:ln>
        </p:spPr>
      </p:sp>
      <p:sp>
        <p:nvSpPr>
          <p:cNvPr id="74" name="Text 65"/>
          <p:cNvSpPr txBox="1"/>
          <p:nvPr/>
        </p:nvSpPr>
        <p:spPr>
          <a:xfrm>
            <a:off x="10369296" y="3035808"/>
            <a:ext cx="1097280" cy="45720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LatentView Supply</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Chain CoE</a:t>
            </a:r>
            <a:endParaRPr lang="en-US" sz="850" dirty="0"/>
          </a:p>
        </p:txBody>
      </p:sp>
      <p:sp>
        <p:nvSpPr>
          <p:cNvPr id="75" name="Shape 66"/>
          <p:cNvSpPr/>
          <p:nvPr/>
        </p:nvSpPr>
        <p:spPr>
          <a:xfrm>
            <a:off x="9729216" y="3566160"/>
            <a:ext cx="1170432" cy="457200"/>
          </a:xfrm>
          <a:prstGeom prst="roundRect">
            <a:avLst>
              <a:gd name="adj" fmla="val 16000"/>
            </a:avLst>
          </a:prstGeom>
          <a:solidFill>
            <a:srgbClr val="1F4E9A"/>
          </a:solidFill>
          <a:ln w="12700">
            <a:solidFill>
              <a:srgbClr val="1F4E9A"/>
            </a:solidFill>
            <a:prstDash val="solid"/>
          </a:ln>
        </p:spPr>
      </p:sp>
      <p:sp>
        <p:nvSpPr>
          <p:cNvPr id="76" name="Text 67"/>
          <p:cNvSpPr txBox="1"/>
          <p:nvPr/>
        </p:nvSpPr>
        <p:spPr>
          <a:xfrm>
            <a:off x="9765792" y="3566160"/>
            <a:ext cx="1097280" cy="45720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Service Delivery</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Excellence</a:t>
            </a:r>
            <a:endParaRPr lang="en-US" sz="850" dirty="0"/>
          </a:p>
        </p:txBody>
      </p:sp>
      <p:sp>
        <p:nvSpPr>
          <p:cNvPr id="77" name="Shape 68"/>
          <p:cNvSpPr/>
          <p:nvPr/>
        </p:nvSpPr>
        <p:spPr>
          <a:xfrm>
            <a:off x="8988552" y="4389120"/>
            <a:ext cx="2651760" cy="896112"/>
          </a:xfrm>
          <a:prstGeom prst="roundRect">
            <a:avLst>
              <a:gd name="adj" fmla="val 10204"/>
            </a:avLst>
          </a:prstGeom>
          <a:solidFill>
            <a:srgbClr val="7A1F4B"/>
          </a:solidFill>
          <a:ln w="9525">
            <a:solidFill>
              <a:srgbClr val="3A0F24"/>
            </a:solidFill>
            <a:prstDash val="sysDot"/>
          </a:ln>
        </p:spPr>
      </p:sp>
      <p:sp>
        <p:nvSpPr>
          <p:cNvPr id="78" name="Text 69"/>
          <p:cNvSpPr txBox="1"/>
          <p:nvPr/>
        </p:nvSpPr>
        <p:spPr>
          <a:xfrm>
            <a:off x="9052560" y="4389120"/>
            <a:ext cx="2523744" cy="896112"/>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Buffer Pool of Trained Data Engineers, Data Scientists, Business Analysts &amp; BI developers for Contingency Management</a:t>
            </a:r>
            <a:endParaRPr lang="en-US" sz="950" dirty="0"/>
          </a:p>
        </p:txBody>
      </p:sp>
      <p:pic>
        <p:nvPicPr>
          <p:cNvPr id="79" name="Image 7" descr="preencoded.png">    </p:cNvPr>
          <p:cNvPicPr>
            <a:picLocks noChangeAspect="1"/>
          </p:cNvPicPr>
          <p:nvPr/>
        </p:nvPicPr>
        <p:blipFill>
          <a:blip r:embed="rId8"/>
          <a:stretch>
            <a:fillRect/>
          </a:stretch>
        </p:blipFill>
        <p:spPr>
          <a:xfrm>
            <a:off x="11430000" y="5120640"/>
            <a:ext cx="182880" cy="182880"/>
          </a:xfrm>
          <a:prstGeom prst="rect">
            <a:avLst/>
          </a:prstGeom>
        </p:spPr>
      </p:pic>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Solution Architecture: From Listings to Safe Recommendations</a:t>
            </a:r>
            <a:endParaRPr lang="en-US" sz="2800" dirty="0"/>
          </a:p>
        </p:txBody>
      </p:sp>
      <p:sp>
        <p:nvSpPr>
          <p:cNvPr id="3" name="Shape 1"/>
          <p:cNvSpPr/>
          <p:nvPr/>
        </p:nvSpPr>
        <p:spPr>
          <a:xfrm>
            <a:off x="411480" y="1170432"/>
            <a:ext cx="2066544" cy="548640"/>
          </a:xfrm>
          <a:prstGeom prst="homePlate">
            <a:avLst/>
          </a:prstGeom>
          <a:solidFill>
            <a:srgbClr val="DCE7F8"/>
          </a:solidFill>
          <a:ln w="12700">
            <a:solidFill>
              <a:srgbClr val="FFFFFF"/>
            </a:solidFill>
            <a:prstDash val="solid"/>
          </a:ln>
        </p:spPr>
      </p:sp>
      <p:sp>
        <p:nvSpPr>
          <p:cNvPr id="4" name="Text 2"/>
          <p:cNvSpPr txBox="1"/>
          <p:nvPr/>
        </p:nvSpPr>
        <p:spPr>
          <a:xfrm>
            <a:off x="502920" y="1170432"/>
            <a:ext cx="170078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Data Acquisition</a:t>
            </a:r>
            <a:endParaRPr lang="en-US" sz="1250" dirty="0"/>
          </a:p>
        </p:txBody>
      </p:sp>
      <p:sp>
        <p:nvSpPr>
          <p:cNvPr id="5" name="Shape 3"/>
          <p:cNvSpPr/>
          <p:nvPr/>
        </p:nvSpPr>
        <p:spPr>
          <a:xfrm>
            <a:off x="411480" y="1874520"/>
            <a:ext cx="1737360" cy="4251960"/>
          </a:xfrm>
          <a:prstGeom prst="roundRect">
            <a:avLst>
              <a:gd name="adj" fmla="val 4211"/>
            </a:avLst>
          </a:prstGeom>
          <a:solidFill>
            <a:srgbClr val="FFFFFF"/>
          </a:solidFill>
          <a:ln w="6350">
            <a:solidFill>
              <a:srgbClr val="D3DDEE"/>
            </a:solidFill>
            <a:prstDash val="solid"/>
          </a:ln>
        </p:spPr>
      </p:sp>
      <p:pic>
        <p:nvPicPr>
          <p:cNvPr id="6" name="Image 0" descr="preencoded.png">    </p:cNvPr>
          <p:cNvPicPr>
            <a:picLocks noChangeAspect="1"/>
          </p:cNvPicPr>
          <p:nvPr/>
        </p:nvPicPr>
        <p:blipFill>
          <a:blip r:embed="rId1"/>
          <a:stretch>
            <a:fillRect/>
          </a:stretch>
        </p:blipFill>
        <p:spPr>
          <a:xfrm>
            <a:off x="1051560" y="2148840"/>
            <a:ext cx="457200" cy="457200"/>
          </a:xfrm>
          <a:prstGeom prst="rect">
            <a:avLst/>
          </a:prstGeom>
        </p:spPr>
      </p:pic>
      <p:sp>
        <p:nvSpPr>
          <p:cNvPr id="7" name="Text 4"/>
          <p:cNvSpPr txBox="1"/>
          <p:nvPr/>
        </p:nvSpPr>
        <p:spPr>
          <a:xfrm>
            <a:off x="484632"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Staples.com</a:t>
            </a:r>
            <a:endParaRPr lang="en-US" sz="1150" dirty="0"/>
          </a:p>
        </p:txBody>
      </p:sp>
      <p:sp>
        <p:nvSpPr>
          <p:cNvPr id="8" name="Text 5"/>
          <p:cNvSpPr txBox="1"/>
          <p:nvPr/>
        </p:nvSpPr>
        <p:spPr>
          <a:xfrm>
            <a:off x="484632"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4.9K SKUs · 12 nodes</a:t>
            </a:r>
            <a:endParaRPr lang="en-US" sz="950" dirty="0"/>
          </a:p>
        </p:txBody>
      </p:sp>
      <p:pic>
        <p:nvPicPr>
          <p:cNvPr id="9" name="Image 1" descr="preencoded.png">    </p:cNvPr>
          <p:cNvPicPr>
            <a:picLocks noChangeAspect="1"/>
          </p:cNvPicPr>
          <p:nvPr/>
        </p:nvPicPr>
        <p:blipFill>
          <a:blip r:embed="rId2"/>
          <a:stretch>
            <a:fillRect/>
          </a:stretch>
        </p:blipFill>
        <p:spPr>
          <a:xfrm>
            <a:off x="1051560" y="3502152"/>
            <a:ext cx="457200" cy="457200"/>
          </a:xfrm>
          <a:prstGeom prst="rect">
            <a:avLst/>
          </a:prstGeom>
        </p:spPr>
      </p:pic>
      <p:sp>
        <p:nvSpPr>
          <p:cNvPr id="10" name="Text 6"/>
          <p:cNvSpPr txBox="1"/>
          <p:nvPr/>
        </p:nvSpPr>
        <p:spPr>
          <a:xfrm>
            <a:off x="484632"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Amazon</a:t>
            </a:r>
            <a:endParaRPr lang="en-US" sz="1150" dirty="0"/>
          </a:p>
        </p:txBody>
      </p:sp>
      <p:sp>
        <p:nvSpPr>
          <p:cNvPr id="11" name="Text 7"/>
          <p:cNvSpPr txBox="1"/>
          <p:nvPr/>
        </p:nvSpPr>
        <p:spPr>
          <a:xfrm>
            <a:off x="484632"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14.6K SKUs · 7 nodes</a:t>
            </a:r>
            <a:endParaRPr lang="en-US" sz="950" dirty="0"/>
          </a:p>
        </p:txBody>
      </p:sp>
      <p:pic>
        <p:nvPicPr>
          <p:cNvPr id="12" name="Image 2" descr="preencoded.png">    </p:cNvPr>
          <p:cNvPicPr>
            <a:picLocks noChangeAspect="1"/>
          </p:cNvPicPr>
          <p:nvPr/>
        </p:nvPicPr>
        <p:blipFill>
          <a:blip r:embed="rId3"/>
          <a:stretch>
            <a:fillRect/>
          </a:stretch>
        </p:blipFill>
        <p:spPr>
          <a:xfrm>
            <a:off x="1051560" y="4855464"/>
            <a:ext cx="457200" cy="457200"/>
          </a:xfrm>
          <a:prstGeom prst="rect">
            <a:avLst/>
          </a:prstGeom>
        </p:spPr>
      </p:pic>
      <p:sp>
        <p:nvSpPr>
          <p:cNvPr id="13" name="Text 8"/>
          <p:cNvSpPr txBox="1"/>
          <p:nvPr/>
        </p:nvSpPr>
        <p:spPr>
          <a:xfrm>
            <a:off x="484632"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Wayfair</a:t>
            </a:r>
            <a:endParaRPr lang="en-US" sz="1150" dirty="0"/>
          </a:p>
        </p:txBody>
      </p:sp>
      <p:sp>
        <p:nvSpPr>
          <p:cNvPr id="14" name="Text 9"/>
          <p:cNvSpPr txBox="1"/>
          <p:nvPr/>
        </p:nvSpPr>
        <p:spPr>
          <a:xfrm>
            <a:off x="484632"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11.2K SKUs · 5 nodes</a:t>
            </a:r>
            <a:endParaRPr lang="en-US" sz="950" dirty="0"/>
          </a:p>
        </p:txBody>
      </p:sp>
      <p:sp>
        <p:nvSpPr>
          <p:cNvPr id="15" name="Shape 10"/>
          <p:cNvSpPr/>
          <p:nvPr/>
        </p:nvSpPr>
        <p:spPr>
          <a:xfrm>
            <a:off x="2221992" y="3863340"/>
            <a:ext cx="201168" cy="274320"/>
          </a:xfrm>
          <a:prstGeom prst="rightArrow">
            <a:avLst/>
          </a:prstGeom>
          <a:solidFill>
            <a:srgbClr val="A9C3EE"/>
          </a:solidFill>
          <a:ln w="12700">
            <a:solidFill>
              <a:srgbClr val="A9C3EE"/>
            </a:solidFill>
            <a:prstDash val="solid"/>
          </a:ln>
        </p:spPr>
      </p:sp>
      <p:sp>
        <p:nvSpPr>
          <p:cNvPr id="16" name="Shape 11"/>
          <p:cNvSpPr/>
          <p:nvPr/>
        </p:nvSpPr>
        <p:spPr>
          <a:xfrm>
            <a:off x="2404872" y="1170432"/>
            <a:ext cx="2295144" cy="548640"/>
          </a:xfrm>
          <a:prstGeom prst="chevron">
            <a:avLst/>
          </a:prstGeom>
          <a:solidFill>
            <a:srgbClr val="CFDDF5"/>
          </a:solidFill>
          <a:ln w="12700">
            <a:solidFill>
              <a:srgbClr val="FFFFFF"/>
            </a:solidFill>
            <a:prstDash val="solid"/>
          </a:ln>
        </p:spPr>
      </p:sp>
      <p:sp>
        <p:nvSpPr>
          <p:cNvPr id="17" name="Text 12"/>
          <p:cNvSpPr txBox="1"/>
          <p:nvPr/>
        </p:nvSpPr>
        <p:spPr>
          <a:xfrm>
            <a:off x="2724912" y="1170432"/>
            <a:ext cx="17922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Prep &amp; Mapping</a:t>
            </a:r>
            <a:endParaRPr lang="en-US" sz="1250" dirty="0"/>
          </a:p>
        </p:txBody>
      </p:sp>
      <p:sp>
        <p:nvSpPr>
          <p:cNvPr id="18" name="Shape 13"/>
          <p:cNvSpPr/>
          <p:nvPr/>
        </p:nvSpPr>
        <p:spPr>
          <a:xfrm>
            <a:off x="2496312" y="1874520"/>
            <a:ext cx="1874520" cy="4251960"/>
          </a:xfrm>
          <a:prstGeom prst="roundRect">
            <a:avLst>
              <a:gd name="adj" fmla="val 3902"/>
            </a:avLst>
          </a:prstGeom>
          <a:solidFill>
            <a:srgbClr val="FFFFFF"/>
          </a:solidFill>
          <a:ln w="6350">
            <a:solidFill>
              <a:srgbClr val="D3DDEE"/>
            </a:solidFill>
            <a:prstDash val="solid"/>
          </a:ln>
        </p:spPr>
      </p:sp>
      <p:pic>
        <p:nvPicPr>
          <p:cNvPr id="19" name="Image 3" descr="preencoded.png">    </p:cNvPr>
          <p:cNvPicPr>
            <a:picLocks noChangeAspect="1"/>
          </p:cNvPicPr>
          <p:nvPr/>
        </p:nvPicPr>
        <p:blipFill>
          <a:blip r:embed="rId4"/>
          <a:stretch>
            <a:fillRect/>
          </a:stretch>
        </p:blipFill>
        <p:spPr>
          <a:xfrm>
            <a:off x="3204972" y="2148840"/>
            <a:ext cx="457200" cy="457200"/>
          </a:xfrm>
          <a:prstGeom prst="rect">
            <a:avLst/>
          </a:prstGeom>
        </p:spPr>
      </p:pic>
      <p:sp>
        <p:nvSpPr>
          <p:cNvPr id="20" name="Text 14"/>
          <p:cNvSpPr txBox="1"/>
          <p:nvPr/>
        </p:nvSpPr>
        <p:spPr>
          <a:xfrm>
            <a:off x="2569464" y="2660904"/>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Clean &amp; de-identify</a:t>
            </a:r>
            <a:endParaRPr lang="en-US" sz="1150" dirty="0"/>
          </a:p>
        </p:txBody>
      </p:sp>
      <p:sp>
        <p:nvSpPr>
          <p:cNvPr id="21" name="Text 15"/>
          <p:cNvSpPr txBox="1"/>
          <p:nvPr/>
        </p:nvSpPr>
        <p:spPr>
          <a:xfrm>
            <a:off x="2569464" y="2880360"/>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prices, text fixes, PII removed</a:t>
            </a:r>
            <a:endParaRPr lang="en-US" sz="950" dirty="0"/>
          </a:p>
        </p:txBody>
      </p:sp>
      <p:pic>
        <p:nvPicPr>
          <p:cNvPr id="22" name="Image 4" descr="preencoded.png">    </p:cNvPr>
          <p:cNvPicPr>
            <a:picLocks noChangeAspect="1"/>
          </p:cNvPicPr>
          <p:nvPr/>
        </p:nvPicPr>
        <p:blipFill>
          <a:blip r:embed="rId5"/>
          <a:stretch>
            <a:fillRect/>
          </a:stretch>
        </p:blipFill>
        <p:spPr>
          <a:xfrm>
            <a:off x="3204972" y="3502152"/>
            <a:ext cx="457200" cy="457200"/>
          </a:xfrm>
          <a:prstGeom prst="rect">
            <a:avLst/>
          </a:prstGeom>
        </p:spPr>
      </p:pic>
      <p:sp>
        <p:nvSpPr>
          <p:cNvPr id="23" name="Text 16"/>
          <p:cNvSpPr txBox="1"/>
          <p:nvPr/>
        </p:nvSpPr>
        <p:spPr>
          <a:xfrm>
            <a:off x="2569464" y="4014216"/>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 families</a:t>
            </a:r>
            <a:endParaRPr lang="en-US" sz="1150" dirty="0"/>
          </a:p>
        </p:txBody>
      </p:sp>
      <p:sp>
        <p:nvSpPr>
          <p:cNvPr id="24" name="Text 17"/>
          <p:cNvSpPr txBox="1"/>
          <p:nvPr/>
        </p:nvSpPr>
        <p:spPr>
          <a:xfrm>
            <a:off x="2569464" y="4233672"/>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colour / size variants merged</a:t>
            </a:r>
            <a:endParaRPr lang="en-US" sz="950" dirty="0"/>
          </a:p>
        </p:txBody>
      </p:sp>
      <p:pic>
        <p:nvPicPr>
          <p:cNvPr id="25" name="Image 5" descr="preencoded.png">    </p:cNvPr>
          <p:cNvPicPr>
            <a:picLocks noChangeAspect="1"/>
          </p:cNvPicPr>
          <p:nvPr/>
        </p:nvPicPr>
        <p:blipFill>
          <a:blip r:embed="rId6"/>
          <a:stretch>
            <a:fillRect/>
          </a:stretch>
        </p:blipFill>
        <p:spPr>
          <a:xfrm>
            <a:off x="3204972" y="4855464"/>
            <a:ext cx="457200" cy="457200"/>
          </a:xfrm>
          <a:prstGeom prst="rect">
            <a:avLst/>
          </a:prstGeom>
        </p:spPr>
      </p:pic>
      <p:sp>
        <p:nvSpPr>
          <p:cNvPr id="26" name="Text 18"/>
          <p:cNvSpPr txBox="1"/>
          <p:nvPr/>
        </p:nvSpPr>
        <p:spPr>
          <a:xfrm>
            <a:off x="2569464" y="5367528"/>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Node mapping</a:t>
            </a:r>
            <a:endParaRPr lang="en-US" sz="1150" dirty="0"/>
          </a:p>
        </p:txBody>
      </p:sp>
      <p:sp>
        <p:nvSpPr>
          <p:cNvPr id="27" name="Text 19"/>
          <p:cNvSpPr txBox="1"/>
          <p:nvPr/>
        </p:nvSpPr>
        <p:spPr>
          <a:xfrm>
            <a:off x="2569464" y="5586984"/>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k-NN classifier</a:t>
            </a:r>
            <a:endParaRPr lang="en-US" sz="950" dirty="0"/>
          </a:p>
        </p:txBody>
      </p:sp>
      <p:sp>
        <p:nvSpPr>
          <p:cNvPr id="28" name="Shape 20"/>
          <p:cNvSpPr/>
          <p:nvPr/>
        </p:nvSpPr>
        <p:spPr>
          <a:xfrm>
            <a:off x="4443984" y="3863340"/>
            <a:ext cx="201168" cy="274320"/>
          </a:xfrm>
          <a:prstGeom prst="rightArrow">
            <a:avLst/>
          </a:prstGeom>
          <a:solidFill>
            <a:srgbClr val="A9C3EE"/>
          </a:solidFill>
          <a:ln w="12700">
            <a:solidFill>
              <a:srgbClr val="A9C3EE"/>
            </a:solidFill>
            <a:prstDash val="solid"/>
          </a:ln>
        </p:spPr>
      </p:sp>
      <p:sp>
        <p:nvSpPr>
          <p:cNvPr id="29" name="Shape 21"/>
          <p:cNvSpPr/>
          <p:nvPr/>
        </p:nvSpPr>
        <p:spPr>
          <a:xfrm>
            <a:off x="4626864" y="1170432"/>
            <a:ext cx="2523744" cy="548640"/>
          </a:xfrm>
          <a:prstGeom prst="chevron">
            <a:avLst/>
          </a:prstGeom>
          <a:solidFill>
            <a:srgbClr val="B9CEF2"/>
          </a:solidFill>
          <a:ln w="12700">
            <a:solidFill>
              <a:srgbClr val="FFFFFF"/>
            </a:solidFill>
            <a:prstDash val="solid"/>
          </a:ln>
        </p:spPr>
      </p:sp>
      <p:sp>
        <p:nvSpPr>
          <p:cNvPr id="30" name="Text 22"/>
          <p:cNvSpPr txBox="1"/>
          <p:nvPr/>
        </p:nvSpPr>
        <p:spPr>
          <a:xfrm>
            <a:off x="4946904" y="1170432"/>
            <a:ext cx="20208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Attributes &amp; Archetypes</a:t>
            </a:r>
            <a:endParaRPr lang="en-US" sz="1250" dirty="0"/>
          </a:p>
        </p:txBody>
      </p:sp>
      <p:sp>
        <p:nvSpPr>
          <p:cNvPr id="31" name="Shape 23"/>
          <p:cNvSpPr/>
          <p:nvPr/>
        </p:nvSpPr>
        <p:spPr>
          <a:xfrm>
            <a:off x="4718304" y="1874520"/>
            <a:ext cx="2103120" cy="4251960"/>
          </a:xfrm>
          <a:prstGeom prst="roundRect">
            <a:avLst>
              <a:gd name="adj" fmla="val 3478"/>
            </a:avLst>
          </a:prstGeom>
          <a:solidFill>
            <a:srgbClr val="FFFFFF"/>
          </a:solidFill>
          <a:ln w="6350">
            <a:solidFill>
              <a:srgbClr val="D3DDEE"/>
            </a:solidFill>
            <a:prstDash val="solid"/>
          </a:ln>
        </p:spPr>
      </p:sp>
      <p:pic>
        <p:nvPicPr>
          <p:cNvPr id="32" name="Image 6" descr="preencoded.png">    </p:cNvPr>
          <p:cNvPicPr>
            <a:picLocks noChangeAspect="1"/>
          </p:cNvPicPr>
          <p:nvPr/>
        </p:nvPicPr>
        <p:blipFill>
          <a:blip r:embed="rId7"/>
          <a:stretch>
            <a:fillRect/>
          </a:stretch>
        </p:blipFill>
        <p:spPr>
          <a:xfrm>
            <a:off x="5541264" y="2148840"/>
            <a:ext cx="457200" cy="457200"/>
          </a:xfrm>
          <a:prstGeom prst="rect">
            <a:avLst/>
          </a:prstGeom>
        </p:spPr>
      </p:pic>
      <p:sp>
        <p:nvSpPr>
          <p:cNvPr id="33" name="Text 24"/>
          <p:cNvSpPr txBox="1"/>
          <p:nvPr/>
        </p:nvSpPr>
        <p:spPr>
          <a:xfrm>
            <a:off x="4791456" y="2660904"/>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3-tier attributes</a:t>
            </a:r>
            <a:endParaRPr lang="en-US" sz="1150" dirty="0"/>
          </a:p>
        </p:txBody>
      </p:sp>
      <p:sp>
        <p:nvSpPr>
          <p:cNvPr id="34" name="Text 25"/>
          <p:cNvSpPr txBox="1"/>
          <p:nvPr/>
        </p:nvSpPr>
        <p:spPr>
          <a:xfrm>
            <a:off x="4791456" y="2880360"/>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function · look · lifestyle, same extractor on both sides</a:t>
            </a:r>
            <a:endParaRPr lang="en-US" sz="950" dirty="0"/>
          </a:p>
        </p:txBody>
      </p:sp>
      <p:pic>
        <p:nvPicPr>
          <p:cNvPr id="35" name="Image 7" descr="preencoded.png">    </p:cNvPr>
          <p:cNvPicPr>
            <a:picLocks noChangeAspect="1"/>
          </p:cNvPicPr>
          <p:nvPr/>
        </p:nvPicPr>
        <p:blipFill>
          <a:blip r:embed="rId8"/>
          <a:stretch>
            <a:fillRect/>
          </a:stretch>
        </p:blipFill>
        <p:spPr>
          <a:xfrm>
            <a:off x="5541264" y="3502152"/>
            <a:ext cx="457200" cy="457200"/>
          </a:xfrm>
          <a:prstGeom prst="rect">
            <a:avLst/>
          </a:prstGeom>
        </p:spPr>
      </p:pic>
      <p:sp>
        <p:nvSpPr>
          <p:cNvPr id="36" name="Text 26"/>
          <p:cNvSpPr txBox="1"/>
          <p:nvPr/>
        </p:nvSpPr>
        <p:spPr>
          <a:xfrm>
            <a:off x="4791456" y="4014216"/>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Neutral product embeddings</a:t>
            </a:r>
            <a:endParaRPr lang="en-US" sz="1150" dirty="0"/>
          </a:p>
        </p:txBody>
      </p:sp>
      <p:sp>
        <p:nvSpPr>
          <p:cNvPr id="37" name="Text 27"/>
          <p:cNvSpPr txBox="1"/>
          <p:nvPr/>
        </p:nvSpPr>
        <p:spPr>
          <a:xfrm>
            <a:off x="4791456" y="4233672"/>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extracted attributes only (no title, price or brand), bge-base</a:t>
            </a:r>
            <a:endParaRPr lang="en-US" sz="950" dirty="0"/>
          </a:p>
        </p:txBody>
      </p:sp>
      <p:pic>
        <p:nvPicPr>
          <p:cNvPr id="38" name="Image 8" descr="preencoded.png">    </p:cNvPr>
          <p:cNvPicPr>
            <a:picLocks noChangeAspect="1"/>
          </p:cNvPicPr>
          <p:nvPr/>
        </p:nvPicPr>
        <p:blipFill>
          <a:blip r:embed="rId9"/>
          <a:stretch>
            <a:fillRect/>
          </a:stretch>
        </p:blipFill>
        <p:spPr>
          <a:xfrm>
            <a:off x="5541264" y="4855464"/>
            <a:ext cx="457200" cy="457200"/>
          </a:xfrm>
          <a:prstGeom prst="rect">
            <a:avLst/>
          </a:prstGeom>
        </p:spPr>
      </p:pic>
      <p:sp>
        <p:nvSpPr>
          <p:cNvPr id="39" name="Text 28"/>
          <p:cNvSpPr txBox="1"/>
          <p:nvPr/>
        </p:nvSpPr>
        <p:spPr>
          <a:xfrm>
            <a:off x="4791456" y="5367528"/>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Archetypes</a:t>
            </a:r>
            <a:endParaRPr lang="en-US" sz="1150" dirty="0"/>
          </a:p>
        </p:txBody>
      </p:sp>
      <p:sp>
        <p:nvSpPr>
          <p:cNvPr id="40" name="Text 29"/>
          <p:cNvSpPr txBox="1"/>
          <p:nvPr/>
        </p:nvSpPr>
        <p:spPr>
          <a:xfrm>
            <a:off x="4791456" y="5586984"/>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4–6-attribute combinations, up to 3 sets per node</a:t>
            </a:r>
            <a:endParaRPr lang="en-US" sz="950" dirty="0"/>
          </a:p>
        </p:txBody>
      </p:sp>
      <p:sp>
        <p:nvSpPr>
          <p:cNvPr id="41" name="Shape 30"/>
          <p:cNvSpPr/>
          <p:nvPr/>
        </p:nvSpPr>
        <p:spPr>
          <a:xfrm>
            <a:off x="6894576" y="3863340"/>
            <a:ext cx="201168" cy="274320"/>
          </a:xfrm>
          <a:prstGeom prst="rightArrow">
            <a:avLst/>
          </a:prstGeom>
          <a:solidFill>
            <a:srgbClr val="A9C3EE"/>
          </a:solidFill>
          <a:ln w="12700">
            <a:solidFill>
              <a:srgbClr val="A9C3EE"/>
            </a:solidFill>
            <a:prstDash val="solid"/>
          </a:ln>
        </p:spPr>
      </p:sp>
      <p:sp>
        <p:nvSpPr>
          <p:cNvPr id="42" name="Shape 31"/>
          <p:cNvSpPr/>
          <p:nvPr/>
        </p:nvSpPr>
        <p:spPr>
          <a:xfrm>
            <a:off x="7077456" y="1170432"/>
            <a:ext cx="2944368" cy="548640"/>
          </a:xfrm>
          <a:prstGeom prst="chevron">
            <a:avLst/>
          </a:prstGeom>
          <a:solidFill>
            <a:srgbClr val="A9C3EE"/>
          </a:solidFill>
          <a:ln w="12700">
            <a:solidFill>
              <a:srgbClr val="FFFFFF"/>
            </a:solidFill>
            <a:prstDash val="solid"/>
          </a:ln>
        </p:spPr>
      </p:sp>
      <p:sp>
        <p:nvSpPr>
          <p:cNvPr id="43" name="Text 32"/>
          <p:cNvSpPr txBox="1"/>
          <p:nvPr/>
        </p:nvSpPr>
        <p:spPr>
          <a:xfrm>
            <a:off x="7397496" y="1170432"/>
            <a:ext cx="2441448"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Two Scoring Methods</a:t>
            </a:r>
            <a:endParaRPr lang="en-US" sz="1250" dirty="0"/>
          </a:p>
        </p:txBody>
      </p:sp>
      <p:sp>
        <p:nvSpPr>
          <p:cNvPr id="44" name="Shape 33"/>
          <p:cNvSpPr/>
          <p:nvPr/>
        </p:nvSpPr>
        <p:spPr>
          <a:xfrm>
            <a:off x="7168896" y="1874520"/>
            <a:ext cx="2523744" cy="4251960"/>
          </a:xfrm>
          <a:prstGeom prst="roundRect">
            <a:avLst>
              <a:gd name="adj" fmla="val 2899"/>
            </a:avLst>
          </a:prstGeom>
          <a:solidFill>
            <a:srgbClr val="FFFFFF"/>
          </a:solidFill>
          <a:ln w="6350">
            <a:solidFill>
              <a:srgbClr val="D3DDEE"/>
            </a:solidFill>
            <a:prstDash val="solid"/>
          </a:ln>
        </p:spPr>
      </p:sp>
      <p:sp>
        <p:nvSpPr>
          <p:cNvPr id="45" name="Shape 34"/>
          <p:cNvSpPr/>
          <p:nvPr/>
        </p:nvSpPr>
        <p:spPr>
          <a:xfrm>
            <a:off x="7260336" y="1965960"/>
            <a:ext cx="2340864" cy="1988820"/>
          </a:xfrm>
          <a:prstGeom prst="roundRect">
            <a:avLst>
              <a:gd name="adj" fmla="val 3678"/>
            </a:avLst>
          </a:prstGeom>
          <a:solidFill>
            <a:srgbClr val="EEF3FB"/>
          </a:solidFill>
          <a:ln w="12700">
            <a:solidFill>
              <a:srgbClr val="EEF3FB"/>
            </a:solidFill>
            <a:prstDash val="solid"/>
          </a:ln>
        </p:spPr>
      </p:sp>
      <p:sp>
        <p:nvSpPr>
          <p:cNvPr id="46" name="Text 35"/>
          <p:cNvSpPr txBox="1"/>
          <p:nvPr/>
        </p:nvSpPr>
        <p:spPr>
          <a:xfrm>
            <a:off x="7351776" y="203911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1 · Vector view</a:t>
            </a:r>
            <a:endParaRPr lang="en-US" sz="1200" dirty="0"/>
          </a:p>
        </p:txBody>
      </p:sp>
      <p:sp>
        <p:nvSpPr>
          <p:cNvPr id="47" name="Text 36"/>
          <p:cNvSpPr txBox="1"/>
          <p:nvPr/>
        </p:nvSpPr>
        <p:spPr>
          <a:xfrm>
            <a:off x="7351776" y="237744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VW (Vector Whitespace)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AAS (Adjacency Affinity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CRS (Cannibalisation Risk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AD (Aesthetic Delta)</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PPR (Price Position Ratio)</a:t>
            </a:r>
            <a:endParaRPr lang="en-US" sz="950" dirty="0"/>
          </a:p>
        </p:txBody>
      </p:sp>
      <p:sp>
        <p:nvSpPr>
          <p:cNvPr id="48" name="Text 37"/>
          <p:cNvSpPr txBox="1"/>
          <p:nvPr/>
        </p:nvSpPr>
        <p:spPr>
          <a:xfrm>
            <a:off x="7351776" y="358902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VOS (Vector Opportunity Score)</a:t>
            </a:r>
            <a:endParaRPr lang="en-US" sz="1100" dirty="0"/>
          </a:p>
        </p:txBody>
      </p:sp>
      <p:sp>
        <p:nvSpPr>
          <p:cNvPr id="49" name="Shape 38"/>
          <p:cNvSpPr/>
          <p:nvPr/>
        </p:nvSpPr>
        <p:spPr>
          <a:xfrm>
            <a:off x="7260336" y="4046220"/>
            <a:ext cx="2340864" cy="1988820"/>
          </a:xfrm>
          <a:prstGeom prst="roundRect">
            <a:avLst>
              <a:gd name="adj" fmla="val 3678"/>
            </a:avLst>
          </a:prstGeom>
          <a:solidFill>
            <a:srgbClr val="F3F0FA"/>
          </a:solidFill>
          <a:ln w="12700">
            <a:solidFill>
              <a:srgbClr val="F3F0FA"/>
            </a:solidFill>
            <a:prstDash val="solid"/>
          </a:ln>
        </p:spPr>
      </p:sp>
      <p:sp>
        <p:nvSpPr>
          <p:cNvPr id="50" name="Text 39"/>
          <p:cNvSpPr txBox="1"/>
          <p:nvPr/>
        </p:nvSpPr>
        <p:spPr>
          <a:xfrm>
            <a:off x="7351776" y="411937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2 · Attribute view</a:t>
            </a:r>
            <a:endParaRPr lang="en-US" sz="1200" dirty="0"/>
          </a:p>
        </p:txBody>
      </p:sp>
      <p:sp>
        <p:nvSpPr>
          <p:cNvPr id="51" name="Text 40"/>
          <p:cNvSpPr txBox="1"/>
          <p:nvPr/>
        </p:nvSpPr>
        <p:spPr>
          <a:xfrm>
            <a:off x="7351776" y="445770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LSR (Log Share Ratio)</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PPG (Price Position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CG (Colour Gap) · MSG (Material/Style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DFG (Design-Forward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ACR (Attribute Cannibalisation Risk)</a:t>
            </a:r>
            <a:endParaRPr lang="en-US" sz="950" dirty="0"/>
          </a:p>
        </p:txBody>
      </p:sp>
      <p:sp>
        <p:nvSpPr>
          <p:cNvPr id="52" name="Text 41"/>
          <p:cNvSpPr txBox="1"/>
          <p:nvPr/>
        </p:nvSpPr>
        <p:spPr>
          <a:xfrm>
            <a:off x="7351776" y="566928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TG (Total Gap)</a:t>
            </a:r>
            <a:endParaRPr lang="en-US" sz="1100" dirty="0"/>
          </a:p>
        </p:txBody>
      </p:sp>
      <p:sp>
        <p:nvSpPr>
          <p:cNvPr id="53" name="Shape 42"/>
          <p:cNvSpPr/>
          <p:nvPr/>
        </p:nvSpPr>
        <p:spPr>
          <a:xfrm>
            <a:off x="9765792" y="3863340"/>
            <a:ext cx="201168" cy="274320"/>
          </a:xfrm>
          <a:prstGeom prst="rightArrow">
            <a:avLst/>
          </a:prstGeom>
          <a:solidFill>
            <a:srgbClr val="A9C3EE"/>
          </a:solidFill>
          <a:ln w="12700">
            <a:solidFill>
              <a:srgbClr val="A9C3EE"/>
            </a:solidFill>
            <a:prstDash val="solid"/>
          </a:ln>
        </p:spPr>
      </p:sp>
      <p:sp>
        <p:nvSpPr>
          <p:cNvPr id="54" name="Shape 43"/>
          <p:cNvSpPr/>
          <p:nvPr/>
        </p:nvSpPr>
        <p:spPr>
          <a:xfrm>
            <a:off x="9948672" y="1170432"/>
            <a:ext cx="1828800" cy="548640"/>
          </a:xfrm>
          <a:prstGeom prst="chevron">
            <a:avLst/>
          </a:prstGeom>
          <a:solidFill>
            <a:srgbClr val="97B6EA"/>
          </a:solidFill>
          <a:ln w="12700">
            <a:solidFill>
              <a:srgbClr val="FFFFFF"/>
            </a:solidFill>
            <a:prstDash val="solid"/>
          </a:ln>
        </p:spPr>
      </p:sp>
      <p:sp>
        <p:nvSpPr>
          <p:cNvPr id="55" name="Text 44"/>
          <p:cNvSpPr txBox="1"/>
          <p:nvPr/>
        </p:nvSpPr>
        <p:spPr>
          <a:xfrm>
            <a:off x="10268712" y="1170432"/>
            <a:ext cx="1325880"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Gates &amp; Picks</a:t>
            </a:r>
            <a:endParaRPr lang="en-US" sz="1250" dirty="0"/>
          </a:p>
        </p:txBody>
      </p:sp>
      <p:sp>
        <p:nvSpPr>
          <p:cNvPr id="56" name="Shape 45"/>
          <p:cNvSpPr/>
          <p:nvPr/>
        </p:nvSpPr>
        <p:spPr>
          <a:xfrm>
            <a:off x="10040112" y="1874520"/>
            <a:ext cx="1737360" cy="4251960"/>
          </a:xfrm>
          <a:prstGeom prst="roundRect">
            <a:avLst>
              <a:gd name="adj" fmla="val 4211"/>
            </a:avLst>
          </a:prstGeom>
          <a:solidFill>
            <a:srgbClr val="FFFFFF"/>
          </a:solidFill>
          <a:ln w="6350">
            <a:solidFill>
              <a:srgbClr val="D3DDEE"/>
            </a:solidFill>
            <a:prstDash val="solid"/>
          </a:ln>
        </p:spPr>
      </p:sp>
      <p:pic>
        <p:nvPicPr>
          <p:cNvPr id="57" name="Image 9" descr="preencoded.png">    </p:cNvPr>
          <p:cNvPicPr>
            <a:picLocks noChangeAspect="1"/>
          </p:cNvPicPr>
          <p:nvPr/>
        </p:nvPicPr>
        <p:blipFill>
          <a:blip r:embed="rId10"/>
          <a:stretch>
            <a:fillRect/>
          </a:stretch>
        </p:blipFill>
        <p:spPr>
          <a:xfrm>
            <a:off x="10680192" y="2148840"/>
            <a:ext cx="457200" cy="457200"/>
          </a:xfrm>
          <a:prstGeom prst="rect">
            <a:avLst/>
          </a:prstGeom>
        </p:spPr>
      </p:pic>
      <p:sp>
        <p:nvSpPr>
          <p:cNvPr id="58" name="Text 46"/>
          <p:cNvSpPr txBox="1"/>
          <p:nvPr/>
        </p:nvSpPr>
        <p:spPr>
          <a:xfrm>
            <a:off x="10113264"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Safety gates</a:t>
            </a:r>
            <a:endParaRPr lang="en-US" sz="1150" dirty="0"/>
          </a:p>
        </p:txBody>
      </p:sp>
      <p:sp>
        <p:nvSpPr>
          <p:cNvPr id="59" name="Text 47"/>
          <p:cNvSpPr txBox="1"/>
          <p:nvPr/>
        </p:nvSpPr>
        <p:spPr>
          <a:xfrm>
            <a:off x="10113264"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common → per method → final</a:t>
            </a:r>
            <a:endParaRPr lang="en-US" sz="950" dirty="0"/>
          </a:p>
        </p:txBody>
      </p:sp>
      <p:pic>
        <p:nvPicPr>
          <p:cNvPr id="60" name="Image 10" descr="preencoded.png">    </p:cNvPr>
          <p:cNvPicPr>
            <a:picLocks noChangeAspect="1"/>
          </p:cNvPicPr>
          <p:nvPr/>
        </p:nvPicPr>
        <p:blipFill>
          <a:blip r:embed="rId11"/>
          <a:stretch>
            <a:fillRect/>
          </a:stretch>
        </p:blipFill>
        <p:spPr>
          <a:xfrm>
            <a:off x="10680192" y="3502152"/>
            <a:ext cx="457200" cy="457200"/>
          </a:xfrm>
          <a:prstGeom prst="rect">
            <a:avLst/>
          </a:prstGeom>
        </p:spPr>
      </p:pic>
      <p:sp>
        <p:nvSpPr>
          <p:cNvPr id="61" name="Text 48"/>
          <p:cNvSpPr txBox="1"/>
          <p:nvPr/>
        </p:nvSpPr>
        <p:spPr>
          <a:xfrm>
            <a:off x="10113264"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Final list</a:t>
            </a:r>
            <a:endParaRPr lang="en-US" sz="1150" dirty="0"/>
          </a:p>
        </p:txBody>
      </p:sp>
      <p:sp>
        <p:nvSpPr>
          <p:cNvPr id="62" name="Text 49"/>
          <p:cNvSpPr txBox="1"/>
          <p:nvPr/>
        </p:nvSpPr>
        <p:spPr>
          <a:xfrm>
            <a:off x="10113264"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union of both methods, 3–10 per node</a:t>
            </a:r>
            <a:endParaRPr lang="en-US" sz="950" dirty="0"/>
          </a:p>
        </p:txBody>
      </p:sp>
      <p:pic>
        <p:nvPicPr>
          <p:cNvPr id="63" name="Image 11" descr="preencoded.png">    </p:cNvPr>
          <p:cNvPicPr>
            <a:picLocks noChangeAspect="1"/>
          </p:cNvPicPr>
          <p:nvPr/>
        </p:nvPicPr>
        <p:blipFill>
          <a:blip r:embed="rId12"/>
          <a:stretch>
            <a:fillRect/>
          </a:stretch>
        </p:blipFill>
        <p:spPr>
          <a:xfrm>
            <a:off x="10680192" y="4855464"/>
            <a:ext cx="457200" cy="457200"/>
          </a:xfrm>
          <a:prstGeom prst="rect">
            <a:avLst/>
          </a:prstGeom>
        </p:spPr>
      </p:pic>
      <p:sp>
        <p:nvSpPr>
          <p:cNvPr id="64" name="Text 50"/>
          <p:cNvSpPr txBox="1"/>
          <p:nvPr/>
        </p:nvSpPr>
        <p:spPr>
          <a:xfrm>
            <a:off x="10113264"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Products &amp; sellers</a:t>
            </a:r>
            <a:endParaRPr lang="en-US" sz="1150" dirty="0"/>
          </a:p>
        </p:txBody>
      </p:sp>
      <p:sp>
        <p:nvSpPr>
          <p:cNvPr id="65" name="Text 51"/>
          <p:cNvSpPr txBox="1"/>
          <p:nvPr/>
        </p:nvSpPr>
        <p:spPr>
          <a:xfrm>
            <a:off x="10113264"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each beside its nearest Staples item</a:t>
            </a:r>
            <a:endParaRPr lang="en-US" sz="9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Method 1 (Vector View): Framework</a:t>
            </a:r>
            <a:endParaRPr lang="en-US" sz="2800" dirty="0"/>
          </a:p>
        </p:txBody>
      </p:sp>
      <p:sp>
        <p:nvSpPr>
          <p:cNvPr id="3" name="Text 1"/>
          <p:cNvSpPr txBox="1"/>
          <p:nvPr/>
        </p:nvSpPr>
        <p:spPr>
          <a:xfrm>
            <a:off x="1600200"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&lt; 30</a:t>
            </a:r>
            <a:endParaRPr lang="en-US" sz="1100" dirty="0"/>
          </a:p>
        </p:txBody>
      </p:sp>
      <p:sp>
        <p:nvSpPr>
          <p:cNvPr id="4" name="Text 2"/>
          <p:cNvSpPr txBox="1"/>
          <p:nvPr/>
        </p:nvSpPr>
        <p:spPr>
          <a:xfrm>
            <a:off x="3666744" y="1188720"/>
            <a:ext cx="237744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30 ≤ CRS &lt; 70</a:t>
            </a:r>
            <a:endParaRPr lang="en-US" sz="1100" dirty="0"/>
          </a:p>
        </p:txBody>
      </p:sp>
      <p:sp>
        <p:nvSpPr>
          <p:cNvPr id="5" name="Text 3"/>
          <p:cNvSpPr txBox="1"/>
          <p:nvPr/>
        </p:nvSpPr>
        <p:spPr>
          <a:xfrm>
            <a:off x="6099048"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 70</a:t>
            </a:r>
            <a:endParaRPr lang="en-US" sz="1100" dirty="0"/>
          </a:p>
        </p:txBody>
      </p:sp>
      <p:sp>
        <p:nvSpPr>
          <p:cNvPr id="6" name="Shape 4"/>
          <p:cNvSpPr/>
          <p:nvPr/>
        </p:nvSpPr>
        <p:spPr>
          <a:xfrm>
            <a:off x="1600200" y="1536192"/>
            <a:ext cx="2011680" cy="1408176"/>
          </a:xfrm>
          <a:prstGeom prst="roundRect">
            <a:avLst>
              <a:gd name="adj" fmla="val 5195"/>
            </a:avLst>
          </a:prstGeom>
          <a:solidFill>
            <a:srgbClr val="D5F0E6"/>
          </a:solidFill>
          <a:ln w="12700">
            <a:solidFill>
              <a:srgbClr val="5CC49A"/>
            </a:solidFill>
            <a:prstDash val="solid"/>
          </a:ln>
        </p:spPr>
      </p:sp>
      <p:sp>
        <p:nvSpPr>
          <p:cNvPr id="7" name="Text 5"/>
          <p:cNvSpPr txBox="1"/>
          <p:nvPr/>
        </p:nvSpPr>
        <p:spPr>
          <a:xfrm>
            <a:off x="1645920" y="153619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CURATE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true whitespace · approve</a:t>
            </a:r>
            <a:endParaRPr lang="en-US" sz="1200" dirty="0"/>
          </a:p>
        </p:txBody>
      </p:sp>
      <p:sp>
        <p:nvSpPr>
          <p:cNvPr id="8" name="Shape 6"/>
          <p:cNvSpPr/>
          <p:nvPr/>
        </p:nvSpPr>
        <p:spPr>
          <a:xfrm>
            <a:off x="1600200" y="2999232"/>
            <a:ext cx="2011680" cy="1408176"/>
          </a:xfrm>
          <a:prstGeom prst="roundRect">
            <a:avLst>
              <a:gd name="adj" fmla="val 5195"/>
            </a:avLst>
          </a:prstGeom>
          <a:solidFill>
            <a:srgbClr val="FCEBCB"/>
          </a:solidFill>
          <a:ln w="12700">
            <a:solidFill>
              <a:srgbClr val="E8B44A"/>
            </a:solidFill>
            <a:prstDash val="solid"/>
          </a:ln>
        </p:spPr>
      </p:sp>
      <p:sp>
        <p:nvSpPr>
          <p:cNvPr id="9" name="Text 7"/>
          <p:cNvSpPr txBox="1"/>
          <p:nvPr/>
        </p:nvSpPr>
        <p:spPr>
          <a:xfrm>
            <a:off x="1645920" y="299923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EDGE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weaker fit · hold for phase 2</a:t>
            </a:r>
            <a:endParaRPr lang="en-US" sz="1200" dirty="0"/>
          </a:p>
        </p:txBody>
      </p:sp>
      <p:sp>
        <p:nvSpPr>
          <p:cNvPr id="10" name="Shape 8"/>
          <p:cNvSpPr/>
          <p:nvPr/>
        </p:nvSpPr>
        <p:spPr>
          <a:xfrm>
            <a:off x="3666744" y="1536192"/>
            <a:ext cx="2377440" cy="676656"/>
          </a:xfrm>
          <a:prstGeom prst="roundRect">
            <a:avLst>
              <a:gd name="adj" fmla="val 10811"/>
            </a:avLst>
          </a:prstGeom>
          <a:solidFill>
            <a:srgbClr val="D5F0E6"/>
          </a:solidFill>
          <a:ln w="12700">
            <a:solidFill>
              <a:srgbClr val="5CC49A"/>
            </a:solidFill>
            <a:prstDash val="solid"/>
          </a:ln>
        </p:spPr>
      </p:sp>
      <p:sp>
        <p:nvSpPr>
          <p:cNvPr id="11" name="Text 9"/>
          <p:cNvSpPr txBox="1"/>
          <p:nvPr/>
        </p:nvSpPr>
        <p:spPr>
          <a:xfrm>
            <a:off x="3712464" y="1536192"/>
            <a:ext cx="228600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LEAN-APPROVE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(clearly different look) · approve, flag</a:t>
            </a:r>
            <a:endParaRPr lang="en-US" sz="1200" dirty="0"/>
          </a:p>
        </p:txBody>
      </p:sp>
      <p:sp>
        <p:nvSpPr>
          <p:cNvPr id="12" name="Shape 10"/>
          <p:cNvSpPr/>
          <p:nvPr/>
        </p:nvSpPr>
        <p:spPr>
          <a:xfrm>
            <a:off x="3666744" y="2267712"/>
            <a:ext cx="2377440" cy="2139696"/>
          </a:xfrm>
          <a:prstGeom prst="roundRect">
            <a:avLst>
              <a:gd name="adj" fmla="val 3419"/>
            </a:avLst>
          </a:prstGeom>
          <a:solidFill>
            <a:srgbClr val="FCEBCB"/>
          </a:solidFill>
          <a:ln w="12700">
            <a:solidFill>
              <a:srgbClr val="E8B44A"/>
            </a:solidFill>
            <a:prstDash val="solid"/>
          </a:ln>
        </p:spPr>
      </p:sp>
      <p:sp>
        <p:nvSpPr>
          <p:cNvPr id="13" name="Text 11"/>
          <p:cNvSpPr txBox="1"/>
          <p:nvPr/>
        </p:nvSpPr>
        <p:spPr>
          <a:xfrm>
            <a:off x="3712464" y="2267712"/>
            <a:ext cx="2286000" cy="213969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REVIEW</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undecided · calibration queue</a:t>
            </a:r>
            <a:endParaRPr lang="en-US" sz="1200" dirty="0"/>
          </a:p>
        </p:txBody>
      </p:sp>
      <p:sp>
        <p:nvSpPr>
          <p:cNvPr id="14" name="Shape 12"/>
          <p:cNvSpPr/>
          <p:nvPr/>
        </p:nvSpPr>
        <p:spPr>
          <a:xfrm>
            <a:off x="6099048" y="1536192"/>
            <a:ext cx="2011680" cy="676656"/>
          </a:xfrm>
          <a:prstGeom prst="roundRect">
            <a:avLst>
              <a:gd name="adj" fmla="val 10811"/>
            </a:avLst>
          </a:prstGeom>
          <a:solidFill>
            <a:srgbClr val="E6E3FA"/>
          </a:solidFill>
          <a:ln w="12700">
            <a:solidFill>
              <a:srgbClr val="A99BEA"/>
            </a:solidFill>
            <a:prstDash val="solid"/>
          </a:ln>
        </p:spPr>
      </p:sp>
      <p:sp>
        <p:nvSpPr>
          <p:cNvPr id="15" name="Text 13"/>
          <p:cNvSpPr txBox="1"/>
          <p:nvPr/>
        </p:nvSpPr>
        <p:spPr>
          <a:xfrm>
            <a:off x="6144768" y="153619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1 · UNDERCUT</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&lt; 0.85× · hard reject</a:t>
            </a:r>
            <a:endParaRPr lang="en-US" sz="1200" dirty="0"/>
          </a:p>
        </p:txBody>
      </p:sp>
      <p:sp>
        <p:nvSpPr>
          <p:cNvPr id="16" name="Shape 14"/>
          <p:cNvSpPr/>
          <p:nvPr/>
        </p:nvSpPr>
        <p:spPr>
          <a:xfrm>
            <a:off x="6099048" y="2267712"/>
            <a:ext cx="2011680" cy="676656"/>
          </a:xfrm>
          <a:prstGeom prst="roundRect">
            <a:avLst>
              <a:gd name="adj" fmla="val 10811"/>
            </a:avLst>
          </a:prstGeom>
          <a:solidFill>
            <a:srgbClr val="D5F0E6"/>
          </a:solidFill>
          <a:ln w="12700">
            <a:solidFill>
              <a:srgbClr val="5CC49A"/>
            </a:solidFill>
            <a:prstDash val="solid"/>
          </a:ln>
        </p:spPr>
      </p:sp>
      <p:sp>
        <p:nvSpPr>
          <p:cNvPr id="17" name="Text 15"/>
          <p:cNvSpPr txBox="1"/>
          <p:nvPr/>
        </p:nvSpPr>
        <p:spPr>
          <a:xfrm>
            <a:off x="6144768" y="226771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2 · TRADE-UP</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 1.5× + design/material upgrade</a:t>
            </a:r>
            <a:endParaRPr lang="en-US" sz="1200" dirty="0"/>
          </a:p>
        </p:txBody>
      </p:sp>
      <p:sp>
        <p:nvSpPr>
          <p:cNvPr id="18" name="Shape 16"/>
          <p:cNvSpPr/>
          <p:nvPr/>
        </p:nvSpPr>
        <p:spPr>
          <a:xfrm>
            <a:off x="6099048" y="2999232"/>
            <a:ext cx="2011680" cy="676656"/>
          </a:xfrm>
          <a:prstGeom prst="roundRect">
            <a:avLst>
              <a:gd name="adj" fmla="val 10811"/>
            </a:avLst>
          </a:prstGeom>
          <a:solidFill>
            <a:srgbClr val="D5F0E6"/>
          </a:solidFill>
          <a:ln w="12700">
            <a:solidFill>
              <a:srgbClr val="5CC49A"/>
            </a:solidFill>
            <a:prstDash val="solid"/>
          </a:ln>
        </p:spPr>
      </p:sp>
      <p:sp>
        <p:nvSpPr>
          <p:cNvPr id="19" name="Text 17"/>
          <p:cNvSpPr txBox="1"/>
          <p:nvPr/>
        </p:nvSpPr>
        <p:spPr>
          <a:xfrm>
            <a:off x="6144768" y="299923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3 · STYLE-EXTENSION</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new colour/material/style</a:t>
            </a:r>
            <a:endParaRPr lang="en-US" sz="1200" dirty="0"/>
          </a:p>
        </p:txBody>
      </p:sp>
      <p:sp>
        <p:nvSpPr>
          <p:cNvPr id="20" name="Shape 18"/>
          <p:cNvSpPr/>
          <p:nvPr/>
        </p:nvSpPr>
        <p:spPr>
          <a:xfrm>
            <a:off x="6099048" y="3730752"/>
            <a:ext cx="2011680" cy="676656"/>
          </a:xfrm>
          <a:prstGeom prst="roundRect">
            <a:avLst>
              <a:gd name="adj" fmla="val 10811"/>
            </a:avLst>
          </a:prstGeom>
          <a:solidFill>
            <a:srgbClr val="E6E3FA"/>
          </a:solidFill>
          <a:ln w="12700">
            <a:solidFill>
              <a:srgbClr val="A99BEA"/>
            </a:solidFill>
            <a:prstDash val="solid"/>
          </a:ln>
        </p:spPr>
      </p:sp>
      <p:sp>
        <p:nvSpPr>
          <p:cNvPr id="21" name="Text 19"/>
          <p:cNvSpPr txBox="1"/>
          <p:nvPr/>
        </p:nvSpPr>
        <p:spPr>
          <a:xfrm>
            <a:off x="6144768" y="373075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4 · SUBSTITUTE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otherwise: same job, same look · reject</a:t>
            </a:r>
            <a:endParaRPr lang="en-US" sz="1200" dirty="0"/>
          </a:p>
        </p:txBody>
      </p:sp>
      <p:sp>
        <p:nvSpPr>
          <p:cNvPr id="22" name="Shape 20"/>
          <p:cNvSpPr/>
          <p:nvPr/>
        </p:nvSpPr>
        <p:spPr>
          <a:xfrm>
            <a:off x="1600200" y="4462272"/>
            <a:ext cx="6510528" cy="786384"/>
          </a:xfrm>
          <a:prstGeom prst="roundRect">
            <a:avLst>
              <a:gd name="adj" fmla="val 9302"/>
            </a:avLst>
          </a:prstGeom>
          <a:solidFill>
            <a:srgbClr val="E6E3FA"/>
          </a:solidFill>
          <a:ln w="12700">
            <a:solidFill>
              <a:srgbClr val="A99BEA"/>
            </a:solidFill>
            <a:prstDash val="solid"/>
          </a:ln>
        </p:spPr>
      </p:sp>
      <p:sp>
        <p:nvSpPr>
          <p:cNvPr id="23" name="Text 21"/>
          <p:cNvSpPr txBox="1"/>
          <p:nvPr/>
        </p:nvSpPr>
        <p:spPr>
          <a:xfrm>
            <a:off x="1645920" y="4462272"/>
            <a:ext cx="6419088" cy="786384"/>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OFF-BRAND</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poor fit with Staples' catalog and customers · reject (checked before CRS)</a:t>
            </a:r>
            <a:endParaRPr lang="en-US" sz="1200" dirty="0"/>
          </a:p>
        </p:txBody>
      </p:sp>
      <p:sp>
        <p:nvSpPr>
          <p:cNvPr id="24" name="Text 22"/>
          <p:cNvSpPr txBox="1"/>
          <p:nvPr/>
        </p:nvSpPr>
        <p:spPr>
          <a:xfrm>
            <a:off x="658368" y="153619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 T_high</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(43–61)</a:t>
            </a:r>
            <a:endParaRPr lang="en-US" sz="1000" dirty="0"/>
          </a:p>
        </p:txBody>
      </p:sp>
      <p:sp>
        <p:nvSpPr>
          <p:cNvPr id="25" name="Text 23"/>
          <p:cNvSpPr txBox="1"/>
          <p:nvPr/>
        </p:nvSpPr>
        <p:spPr>
          <a:xfrm>
            <a:off x="658368" y="299923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T_low–T_high</a:t>
            </a:r>
            <a:endParaRPr lang="en-US" sz="1000" dirty="0"/>
          </a:p>
        </p:txBody>
      </p:sp>
      <p:sp>
        <p:nvSpPr>
          <p:cNvPr id="26" name="Text 24"/>
          <p:cNvSpPr txBox="1"/>
          <p:nvPr/>
        </p:nvSpPr>
        <p:spPr>
          <a:xfrm>
            <a:off x="658368" y="4462272"/>
            <a:ext cx="868680" cy="786384"/>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&lt; T_low</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(24–42)</a:t>
            </a:r>
            <a:endParaRPr lang="en-US" sz="1000" dirty="0"/>
          </a:p>
        </p:txBody>
      </p:sp>
      <p:sp>
        <p:nvSpPr>
          <p:cNvPr id="27" name="Text 25"/>
          <p:cNvSpPr txBox="1"/>
          <p:nvPr/>
        </p:nvSpPr>
        <p:spPr>
          <a:xfrm>
            <a:off x="365760" y="1536192"/>
            <a:ext cx="329184" cy="3712464"/>
          </a:xfrm>
          <a:prstGeom prst="rect">
            <a:avLst/>
          </a:prstGeom>
          <a:noFill/>
          <a:ln/>
        </p:spPr>
        <p:txBody>
          <a:bodyPr wrap="square" lIns="0" tIns="0" rIns="0" bIns="0" rtlCol="0" anchor="ctr" vert="vert270"/>
          <a:lstStyle/>
          <a:p>
            <a:pPr algn="ctr" indent="0" marL="0">
              <a:buNone/>
            </a:pPr>
            <a:r>
              <a:rPr lang="en-US" sz="1050" b="1" dirty="0">
                <a:solidFill>
                  <a:srgbClr val="13285B"/>
                </a:solidFill>
                <a:latin typeface="Calibri" pitchFamily="34" charset="0"/>
                <a:ea typeface="Calibri" pitchFamily="34" charset="-122"/>
                <a:cs typeface="Calibri" pitchFamily="34" charset="-120"/>
              </a:rPr>
              <a:t>AAS (Adjacency Affinity Score): fit with Staples →</a:t>
            </a:r>
            <a:endParaRPr lang="en-US" sz="1050" dirty="0"/>
          </a:p>
        </p:txBody>
      </p:sp>
      <p:sp>
        <p:nvSpPr>
          <p:cNvPr id="28" name="Text 26"/>
          <p:cNvSpPr txBox="1"/>
          <p:nvPr/>
        </p:nvSpPr>
        <p:spPr>
          <a:xfrm>
            <a:off x="1600200" y="5321808"/>
            <a:ext cx="6510528" cy="274320"/>
          </a:xfrm>
          <a:prstGeom prst="rect">
            <a:avLst/>
          </a:prstGeom>
          <a:noFill/>
          <a:ln/>
        </p:spPr>
        <p:txBody>
          <a:bodyPr wrap="square" lIns="0" tIns="0" rIns="0" bIns="0" rtlCol="0" anchor="ctr"/>
          <a:lstStyle/>
          <a:p>
            <a:pPr algn="ctr" indent="0" marL="0">
              <a:buNone/>
            </a:pPr>
            <a:r>
              <a:rPr lang="en-US" sz="1050" b="1" dirty="0">
                <a:solidFill>
                  <a:srgbClr val="13285B"/>
                </a:solidFill>
                <a:latin typeface="Calibri" pitchFamily="34" charset="0"/>
                <a:ea typeface="Calibri" pitchFamily="34" charset="-122"/>
                <a:cs typeface="Calibri" pitchFamily="34" charset="-120"/>
              </a:rPr>
              <a:t>CRS (Cannibalisation Risk Score): functional closeness to a Staples product →</a:t>
            </a:r>
            <a:endParaRPr lang="en-US" sz="1050" dirty="0"/>
          </a:p>
        </p:txBody>
      </p:sp>
      <p:sp>
        <p:nvSpPr>
          <p:cNvPr id="29" name="Shape 27"/>
          <p:cNvSpPr/>
          <p:nvPr/>
        </p:nvSpPr>
        <p:spPr>
          <a:xfrm>
            <a:off x="1600200" y="5724144"/>
            <a:ext cx="164592" cy="164592"/>
          </a:xfrm>
          <a:prstGeom prst="roundRect">
            <a:avLst>
              <a:gd name="adj" fmla="val 16667"/>
            </a:avLst>
          </a:prstGeom>
          <a:solidFill>
            <a:srgbClr val="D5F0E6"/>
          </a:solidFill>
          <a:ln w="12700">
            <a:solidFill>
              <a:srgbClr val="5CC49A"/>
            </a:solidFill>
            <a:prstDash val="solid"/>
          </a:ln>
        </p:spPr>
      </p:sp>
      <p:sp>
        <p:nvSpPr>
          <p:cNvPr id="30" name="Text 28"/>
          <p:cNvSpPr txBox="1"/>
          <p:nvPr/>
        </p:nvSpPr>
        <p:spPr>
          <a:xfrm>
            <a:off x="18379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approve (safe)</a:t>
            </a:r>
            <a:endParaRPr lang="en-US" sz="950" dirty="0"/>
          </a:p>
        </p:txBody>
      </p:sp>
      <p:sp>
        <p:nvSpPr>
          <p:cNvPr id="31" name="Shape 29"/>
          <p:cNvSpPr/>
          <p:nvPr/>
        </p:nvSpPr>
        <p:spPr>
          <a:xfrm>
            <a:off x="3200400" y="5724144"/>
            <a:ext cx="164592" cy="164592"/>
          </a:xfrm>
          <a:prstGeom prst="roundRect">
            <a:avLst>
              <a:gd name="adj" fmla="val 16667"/>
            </a:avLst>
          </a:prstGeom>
          <a:solidFill>
            <a:srgbClr val="FCEBCB"/>
          </a:solidFill>
          <a:ln w="12700">
            <a:solidFill>
              <a:srgbClr val="E8B44A"/>
            </a:solidFill>
            <a:prstDash val="solid"/>
          </a:ln>
        </p:spPr>
      </p:sp>
      <p:sp>
        <p:nvSpPr>
          <p:cNvPr id="32" name="Text 30"/>
          <p:cNvSpPr txBox="1"/>
          <p:nvPr/>
        </p:nvSpPr>
        <p:spPr>
          <a:xfrm>
            <a:off x="34381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hold / undecided</a:t>
            </a:r>
            <a:endParaRPr lang="en-US" sz="950" dirty="0"/>
          </a:p>
        </p:txBody>
      </p:sp>
      <p:sp>
        <p:nvSpPr>
          <p:cNvPr id="33" name="Shape 31"/>
          <p:cNvSpPr/>
          <p:nvPr/>
        </p:nvSpPr>
        <p:spPr>
          <a:xfrm>
            <a:off x="4800600" y="5724144"/>
            <a:ext cx="164592" cy="164592"/>
          </a:xfrm>
          <a:prstGeom prst="roundRect">
            <a:avLst>
              <a:gd name="adj" fmla="val 16667"/>
            </a:avLst>
          </a:prstGeom>
          <a:solidFill>
            <a:srgbClr val="E6E3FA"/>
          </a:solidFill>
          <a:ln w="12700">
            <a:solidFill>
              <a:srgbClr val="A99BEA"/>
            </a:solidFill>
            <a:prstDash val="solid"/>
          </a:ln>
        </p:spPr>
      </p:sp>
      <p:sp>
        <p:nvSpPr>
          <p:cNvPr id="34" name="Text 32"/>
          <p:cNvSpPr txBox="1"/>
          <p:nvPr/>
        </p:nvSpPr>
        <p:spPr>
          <a:xfrm>
            <a:off x="50383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reject</a:t>
            </a:r>
            <a:endParaRPr lang="en-US" sz="950" dirty="0"/>
          </a:p>
        </p:txBody>
      </p:sp>
      <p:sp>
        <p:nvSpPr>
          <p:cNvPr id="35" name="Text 33"/>
          <p:cNvSpPr txBox="1"/>
          <p:nvPr/>
        </p:nvSpPr>
        <p:spPr>
          <a:xfrm>
            <a:off x="5349240" y="5687568"/>
            <a:ext cx="2761488" cy="237744"/>
          </a:xfrm>
          <a:prstGeom prst="rect">
            <a:avLst/>
          </a:prstGeom>
          <a:noFill/>
          <a:ln/>
        </p:spPr>
        <p:txBody>
          <a:bodyPr wrap="square" lIns="0" tIns="0" rIns="0" bIns="0" rtlCol="0" anchor="ctr"/>
          <a:lstStyle/>
          <a:p>
            <a:pPr algn="r" indent="0" marL="0">
              <a:buNone/>
            </a:pPr>
            <a:r>
              <a:rPr lang="en-US" sz="950" i="1" dirty="0">
                <a:solidFill>
                  <a:srgbClr val="5B6475"/>
                </a:solidFill>
                <a:latin typeface="Calibri" pitchFamily="34" charset="0"/>
                <a:ea typeface="Calibri" pitchFamily="34" charset="-122"/>
                <a:cs typeface="Calibri" pitchFamily="34" charset="-120"/>
              </a:rPr>
              <a:t>EXCLUDE (identical to a Staples product) is checked first.</a:t>
            </a:r>
            <a:endParaRPr lang="en-US" sz="950" dirty="0"/>
          </a:p>
        </p:txBody>
      </p:sp>
      <p:sp>
        <p:nvSpPr>
          <p:cNvPr id="36" name="Text 34"/>
          <p:cNvSpPr txBox="1"/>
          <p:nvPr/>
        </p:nvSpPr>
        <p:spPr>
          <a:xfrm>
            <a:off x="8641080" y="1188720"/>
            <a:ext cx="3136392" cy="274320"/>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KEY TERMS</a:t>
            </a:r>
            <a:endParaRPr lang="en-US" sz="1200" dirty="0"/>
          </a:p>
        </p:txBody>
      </p:sp>
      <p:sp>
        <p:nvSpPr>
          <p:cNvPr id="37" name="Shape 35"/>
          <p:cNvSpPr/>
          <p:nvPr/>
        </p:nvSpPr>
        <p:spPr>
          <a:xfrm>
            <a:off x="8641080" y="1536192"/>
            <a:ext cx="3136392" cy="694944"/>
          </a:xfrm>
          <a:prstGeom prst="roundRect">
            <a:avLst>
              <a:gd name="adj" fmla="val 10526"/>
            </a:avLst>
          </a:prstGeom>
          <a:solidFill>
            <a:srgbClr val="EEF3FB"/>
          </a:solidFill>
          <a:ln w="12700">
            <a:solidFill>
              <a:srgbClr val="EEF3FB"/>
            </a:solidFill>
            <a:prstDash val="solid"/>
          </a:ln>
        </p:spPr>
      </p:sp>
      <p:sp>
        <p:nvSpPr>
          <p:cNvPr id="38" name="Text 36"/>
          <p:cNvSpPr txBox="1"/>
          <p:nvPr/>
        </p:nvSpPr>
        <p:spPr>
          <a:xfrm>
            <a:off x="8769096" y="1591056"/>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AAS</a:t>
            </a:r>
            <a:pPr indent="0" marL="0">
              <a:buNone/>
            </a:pPr>
            <a:r>
              <a:rPr lang="en-US" sz="1050" b="1" dirty="0">
                <a:solidFill>
                  <a:srgbClr val="13285B"/>
                </a:solidFill>
                <a:latin typeface="Calibri" pitchFamily="34" charset="0"/>
                <a:ea typeface="Calibri" pitchFamily="34" charset="-122"/>
                <a:cs typeface="Calibri" pitchFamily="34" charset="-120"/>
              </a:rPr>
              <a:t>  (Adjacency Affinity Score)</a:t>
            </a:r>
            <a:endParaRPr lang="en-US" sz="1200" dirty="0"/>
          </a:p>
        </p:txBody>
      </p:sp>
      <p:sp>
        <p:nvSpPr>
          <p:cNvPr id="39" name="Text 37"/>
          <p:cNvSpPr txBox="1"/>
          <p:nvPr/>
        </p:nvSpPr>
        <p:spPr>
          <a:xfrm>
            <a:off x="8769096" y="1865376"/>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well the product fits Staples' catalog and customers</a:t>
            </a:r>
            <a:endParaRPr lang="en-US" sz="950" dirty="0"/>
          </a:p>
        </p:txBody>
      </p:sp>
      <p:sp>
        <p:nvSpPr>
          <p:cNvPr id="40" name="Shape 38"/>
          <p:cNvSpPr/>
          <p:nvPr/>
        </p:nvSpPr>
        <p:spPr>
          <a:xfrm>
            <a:off x="8641080" y="2304288"/>
            <a:ext cx="3136392" cy="694944"/>
          </a:xfrm>
          <a:prstGeom prst="roundRect">
            <a:avLst>
              <a:gd name="adj" fmla="val 10526"/>
            </a:avLst>
          </a:prstGeom>
          <a:solidFill>
            <a:srgbClr val="EEF3FB"/>
          </a:solidFill>
          <a:ln w="12700">
            <a:solidFill>
              <a:srgbClr val="EEF3FB"/>
            </a:solidFill>
            <a:prstDash val="solid"/>
          </a:ln>
        </p:spPr>
      </p:sp>
      <p:sp>
        <p:nvSpPr>
          <p:cNvPr id="41" name="Text 39"/>
          <p:cNvSpPr txBox="1"/>
          <p:nvPr/>
        </p:nvSpPr>
        <p:spPr>
          <a:xfrm>
            <a:off x="8769096" y="2359152"/>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CRS</a:t>
            </a:r>
            <a:pPr indent="0" marL="0">
              <a:buNone/>
            </a:pPr>
            <a:r>
              <a:rPr lang="en-US" sz="1050" b="1" dirty="0">
                <a:solidFill>
                  <a:srgbClr val="13285B"/>
                </a:solidFill>
                <a:latin typeface="Calibri" pitchFamily="34" charset="0"/>
                <a:ea typeface="Calibri" pitchFamily="34" charset="-122"/>
                <a:cs typeface="Calibri" pitchFamily="34" charset="-120"/>
              </a:rPr>
              <a:t>  (Cannibalisation Risk Score)</a:t>
            </a:r>
            <a:endParaRPr lang="en-US" sz="1200" dirty="0"/>
          </a:p>
        </p:txBody>
      </p:sp>
      <p:sp>
        <p:nvSpPr>
          <p:cNvPr id="42" name="Text 40"/>
          <p:cNvSpPr txBox="1"/>
          <p:nvPr/>
        </p:nvSpPr>
        <p:spPr>
          <a:xfrm>
            <a:off x="8769096" y="2633472"/>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close it is in function to a Staples product (0–100); higher = more likely to take 1P sales</a:t>
            </a:r>
            <a:endParaRPr lang="en-US" sz="950" dirty="0"/>
          </a:p>
        </p:txBody>
      </p:sp>
      <p:sp>
        <p:nvSpPr>
          <p:cNvPr id="43" name="Shape 41"/>
          <p:cNvSpPr/>
          <p:nvPr/>
        </p:nvSpPr>
        <p:spPr>
          <a:xfrm>
            <a:off x="8641080" y="3072384"/>
            <a:ext cx="3136392" cy="694944"/>
          </a:xfrm>
          <a:prstGeom prst="roundRect">
            <a:avLst>
              <a:gd name="adj" fmla="val 10526"/>
            </a:avLst>
          </a:prstGeom>
          <a:solidFill>
            <a:srgbClr val="EEF3FB"/>
          </a:solidFill>
          <a:ln w="12700">
            <a:solidFill>
              <a:srgbClr val="EEF3FB"/>
            </a:solidFill>
            <a:prstDash val="solid"/>
          </a:ln>
        </p:spPr>
      </p:sp>
      <p:sp>
        <p:nvSpPr>
          <p:cNvPr id="44" name="Text 42"/>
          <p:cNvSpPr txBox="1"/>
          <p:nvPr/>
        </p:nvSpPr>
        <p:spPr>
          <a:xfrm>
            <a:off x="8769096" y="3127248"/>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PPR</a:t>
            </a:r>
            <a:pPr indent="0" marL="0">
              <a:buNone/>
            </a:pPr>
            <a:r>
              <a:rPr lang="en-US" sz="1050" b="1" dirty="0">
                <a:solidFill>
                  <a:srgbClr val="13285B"/>
                </a:solidFill>
                <a:latin typeface="Calibri" pitchFamily="34" charset="0"/>
                <a:ea typeface="Calibri" pitchFamily="34" charset="-122"/>
                <a:cs typeface="Calibri" pitchFamily="34" charset="-120"/>
              </a:rPr>
              <a:t>  (Price Position Ratio)</a:t>
            </a:r>
            <a:endParaRPr lang="en-US" sz="1200" dirty="0"/>
          </a:p>
        </p:txBody>
      </p:sp>
      <p:sp>
        <p:nvSpPr>
          <p:cNvPr id="45" name="Text 43"/>
          <p:cNvSpPr txBox="1"/>
          <p:nvPr/>
        </p:nvSpPr>
        <p:spPr>
          <a:xfrm>
            <a:off x="8769096" y="3401568"/>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its price ÷ the median price of the nearest Staples products</a:t>
            </a:r>
            <a:endParaRPr lang="en-US" sz="950" dirty="0"/>
          </a:p>
        </p:txBody>
      </p:sp>
      <p:sp>
        <p:nvSpPr>
          <p:cNvPr id="46" name="Shape 44"/>
          <p:cNvSpPr/>
          <p:nvPr/>
        </p:nvSpPr>
        <p:spPr>
          <a:xfrm>
            <a:off x="8641080" y="3840480"/>
            <a:ext cx="3136392" cy="694944"/>
          </a:xfrm>
          <a:prstGeom prst="roundRect">
            <a:avLst>
              <a:gd name="adj" fmla="val 10526"/>
            </a:avLst>
          </a:prstGeom>
          <a:solidFill>
            <a:srgbClr val="EEF3FB"/>
          </a:solidFill>
          <a:ln w="12700">
            <a:solidFill>
              <a:srgbClr val="EEF3FB"/>
            </a:solidFill>
            <a:prstDash val="solid"/>
          </a:ln>
        </p:spPr>
      </p:sp>
      <p:sp>
        <p:nvSpPr>
          <p:cNvPr id="47" name="Text 45"/>
          <p:cNvSpPr txBox="1"/>
          <p:nvPr/>
        </p:nvSpPr>
        <p:spPr>
          <a:xfrm>
            <a:off x="8769096" y="3895344"/>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AD</a:t>
            </a:r>
            <a:pPr indent="0" marL="0">
              <a:buNone/>
            </a:pPr>
            <a:r>
              <a:rPr lang="en-US" sz="1050" b="1" dirty="0">
                <a:solidFill>
                  <a:srgbClr val="13285B"/>
                </a:solidFill>
                <a:latin typeface="Calibri" pitchFamily="34" charset="0"/>
                <a:ea typeface="Calibri" pitchFamily="34" charset="-122"/>
                <a:cs typeface="Calibri" pitchFamily="34" charset="-120"/>
              </a:rPr>
              <a:t>  (Aesthetic Delta)</a:t>
            </a:r>
            <a:endParaRPr lang="en-US" sz="1200" dirty="0"/>
          </a:p>
        </p:txBody>
      </p:sp>
      <p:sp>
        <p:nvSpPr>
          <p:cNvPr id="48" name="Text 46"/>
          <p:cNvSpPr txBox="1"/>
          <p:nvPr/>
        </p:nvSpPr>
        <p:spPr>
          <a:xfrm>
            <a:off x="8769096" y="4169664"/>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look difference from the nearest Staples product (colour, material, style)</a:t>
            </a:r>
            <a:endParaRPr lang="en-US" sz="950" dirty="0"/>
          </a:p>
        </p:txBody>
      </p:sp>
      <p:sp>
        <p:nvSpPr>
          <p:cNvPr id="49" name="Shape 47"/>
          <p:cNvSpPr/>
          <p:nvPr/>
        </p:nvSpPr>
        <p:spPr>
          <a:xfrm>
            <a:off x="8641080" y="4608576"/>
            <a:ext cx="3136392" cy="640080"/>
          </a:xfrm>
          <a:prstGeom prst="roundRect">
            <a:avLst>
              <a:gd name="adj" fmla="val 11429"/>
            </a:avLst>
          </a:prstGeom>
          <a:solidFill>
            <a:srgbClr val="13285B"/>
          </a:solidFill>
          <a:ln w="12700">
            <a:solidFill>
              <a:srgbClr val="13285B"/>
            </a:solidFill>
            <a:prstDash val="solid"/>
          </a:ln>
        </p:spPr>
      </p:sp>
      <p:sp>
        <p:nvSpPr>
          <p:cNvPr id="50" name="Text 48"/>
          <p:cNvSpPr txBox="1"/>
          <p:nvPr/>
        </p:nvSpPr>
        <p:spPr>
          <a:xfrm>
            <a:off x="8769096" y="4608576"/>
            <a:ext cx="2880360" cy="640080"/>
          </a:xfrm>
          <a:prstGeom prst="rect">
            <a:avLst/>
          </a:prstGeom>
          <a:noFill/>
          <a:ln/>
        </p:spPr>
        <p:txBody>
          <a:bodyPr wrap="square" lIns="0" tIns="0" rIns="0" bIns="0"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Green labels = safe for Method 1. </a:t>
            </a:r>
            <a:pPr indent="0" marL="0">
              <a:buNone/>
            </a:pPr>
            <a:r>
              <a:rPr lang="en-US" sz="1000" dirty="0">
                <a:solidFill>
                  <a:srgbClr val="FFFFFF"/>
                </a:solidFill>
                <a:latin typeface="Calibri" pitchFamily="34" charset="0"/>
                <a:ea typeface="Calibri" pitchFamily="34" charset="-122"/>
                <a:cs typeface="Calibri" pitchFamily="34" charset="-120"/>
              </a:rPr>
              <a:t>They are ranked by VOS (Vector Opportunity Score) and joined with Method 2's picks at the final gate.</a:t>
            </a:r>
            <a:endParaRPr lang="en-US" sz="10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2377440"/>
            <a:ext cx="7315200" cy="91440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3" name="Shape 1"/>
          <p:cNvSpPr/>
          <p:nvPr/>
        </p:nvSpPr>
        <p:spPr>
          <a:xfrm>
            <a:off x="658368" y="3364992"/>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520440"/>
            <a:ext cx="7315200" cy="457200"/>
          </a:xfrm>
          <a:prstGeom prst="rect">
            <a:avLst/>
          </a:prstGeom>
          <a:noFill/>
          <a:ln/>
        </p:spPr>
        <p:txBody>
          <a:bodyPr wrap="square" lIns="0" tIns="0" rIns="0" bIns="0" rtlCol="0" anchor="t"/>
          <a:lstStyle/>
          <a:p>
            <a:pPr indent="0" marL="0">
              <a:buNone/>
            </a:pPr>
            <a:r>
              <a:rPr lang="en-US" sz="2200" dirty="0">
                <a:solidFill>
                  <a:srgbClr val="CADCFC"/>
                </a:solidFill>
                <a:latin typeface="Calibri" pitchFamily="34" charset="0"/>
                <a:ea typeface="Calibri" pitchFamily="34" charset="-122"/>
                <a:cs typeface="Calibri" pitchFamily="34" charset="-120"/>
              </a:rPr>
              <a:t>Questions &amp; discussion</a:t>
            </a:r>
            <a:endParaRPr lang="en-US" sz="22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LatentView Analytics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Staples Marketplace: Assortment Gap and Archetype Recommendation PoC</dc:title>
  <dc:subject>PptxGenJS Presentation</dc:subject>
  <dc:creator>LatentView Analytics</dc:creator>
  <cp:lastModifiedBy>LatentView Analytics</cp:lastModifiedBy>
  <cp:revision>1</cp:revision>
  <dcterms:created xsi:type="dcterms:W3CDTF">2026-10-13T07:29:30Z</dcterms:created>
  <dcterms:modified xsi:type="dcterms:W3CDTF">2026-10-13T07:29:30Z</dcterms:modified>
</cp:coreProperties>
</file>