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d59a09e-95c5-df88-6e51-09b9edd74123}">
          <p14:sldIdLst>
            <p14:sldId id="256"/>
          </p14:sldIdLst>
        </p14:section>
        <p14:section name="Summary" id="{f42883fb-e39a-cf0a-9f1d-6bedcc3f3a97}">
          <p14:sldIdLst>
            <p14:sldId id="257"/>
            <p14:sldId id="258"/>
          </p14:sldIdLst>
        </p14:section>
        <p14:section name="Demo" id="{7059eac6-c0e2-4254-f6e8-b8766dd27779}">
          <p14:sldIdLst>
            <p14:sldId id="259"/>
          </p14:sldIdLst>
        </p14:section>
        <p14:section name="Next steps" id="{d570e4dc-7982-202e-7d53-3b461340e5ed}">
          <p14:sldIdLst>
            <p14:sldId id="260"/>
            <p14:sldId id="261"/>
          </p14:sldIdLst>
        </p14:section>
        <p14:section name="Appendix" id="{2fff95c8-f5ed-64f2-1360-2d6f8c346e36}">
          <p14:sldIdLst>
            <p14:sldId id="262"/>
          </p14:sldIdLst>
        </p14:section>
        <p14:section name="Close" id="{11d0b1a5-51a0-4c96-84d5-70e3506d87e7}">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897 archetypes compared → 99 pass the safety gates (23 Strong, 30 Vector-led, 45 Gap-led, 1 Conditional) → 263 example products, each shown beside the nearest Staples item → 13 brands already selling on Staples (at-A-Glance, BAGSMART, Bentgo, Blue Sky, CamelBak, Fringe, High Sierra, House of Doolittle, Mead, OttLite,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catalogue: wooden K-Cup pod drawers 0 of 50 coffee organisers (Strong: both methods; Staples sells 583 single-serve coffee items and 139 coffee makers); adult stainless bento 1 of 318 lunch bags (Strong); journals 0 of 805 planners (Gap-led); barrel chairs 0 of 116 accent chairs (Gap-led; the literal "White Chair").
Backup picks if asked: folding screens under $150 (0 of 99 partitions vs 20% of Wayfair's; Strong), statement wall clocks (Staples' clocks 60% plastic vs 5% at Wayfair; Strong),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Next steps: the first move in each of the five Project Continuation steps (same labels and headings as slide 5; click the link above the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continuation: the same engine, now on Staples' internal data. Order: deepen the 12 nodes first, then broaden.
1 Prioritise: join sales, traffic and search data to each archetype; profile buyers (SMB vs home, RFM, basket mix); re-rank each node's add-list by expected GMV and commission per segment (Hero / Probable / Non-Hero).
2 Protect: today's cannibalisation checks use supply only (how close a competitor product sits to Staples products). With Staples data we tune every safety-gate threshold with merchants (cannibalisation risk bands, price-position limits, fit-with-Staples cut-offs, picks per node; the merchant calibration session on slide 2 is the first move) and replace the supply proxy with real 1P sales overlap and substitution seen in baskets, plus price and margin floors per node.
3 Expand: once calibrated, point the engine at any Staples category and any competitor that represents the audience Staples wants (e.g. IKEA for small-space home offices, Target for students and Back-to-School, Etsy for gifting). A new competitor is one adapter entry and a new node one config file; no code change.
4 Curate: the same attribute and archetype engine scores every seller submission for fit, 1P overlap and price, feeding an approve / review / reject queue that learns from curator decisions (first move: vet the top picks, starting with the brands already on Staples).
5 Monitor: scheduled re-crawls flag new and closing gaps; pilot listings are tracked for GMV, attach rate and commission against the forecast, and results feed back into prioritisation.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Alternate growth paths, read left to right: sense demand early, size and validate it, then act on the basket and the catalogue. Each combines external signals with Staples data.
- Social media &amp; trend listening (social media analytics + trend listening): mentions, hashtags and saves per archetype on TikTok, Instagram, Pinterest and Reddit plus Google Trends, scored for growth and sentiment; rising styles feed the Explore nodes.
- SEO &amp; search-intent gaps: on-site searches (zero-result, high-exit) and external SEO keywords where competitors rank and Staples does not, mapped to archetypes; feeds seller recruiting and product pages.
- Demand forecasting: per node and archetype from sales history, with Back-to-School seasonality and the trend signals from social listening; sizes GMV and commission before listing.
- Market research &amp; customer surveys (market research + market survey): SMB and home customers on unmet needs, style and price; concept tests of the top archetypes; results set the prioritisation weights.
- Basket completion &amp; Back-to-School kits: market-basket analysis finds missing complements; target 1–2 attach items per order (the brief's basket goal).
- New-category whitespace: the PoC already set aside 8,399 competitor product families that fit none of the 12 nodes (e.g. wall calendars, thermocoolers, reusable bags, briefcases, many of which Staples shelves elsewhere); running the engine against the whole Staples tree, plus the brief's adjacent verticals such as facility supplies, finds categories with no Staples home.
Further options if asked: B2B account cross-sell, seller recruitment scoring, listing content enrichment (our attribute extractor auto-tags seller listings for filters and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S0–S2: ingest and clean the three sources (PII from Wayfair reviews removed), merge colour/size variants into product families, map each competitor product to the right Staples node with a k-NN classifier over all Staples nodes. S3–S4: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S5: Method 1 in embedding space (whitespace, fit with Staples, aesthetic difference, cannibalisation risk, price position) gives VOS. S6: Method 2 on attribute shares (share gap, price, colour, material/style, design) gives TG, with its own attribute cannibalisation check (ACR). S7: each method has its own safety gate; the final gate takes the union and tiers it. S8: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continue on the Project Continuation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slideLayout" Target="../slideLayouts/slideLayout3.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amazon.com/dp/B0DBH21SRN" TargetMode="External"/><Relationship Id="rId4" Type="http://schemas.openxmlformats.org/officeDocument/2006/relationships/hyperlink" Target="https://www.amazon.com/dp/B0716B2ZFK" TargetMode="External"/><Relationship Id="rId6" Type="http://schemas.openxmlformats.org/officeDocument/2006/relationships/hyperlink" Target="https://www.amazon.com/dp/B0BJ34MZ1J" TargetMode="External"/><Relationship Id="rId8"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9" Type="http://schemas.openxmlformats.org/officeDocument/2006/relationships/slide" Target="slide5.xm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image" Target="../media/image-2-6.png"/><Relationship Id="rId12" Type="http://schemas.openxmlformats.org/officeDocument/2006/relationships/image" Target="../media/image-2-7.png"/><Relationship Id="rId13" Type="http://schemas.openxmlformats.org/officeDocument/2006/relationships/image" Target="../media/image-2-8.png"/><Relationship Id="rId14" Type="http://schemas.openxmlformats.org/officeDocument/2006/relationships/image" Target="../media/image-2-9.png"/><Relationship Id="rId15" Type="http://schemas.openxmlformats.org/officeDocument/2006/relationships/slideLayout" Target="../slideLayouts/slideLayout2.xml"/><Relationship Id="rId1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Text 4"/>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7" name="Shape 5"/>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8" name="Image 0" descr="preencoded.png">    </p:cNvPr>
          <p:cNvPicPr>
            <a:picLocks noChangeAspect="1"/>
          </p:cNvPicPr>
          <p:nvPr/>
        </p:nvPicPr>
        <p:blipFill>
          <a:blip r:embed="rId1"/>
          <a:stretch>
            <a:fillRect/>
          </a:stretch>
        </p:blipFill>
        <p:spPr>
          <a:xfrm>
            <a:off x="7991856" y="950976"/>
            <a:ext cx="475488" cy="475488"/>
          </a:xfrm>
          <a:prstGeom prst="rect">
            <a:avLst/>
          </a:prstGeom>
        </p:spPr>
      </p:pic>
      <p:sp>
        <p:nvSpPr>
          <p:cNvPr id="9" name="Text 6"/>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0" name="Shape 7"/>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1" name="Image 1" descr="preencoded.png">    </p:cNvPr>
          <p:cNvPicPr>
            <a:picLocks noChangeAspect="1"/>
          </p:cNvPicPr>
          <p:nvPr/>
        </p:nvPicPr>
        <p:blipFill>
          <a:blip r:embed="rId2"/>
          <a:stretch>
            <a:fillRect/>
          </a:stretch>
        </p:blipFill>
        <p:spPr>
          <a:xfrm>
            <a:off x="7991856" y="2322576"/>
            <a:ext cx="475488" cy="475488"/>
          </a:xfrm>
          <a:prstGeom prst="rect">
            <a:avLst/>
          </a:prstGeom>
        </p:spPr>
      </p:pic>
      <p:sp>
        <p:nvSpPr>
          <p:cNvPr id="12" name="Text 8"/>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3" name="Shape 9"/>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4" name="Image 2" descr="preencoded.png">    </p:cNvPr>
          <p:cNvPicPr>
            <a:picLocks noChangeAspect="1"/>
          </p:cNvPicPr>
          <p:nvPr/>
        </p:nvPicPr>
        <p:blipFill>
          <a:blip r:embed="rId3"/>
          <a:stretch>
            <a:fillRect/>
          </a:stretch>
        </p:blipFill>
        <p:spPr>
          <a:xfrm>
            <a:off x="7991856" y="3694176"/>
            <a:ext cx="475488" cy="475488"/>
          </a:xfrm>
          <a:prstGeom prst="rect">
            <a:avLst/>
          </a:prstGeom>
        </p:spPr>
      </p:pic>
      <p:sp>
        <p:nvSpPr>
          <p:cNvPr id="15" name="Text 10"/>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16" name="Shape 11"/>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17" name="Image 3" descr="preencoded.png">    </p:cNvPr>
          <p:cNvPicPr>
            <a:picLocks noChangeAspect="1"/>
          </p:cNvPicPr>
          <p:nvPr/>
        </p:nvPicPr>
        <p:blipFill>
          <a:blip r:embed="rId4"/>
          <a:stretch>
            <a:fillRect/>
          </a:stretch>
        </p:blipFill>
        <p:spPr>
          <a:xfrm>
            <a:off x="7991856" y="5065776"/>
            <a:ext cx="475488" cy="475488"/>
          </a:xfrm>
          <a:prstGeom prst="rect">
            <a:avLst/>
          </a:prstGeom>
        </p:spPr>
      </p:pic>
      <p:sp>
        <p:nvSpPr>
          <p:cNvPr id="18" name="Text 12"/>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19" name="Text 13"/>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0" name="Shape 14"/>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1" name="Image 4" descr="preencoded.png">    </p:cNvPr>
          <p:cNvPicPr>
            <a:picLocks noChangeAspect="1"/>
          </p:cNvPicPr>
          <p:nvPr/>
        </p:nvPicPr>
        <p:blipFill>
          <a:blip r:embed="rId5"/>
          <a:stretch>
            <a:fillRect/>
          </a:stretch>
        </p:blipFill>
        <p:spPr>
          <a:xfrm>
            <a:off x="9317736" y="950976"/>
            <a:ext cx="475488" cy="475488"/>
          </a:xfrm>
          <a:prstGeom prst="rect">
            <a:avLst/>
          </a:prstGeom>
        </p:spPr>
      </p:pic>
      <p:sp>
        <p:nvSpPr>
          <p:cNvPr id="22" name="Text 15"/>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3" name="Shape 16"/>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4" name="Image 5" descr="preencoded.png">    </p:cNvPr>
          <p:cNvPicPr>
            <a:picLocks noChangeAspect="1"/>
          </p:cNvPicPr>
          <p:nvPr/>
        </p:nvPicPr>
        <p:blipFill>
          <a:blip r:embed="rId6"/>
          <a:stretch>
            <a:fillRect/>
          </a:stretch>
        </p:blipFill>
        <p:spPr>
          <a:xfrm>
            <a:off x="9317736" y="2322576"/>
            <a:ext cx="475488" cy="475488"/>
          </a:xfrm>
          <a:prstGeom prst="rect">
            <a:avLst/>
          </a:prstGeom>
        </p:spPr>
      </p:pic>
      <p:sp>
        <p:nvSpPr>
          <p:cNvPr id="25" name="Text 17"/>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26" name="Shape 18"/>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27" name="Image 6" descr="preencoded.png">    </p:cNvPr>
          <p:cNvPicPr>
            <a:picLocks noChangeAspect="1"/>
          </p:cNvPicPr>
          <p:nvPr/>
        </p:nvPicPr>
        <p:blipFill>
          <a:blip r:embed="rId7"/>
          <a:stretch>
            <a:fillRect/>
          </a:stretch>
        </p:blipFill>
        <p:spPr>
          <a:xfrm>
            <a:off x="9317736" y="3694176"/>
            <a:ext cx="475488" cy="475488"/>
          </a:xfrm>
          <a:prstGeom prst="rect">
            <a:avLst/>
          </a:prstGeom>
        </p:spPr>
      </p:pic>
      <p:sp>
        <p:nvSpPr>
          <p:cNvPr id="28" name="Text 19"/>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29" name="Shape 20"/>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0" name="Image 7" descr="preencoded.png">    </p:cNvPr>
          <p:cNvPicPr>
            <a:picLocks noChangeAspect="1"/>
          </p:cNvPicPr>
          <p:nvPr/>
        </p:nvPicPr>
        <p:blipFill>
          <a:blip r:embed="rId8"/>
          <a:stretch>
            <a:fillRect/>
          </a:stretch>
        </p:blipFill>
        <p:spPr>
          <a:xfrm>
            <a:off x="9317736" y="5065776"/>
            <a:ext cx="475488" cy="475488"/>
          </a:xfrm>
          <a:prstGeom prst="rect">
            <a:avLst/>
          </a:prstGeom>
        </p:spPr>
      </p:pic>
      <p:sp>
        <p:nvSpPr>
          <p:cNvPr id="31" name="Text 21"/>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2" name="Text 22"/>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3" name="Shape 23"/>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4" name="Image 8" descr="preencoded.png">    </p:cNvPr>
          <p:cNvPicPr>
            <a:picLocks noChangeAspect="1"/>
          </p:cNvPicPr>
          <p:nvPr/>
        </p:nvPicPr>
        <p:blipFill>
          <a:blip r:embed="rId9"/>
          <a:stretch>
            <a:fillRect/>
          </a:stretch>
        </p:blipFill>
        <p:spPr>
          <a:xfrm>
            <a:off x="10643616" y="950976"/>
            <a:ext cx="475488" cy="475488"/>
          </a:xfrm>
          <a:prstGeom prst="rect">
            <a:avLst/>
          </a:prstGeom>
        </p:spPr>
      </p:pic>
      <p:sp>
        <p:nvSpPr>
          <p:cNvPr id="35" name="Text 24"/>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36" name="Shape 25"/>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37" name="Image 9" descr="preencoded.png">    </p:cNvPr>
          <p:cNvPicPr>
            <a:picLocks noChangeAspect="1"/>
          </p:cNvPicPr>
          <p:nvPr/>
        </p:nvPicPr>
        <p:blipFill>
          <a:blip r:embed="rId10"/>
          <a:stretch>
            <a:fillRect/>
          </a:stretch>
        </p:blipFill>
        <p:spPr>
          <a:xfrm>
            <a:off x="10643616" y="2322576"/>
            <a:ext cx="475488" cy="475488"/>
          </a:xfrm>
          <a:prstGeom prst="rect">
            <a:avLst/>
          </a:prstGeom>
        </p:spPr>
      </p:pic>
      <p:sp>
        <p:nvSpPr>
          <p:cNvPr id="38" name="Text 26"/>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39" name="Shape 27"/>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0" name="Image 10" descr="preencoded.png">    </p:cNvPr>
          <p:cNvPicPr>
            <a:picLocks noChangeAspect="1"/>
          </p:cNvPicPr>
          <p:nvPr/>
        </p:nvPicPr>
        <p:blipFill>
          <a:blip r:embed="rId11"/>
          <a:stretch>
            <a:fillRect/>
          </a:stretch>
        </p:blipFill>
        <p:spPr>
          <a:xfrm>
            <a:off x="10643616" y="3694176"/>
            <a:ext cx="475488" cy="475488"/>
          </a:xfrm>
          <a:prstGeom prst="rect">
            <a:avLst/>
          </a:prstGeom>
        </p:spPr>
      </p:pic>
      <p:sp>
        <p:nvSpPr>
          <p:cNvPr id="41" name="Text 28"/>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2" name="Shape 29"/>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3" name="Image 11" descr="preencoded.png">    </p:cNvPr>
          <p:cNvPicPr>
            <a:picLocks noChangeAspect="1"/>
          </p:cNvPicPr>
          <p:nvPr/>
        </p:nvPicPr>
        <p:blipFill>
          <a:blip r:embed="rId12"/>
          <a:stretch>
            <a:fillRect/>
          </a:stretch>
        </p:blipFill>
        <p:spPr>
          <a:xfrm>
            <a:off x="10643616" y="5065776"/>
            <a:ext cx="475488" cy="475488"/>
          </a:xfrm>
          <a:prstGeom prst="rect">
            <a:avLst/>
          </a:prstGeom>
        </p:spPr>
      </p:pic>
      <p:sp>
        <p:nvSpPr>
          <p:cNvPr id="44" name="Text 30"/>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("White Chair") products can Staples add to its marketplace without cannibalising 1P sales, using only external data?</a:t>
            </a:r>
            <a:endParaRPr lang="en-US" sz="1250" dirty="0"/>
          </a:p>
        </p:txBody>
      </p:sp>
      <p:sp>
        <p:nvSpPr>
          <p:cNvPr id="6" name="Shape 4"/>
          <p:cNvSpPr/>
          <p:nvPr/>
        </p:nvSpPr>
        <p:spPr>
          <a:xfrm>
            <a:off x="411480" y="1682496"/>
            <a:ext cx="2053742" cy="841248"/>
          </a:xfrm>
          <a:prstGeom prst="roundRect">
            <a:avLst>
              <a:gd name="adj" fmla="val 10870"/>
            </a:avLst>
          </a:prstGeom>
          <a:solidFill>
            <a:srgbClr val="EEF3FB"/>
          </a:solidFill>
          <a:ln w="12700">
            <a:solidFill>
              <a:srgbClr val="EEF3FB"/>
            </a:solidFill>
            <a:prstDash val="solid"/>
          </a:ln>
        </p:spPr>
      </p:sp>
      <p:sp>
        <p:nvSpPr>
          <p:cNvPr id="7" name="Text 5"/>
          <p:cNvSpPr txBox="1"/>
          <p:nvPr/>
        </p:nvSpPr>
        <p:spPr>
          <a:xfrm>
            <a:off x="484632" y="1700784"/>
            <a:ext cx="1907438" cy="402336"/>
          </a:xfrm>
          <a:prstGeom prst="rect">
            <a:avLst/>
          </a:prstGeom>
          <a:noFill/>
          <a:ln/>
        </p:spPr>
        <p:txBody>
          <a:bodyPr wrap="square" lIns="0" tIns="0" rIns="0" bIns="0" rtlCol="0" anchor="ctr"/>
          <a:lstStyle/>
          <a:p>
            <a:pPr algn="ctr" indent="0" marL="0">
              <a:buNone/>
            </a:pPr>
            <a:r>
              <a:rPr lang="en-US" sz="2600" b="1" dirty="0">
                <a:solidFill>
                  <a:srgbClr val="1F4E9A"/>
                </a:solidFill>
                <a:latin typeface="Calibri" pitchFamily="34" charset="0"/>
                <a:ea typeface="Calibri" pitchFamily="34" charset="-122"/>
                <a:cs typeface="Calibri" pitchFamily="34" charset="-120"/>
              </a:rPr>
              <a:t>12</a:t>
            </a:r>
            <a:endParaRPr lang="en-US" sz="2600" dirty="0"/>
          </a:p>
        </p:txBody>
      </p:sp>
      <p:sp>
        <p:nvSpPr>
          <p:cNvPr id="8" name="Text 6"/>
          <p:cNvSpPr txBox="1"/>
          <p:nvPr/>
        </p:nvSpPr>
        <p:spPr>
          <a:xfrm>
            <a:off x="539496" y="2103120"/>
            <a:ext cx="1797710" cy="384048"/>
          </a:xfrm>
          <a:prstGeom prst="rect">
            <a:avLst/>
          </a:prstGeom>
          <a:noFill/>
          <a:ln/>
        </p:spPr>
        <p:txBody>
          <a:bodyPr wrap="square" lIns="0" tIns="0" rIns="0" bIns="0"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Staples nodes across 3 segments, vs Amazon &amp; Wayfair</a:t>
            </a:r>
            <a:endParaRPr lang="en-US" sz="1000" dirty="0"/>
          </a:p>
        </p:txBody>
      </p:sp>
      <p:sp>
        <p:nvSpPr>
          <p:cNvPr id="9" name="Shape 7"/>
          <p:cNvSpPr/>
          <p:nvPr/>
        </p:nvSpPr>
        <p:spPr>
          <a:xfrm>
            <a:off x="2510942" y="1975104"/>
            <a:ext cx="182880" cy="256032"/>
          </a:xfrm>
          <a:prstGeom prst="rightArrow">
            <a:avLst/>
          </a:prstGeom>
          <a:solidFill>
            <a:srgbClr val="A9C3EE"/>
          </a:solidFill>
          <a:ln w="12700">
            <a:solidFill>
              <a:srgbClr val="A9C3EE"/>
            </a:solidFill>
            <a:prstDash val="solid"/>
          </a:ln>
        </p:spPr>
      </p:sp>
      <p:sp>
        <p:nvSpPr>
          <p:cNvPr id="10" name="Shape 8"/>
          <p:cNvSpPr/>
          <p:nvPr/>
        </p:nvSpPr>
        <p:spPr>
          <a:xfrm>
            <a:off x="2739542" y="1682496"/>
            <a:ext cx="2053742" cy="841248"/>
          </a:xfrm>
          <a:prstGeom prst="roundRect">
            <a:avLst>
              <a:gd name="adj" fmla="val 10870"/>
            </a:avLst>
          </a:prstGeom>
          <a:solidFill>
            <a:srgbClr val="EEF3FB"/>
          </a:solidFill>
          <a:ln w="12700">
            <a:solidFill>
              <a:srgbClr val="EEF3FB"/>
            </a:solidFill>
            <a:prstDash val="solid"/>
          </a:ln>
        </p:spPr>
      </p:sp>
      <p:sp>
        <p:nvSpPr>
          <p:cNvPr id="11" name="Text 9"/>
          <p:cNvSpPr txBox="1"/>
          <p:nvPr/>
        </p:nvSpPr>
        <p:spPr>
          <a:xfrm>
            <a:off x="2812694" y="1700784"/>
            <a:ext cx="1907438" cy="402336"/>
          </a:xfrm>
          <a:prstGeom prst="rect">
            <a:avLst/>
          </a:prstGeom>
          <a:noFill/>
          <a:ln/>
        </p:spPr>
        <p:txBody>
          <a:bodyPr wrap="square" lIns="0" tIns="0" rIns="0" bIns="0" rtlCol="0" anchor="ctr"/>
          <a:lstStyle/>
          <a:p>
            <a:pPr algn="ctr" indent="0" marL="0">
              <a:buNone/>
            </a:pPr>
            <a:r>
              <a:rPr lang="en-US" sz="2600" b="1" dirty="0">
                <a:solidFill>
                  <a:srgbClr val="1F4E9A"/>
                </a:solidFill>
                <a:latin typeface="Calibri" pitchFamily="34" charset="0"/>
                <a:ea typeface="Calibri" pitchFamily="34" charset="-122"/>
                <a:cs typeface="Calibri" pitchFamily="34" charset="-120"/>
              </a:rPr>
              <a:t>19.9K</a:t>
            </a:r>
            <a:endParaRPr lang="en-US" sz="2600" dirty="0"/>
          </a:p>
        </p:txBody>
      </p:sp>
      <p:sp>
        <p:nvSpPr>
          <p:cNvPr id="12" name="Text 10"/>
          <p:cNvSpPr txBox="1"/>
          <p:nvPr/>
        </p:nvSpPr>
        <p:spPr>
          <a:xfrm>
            <a:off x="2867558" y="2103120"/>
            <a:ext cx="1797710" cy="384048"/>
          </a:xfrm>
          <a:prstGeom prst="rect">
            <a:avLst/>
          </a:prstGeom>
          <a:noFill/>
          <a:ln/>
        </p:spPr>
        <p:txBody>
          <a:bodyPr wrap="square" lIns="0" tIns="0" rIns="0" bIns="0"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product families analysed: 3.4K Staples, 16.5K competitor</a:t>
            </a:r>
            <a:endParaRPr lang="en-US" sz="1000" dirty="0"/>
          </a:p>
        </p:txBody>
      </p:sp>
      <p:sp>
        <p:nvSpPr>
          <p:cNvPr id="13" name="Shape 11"/>
          <p:cNvSpPr/>
          <p:nvPr/>
        </p:nvSpPr>
        <p:spPr>
          <a:xfrm>
            <a:off x="4839005" y="1975104"/>
            <a:ext cx="182880" cy="256032"/>
          </a:xfrm>
          <a:prstGeom prst="rightArrow">
            <a:avLst/>
          </a:prstGeom>
          <a:solidFill>
            <a:srgbClr val="A9C3EE"/>
          </a:solidFill>
          <a:ln w="12700">
            <a:solidFill>
              <a:srgbClr val="A9C3EE"/>
            </a:solidFill>
            <a:prstDash val="solid"/>
          </a:ln>
        </p:spPr>
      </p:sp>
      <p:sp>
        <p:nvSpPr>
          <p:cNvPr id="14" name="Shape 12"/>
          <p:cNvSpPr/>
          <p:nvPr/>
        </p:nvSpPr>
        <p:spPr>
          <a:xfrm>
            <a:off x="5067605" y="1682496"/>
            <a:ext cx="2053742" cy="841248"/>
          </a:xfrm>
          <a:prstGeom prst="roundRect">
            <a:avLst>
              <a:gd name="adj" fmla="val 10870"/>
            </a:avLst>
          </a:prstGeom>
          <a:solidFill>
            <a:srgbClr val="EEF3FB"/>
          </a:solidFill>
          <a:ln w="12700">
            <a:solidFill>
              <a:srgbClr val="EEF3FB"/>
            </a:solidFill>
            <a:prstDash val="solid"/>
          </a:ln>
        </p:spPr>
      </p:sp>
      <p:sp>
        <p:nvSpPr>
          <p:cNvPr id="15" name="Text 13"/>
          <p:cNvSpPr txBox="1"/>
          <p:nvPr/>
        </p:nvSpPr>
        <p:spPr>
          <a:xfrm>
            <a:off x="5140757" y="1700784"/>
            <a:ext cx="1907438" cy="402336"/>
          </a:xfrm>
          <a:prstGeom prst="rect">
            <a:avLst/>
          </a:prstGeom>
          <a:noFill/>
          <a:ln/>
        </p:spPr>
        <p:txBody>
          <a:bodyPr wrap="square" lIns="0" tIns="0" rIns="0" bIns="0" rtlCol="0" anchor="ctr"/>
          <a:lstStyle/>
          <a:p>
            <a:pPr algn="ctr" indent="0" marL="0">
              <a:buNone/>
            </a:pPr>
            <a:r>
              <a:rPr lang="en-US" sz="2600" b="1" dirty="0">
                <a:solidFill>
                  <a:srgbClr val="1F4E9A"/>
                </a:solidFill>
                <a:latin typeface="Calibri" pitchFamily="34" charset="0"/>
                <a:ea typeface="Calibri" pitchFamily="34" charset="-122"/>
                <a:cs typeface="Calibri" pitchFamily="34" charset="-120"/>
              </a:rPr>
              <a:t>897</a:t>
            </a:r>
            <a:endParaRPr lang="en-US" sz="2600" dirty="0"/>
          </a:p>
        </p:txBody>
      </p:sp>
      <p:sp>
        <p:nvSpPr>
          <p:cNvPr id="16" name="Text 14"/>
          <p:cNvSpPr txBox="1"/>
          <p:nvPr/>
        </p:nvSpPr>
        <p:spPr>
          <a:xfrm>
            <a:off x="5195621" y="2103120"/>
            <a:ext cx="1797710" cy="384048"/>
          </a:xfrm>
          <a:prstGeom prst="rect">
            <a:avLst/>
          </a:prstGeom>
          <a:noFill/>
          <a:ln/>
        </p:spPr>
        <p:txBody>
          <a:bodyPr wrap="square" lIns="0" tIns="0" rIns="0" bIns="0"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archetypes (attribute combinations) compared</a:t>
            </a:r>
            <a:endParaRPr lang="en-US" sz="1000" dirty="0"/>
          </a:p>
        </p:txBody>
      </p:sp>
      <p:sp>
        <p:nvSpPr>
          <p:cNvPr id="17" name="Shape 15"/>
          <p:cNvSpPr/>
          <p:nvPr/>
        </p:nvSpPr>
        <p:spPr>
          <a:xfrm>
            <a:off x="7167067" y="1975104"/>
            <a:ext cx="182880" cy="256032"/>
          </a:xfrm>
          <a:prstGeom prst="rightArrow">
            <a:avLst/>
          </a:prstGeom>
          <a:solidFill>
            <a:srgbClr val="A9C3EE"/>
          </a:solidFill>
          <a:ln w="12700">
            <a:solidFill>
              <a:srgbClr val="A9C3EE"/>
            </a:solidFill>
            <a:prstDash val="solid"/>
          </a:ln>
        </p:spPr>
      </p:sp>
      <p:sp>
        <p:nvSpPr>
          <p:cNvPr id="18" name="Shape 16"/>
          <p:cNvSpPr/>
          <p:nvPr/>
        </p:nvSpPr>
        <p:spPr>
          <a:xfrm>
            <a:off x="7395667" y="1682496"/>
            <a:ext cx="2053742" cy="841248"/>
          </a:xfrm>
          <a:prstGeom prst="roundRect">
            <a:avLst>
              <a:gd name="adj" fmla="val 10870"/>
            </a:avLst>
          </a:prstGeom>
          <a:solidFill>
            <a:srgbClr val="EEF3FB"/>
          </a:solidFill>
          <a:ln w="12700">
            <a:solidFill>
              <a:srgbClr val="EEF3FB"/>
            </a:solidFill>
            <a:prstDash val="solid"/>
          </a:ln>
        </p:spPr>
      </p:sp>
      <p:sp>
        <p:nvSpPr>
          <p:cNvPr id="19" name="Text 17"/>
          <p:cNvSpPr txBox="1"/>
          <p:nvPr/>
        </p:nvSpPr>
        <p:spPr>
          <a:xfrm>
            <a:off x="7468819" y="1700784"/>
            <a:ext cx="1907438" cy="402336"/>
          </a:xfrm>
          <a:prstGeom prst="rect">
            <a:avLst/>
          </a:prstGeom>
          <a:noFill/>
          <a:ln/>
        </p:spPr>
        <p:txBody>
          <a:bodyPr wrap="square" lIns="0" tIns="0" rIns="0" bIns="0" rtlCol="0" anchor="ctr"/>
          <a:lstStyle/>
          <a:p>
            <a:pPr algn="ctr" indent="0" marL="0">
              <a:buNone/>
            </a:pPr>
            <a:r>
              <a:rPr lang="en-US" sz="2600" b="1" dirty="0">
                <a:solidFill>
                  <a:srgbClr val="1F4E9A"/>
                </a:solidFill>
                <a:latin typeface="Calibri" pitchFamily="34" charset="0"/>
                <a:ea typeface="Calibri" pitchFamily="34" charset="-122"/>
                <a:cs typeface="Calibri" pitchFamily="34" charset="-120"/>
              </a:rPr>
              <a:t>99</a:t>
            </a:r>
            <a:endParaRPr lang="en-US" sz="2600" dirty="0"/>
          </a:p>
        </p:txBody>
      </p:sp>
      <p:sp>
        <p:nvSpPr>
          <p:cNvPr id="20" name="Text 18"/>
          <p:cNvSpPr txBox="1"/>
          <p:nvPr/>
        </p:nvSpPr>
        <p:spPr>
          <a:xfrm>
            <a:off x="7523683" y="2103120"/>
            <a:ext cx="1797710" cy="384048"/>
          </a:xfrm>
          <a:prstGeom prst="rect">
            <a:avLst/>
          </a:prstGeom>
          <a:noFill/>
          <a:ln/>
        </p:spPr>
        <p:txBody>
          <a:bodyPr wrap="square" lIns="0" tIns="0" rIns="0" bIns="0"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safe to add; 23 confirmed by both methods</a:t>
            </a:r>
            <a:endParaRPr lang="en-US" sz="1000" dirty="0"/>
          </a:p>
        </p:txBody>
      </p:sp>
      <p:sp>
        <p:nvSpPr>
          <p:cNvPr id="21" name="Shape 19"/>
          <p:cNvSpPr/>
          <p:nvPr/>
        </p:nvSpPr>
        <p:spPr>
          <a:xfrm>
            <a:off x="9495130" y="1975104"/>
            <a:ext cx="182880" cy="256032"/>
          </a:xfrm>
          <a:prstGeom prst="rightArrow">
            <a:avLst/>
          </a:prstGeom>
          <a:solidFill>
            <a:srgbClr val="A9C3EE"/>
          </a:solidFill>
          <a:ln w="12700">
            <a:solidFill>
              <a:srgbClr val="A9C3EE"/>
            </a:solidFill>
            <a:prstDash val="solid"/>
          </a:ln>
        </p:spPr>
      </p:sp>
      <p:sp>
        <p:nvSpPr>
          <p:cNvPr id="22" name="Shape 20"/>
          <p:cNvSpPr/>
          <p:nvPr/>
        </p:nvSpPr>
        <p:spPr>
          <a:xfrm>
            <a:off x="9723730" y="1682496"/>
            <a:ext cx="2053742" cy="841248"/>
          </a:xfrm>
          <a:prstGeom prst="roundRect">
            <a:avLst>
              <a:gd name="adj" fmla="val 10870"/>
            </a:avLst>
          </a:prstGeom>
          <a:solidFill>
            <a:srgbClr val="EEF3FB"/>
          </a:solidFill>
          <a:ln w="12700">
            <a:solidFill>
              <a:srgbClr val="EEF3FB"/>
            </a:solidFill>
            <a:prstDash val="solid"/>
          </a:ln>
        </p:spPr>
      </p:sp>
      <p:sp>
        <p:nvSpPr>
          <p:cNvPr id="23" name="Text 21"/>
          <p:cNvSpPr txBox="1"/>
          <p:nvPr/>
        </p:nvSpPr>
        <p:spPr>
          <a:xfrm>
            <a:off x="9796882" y="1700784"/>
            <a:ext cx="1907438" cy="402336"/>
          </a:xfrm>
          <a:prstGeom prst="rect">
            <a:avLst/>
          </a:prstGeom>
          <a:noFill/>
          <a:ln/>
        </p:spPr>
        <p:txBody>
          <a:bodyPr wrap="square" lIns="0" tIns="0" rIns="0" bIns="0" rtlCol="0" anchor="ctr"/>
          <a:lstStyle/>
          <a:p>
            <a:pPr algn="ctr" indent="0" marL="0">
              <a:buNone/>
            </a:pPr>
            <a:r>
              <a:rPr lang="en-US" sz="2600" b="1" dirty="0">
                <a:solidFill>
                  <a:srgbClr val="1F4E9A"/>
                </a:solidFill>
                <a:latin typeface="Calibri" pitchFamily="34" charset="0"/>
                <a:ea typeface="Calibri" pitchFamily="34" charset="-122"/>
                <a:cs typeface="Calibri" pitchFamily="34" charset="-120"/>
              </a:rPr>
              <a:t>263</a:t>
            </a:r>
            <a:endParaRPr lang="en-US" sz="2600" dirty="0"/>
          </a:p>
        </p:txBody>
      </p:sp>
      <p:sp>
        <p:nvSpPr>
          <p:cNvPr id="24" name="Text 22"/>
          <p:cNvSpPr txBox="1"/>
          <p:nvPr/>
        </p:nvSpPr>
        <p:spPr>
          <a:xfrm>
            <a:off x="9851746" y="2103120"/>
            <a:ext cx="1797710" cy="384048"/>
          </a:xfrm>
          <a:prstGeom prst="rect">
            <a:avLst/>
          </a:prstGeom>
          <a:noFill/>
          <a:ln/>
        </p:spPr>
        <p:txBody>
          <a:bodyPr wrap="square" lIns="0" tIns="0" rIns="0" bIns="0"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example products ready to list</a:t>
            </a:r>
            <a:endParaRPr lang="en-US" sz="1000" dirty="0"/>
          </a:p>
        </p:txBody>
      </p:sp>
      <p:sp>
        <p:nvSpPr>
          <p:cNvPr id="25" name="Text 23"/>
          <p:cNvSpPr txBox="1"/>
          <p:nvPr/>
        </p:nvSpPr>
        <p:spPr>
          <a:xfrm>
            <a:off x="411480" y="2670048"/>
            <a:ext cx="640080" cy="420624"/>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HOW</a:t>
            </a:r>
            <a:endParaRPr lang="en-US" sz="1200" dirty="0"/>
          </a:p>
        </p:txBody>
      </p:sp>
      <p:sp>
        <p:nvSpPr>
          <p:cNvPr id="26" name="Shape 24"/>
          <p:cNvSpPr/>
          <p:nvPr/>
        </p:nvSpPr>
        <p:spPr>
          <a:xfrm>
            <a:off x="1051560" y="2670048"/>
            <a:ext cx="2514600" cy="420624"/>
          </a:xfrm>
          <a:prstGeom prst="homePlate">
            <a:avLst/>
          </a:prstGeom>
          <a:solidFill>
            <a:srgbClr val="2F5DAA"/>
          </a:solidFill>
          <a:ln w="12700">
            <a:solidFill>
              <a:srgbClr val="FFFFFF"/>
            </a:solidFill>
            <a:prstDash val="solid"/>
          </a:ln>
        </p:spPr>
      </p:sp>
      <p:sp>
        <p:nvSpPr>
          <p:cNvPr id="27" name="Text 25"/>
          <p:cNvSpPr txBox="1"/>
          <p:nvPr/>
        </p:nvSpPr>
        <p:spPr>
          <a:xfrm>
            <a:off x="1161288" y="2670048"/>
            <a:ext cx="2130552"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 products across 3 retailers</a:t>
            </a:r>
            <a:endParaRPr lang="en-US" sz="1100" dirty="0"/>
          </a:p>
        </p:txBody>
      </p:sp>
      <p:sp>
        <p:nvSpPr>
          <p:cNvPr id="28" name="Shape 26"/>
          <p:cNvSpPr/>
          <p:nvPr/>
        </p:nvSpPr>
        <p:spPr>
          <a:xfrm>
            <a:off x="3493008" y="2670048"/>
            <a:ext cx="2514600" cy="420624"/>
          </a:xfrm>
          <a:prstGeom prst="chevron">
            <a:avLst/>
          </a:prstGeom>
          <a:solidFill>
            <a:srgbClr val="5A82C8"/>
          </a:solidFill>
          <a:ln w="12700">
            <a:solidFill>
              <a:srgbClr val="FFFFFF"/>
            </a:solidFill>
            <a:prstDash val="solid"/>
          </a:ln>
        </p:spPr>
      </p:sp>
      <p:sp>
        <p:nvSpPr>
          <p:cNvPr id="29" name="Text 27"/>
          <p:cNvSpPr txBox="1"/>
          <p:nvPr/>
        </p:nvSpPr>
        <p:spPr>
          <a:xfrm>
            <a:off x="3749040" y="2670048"/>
            <a:ext cx="205740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Profile look, function &amp; lifestyle</a:t>
            </a:r>
            <a:endParaRPr lang="en-US" sz="1100" dirty="0"/>
          </a:p>
        </p:txBody>
      </p:sp>
      <p:sp>
        <p:nvSpPr>
          <p:cNvPr id="30" name="Shape 28"/>
          <p:cNvSpPr/>
          <p:nvPr/>
        </p:nvSpPr>
        <p:spPr>
          <a:xfrm>
            <a:off x="5934456" y="2670048"/>
            <a:ext cx="2514600" cy="420624"/>
          </a:xfrm>
          <a:prstGeom prst="chevron">
            <a:avLst/>
          </a:prstGeom>
          <a:solidFill>
            <a:srgbClr val="8FAEE0"/>
          </a:solidFill>
          <a:ln w="12700">
            <a:solidFill>
              <a:srgbClr val="FFFFFF"/>
            </a:solidFill>
            <a:prstDash val="solid"/>
          </a:ln>
        </p:spPr>
      </p:sp>
      <p:sp>
        <p:nvSpPr>
          <p:cNvPr id="31" name="Text 29"/>
          <p:cNvSpPr txBox="1"/>
          <p:nvPr/>
        </p:nvSpPr>
        <p:spPr>
          <a:xfrm>
            <a:off x="6190488" y="2670048"/>
            <a:ext cx="2057400" cy="420624"/>
          </a:xfrm>
          <a:prstGeom prst="rect">
            <a:avLst/>
          </a:prstGeom>
          <a:noFill/>
          <a:ln/>
        </p:spPr>
        <p:txBody>
          <a:bodyPr wrap="square" lIns="0" tIns="0" rIns="0" bIns="0" rtlCol="0" anchor="ctr"/>
          <a:lstStyle/>
          <a:p>
            <a:pPr algn="ctr" indent="0" marL="0">
              <a:buNone/>
            </a:pPr>
            <a:r>
              <a:rPr lang="en-US" sz="1100" b="1" dirty="0">
                <a:solidFill>
                  <a:srgbClr val="13285B"/>
                </a:solidFill>
                <a:latin typeface="Calibri" pitchFamily="34" charset="0"/>
                <a:ea typeface="Calibri" pitchFamily="34" charset="-122"/>
                <a:cs typeface="Calibri" pitchFamily="34" charset="-120"/>
              </a:rPr>
              <a:t>Score twice, gate for 1P safety</a:t>
            </a:r>
            <a:endParaRPr lang="en-US" sz="1100" dirty="0"/>
          </a:p>
        </p:txBody>
      </p:sp>
      <p:sp>
        <p:nvSpPr>
          <p:cNvPr id="32" name="Text 30"/>
          <p:cNvSpPr txBox="1"/>
          <p:nvPr/>
        </p:nvSpPr>
        <p:spPr>
          <a:xfrm>
            <a:off x="8641080" y="2633472"/>
            <a:ext cx="3136392" cy="493776"/>
          </a:xfrm>
          <a:prstGeom prst="rect">
            <a:avLst/>
          </a:prstGeom>
          <a:noFill/>
          <a:ln/>
        </p:spPr>
        <p:txBody>
          <a:bodyPr wrap="square" lIns="0" tIns="0" rIns="0" bIns="0" rtlCol="0" anchor="ctr"/>
          <a:lstStyle/>
          <a:p>
            <a:pPr indent="0" marL="0">
              <a:buNone/>
            </a:pPr>
            <a:r>
              <a:rPr lang="en-US" sz="1050" b="1" i="1" dirty="0">
                <a:solidFill>
                  <a:srgbClr val="13285B"/>
                </a:solidFill>
                <a:latin typeface="Calibri" pitchFamily="34" charset="0"/>
                <a:ea typeface="Calibri" pitchFamily="34" charset="-122"/>
                <a:cs typeface="Calibri" pitchFamily="34" charset="-120"/>
              </a:rPr>
              <a:t>Two independent methods; </a:t>
            </a:r>
            <a:pPr indent="0" marL="0">
              <a:buNone/>
            </a:pPr>
            <a:r>
              <a:rPr lang="en-US" sz="1050" i="1" dirty="0">
                <a:solidFill>
                  <a:srgbClr val="1F2937"/>
                </a:solidFill>
                <a:latin typeface="Calibri" pitchFamily="34" charset="0"/>
                <a:ea typeface="Calibri" pitchFamily="34" charset="-122"/>
                <a:cs typeface="Calibri" pitchFamily="34" charset="-120"/>
              </a:rPr>
              <a:t>a pick survives only if it passes its own cannibalisation gate.</a:t>
            </a:r>
            <a:endParaRPr lang="en-US" sz="1050" dirty="0"/>
          </a:p>
        </p:txBody>
      </p:sp>
      <p:sp>
        <p:nvSpPr>
          <p:cNvPr id="33" name="Text 31"/>
          <p:cNvSpPr txBox="1"/>
          <p:nvPr/>
        </p:nvSpPr>
        <p:spPr>
          <a:xfrm>
            <a:off x="411480" y="3218688"/>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34" name="Text 32"/>
          <p:cNvSpPr txBox="1"/>
          <p:nvPr/>
        </p:nvSpPr>
        <p:spPr>
          <a:xfrm>
            <a:off x="5943600" y="3218688"/>
            <a:ext cx="5833872" cy="256032"/>
          </a:xfrm>
          <a:prstGeom prst="rect">
            <a:avLst/>
          </a:prstGeom>
          <a:noFill/>
          <a:ln/>
        </p:spPr>
        <p:txBody>
          <a:bodyPr wrap="square" lIns="0" tIns="0" rIns="0" bIns="0" rtlCol="0" anchor="ctr"/>
          <a:lstStyle/>
          <a:p>
            <a:pPr algn="r" indent="0" marL="0">
              <a:buNone/>
            </a:pPr>
            <a:r>
              <a:rPr lang="en-US" sz="1000" i="1" dirty="0">
                <a:solidFill>
                  <a:srgbClr val="5B6475"/>
                </a:solidFill>
                <a:latin typeface="Calibri" pitchFamily="34" charset="0"/>
                <a:ea typeface="Calibri" pitchFamily="34" charset="-122"/>
                <a:cs typeface="Calibri" pitchFamily="34" charset="-120"/>
              </a:rPr>
              <a:t>+95 more archetypes with example products: see the demo</a:t>
            </a:r>
            <a:endParaRPr lang="en-US" sz="1000" dirty="0"/>
          </a:p>
        </p:txBody>
      </p:sp>
      <p:sp>
        <p:nvSpPr>
          <p:cNvPr id="35" name="Shape 33"/>
          <p:cNvSpPr/>
          <p:nvPr/>
        </p:nvSpPr>
        <p:spPr>
          <a:xfrm>
            <a:off x="411480" y="3511296"/>
            <a:ext cx="2738628" cy="1554480"/>
          </a:xfrm>
          <a:prstGeom prst="roundRect">
            <a:avLst>
              <a:gd name="adj" fmla="val 5882"/>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6" name="Shape 34"/>
          <p:cNvSpPr/>
          <p:nvPr/>
        </p:nvSpPr>
        <p:spPr>
          <a:xfrm>
            <a:off x="539496" y="3621024"/>
            <a:ext cx="420624" cy="420624"/>
          </a:xfrm>
          <a:prstGeom prst="ellipse">
            <a:avLst/>
          </a:prstGeom>
          <a:solidFill>
            <a:srgbClr val="1F4E9A"/>
          </a:solidFill>
          <a:ln w="12700">
            <a:solidFill>
              <a:srgbClr val="1F4E9A"/>
            </a:solidFill>
            <a:prstDash val="solid"/>
          </a:ln>
        </p:spPr>
      </p:sp>
      <p:pic>
        <p:nvPicPr>
          <p:cNvPr id="37" name="Image 0" descr="preencoded.png">    </p:cNvPr>
          <p:cNvPicPr>
            <a:picLocks noChangeAspect="1"/>
          </p:cNvPicPr>
          <p:nvPr/>
        </p:nvPicPr>
        <p:blipFill>
          <a:blip r:embed="rId1"/>
          <a:stretch>
            <a:fillRect/>
          </a:stretch>
        </p:blipFill>
        <p:spPr>
          <a:xfrm>
            <a:off x="632033" y="3713561"/>
            <a:ext cx="235549" cy="235549"/>
          </a:xfrm>
          <a:prstGeom prst="rect">
            <a:avLst/>
          </a:prstGeom>
        </p:spPr>
      </p:pic>
      <p:sp>
        <p:nvSpPr>
          <p:cNvPr id="38" name="Text 35"/>
          <p:cNvSpPr txBox="1"/>
          <p:nvPr/>
        </p:nvSpPr>
        <p:spPr>
          <a:xfrm>
            <a:off x="1051560" y="3584448"/>
            <a:ext cx="2007108" cy="475488"/>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39" name="Text 36"/>
          <p:cNvSpPr txBox="1"/>
          <p:nvPr/>
        </p:nvSpPr>
        <p:spPr>
          <a:xfrm>
            <a:off x="557784" y="409651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40" name="Text 37"/>
          <p:cNvSpPr txBox="1"/>
          <p:nvPr/>
        </p:nvSpPr>
        <p:spPr>
          <a:xfrm>
            <a:off x="557784" y="4553712"/>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1" name="Text 38"/>
          <p:cNvSpPr txBox="1"/>
          <p:nvPr/>
        </p:nvSpPr>
        <p:spPr>
          <a:xfrm>
            <a:off x="557784" y="4809744"/>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42" name="Shape 39"/>
          <p:cNvSpPr/>
          <p:nvPr/>
        </p:nvSpPr>
        <p:spPr>
          <a:xfrm>
            <a:off x="3287268" y="3511296"/>
            <a:ext cx="2738628" cy="1554480"/>
          </a:xfrm>
          <a:prstGeom prst="roundRect">
            <a:avLst>
              <a:gd name="adj" fmla="val 5882"/>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3" name="Shape 40"/>
          <p:cNvSpPr/>
          <p:nvPr/>
        </p:nvSpPr>
        <p:spPr>
          <a:xfrm>
            <a:off x="3415284" y="3621024"/>
            <a:ext cx="420624" cy="420624"/>
          </a:xfrm>
          <a:prstGeom prst="ellipse">
            <a:avLst/>
          </a:prstGeom>
          <a:solidFill>
            <a:srgbClr val="1F4E9A"/>
          </a:solidFill>
          <a:ln w="12700">
            <a:solidFill>
              <a:srgbClr val="1F4E9A"/>
            </a:solidFill>
            <a:prstDash val="solid"/>
          </a:ln>
        </p:spPr>
      </p:sp>
      <p:pic>
        <p:nvPicPr>
          <p:cNvPr id="44" name="Image 1" descr="preencoded.png">    </p:cNvPr>
          <p:cNvPicPr>
            <a:picLocks noChangeAspect="1"/>
          </p:cNvPicPr>
          <p:nvPr/>
        </p:nvPicPr>
        <p:blipFill>
          <a:blip r:embed="rId3"/>
          <a:stretch>
            <a:fillRect/>
          </a:stretch>
        </p:blipFill>
        <p:spPr>
          <a:xfrm>
            <a:off x="3507821" y="3713561"/>
            <a:ext cx="235549" cy="235549"/>
          </a:xfrm>
          <a:prstGeom prst="rect">
            <a:avLst/>
          </a:prstGeom>
        </p:spPr>
      </p:pic>
      <p:sp>
        <p:nvSpPr>
          <p:cNvPr id="45" name="Text 41"/>
          <p:cNvSpPr txBox="1"/>
          <p:nvPr/>
        </p:nvSpPr>
        <p:spPr>
          <a:xfrm>
            <a:off x="3927348" y="3584448"/>
            <a:ext cx="2007108" cy="475488"/>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46" name="Text 42"/>
          <p:cNvSpPr txBox="1"/>
          <p:nvPr/>
        </p:nvSpPr>
        <p:spPr>
          <a:xfrm>
            <a:off x="3433572" y="409651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47" name="Text 43"/>
          <p:cNvSpPr txBox="1"/>
          <p:nvPr/>
        </p:nvSpPr>
        <p:spPr>
          <a:xfrm>
            <a:off x="3433572" y="4553712"/>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8" name="Text 44"/>
          <p:cNvSpPr txBox="1"/>
          <p:nvPr/>
        </p:nvSpPr>
        <p:spPr>
          <a:xfrm>
            <a:off x="3433572" y="4809744"/>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49" name="Shape 45"/>
          <p:cNvSpPr/>
          <p:nvPr/>
        </p:nvSpPr>
        <p:spPr>
          <a:xfrm>
            <a:off x="6163056" y="3511296"/>
            <a:ext cx="2738628" cy="1554480"/>
          </a:xfrm>
          <a:prstGeom prst="roundRect">
            <a:avLst>
              <a:gd name="adj" fmla="val 5882"/>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0" name="Shape 46"/>
          <p:cNvSpPr/>
          <p:nvPr/>
        </p:nvSpPr>
        <p:spPr>
          <a:xfrm>
            <a:off x="6291072" y="3621024"/>
            <a:ext cx="420624" cy="420624"/>
          </a:xfrm>
          <a:prstGeom prst="ellipse">
            <a:avLst/>
          </a:prstGeom>
          <a:solidFill>
            <a:srgbClr val="1F4E9A"/>
          </a:solidFill>
          <a:ln w="12700">
            <a:solidFill>
              <a:srgbClr val="1F4E9A"/>
            </a:solidFill>
            <a:prstDash val="solid"/>
          </a:ln>
        </p:spPr>
      </p:sp>
      <p:pic>
        <p:nvPicPr>
          <p:cNvPr id="51" name="Image 2" descr="preencoded.png">    </p:cNvPr>
          <p:cNvPicPr>
            <a:picLocks noChangeAspect="1"/>
          </p:cNvPicPr>
          <p:nvPr/>
        </p:nvPicPr>
        <p:blipFill>
          <a:blip r:embed="rId5"/>
          <a:stretch>
            <a:fillRect/>
          </a:stretch>
        </p:blipFill>
        <p:spPr>
          <a:xfrm>
            <a:off x="6383609" y="3713561"/>
            <a:ext cx="235549" cy="235549"/>
          </a:xfrm>
          <a:prstGeom prst="rect">
            <a:avLst/>
          </a:prstGeom>
        </p:spPr>
      </p:pic>
      <p:sp>
        <p:nvSpPr>
          <p:cNvPr id="52" name="Text 47"/>
          <p:cNvSpPr txBox="1"/>
          <p:nvPr/>
        </p:nvSpPr>
        <p:spPr>
          <a:xfrm>
            <a:off x="6803136" y="3584448"/>
            <a:ext cx="2007108" cy="475488"/>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Guided &amp; daily journals</a:t>
            </a:r>
            <a:endParaRPr lang="en-US" sz="1250" dirty="0"/>
          </a:p>
        </p:txBody>
      </p:sp>
      <p:sp>
        <p:nvSpPr>
          <p:cNvPr id="53" name="Text 48"/>
          <p:cNvSpPr txBox="1"/>
          <p:nvPr/>
        </p:nvSpPr>
        <p:spPr>
          <a:xfrm>
            <a:off x="6309360" y="409651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Planner shoppers already come to Staples (805 planners); a journal is the natural add-on</a:t>
            </a:r>
            <a:endParaRPr lang="en-US" sz="950" dirty="0"/>
          </a:p>
        </p:txBody>
      </p:sp>
      <p:sp>
        <p:nvSpPr>
          <p:cNvPr id="54" name="Text 49"/>
          <p:cNvSpPr txBox="1"/>
          <p:nvPr/>
        </p:nvSpPr>
        <p:spPr>
          <a:xfrm>
            <a:off x="6309360" y="4553712"/>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805</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17%</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55" name="Text 50"/>
          <p:cNvSpPr txBox="1"/>
          <p:nvPr/>
        </p:nvSpPr>
        <p:spPr>
          <a:xfrm>
            <a:off x="6309360" y="4809744"/>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The Gratitude Journal 2026: Daily Gratitude Practice to Inspire Thankfulness, Mindfulness, Positivity, Happiness, Upgraded with Pen Holder, Inner Pocket &amp; Elastic Closure Band (Beige)" history="1" highlightClick="0" endSnd="0">
                  <a:extLst>
                    <a:ext uri="{A12FA001-AC4F-418D-AE19-62706E023703}">
                      <ahyp:hlinkClr xmlns:ahyp="http://schemas.microsoft.com/office/drawing/2018/hyperlinkcolor" val="tx"/>
                    </a:ext>
                  </a:extLst>
                </a:hlinkClick>
              </a:rPr>
              <a:t>The Gratitude Journal 2026… · $9 ↗</a:t>
            </a:r>
            <a:endParaRPr lang="en-US" sz="950" dirty="0"/>
          </a:p>
        </p:txBody>
      </p:sp>
      <p:sp>
        <p:nvSpPr>
          <p:cNvPr id="56" name="Shape 51"/>
          <p:cNvSpPr/>
          <p:nvPr/>
        </p:nvSpPr>
        <p:spPr>
          <a:xfrm>
            <a:off x="9038844" y="3511296"/>
            <a:ext cx="2738628" cy="1554480"/>
          </a:xfrm>
          <a:prstGeom prst="roundRect">
            <a:avLst>
              <a:gd name="adj" fmla="val 5882"/>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7" name="Shape 52"/>
          <p:cNvSpPr/>
          <p:nvPr/>
        </p:nvSpPr>
        <p:spPr>
          <a:xfrm>
            <a:off x="9166860" y="3621024"/>
            <a:ext cx="420624" cy="420624"/>
          </a:xfrm>
          <a:prstGeom prst="ellipse">
            <a:avLst/>
          </a:prstGeom>
          <a:solidFill>
            <a:srgbClr val="1F4E9A"/>
          </a:solidFill>
          <a:ln w="12700">
            <a:solidFill>
              <a:srgbClr val="1F4E9A"/>
            </a:solidFill>
            <a:prstDash val="solid"/>
          </a:ln>
        </p:spPr>
      </p:sp>
      <p:pic>
        <p:nvPicPr>
          <p:cNvPr id="58" name="Image 3" descr="preencoded.png">    </p:cNvPr>
          <p:cNvPicPr>
            <a:picLocks noChangeAspect="1"/>
          </p:cNvPicPr>
          <p:nvPr/>
        </p:nvPicPr>
        <p:blipFill>
          <a:blip r:embed="rId7"/>
          <a:stretch>
            <a:fillRect/>
          </a:stretch>
        </p:blipFill>
        <p:spPr>
          <a:xfrm>
            <a:off x="9259397" y="3713561"/>
            <a:ext cx="235549" cy="235549"/>
          </a:xfrm>
          <a:prstGeom prst="rect">
            <a:avLst/>
          </a:prstGeom>
        </p:spPr>
      </p:pic>
      <p:sp>
        <p:nvSpPr>
          <p:cNvPr id="59" name="Text 53"/>
          <p:cNvSpPr txBox="1"/>
          <p:nvPr/>
        </p:nvSpPr>
        <p:spPr>
          <a:xfrm>
            <a:off x="9678924" y="3584448"/>
            <a:ext cx="2007108" cy="475488"/>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60" name="Text 54"/>
          <p:cNvSpPr txBox="1"/>
          <p:nvPr/>
        </p:nvSpPr>
        <p:spPr>
          <a:xfrm>
            <a:off x="9185148" y="409651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61" name="Text 55"/>
          <p:cNvSpPr txBox="1"/>
          <p:nvPr/>
        </p:nvSpPr>
        <p:spPr>
          <a:xfrm>
            <a:off x="9185148" y="4553712"/>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62" name="Text 56"/>
          <p:cNvSpPr txBox="1"/>
          <p:nvPr/>
        </p:nvSpPr>
        <p:spPr>
          <a:xfrm>
            <a:off x="9185148" y="4809744"/>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63" name="Text 57"/>
          <p:cNvSpPr txBox="1"/>
          <p:nvPr/>
        </p:nvSpPr>
        <p:spPr>
          <a:xfrm>
            <a:off x="411480" y="5175504"/>
            <a:ext cx="8229600" cy="237744"/>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pPr indent="0" marL="0">
              <a:buNone/>
            </a:pPr>
            <a:r>
              <a:rPr lang="en-US" sz="1000" i="1" u="sng" dirty="0">
                <a:solidFill>
                  <a:srgbClr val="2F6FD0"/>
                </a:solidFill>
                <a:latin typeface="Calibri" pitchFamily="34" charset="0"/>
                <a:ea typeface="Calibri" pitchFamily="34" charset="-122"/>
                <a:cs typeface="Calibri" pitchFamily="34" charset="-120"/>
                <a:hlinkClick r:id="rId9" action="ppaction://hlinksldjump" tooltip="Go to Project Continuation">
                  <a:extLst>
                    <a:ext uri="{A12FA001-AC4F-418D-AE19-62706E023703}">
                      <ahyp:hlinkClr xmlns:ahyp="http://schemas.microsoft.com/office/drawing/2018/hyperlinkcolor" val="tx"/>
                    </a:ext>
                  </a:extLst>
                </a:hlinkClick>
              </a:rPr>
              <a:t>   →  continues on Project Continuation (slide 5)</a:t>
            </a:r>
            <a:endParaRPr lang="en-US" sz="1200" dirty="0"/>
          </a:p>
        </p:txBody>
      </p:sp>
      <p:sp>
        <p:nvSpPr>
          <p:cNvPr id="64" name="Shape 58"/>
          <p:cNvSpPr/>
          <p:nvPr/>
        </p:nvSpPr>
        <p:spPr>
          <a:xfrm>
            <a:off x="411480" y="5468112"/>
            <a:ext cx="2200046" cy="914400"/>
          </a:xfrm>
          <a:prstGeom prst="roundRect">
            <a:avLst>
              <a:gd name="adj" fmla="val 8000"/>
            </a:avLst>
          </a:prstGeom>
          <a:solidFill>
            <a:srgbClr val="DCE7F8"/>
          </a:solidFill>
          <a:ln w="12700">
            <a:solidFill>
              <a:srgbClr val="DCE7F8"/>
            </a:solidFill>
            <a:prstDash val="solid"/>
          </a:ln>
        </p:spPr>
      </p:sp>
      <p:sp>
        <p:nvSpPr>
          <p:cNvPr id="65" name="Shape 59"/>
          <p:cNvSpPr/>
          <p:nvPr/>
        </p:nvSpPr>
        <p:spPr>
          <a:xfrm>
            <a:off x="411480" y="5468112"/>
            <a:ext cx="2200046" cy="292608"/>
          </a:xfrm>
          <a:prstGeom prst="roundRect">
            <a:avLst>
              <a:gd name="adj" fmla="val 25000"/>
            </a:avLst>
          </a:prstGeom>
          <a:solidFill>
            <a:srgbClr val="1F4E9A"/>
          </a:solidFill>
          <a:ln w="12700">
            <a:solidFill>
              <a:srgbClr val="1F4E9A"/>
            </a:solidFill>
            <a:prstDash val="solid"/>
          </a:ln>
        </p:spPr>
      </p:sp>
      <p:pic>
        <p:nvPicPr>
          <p:cNvPr id="66" name="Image 4" descr="preencoded.png">    </p:cNvPr>
          <p:cNvPicPr>
            <a:picLocks noChangeAspect="1"/>
          </p:cNvPicPr>
          <p:nvPr/>
        </p:nvPicPr>
        <p:blipFill>
          <a:blip r:embed="rId10"/>
          <a:stretch>
            <a:fillRect/>
          </a:stretch>
        </p:blipFill>
        <p:spPr>
          <a:xfrm>
            <a:off x="502920" y="5522976"/>
            <a:ext cx="182880" cy="182880"/>
          </a:xfrm>
          <a:prstGeom prst="rect">
            <a:avLst/>
          </a:prstGeom>
        </p:spPr>
      </p:pic>
      <p:sp>
        <p:nvSpPr>
          <p:cNvPr id="67" name="Text 60"/>
          <p:cNvSpPr txBox="1"/>
          <p:nvPr/>
        </p:nvSpPr>
        <p:spPr>
          <a:xfrm>
            <a:off x="758952" y="5468112"/>
            <a:ext cx="1779422" cy="292608"/>
          </a:xfrm>
          <a:prstGeom prst="rect">
            <a:avLst/>
          </a:prstGeom>
          <a:noFill/>
          <a:ln/>
        </p:spPr>
        <p:txBody>
          <a:bodyPr wrap="square" lIns="0" tIns="0" rIns="0" bIns="0" rtlCol="0" anchor="ctr"/>
          <a:lstStyle/>
          <a:p>
            <a:pPr indent="0" marL="0">
              <a:buNone/>
            </a:pPr>
            <a:r>
              <a:rPr lang="en-US" sz="1000" b="1" spc="100" kern="0" dirty="0">
                <a:solidFill>
                  <a:srgbClr val="F5A623"/>
                </a:solidFill>
                <a:latin typeface="Calibri" pitchFamily="34" charset="0"/>
                <a:ea typeface="Calibri" pitchFamily="34" charset="-122"/>
                <a:cs typeface="Calibri" pitchFamily="34" charset="-120"/>
              </a:rPr>
              <a:t>1 · PRIORITISE</a:t>
            </a:r>
            <a:endParaRPr lang="en-US" sz="1000" dirty="0"/>
          </a:p>
        </p:txBody>
      </p:sp>
      <p:sp>
        <p:nvSpPr>
          <p:cNvPr id="68" name="Text 61"/>
          <p:cNvSpPr txBox="1"/>
          <p:nvPr/>
        </p:nvSpPr>
        <p:spPr>
          <a:xfrm>
            <a:off x="502920" y="5797296"/>
            <a:ext cx="2053742" cy="219456"/>
          </a:xfrm>
          <a:prstGeom prst="rect">
            <a:avLst/>
          </a:prstGeom>
          <a:noFill/>
          <a:ln/>
        </p:spPr>
        <p:txBody>
          <a:bodyPr wrap="square" lIns="0" tIns="0" rIns="0" bIns="0" rtlCol="0" anchor="ctr"/>
          <a:lstStyle/>
          <a:p>
            <a:pPr indent="0" marL="0">
              <a:buNone/>
            </a:pPr>
            <a:r>
              <a:rPr lang="en-US" sz="950" b="1" dirty="0">
                <a:solidFill>
                  <a:srgbClr val="13285B"/>
                </a:solidFill>
                <a:latin typeface="Calibri" pitchFamily="34" charset="0"/>
                <a:ea typeface="Calibri" pitchFamily="34" charset="-122"/>
                <a:cs typeface="Calibri" pitchFamily="34" charset="-120"/>
              </a:rPr>
              <a:t>Demand &amp; segment prioritisation</a:t>
            </a:r>
            <a:endParaRPr lang="en-US" sz="950" dirty="0"/>
          </a:p>
        </p:txBody>
      </p:sp>
      <p:sp>
        <p:nvSpPr>
          <p:cNvPr id="69" name="Text 62"/>
          <p:cNvSpPr txBox="1"/>
          <p:nvPr/>
        </p:nvSpPr>
        <p:spPr>
          <a:xfrm>
            <a:off x="502920" y="6016752"/>
            <a:ext cx="2053742" cy="329184"/>
          </a:xfrm>
          <a:prstGeom prst="rect">
            <a:avLst/>
          </a:prstGeom>
          <a:noFill/>
          <a:ln/>
        </p:spPr>
        <p:txBody>
          <a:bodyPr wrap="square" lIns="0" tIns="0" rIns="0" bIns="0" rtlCol="0" anchor="t"/>
          <a:lstStyle/>
          <a:p>
            <a:pPr indent="0" marL="0">
              <a:buNone/>
            </a:pPr>
            <a:r>
              <a:rPr lang="en-US" sz="900" dirty="0">
                <a:solidFill>
                  <a:srgbClr val="5B6475"/>
                </a:solidFill>
                <a:latin typeface="Calibri" pitchFamily="34" charset="0"/>
                <a:ea typeface="Calibri" pitchFamily="34" charset="-122"/>
                <a:cs typeface="Calibri" pitchFamily="34" charset="-120"/>
              </a:rPr>
              <a:t>Link sales &amp; search to the top picks in 2–3 pilot nodes</a:t>
            </a:r>
            <a:endParaRPr lang="en-US" sz="900" dirty="0"/>
          </a:p>
        </p:txBody>
      </p:sp>
      <p:sp>
        <p:nvSpPr>
          <p:cNvPr id="70" name="Shape 63"/>
          <p:cNvSpPr/>
          <p:nvPr/>
        </p:nvSpPr>
        <p:spPr>
          <a:xfrm>
            <a:off x="2702966" y="5468112"/>
            <a:ext cx="2200046" cy="914400"/>
          </a:xfrm>
          <a:prstGeom prst="roundRect">
            <a:avLst>
              <a:gd name="adj" fmla="val 8000"/>
            </a:avLst>
          </a:prstGeom>
          <a:solidFill>
            <a:srgbClr val="DCE7F8"/>
          </a:solidFill>
          <a:ln w="12700">
            <a:solidFill>
              <a:srgbClr val="DCE7F8"/>
            </a:solidFill>
            <a:prstDash val="solid"/>
          </a:ln>
        </p:spPr>
      </p:sp>
      <p:sp>
        <p:nvSpPr>
          <p:cNvPr id="71" name="Shape 64"/>
          <p:cNvSpPr/>
          <p:nvPr/>
        </p:nvSpPr>
        <p:spPr>
          <a:xfrm>
            <a:off x="2702966" y="5468112"/>
            <a:ext cx="2200046" cy="292608"/>
          </a:xfrm>
          <a:prstGeom prst="roundRect">
            <a:avLst>
              <a:gd name="adj" fmla="val 25000"/>
            </a:avLst>
          </a:prstGeom>
          <a:solidFill>
            <a:srgbClr val="1F4E9A"/>
          </a:solidFill>
          <a:ln w="12700">
            <a:solidFill>
              <a:srgbClr val="1F4E9A"/>
            </a:solidFill>
            <a:prstDash val="solid"/>
          </a:ln>
        </p:spPr>
      </p:sp>
      <p:pic>
        <p:nvPicPr>
          <p:cNvPr id="72" name="Image 5" descr="preencoded.png">    </p:cNvPr>
          <p:cNvPicPr>
            <a:picLocks noChangeAspect="1"/>
          </p:cNvPicPr>
          <p:nvPr/>
        </p:nvPicPr>
        <p:blipFill>
          <a:blip r:embed="rId11"/>
          <a:stretch>
            <a:fillRect/>
          </a:stretch>
        </p:blipFill>
        <p:spPr>
          <a:xfrm>
            <a:off x="2794406" y="5522976"/>
            <a:ext cx="182880" cy="182880"/>
          </a:xfrm>
          <a:prstGeom prst="rect">
            <a:avLst/>
          </a:prstGeom>
        </p:spPr>
      </p:pic>
      <p:sp>
        <p:nvSpPr>
          <p:cNvPr id="73" name="Text 65"/>
          <p:cNvSpPr txBox="1"/>
          <p:nvPr/>
        </p:nvSpPr>
        <p:spPr>
          <a:xfrm>
            <a:off x="3050438" y="5468112"/>
            <a:ext cx="1779422" cy="292608"/>
          </a:xfrm>
          <a:prstGeom prst="rect">
            <a:avLst/>
          </a:prstGeom>
          <a:noFill/>
          <a:ln/>
        </p:spPr>
        <p:txBody>
          <a:bodyPr wrap="square" lIns="0" tIns="0" rIns="0" bIns="0" rtlCol="0" anchor="ctr"/>
          <a:lstStyle/>
          <a:p>
            <a:pPr indent="0" marL="0">
              <a:buNone/>
            </a:pPr>
            <a:r>
              <a:rPr lang="en-US" sz="1000" b="1" spc="100" kern="0" dirty="0">
                <a:solidFill>
                  <a:srgbClr val="F5A623"/>
                </a:solidFill>
                <a:latin typeface="Calibri" pitchFamily="34" charset="0"/>
                <a:ea typeface="Calibri" pitchFamily="34" charset="-122"/>
                <a:cs typeface="Calibri" pitchFamily="34" charset="-120"/>
              </a:rPr>
              <a:t>2 · PROTECT</a:t>
            </a:r>
            <a:endParaRPr lang="en-US" sz="1000" dirty="0"/>
          </a:p>
        </p:txBody>
      </p:sp>
      <p:sp>
        <p:nvSpPr>
          <p:cNvPr id="74" name="Text 66"/>
          <p:cNvSpPr txBox="1"/>
          <p:nvPr/>
        </p:nvSpPr>
        <p:spPr>
          <a:xfrm>
            <a:off x="2794406" y="5797296"/>
            <a:ext cx="2053742" cy="219456"/>
          </a:xfrm>
          <a:prstGeom prst="rect">
            <a:avLst/>
          </a:prstGeom>
          <a:noFill/>
          <a:ln/>
        </p:spPr>
        <p:txBody>
          <a:bodyPr wrap="square" lIns="0" tIns="0" rIns="0" bIns="0" rtlCol="0" anchor="ctr"/>
          <a:lstStyle/>
          <a:p>
            <a:pPr indent="0" marL="0">
              <a:buNone/>
            </a:pPr>
            <a:r>
              <a:rPr lang="en-US" sz="950" b="1" dirty="0">
                <a:solidFill>
                  <a:srgbClr val="13285B"/>
                </a:solidFill>
                <a:latin typeface="Calibri" pitchFamily="34" charset="0"/>
                <a:ea typeface="Calibri" pitchFamily="34" charset="-122"/>
                <a:cs typeface="Calibri" pitchFamily="34" charset="-120"/>
              </a:rPr>
              <a:t>Cannibalisation &amp; threshold tuning</a:t>
            </a:r>
            <a:endParaRPr lang="en-US" sz="950" dirty="0"/>
          </a:p>
        </p:txBody>
      </p:sp>
      <p:sp>
        <p:nvSpPr>
          <p:cNvPr id="75" name="Text 67"/>
          <p:cNvSpPr txBox="1"/>
          <p:nvPr/>
        </p:nvSpPr>
        <p:spPr>
          <a:xfrm>
            <a:off x="2794406" y="6016752"/>
            <a:ext cx="2053742" cy="329184"/>
          </a:xfrm>
          <a:prstGeom prst="rect">
            <a:avLst/>
          </a:prstGeom>
          <a:noFill/>
          <a:ln/>
        </p:spPr>
        <p:txBody>
          <a:bodyPr wrap="square" lIns="0" tIns="0" rIns="0" bIns="0" rtlCol="0" anchor="t"/>
          <a:lstStyle/>
          <a:p>
            <a:pPr indent="0" marL="0">
              <a:buNone/>
            </a:pPr>
            <a:r>
              <a:rPr lang="en-US" sz="900" dirty="0">
                <a:solidFill>
                  <a:srgbClr val="5B6475"/>
                </a:solidFill>
                <a:latin typeface="Calibri" pitchFamily="34" charset="0"/>
                <a:ea typeface="Calibri" pitchFamily="34" charset="-122"/>
                <a:cs typeface="Calibri" pitchFamily="34" charset="-120"/>
              </a:rPr>
              <a:t>Calibrate gates with merchants (60 side-by-side pairs)</a:t>
            </a:r>
            <a:endParaRPr lang="en-US" sz="900" dirty="0"/>
          </a:p>
        </p:txBody>
      </p:sp>
      <p:sp>
        <p:nvSpPr>
          <p:cNvPr id="76" name="Shape 68"/>
          <p:cNvSpPr/>
          <p:nvPr/>
        </p:nvSpPr>
        <p:spPr>
          <a:xfrm>
            <a:off x="4994453" y="5468112"/>
            <a:ext cx="2200046" cy="914400"/>
          </a:xfrm>
          <a:prstGeom prst="roundRect">
            <a:avLst>
              <a:gd name="adj" fmla="val 8000"/>
            </a:avLst>
          </a:prstGeom>
          <a:solidFill>
            <a:srgbClr val="DCE7F8"/>
          </a:solidFill>
          <a:ln w="12700">
            <a:solidFill>
              <a:srgbClr val="DCE7F8"/>
            </a:solidFill>
            <a:prstDash val="solid"/>
          </a:ln>
        </p:spPr>
      </p:sp>
      <p:sp>
        <p:nvSpPr>
          <p:cNvPr id="77" name="Shape 69"/>
          <p:cNvSpPr/>
          <p:nvPr/>
        </p:nvSpPr>
        <p:spPr>
          <a:xfrm>
            <a:off x="4994453" y="5468112"/>
            <a:ext cx="2200046" cy="292608"/>
          </a:xfrm>
          <a:prstGeom prst="roundRect">
            <a:avLst>
              <a:gd name="adj" fmla="val 25000"/>
            </a:avLst>
          </a:prstGeom>
          <a:solidFill>
            <a:srgbClr val="2F6FD0"/>
          </a:solidFill>
          <a:ln w="12700">
            <a:solidFill>
              <a:srgbClr val="2F6FD0"/>
            </a:solidFill>
            <a:prstDash val="solid"/>
          </a:ln>
        </p:spPr>
      </p:sp>
      <p:pic>
        <p:nvPicPr>
          <p:cNvPr id="78" name="Image 6" descr="preencoded.png">    </p:cNvPr>
          <p:cNvPicPr>
            <a:picLocks noChangeAspect="1"/>
          </p:cNvPicPr>
          <p:nvPr/>
        </p:nvPicPr>
        <p:blipFill>
          <a:blip r:embed="rId12"/>
          <a:stretch>
            <a:fillRect/>
          </a:stretch>
        </p:blipFill>
        <p:spPr>
          <a:xfrm>
            <a:off x="5085893" y="5522976"/>
            <a:ext cx="182880" cy="182880"/>
          </a:xfrm>
          <a:prstGeom prst="rect">
            <a:avLst/>
          </a:prstGeom>
        </p:spPr>
      </p:pic>
      <p:sp>
        <p:nvSpPr>
          <p:cNvPr id="79" name="Text 70"/>
          <p:cNvSpPr txBox="1"/>
          <p:nvPr/>
        </p:nvSpPr>
        <p:spPr>
          <a:xfrm>
            <a:off x="5341925" y="5468112"/>
            <a:ext cx="1779422" cy="292608"/>
          </a:xfrm>
          <a:prstGeom prst="rect">
            <a:avLst/>
          </a:prstGeom>
          <a:noFill/>
          <a:ln/>
        </p:spPr>
        <p:txBody>
          <a:bodyPr wrap="square" lIns="0" tIns="0" rIns="0" bIns="0" rtlCol="0" anchor="ctr"/>
          <a:lstStyle/>
          <a:p>
            <a:pPr indent="0" marL="0">
              <a:buNone/>
            </a:pPr>
            <a:r>
              <a:rPr lang="en-US" sz="1000" b="1" spc="100" kern="0" dirty="0">
                <a:solidFill>
                  <a:srgbClr val="F5A623"/>
                </a:solidFill>
                <a:latin typeface="Calibri" pitchFamily="34" charset="0"/>
                <a:ea typeface="Calibri" pitchFamily="34" charset="-122"/>
                <a:cs typeface="Calibri" pitchFamily="34" charset="-120"/>
              </a:rPr>
              <a:t>3 · EXPAND</a:t>
            </a:r>
            <a:endParaRPr lang="en-US" sz="1000" dirty="0"/>
          </a:p>
        </p:txBody>
      </p:sp>
      <p:sp>
        <p:nvSpPr>
          <p:cNvPr id="80" name="Text 71"/>
          <p:cNvSpPr txBox="1"/>
          <p:nvPr/>
        </p:nvSpPr>
        <p:spPr>
          <a:xfrm>
            <a:off x="5085893" y="5797296"/>
            <a:ext cx="2053742" cy="219456"/>
          </a:xfrm>
          <a:prstGeom prst="rect">
            <a:avLst/>
          </a:prstGeom>
          <a:noFill/>
          <a:ln/>
        </p:spPr>
        <p:txBody>
          <a:bodyPr wrap="square" lIns="0" tIns="0" rIns="0" bIns="0" rtlCol="0" anchor="ctr"/>
          <a:lstStyle/>
          <a:p>
            <a:pPr indent="0" marL="0">
              <a:buNone/>
            </a:pPr>
            <a:r>
              <a:rPr lang="en-US" sz="950" b="1" dirty="0">
                <a:solidFill>
                  <a:srgbClr val="13285B"/>
                </a:solidFill>
                <a:latin typeface="Calibri" pitchFamily="34" charset="0"/>
                <a:ea typeface="Calibri" pitchFamily="34" charset="-122"/>
                <a:cs typeface="Calibri" pitchFamily="34" charset="-120"/>
              </a:rPr>
              <a:t>Any node, competitor or audience</a:t>
            </a:r>
            <a:endParaRPr lang="en-US" sz="950" dirty="0"/>
          </a:p>
        </p:txBody>
      </p:sp>
      <p:sp>
        <p:nvSpPr>
          <p:cNvPr id="81" name="Text 72"/>
          <p:cNvSpPr txBox="1"/>
          <p:nvPr/>
        </p:nvSpPr>
        <p:spPr>
          <a:xfrm>
            <a:off x="5085893" y="6016752"/>
            <a:ext cx="2053742" cy="329184"/>
          </a:xfrm>
          <a:prstGeom prst="rect">
            <a:avLst/>
          </a:prstGeom>
          <a:noFill/>
          <a:ln/>
        </p:spPr>
        <p:txBody>
          <a:bodyPr wrap="square" lIns="0" tIns="0" rIns="0" bIns="0" rtlCol="0" anchor="t"/>
          <a:lstStyle/>
          <a:p>
            <a:pPr indent="0" marL="0">
              <a:buNone/>
            </a:pPr>
            <a:r>
              <a:rPr lang="en-US" sz="900" dirty="0">
                <a:solidFill>
                  <a:srgbClr val="5B6475"/>
                </a:solidFill>
                <a:latin typeface="Calibri" pitchFamily="34" charset="0"/>
                <a:ea typeface="Calibri" pitchFamily="34" charset="-122"/>
                <a:cs typeface="Calibri" pitchFamily="34" charset="-120"/>
              </a:rPr>
              <a:t>Agree the next nodes &amp; benchmark competitors</a:t>
            </a:r>
            <a:endParaRPr lang="en-US" sz="900" dirty="0"/>
          </a:p>
        </p:txBody>
      </p:sp>
      <p:sp>
        <p:nvSpPr>
          <p:cNvPr id="82" name="Shape 73"/>
          <p:cNvSpPr/>
          <p:nvPr/>
        </p:nvSpPr>
        <p:spPr>
          <a:xfrm>
            <a:off x="7285939" y="5468112"/>
            <a:ext cx="2200046" cy="914400"/>
          </a:xfrm>
          <a:prstGeom prst="roundRect">
            <a:avLst>
              <a:gd name="adj" fmla="val 8000"/>
            </a:avLst>
          </a:prstGeom>
          <a:solidFill>
            <a:srgbClr val="DCE7F8"/>
          </a:solidFill>
          <a:ln w="12700">
            <a:solidFill>
              <a:srgbClr val="DCE7F8"/>
            </a:solidFill>
            <a:prstDash val="solid"/>
          </a:ln>
        </p:spPr>
      </p:sp>
      <p:sp>
        <p:nvSpPr>
          <p:cNvPr id="83" name="Shape 74"/>
          <p:cNvSpPr/>
          <p:nvPr/>
        </p:nvSpPr>
        <p:spPr>
          <a:xfrm>
            <a:off x="7285939" y="5468112"/>
            <a:ext cx="2200046" cy="292608"/>
          </a:xfrm>
          <a:prstGeom prst="roundRect">
            <a:avLst>
              <a:gd name="adj" fmla="val 25000"/>
            </a:avLst>
          </a:prstGeom>
          <a:solidFill>
            <a:srgbClr val="13285B"/>
          </a:solidFill>
          <a:ln w="12700">
            <a:solidFill>
              <a:srgbClr val="13285B"/>
            </a:solidFill>
            <a:prstDash val="solid"/>
          </a:ln>
        </p:spPr>
      </p:sp>
      <p:pic>
        <p:nvPicPr>
          <p:cNvPr id="84" name="Image 7" descr="preencoded.png">    </p:cNvPr>
          <p:cNvPicPr>
            <a:picLocks noChangeAspect="1"/>
          </p:cNvPicPr>
          <p:nvPr/>
        </p:nvPicPr>
        <p:blipFill>
          <a:blip r:embed="rId13"/>
          <a:stretch>
            <a:fillRect/>
          </a:stretch>
        </p:blipFill>
        <p:spPr>
          <a:xfrm>
            <a:off x="7377379" y="5522976"/>
            <a:ext cx="182880" cy="182880"/>
          </a:xfrm>
          <a:prstGeom prst="rect">
            <a:avLst/>
          </a:prstGeom>
        </p:spPr>
      </p:pic>
      <p:sp>
        <p:nvSpPr>
          <p:cNvPr id="85" name="Text 75"/>
          <p:cNvSpPr txBox="1"/>
          <p:nvPr/>
        </p:nvSpPr>
        <p:spPr>
          <a:xfrm>
            <a:off x="7633411" y="5468112"/>
            <a:ext cx="1779422" cy="292608"/>
          </a:xfrm>
          <a:prstGeom prst="rect">
            <a:avLst/>
          </a:prstGeom>
          <a:noFill/>
          <a:ln/>
        </p:spPr>
        <p:txBody>
          <a:bodyPr wrap="square" lIns="0" tIns="0" rIns="0" bIns="0" rtlCol="0" anchor="ctr"/>
          <a:lstStyle/>
          <a:p>
            <a:pPr indent="0" marL="0">
              <a:buNone/>
            </a:pPr>
            <a:r>
              <a:rPr lang="en-US" sz="1000" b="1" spc="100" kern="0" dirty="0">
                <a:solidFill>
                  <a:srgbClr val="F5A623"/>
                </a:solidFill>
                <a:latin typeface="Calibri" pitchFamily="34" charset="0"/>
                <a:ea typeface="Calibri" pitchFamily="34" charset="-122"/>
                <a:cs typeface="Calibri" pitchFamily="34" charset="-120"/>
              </a:rPr>
              <a:t>4 · CURATE</a:t>
            </a:r>
            <a:endParaRPr lang="en-US" sz="1000" dirty="0"/>
          </a:p>
        </p:txBody>
      </p:sp>
      <p:sp>
        <p:nvSpPr>
          <p:cNvPr id="86" name="Text 76"/>
          <p:cNvSpPr txBox="1"/>
          <p:nvPr/>
        </p:nvSpPr>
        <p:spPr>
          <a:xfrm>
            <a:off x="7377379" y="5797296"/>
            <a:ext cx="2053742" cy="219456"/>
          </a:xfrm>
          <a:prstGeom prst="rect">
            <a:avLst/>
          </a:prstGeom>
          <a:noFill/>
          <a:ln/>
        </p:spPr>
        <p:txBody>
          <a:bodyPr wrap="square" lIns="0" tIns="0" rIns="0" bIns="0" rtlCol="0" anchor="ctr"/>
          <a:lstStyle/>
          <a:p>
            <a:pPr indent="0" marL="0">
              <a:buNone/>
            </a:pPr>
            <a:r>
              <a:rPr lang="en-US" sz="950" b="1" dirty="0">
                <a:solidFill>
                  <a:srgbClr val="13285B"/>
                </a:solidFill>
                <a:latin typeface="Calibri" pitchFamily="34" charset="0"/>
                <a:ea typeface="Calibri" pitchFamily="34" charset="-122"/>
                <a:cs typeface="Calibri" pitchFamily="34" charset="-120"/>
              </a:rPr>
              <a:t>Automated seller-listing vetting</a:t>
            </a:r>
            <a:endParaRPr lang="en-US" sz="950" dirty="0"/>
          </a:p>
        </p:txBody>
      </p:sp>
      <p:sp>
        <p:nvSpPr>
          <p:cNvPr id="87" name="Text 77"/>
          <p:cNvSpPr txBox="1"/>
          <p:nvPr/>
        </p:nvSpPr>
        <p:spPr>
          <a:xfrm>
            <a:off x="7377379" y="6016752"/>
            <a:ext cx="2053742" cy="329184"/>
          </a:xfrm>
          <a:prstGeom prst="rect">
            <a:avLst/>
          </a:prstGeom>
          <a:noFill/>
          <a:ln/>
        </p:spPr>
        <p:txBody>
          <a:bodyPr wrap="square" lIns="0" tIns="0" rIns="0" bIns="0" rtlCol="0" anchor="t"/>
          <a:lstStyle/>
          <a:p>
            <a:pPr indent="0" marL="0">
              <a:buNone/>
            </a:pPr>
            <a:r>
              <a:rPr lang="en-US" sz="900" dirty="0">
                <a:solidFill>
                  <a:srgbClr val="5B6475"/>
                </a:solidFill>
                <a:latin typeface="Calibri" pitchFamily="34" charset="0"/>
                <a:ea typeface="Calibri" pitchFamily="34" charset="-122"/>
                <a:cs typeface="Calibri" pitchFamily="34" charset="-120"/>
              </a:rPr>
              <a:t>Vet top picks; start with the 13 brands on Staples</a:t>
            </a:r>
            <a:endParaRPr lang="en-US" sz="900" dirty="0"/>
          </a:p>
        </p:txBody>
      </p:sp>
      <p:sp>
        <p:nvSpPr>
          <p:cNvPr id="88" name="Shape 78"/>
          <p:cNvSpPr/>
          <p:nvPr/>
        </p:nvSpPr>
        <p:spPr>
          <a:xfrm>
            <a:off x="9577426" y="5468112"/>
            <a:ext cx="2200046" cy="914400"/>
          </a:xfrm>
          <a:prstGeom prst="roundRect">
            <a:avLst>
              <a:gd name="adj" fmla="val 8000"/>
            </a:avLst>
          </a:prstGeom>
          <a:solidFill>
            <a:srgbClr val="DCE7F8"/>
          </a:solidFill>
          <a:ln w="12700">
            <a:solidFill>
              <a:srgbClr val="DCE7F8"/>
            </a:solidFill>
            <a:prstDash val="solid"/>
          </a:ln>
        </p:spPr>
      </p:sp>
      <p:sp>
        <p:nvSpPr>
          <p:cNvPr id="89" name="Shape 79"/>
          <p:cNvSpPr/>
          <p:nvPr/>
        </p:nvSpPr>
        <p:spPr>
          <a:xfrm>
            <a:off x="9577426" y="5468112"/>
            <a:ext cx="2200046" cy="292608"/>
          </a:xfrm>
          <a:prstGeom prst="roundRect">
            <a:avLst>
              <a:gd name="adj" fmla="val 25000"/>
            </a:avLst>
          </a:prstGeom>
          <a:solidFill>
            <a:srgbClr val="13285B"/>
          </a:solidFill>
          <a:ln w="12700">
            <a:solidFill>
              <a:srgbClr val="13285B"/>
            </a:solidFill>
            <a:prstDash val="solid"/>
          </a:ln>
        </p:spPr>
      </p:sp>
      <p:pic>
        <p:nvPicPr>
          <p:cNvPr id="90" name="Image 8" descr="preencoded.png">    </p:cNvPr>
          <p:cNvPicPr>
            <a:picLocks noChangeAspect="1"/>
          </p:cNvPicPr>
          <p:nvPr/>
        </p:nvPicPr>
        <p:blipFill>
          <a:blip r:embed="rId14"/>
          <a:stretch>
            <a:fillRect/>
          </a:stretch>
        </p:blipFill>
        <p:spPr>
          <a:xfrm>
            <a:off x="9668866" y="5522976"/>
            <a:ext cx="182880" cy="182880"/>
          </a:xfrm>
          <a:prstGeom prst="rect">
            <a:avLst/>
          </a:prstGeom>
        </p:spPr>
      </p:pic>
      <p:sp>
        <p:nvSpPr>
          <p:cNvPr id="91" name="Text 80"/>
          <p:cNvSpPr txBox="1"/>
          <p:nvPr/>
        </p:nvSpPr>
        <p:spPr>
          <a:xfrm>
            <a:off x="9924898" y="5468112"/>
            <a:ext cx="1779422" cy="292608"/>
          </a:xfrm>
          <a:prstGeom prst="rect">
            <a:avLst/>
          </a:prstGeom>
          <a:noFill/>
          <a:ln/>
        </p:spPr>
        <p:txBody>
          <a:bodyPr wrap="square" lIns="0" tIns="0" rIns="0" bIns="0" rtlCol="0" anchor="ctr"/>
          <a:lstStyle/>
          <a:p>
            <a:pPr indent="0" marL="0">
              <a:buNone/>
            </a:pPr>
            <a:r>
              <a:rPr lang="en-US" sz="1000" b="1" spc="100" kern="0" dirty="0">
                <a:solidFill>
                  <a:srgbClr val="F5A623"/>
                </a:solidFill>
                <a:latin typeface="Calibri" pitchFamily="34" charset="0"/>
                <a:ea typeface="Calibri" pitchFamily="34" charset="-122"/>
                <a:cs typeface="Calibri" pitchFamily="34" charset="-120"/>
              </a:rPr>
              <a:t>5 · MONITOR</a:t>
            </a:r>
            <a:endParaRPr lang="en-US" sz="1000" dirty="0"/>
          </a:p>
        </p:txBody>
      </p:sp>
      <p:sp>
        <p:nvSpPr>
          <p:cNvPr id="92" name="Text 81"/>
          <p:cNvSpPr txBox="1"/>
          <p:nvPr/>
        </p:nvSpPr>
        <p:spPr>
          <a:xfrm>
            <a:off x="9668866" y="5797296"/>
            <a:ext cx="2053742" cy="219456"/>
          </a:xfrm>
          <a:prstGeom prst="rect">
            <a:avLst/>
          </a:prstGeom>
          <a:noFill/>
          <a:ln/>
        </p:spPr>
        <p:txBody>
          <a:bodyPr wrap="square" lIns="0" tIns="0" rIns="0" bIns="0" rtlCol="0" anchor="ctr"/>
          <a:lstStyle/>
          <a:p>
            <a:pPr indent="0" marL="0">
              <a:buNone/>
            </a:pPr>
            <a:r>
              <a:rPr lang="en-US" sz="950" b="1" dirty="0">
                <a:solidFill>
                  <a:srgbClr val="13285B"/>
                </a:solidFill>
                <a:latin typeface="Calibri" pitchFamily="34" charset="0"/>
                <a:ea typeface="Calibri" pitchFamily="34" charset="-122"/>
                <a:cs typeface="Calibri" pitchFamily="34" charset="-120"/>
              </a:rPr>
              <a:t>Market radar &amp; pilot tracking</a:t>
            </a:r>
            <a:endParaRPr lang="en-US" sz="950" dirty="0"/>
          </a:p>
        </p:txBody>
      </p:sp>
      <p:sp>
        <p:nvSpPr>
          <p:cNvPr id="93" name="Text 82"/>
          <p:cNvSpPr txBox="1"/>
          <p:nvPr/>
        </p:nvSpPr>
        <p:spPr>
          <a:xfrm>
            <a:off x="9668866" y="6016752"/>
            <a:ext cx="2053742" cy="329184"/>
          </a:xfrm>
          <a:prstGeom prst="rect">
            <a:avLst/>
          </a:prstGeom>
          <a:noFill/>
          <a:ln/>
        </p:spPr>
        <p:txBody>
          <a:bodyPr wrap="square" lIns="0" tIns="0" rIns="0" bIns="0" rtlCol="0" anchor="t"/>
          <a:lstStyle/>
          <a:p>
            <a:pPr indent="0" marL="0">
              <a:buNone/>
            </a:pPr>
            <a:r>
              <a:rPr lang="en-US" sz="900" dirty="0">
                <a:solidFill>
                  <a:srgbClr val="5B6475"/>
                </a:solidFill>
                <a:latin typeface="Calibri" pitchFamily="34" charset="0"/>
                <a:ea typeface="Calibri" pitchFamily="34" charset="-122"/>
                <a:cs typeface="Calibri" pitchFamily="34" charset="-120"/>
              </a:rPr>
              <a:t>Track pilots' GMV, attach &amp; commission</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catalogues;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Project Continuation: 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Same question, which products to add, answered with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thresholds</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kept current</a:t>
            </a:r>
            <a:pPr algn="ctr" indent="0" marL="0">
              <a:buNone/>
            </a:pPr>
            <a:r>
              <a:rPr lang="en-US" sz="1150" dirty="0">
                <a:solidFill>
                  <a:srgbClr val="1F2937"/>
                </a:solidFill>
                <a:latin typeface="Calibri" pitchFamily="34" charset="0"/>
                <a:ea typeface="Calibri" pitchFamily="34" charset="-122"/>
                <a:cs typeface="Calibri" pitchFamily="34" charset="-120"/>
              </a:rPr>
              <a:t>. Deepen the 12 nodes first, then broaden.</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Demand &amp; segment prioritisation</a:t>
            </a:r>
            <a:endParaRPr lang="en-US" sz="1100" dirty="0"/>
          </a:p>
        </p:txBody>
      </p:sp>
      <p:sp>
        <p:nvSpPr>
          <p:cNvPr id="9" name="Shape 6"/>
          <p:cNvSpPr/>
          <p:nvPr/>
        </p:nvSpPr>
        <p:spPr>
          <a:xfrm>
            <a:off x="2531059" y="1965960"/>
            <a:ext cx="164592" cy="256032"/>
          </a:xfrm>
          <a:prstGeom prst="rightArrow">
            <a:avLst/>
          </a:prstGeom>
          <a:solidFill>
            <a:srgbClr val="A9C3EE"/>
          </a:solidFill>
          <a:ln w="12700">
            <a:solidFill>
              <a:srgbClr val="A9C3EE"/>
            </a:solidFill>
            <a:prstDash val="solid"/>
          </a:ln>
        </p:spPr>
      </p:sp>
      <p:sp>
        <p:nvSpPr>
          <p:cNvPr id="10" name="Shape 7"/>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1" name="Text 8"/>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will sell, and to whom?</a:t>
            </a:r>
            <a:endParaRPr lang="en-US" sz="1000" dirty="0"/>
          </a:p>
        </p:txBody>
      </p:sp>
      <p:sp>
        <p:nvSpPr>
          <p:cNvPr id="12" name="Text 9"/>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Link sales, traffic &amp; search to each archetype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Profile buyers: SMB vs home, RFM, basket mix</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Re-rank add-lists by expected GMV &amp; commission</a:t>
            </a:r>
            <a:endParaRPr lang="en-US" sz="950" dirty="0"/>
          </a:p>
        </p:txBody>
      </p:sp>
      <p:sp>
        <p:nvSpPr>
          <p:cNvPr id="13" name="Shape 10"/>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4" name="Text 11"/>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5" name="Text 12"/>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traffic · customers</a:t>
            </a:r>
            <a:endParaRPr lang="en-US" sz="950" dirty="0"/>
          </a:p>
        </p:txBody>
      </p:sp>
      <p:sp>
        <p:nvSpPr>
          <p:cNvPr id="16" name="Shape 13"/>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7" name="Text 14"/>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Revenue-ranked add-list per segment</a:t>
            </a:r>
            <a:endParaRPr lang="en-US" sz="1050" dirty="0"/>
          </a:p>
        </p:txBody>
      </p:sp>
      <p:sp>
        <p:nvSpPr>
          <p:cNvPr id="19" name="Shape 16"/>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20"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1" name="Text 17"/>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2" name="Text 18"/>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Cannibalisation &amp; threshold tuning</a:t>
            </a:r>
            <a:endParaRPr lang="en-US" sz="1100" dirty="0"/>
          </a:p>
        </p:txBody>
      </p:sp>
      <p:sp>
        <p:nvSpPr>
          <p:cNvPr id="23" name="Shape 19"/>
          <p:cNvSpPr/>
          <p:nvPr/>
        </p:nvSpPr>
        <p:spPr>
          <a:xfrm>
            <a:off x="4851806" y="1965960"/>
            <a:ext cx="164592" cy="256032"/>
          </a:xfrm>
          <a:prstGeom prst="rightArrow">
            <a:avLst/>
          </a:prstGeom>
          <a:solidFill>
            <a:srgbClr val="A9C3EE"/>
          </a:solidFill>
          <a:ln w="12700">
            <a:solidFill>
              <a:srgbClr val="A9C3EE"/>
            </a:solidFill>
            <a:prstDash val="solid"/>
          </a:ln>
        </p:spPr>
      </p:sp>
      <p:sp>
        <p:nvSpPr>
          <p:cNvPr id="24" name="Shape 20"/>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5" name="Text 21"/>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6" name="Text 22"/>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safety-gate thresholds with merchants: cannibalisation, price, fit, picks per node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7" name="Shape 23"/>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8" name="Text 24"/>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9" name="Text 25"/>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30" name="Shape 26"/>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31" name="Text 27"/>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2" name="Text 28"/>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in revenue terms</a:t>
            </a:r>
            <a:endParaRPr lang="en-US" sz="1050" dirty="0"/>
          </a:p>
        </p:txBody>
      </p:sp>
      <p:sp>
        <p:nvSpPr>
          <p:cNvPr id="33" name="Shape 29"/>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4"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5" name="Text 30"/>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6" name="Text 31"/>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Any node, competitor or audience</a:t>
            </a:r>
            <a:endParaRPr lang="en-US" sz="1100" dirty="0"/>
          </a:p>
        </p:txBody>
      </p:sp>
      <p:sp>
        <p:nvSpPr>
          <p:cNvPr id="37" name="Shape 32"/>
          <p:cNvSpPr/>
          <p:nvPr/>
        </p:nvSpPr>
        <p:spPr>
          <a:xfrm>
            <a:off x="7172554" y="1965960"/>
            <a:ext cx="164592" cy="256032"/>
          </a:xfrm>
          <a:prstGeom prst="rightArrow">
            <a:avLst/>
          </a:prstGeom>
          <a:solidFill>
            <a:srgbClr val="A9C3EE"/>
          </a:solidFill>
          <a:ln w="12700">
            <a:solidFill>
              <a:srgbClr val="A9C3EE"/>
            </a:solidFill>
            <a:prstDash val="solid"/>
          </a:ln>
        </p:spPr>
      </p:sp>
      <p:sp>
        <p:nvSpPr>
          <p:cNvPr id="38" name="Shape 33"/>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9" name="Text 34"/>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40" name="Text 35"/>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Pick the category and the competitor to benchmark</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e.g. IKEA for small-space home offices, Target for Back-to-School, Etsy for gifting</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From 12 nodes to every category: config only, no new code</a:t>
            </a:r>
            <a:endParaRPr lang="en-US" sz="950" dirty="0"/>
          </a:p>
        </p:txBody>
      </p:sp>
      <p:sp>
        <p:nvSpPr>
          <p:cNvPr id="41" name="Shape 36"/>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42" name="Text 37"/>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3" name="Text 38"/>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catalogue + new competitor crawls</a:t>
            </a:r>
            <a:endParaRPr lang="en-US" sz="950" dirty="0"/>
          </a:p>
        </p:txBody>
      </p:sp>
      <p:sp>
        <p:nvSpPr>
          <p:cNvPr id="44" name="Shape 39"/>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5" name="Text 40"/>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6" name="Text 41"/>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The engine aimed at the audience Staples wants</a:t>
            </a:r>
            <a:endParaRPr lang="en-US" sz="1050" dirty="0"/>
          </a:p>
        </p:txBody>
      </p:sp>
      <p:sp>
        <p:nvSpPr>
          <p:cNvPr id="47" name="Shape 42"/>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8"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9" name="Text 43"/>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50" name="Text 44"/>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Automated seller-listing vetting</a:t>
            </a:r>
            <a:endParaRPr lang="en-US" sz="1100" dirty="0"/>
          </a:p>
        </p:txBody>
      </p:sp>
      <p:sp>
        <p:nvSpPr>
          <p:cNvPr id="51" name="Shape 45"/>
          <p:cNvSpPr/>
          <p:nvPr/>
        </p:nvSpPr>
        <p:spPr>
          <a:xfrm>
            <a:off x="9493301" y="1965960"/>
            <a:ext cx="164592" cy="256032"/>
          </a:xfrm>
          <a:prstGeom prst="rightArrow">
            <a:avLst/>
          </a:prstGeom>
          <a:solidFill>
            <a:srgbClr val="A9C3EE"/>
          </a:solidFill>
          <a:ln w="12700">
            <a:solidFill>
              <a:srgbClr val="A9C3EE"/>
            </a:solidFill>
            <a:prstDash val="solid"/>
          </a:ln>
        </p:spPr>
      </p:sp>
      <p:sp>
        <p:nvSpPr>
          <p:cNvPr id="52" name="Shape 46"/>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53" name="Text 47"/>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Should this listing go live?</a:t>
            </a:r>
            <a:endParaRPr lang="en-US" sz="1000" dirty="0"/>
          </a:p>
        </p:txBody>
      </p:sp>
      <p:sp>
        <p:nvSpPr>
          <p:cNvPr id="54" name="Text 48"/>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Check fit, 1P overlap &amp; price automatically</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p:txBody>
      </p:sp>
      <p:sp>
        <p:nvSpPr>
          <p:cNvPr id="55" name="Shape 49"/>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6" name="Text 50"/>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7" name="Text 51"/>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8" name="Shape 52"/>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9" name="Text 53"/>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0" name="Text 54"/>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Curation that scales beyond manual review</a:t>
            </a:r>
            <a:endParaRPr lang="en-US" sz="1050" dirty="0"/>
          </a:p>
        </p:txBody>
      </p:sp>
      <p:sp>
        <p:nvSpPr>
          <p:cNvPr id="61" name="Shape 55"/>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62"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63" name="Text 56"/>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4" name="Text 57"/>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5" name="Shape 58"/>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6" name="Text 59"/>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7" name="Text 60"/>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Monthly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listed picks' GMV, attach &amp; commission</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Compare with forecast; feed back into step 1</a:t>
            </a:r>
            <a:endParaRPr lang="en-US" sz="950" dirty="0"/>
          </a:p>
        </p:txBody>
      </p:sp>
      <p:sp>
        <p:nvSpPr>
          <p:cNvPr id="68" name="Shape 61"/>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9" name="Text 62"/>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70" name="Text 63"/>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71" name="Shape 64"/>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72" name="Text 65"/>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3" name="Text 66"/>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74" name="Shape 67"/>
          <p:cNvSpPr/>
          <p:nvPr/>
        </p:nvSpPr>
        <p:spPr>
          <a:xfrm>
            <a:off x="10735970" y="5907024"/>
            <a:ext cx="0" cy="237744"/>
          </a:xfrm>
          <a:prstGeom prst="line">
            <a:avLst/>
          </a:prstGeom>
          <a:noFill/>
          <a:ln w="19050">
            <a:solidFill>
              <a:srgbClr val="8FB0E8"/>
            </a:solidFill>
            <a:prstDash val="solid"/>
          </a:ln>
        </p:spPr>
      </p:sp>
      <p:sp>
        <p:nvSpPr>
          <p:cNvPr id="75" name="Shape 68"/>
          <p:cNvSpPr/>
          <p:nvPr/>
        </p:nvSpPr>
        <p:spPr>
          <a:xfrm>
            <a:off x="1452982" y="6144768"/>
            <a:ext cx="9282989" cy="0"/>
          </a:xfrm>
          <a:prstGeom prst="line">
            <a:avLst/>
          </a:prstGeom>
          <a:noFill/>
          <a:ln w="19050">
            <a:solidFill>
              <a:srgbClr val="8FB0E8"/>
            </a:solidFill>
            <a:prstDash val="solid"/>
          </a:ln>
        </p:spPr>
      </p:sp>
      <p:sp>
        <p:nvSpPr>
          <p:cNvPr id="76" name="Shape 69"/>
          <p:cNvSpPr/>
          <p:nvPr/>
        </p:nvSpPr>
        <p:spPr>
          <a:xfrm>
            <a:off x="1452982" y="5907024"/>
            <a:ext cx="0" cy="237744"/>
          </a:xfrm>
          <a:prstGeom prst="line">
            <a:avLst/>
          </a:prstGeom>
          <a:noFill/>
          <a:ln w="19050">
            <a:solidFill>
              <a:srgbClr val="8FB0E8"/>
            </a:solidFill>
            <a:prstDash val="solid"/>
            <a:headEnd type="triangle"/>
          </a:ln>
        </p:spPr>
      </p:sp>
      <p:sp>
        <p:nvSpPr>
          <p:cNvPr id="77" name="Shape 70"/>
          <p:cNvSpPr/>
          <p:nvPr/>
        </p:nvSpPr>
        <p:spPr>
          <a:xfrm>
            <a:off x="4270248" y="6016752"/>
            <a:ext cx="3657600" cy="256032"/>
          </a:xfrm>
          <a:prstGeom prst="roundRect">
            <a:avLst>
              <a:gd name="adj" fmla="val 14286"/>
            </a:avLst>
          </a:prstGeom>
          <a:solidFill>
            <a:srgbClr val="FFFFFF"/>
          </a:solidFill>
          <a:ln w="12700">
            <a:solidFill>
              <a:srgbClr val="FFFFFF"/>
            </a:solidFill>
            <a:prstDash val="solid"/>
          </a:ln>
        </p:spPr>
      </p:sp>
      <p:sp>
        <p:nvSpPr>
          <p:cNvPr id="78" name="Text 71"/>
          <p:cNvSpPr txBox="1"/>
          <p:nvPr/>
        </p:nvSpPr>
        <p:spPr>
          <a:xfrm>
            <a:off x="4270248" y="6016752"/>
            <a:ext cx="3657600" cy="256032"/>
          </a:xfrm>
          <a:prstGeom prst="rect">
            <a:avLst/>
          </a:prstGeom>
          <a:noFill/>
          <a:ln/>
        </p:spPr>
        <p:txBody>
          <a:bodyPr wrap="square" lIns="0" tIns="0" rIns="0" bIns="0" rtlCol="0" anchor="ctr"/>
          <a:lstStyle/>
          <a:p>
            <a:pPr algn="ctr" indent="0" marL="0">
              <a:buNone/>
            </a:pPr>
            <a:r>
              <a:rPr lang="en-US" sz="1000" b="1" i="1" dirty="0">
                <a:solidFill>
                  <a:srgbClr val="2F6FD0"/>
                </a:solidFill>
                <a:latin typeface="Calibri" pitchFamily="34" charset="0"/>
                <a:ea typeface="Calibri" pitchFamily="34" charset="-122"/>
                <a:cs typeface="Calibri" pitchFamily="34" charset="-120"/>
              </a:rPr>
              <a:t>↺  results feed the next cycle: the engine learns</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Alternate 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SEO &amp; search-intent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shoppers search for but not find?</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Flag zero-result searches &amp; keywords rivals win</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On-site search logs · SEO keywords</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media &amp; trend listening</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on TikTok, Pinterest, Reddit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Google Trends; score growth &amp; sentiment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Flag rising styles for Explore nodes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Spot the next "White Chair" early</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SMB &amp; home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catalogue</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New-category whitespace</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new categories are worth opening?</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Start from the 8.4K competitor products outside the 12 nodes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adjacent verticals, e.g. facility supplies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with forecasting &amp; research; open the best</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PoC backlog + sales &amp; search</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Evidence-backed new categories</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completion &amp; Back-to-School kits</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Find missing complements &amp; seasonal kits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S0–S2</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S3–S4</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S5–S6</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S7–S8</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2026-10-06T05:18:12Z</dcterms:created>
  <dcterms:modified xsi:type="dcterms:W3CDTF">2026-10-06T05:18:12Z</dcterms:modified>
</cp:coreProperties>
</file>