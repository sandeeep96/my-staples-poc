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febc566-1151-c8e6-add7-cd57b4e57cde}">
          <p14:sldIdLst>
            <p14:sldId id="256"/>
          </p14:sldIdLst>
        </p14:section>
        <p14:section name="Summary" id="{cfeee0cd-0d52-ea7e-245a-be8de4afff32}">
          <p14:sldIdLst>
            <p14:sldId id="257"/>
            <p14:sldId id="258"/>
          </p14:sldIdLst>
        </p14:section>
        <p14:section name="Demo" id="{dfde4068-c4da-a4cc-bb9a-2b2ccea96bc3}">
          <p14:sldIdLst>
            <p14:sldId id="259"/>
          </p14:sldIdLst>
        </p14:section>
        <p14:section name="Next steps" id="{3b63f976-47b3-e6b0-9c3e-c31befa0d07c}">
          <p14:sldIdLst>
            <p14:sldId id="260"/>
            <p14:sldId id="261"/>
          </p14:sldIdLst>
        </p14:section>
        <p14:section name="Appendix" id="{3b4a0966-d2d1-4348-0d9a-8f413e0f97d7}">
          <p14:sldIdLst>
            <p14:sldId id="262"/>
            <p14:sldId id="263"/>
          </p14:sldIdLst>
        </p14:section>
        <p14:section name="Close" id="{4f28a1de-4f46-f3fe-f351-6b817b07d0c0}">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PoC answers one question for each of 12 Staples nodes: what does the leading competitor (Amazon or Wayfair) carry that Staples does not, and which of those items can Staples add through the marketplace without cannibalising its own assortment. External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a curated, core-adjacent ("White Chair") marketplace for Q1 2027 that does not cannibalise 1P sales, built on external data only.
Funnel: 19,928 product families (3,416 Staples, 6,577 Amazon, 9,935 Wayfair; colour/size variants merged) → 897 archetypes compared → 74 pass the safety gates (22 Strong, 23 Vector-led, 28 Gap-led, 1 Conditional) → 216 example products, each shown beside the nearest Staples item → 13 brands already selling on Staples (at-A-Glance, BAGSMART, Bentgo, CamelBak, Ello, Excello, Fringe, High Sierra, La Crosse Technology, Mead, PlanAhead, STANLEY, Targus).
How: Method 1 compares products in an embedding space (whitespace, fit with Staples, look, cannibalisation risk, price position); Method 2 compares attribute shares (share gap, price, colour, material/style, design). Each has its own cannibalisation gate; the final list is their union.
The four headline picks are anchored to what Staples already sells, so a merchant recognises them; each was checked against the Staples catalog: wooden K-Cup pod drawers 0 of 50 coffee organisers (Strong: both methods; Staples sells 583 single-serve coffee items and 139 coffee makers); adult stainless bento 1 of 318 lunch bags (Strong); journals 0 of 805 planners (Gap-led); barrel chairs 0 of 116 accent chairs (Gap-led; the literal "White Chair").
Backup picks if asked: folding screens under $150 (0 of 99 partitions vs 20% of Wayfair's; Strong), statement wall clocks (Staples' clocks 60% plastic vs 5% at Wayfair; Strong), hiking / outdoor daypacks (5 of 379 vs 31% of Amazon's).
If asked about the assortments: Staples builds for the workplace (57% of accent chairs are reception/lobby seats vs 1% at Wayfair; 83% of partitions tackable vs 2%); Wayfair for the home (38% of accent chairs for living rooms vs 7%); Amazon for the person and the activity (40% of backpacks hiking/outdoor vs 1%). Design-forward share 20% at Staples vs 44% at the competitors (text-based, provisional). Price: Staples desks median $729 vs $286 at Wayfair; 41% of Amazon planners under $10 vs 12%.
More picks: 70 further archetypes, each with example products, are in the demo.
Next steps: the five steps of slide 5 (same labels and headings). First moves if asked: 1 Prioritise: Link sales &amp; search to the top picks in 2–3 pilot nodes; 2 Protect: Calibrate gates with merchants (60 side-by-side pairs); 3 Expand: Agree the next nodes &amp; benchmark competitors; 4 Curate: Vet top picks; start with the 13 brands on Staples; 5 Monitor: Track pilots' GMV, attach &amp; 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(as per our research): Hero = Staples' top-performing categories, so we EXTEND them with design-led variants; Probable Hero = a good market where Staples can improve its position, so we BUILD depth; Non-Hero = a smaller Staples presence today, so we EXPLORE via marketplace sellers with near-zero 1P risk.
Competitors (as per our research): each node is compared with its Primary competitor only: Wayfair, the leading online home-furnishing store, for furniture and décor (5 nodes); Amazon, the default everyday marketplace, for supplies, bags and kitchen (7 nodes).
Archetypes recommended: the final gate keeps 3 to 10 per node; Desk Organizers, Water Bottles and Desk Pads have the smallest competitor samples (185, 194 and 61 product families), hence fewer picks.
Disclaimer detail: Amazon 14.6K and Wayfair 11.2K SKUs vs 4.9K Staples SKUs. Because the competitor files are samples, every comparison is a share of each retailer's range with a credibility check, never a raw count. No internal sales, traffic or margin data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add the demo link here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PoC engine on Staples data: the same analysis, now on Staples' internal data. If asked about order: deepen the 12 nodes first, then broaden.
1 Prioritise: join sales, traffic and search data to each archetype; profile buyers (B2B vs B2C, RFM, basket mix); re-rank each node's add-list by expected GMV and commission per segment (Hero / Probable / Non-Hero).
2 Protect: today's cannibalisation checks use supply only (how close a competitor product sits to Staples products). With Staples data we tune every safety-gate threshold with merchants (cannibalisation risk bands, price-position limits, fit-with-Staples cut-offs, picks per node; the merchant calibration session on slide 2 is the first move) and replace the supply proxy with real 1P sales overlap and substitution seen in baskets, plus price and margin floors per node.
3 Expand: once calibrated, point the engine at any Staples category and any competitor that represents the audience Staples wants (e.g. IKEA for small-space home offices, Target for students and Back-to-School, Etsy for gifting). A new competitor is one adapter entry and a new node one config file; no code change.
4 Curate: the same attribute and archetype engine scores every seller submission for fit, 1P overlap and price, feeding an approve / review / reject queue that learns from curator decisions (first move: vet the top picks, starting with the brands already on Staples).
5 Monitor: scheduled re-crawls flag new and closing gaps; pilot listings are tracked for GMV, attach rate and commission against the forecast, and results feed back into prioritisation.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paths, read left to right: sense demand early, size and validate it, then act on the basket and the catalog. Each combines external signals with Staples data.
- Social media &amp; trend listening (social media analytics + trend listening): mentions, hashtags and saves per archetype on TikTok, Instagram, Pinterest and Reddit plus Google Trends, scored for growth and sentiment; rising styles feed the Explore nodes.
- SEO &amp; search-intent gaps: on-site searches (zero-result, high-exit) and external SEO keywords where competitors rank and Staples does not, mapped to archetypes; feeds seller recruiting and product pages.
- Demand forecasting: per node and archetype from sales history, with Back-to-School seasonality and the trend signals from social listening; sizes GMV and commission before listing.
- Market research &amp; customer surveys (market research + market survey): B2B and B2C customers on unmet needs, style and price; concept tests of the top archetypes; results set the prioritisation weights.
- Basket completion &amp; Back-to-School kits: market-basket analysis finds missing complements; target 1–2 attach items per order (the brief's basket goal).
- New-category whitespace: the PoC already set aside 8,399 competitor product families that fit none of the 12 nodes (e.g. wall calendars, thermocoolers, reusable bags, briefcases, many of which Staples shelves elsewhere); running the engine against the whole Staples tree, plus the brief's adjacent verticals such as facility supplies, finds categories with no Staples home.
Further options if asked: B2B account cross-sell, seller recruitment scoring, listing content enrichment (our attribute extractor auto-tags seller listings for filters and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flow. S0–S2: ingest and clean the three sources (PII from Wayfair reviews removed), merge colour/size variants into product families, map each competitor product to the right Staples node with a k-NN classifier over all Staples nodes. S3–S4: read every product's full text with the same extractor on both sides into 3 tiers of attributes; build archetypes as combinations of 4–6 attributes (no price). Neutral product embeddings: each product becomes a card of its extracted attributes only (same template on both sides, no title, price or brand, so neither retailer's copy style separates them), embedded with bge-base; it powers Method 1, the clustering cross-check and the nearest-Staples match for every example product. S5: Method 1 in embedding space (whitespace, fit with Staples, aesthetic difference, cannibalisation risk, price position) gives VOS. S6: Method 2 on attribute shares (share gap, price, colour, material/style, design) gives TG, with its own attribute cannibalisation check (ACR). S7: each method has its own safety gate; the final gate takes the union and tiers it. S8: example products safe under the recommending method, each shown next to the nearest Staples product, plus brand and seller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1 decision map: every competitor product gets one label. First EXCLUDE (identical to a Staples product), then OFF-BRAND (AAS below T_low: poor fit with Staples' catalog and customers), then the CRS band decides. Low CRS (&lt; 30): CURATE if AAS ≥ T_high (true whitespace), else EDGE (hold for phase 2). Middle CRS: LEAN-APPROVE if the look is clearly different (AD ≥ 0.5) and the fit is strong, else REVIEW (merchant calibration queue). High CRS (≥ 70), top-down: UNDERCUT (PPR &lt; 0.85×, hard reject), TRADE-UP (PPR ≥ 1.5× with a design or material upgrade), STYLE-EXTENSION (AD ≥ 0.5), otherwise SUBSTITUTE (same job, same look, reject).
T_low / T_high are set from Staples' own AAS per L2 group (ranges 24–42 and 43–61); all cut-offs are provisional until the merchant calibration session (slide 5, step 2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Next steps are on the executive summary and in detail on slide 5 (the PoC engine on Staples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914400"/>
            <a:ext cx="1005840" cy="54864"/>
          </a:xfrm>
          <a:prstGeom prst="rect">
            <a:avLst/>
          </a:prstGeom>
          <a:solidFill>
            <a:srgbClr val="F5A623"/>
          </a:solidFill>
          <a:ln w="12700">
            <a:solidFill>
              <a:srgbClr val="F5A623"/>
            </a:solidFill>
            <a:prstDash val="solid"/>
          </a:ln>
        </p:spPr>
      </p:sp>
      <p:sp>
        <p:nvSpPr>
          <p:cNvPr id="3" name="Shape 1"/>
          <p:cNvSpPr/>
          <p:nvPr/>
        </p:nvSpPr>
        <p:spPr>
          <a:xfrm>
            <a:off x="1417320" y="914400"/>
            <a:ext cx="10360152" cy="54864"/>
          </a:xfrm>
          <a:prstGeom prst="rect">
            <a:avLst/>
          </a:prstGeom>
          <a:solidFill>
            <a:srgbClr val="1F4E9A"/>
          </a:solidFill>
          <a:ln w="12700">
            <a:solidFill>
              <a:srgbClr val="1F4E9A"/>
            </a:solidFill>
            <a:prstDash val="solid"/>
          </a:ln>
        </p:spPr>
      </p:sp>
      <p:sp>
        <p:nvSpPr>
          <p:cNvPr id="4" name="Text 2"/>
          <p:cNvSpPr/>
          <p:nvPr/>
        </p:nvSpPr>
        <p:spPr>
          <a:xfrm>
            <a:off x="411480" y="6528816"/>
            <a:ext cx="7315200" cy="219456"/>
          </a:xfrm>
          <a:prstGeom prst="rect">
            <a:avLst/>
          </a:prstGeom>
          <a:noFill/>
          <a:ln/>
        </p:spPr>
        <p:txBody>
          <a:bodyPr wrap="square" lIns="0" tIns="0" rIns="0" bIns="0" rtlCol="0" anchor="ctr"/>
          <a:lstStyle/>
          <a:p>
            <a:pPr indent="0" marL="0">
              <a:buNone/>
            </a:pPr>
            <a:r>
              <a:rPr lang="en-US" sz="900" dirty="0">
                <a:solidFill>
                  <a:srgbClr val="7A8599"/>
                </a:solidFill>
                <a:latin typeface="Calibri" pitchFamily="34" charset="0"/>
                <a:ea typeface="Calibri" pitchFamily="34" charset="-122"/>
                <a:cs typeface="Calibri" pitchFamily="34" charset="-120"/>
              </a:rPr>
              <a:t>Staples × LatentView  |  Assortment Gap &amp; Archetype PoC  |  Confidential</a:t>
            </a:r>
            <a:endParaRPr lang="en-US" sz="900" dirty="0"/>
          </a:p>
        </p:txBody>
      </p:sp>
      <p:sp>
        <p:nvSpPr>
          <p:cNvPr id="5" name="Text 3"/>
          <p:cNvSpPr/>
          <p:nvPr>
            <p:ph idx="103" type="title" hasCustomPrompt="1"/>
          </p:nvPr>
        </p:nvSpPr>
        <p:spPr>
          <a:xfrm>
            <a:off x="411480" y="219456"/>
            <a:ext cx="11365992" cy="658368"/>
          </a:xfrm>
          <a:prstGeom prst="rect">
            <a:avLst/>
          </a:prstGeom>
          <a:noFill/>
          <a:ln/>
        </p:spPr>
        <p:txBody>
          <a:bodyPr wrap="square" rtlCol="0"/>
          <a:lstStyle>
            <a:lvl1pPr algn="l" indent="0" marL="0">
              <a:buNone/>
              <a:defRPr lang="en-US" sz="2800" b="1" dirty="0">
                <a:solidFill>
                  <a:srgbClr val="1F4E9A"/>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85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slideLayout" Target="../slideLayouts/slideLayout3.xml"/><Relationship Id="rId1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www.amazon.com/dp/B0DBH21SRN" TargetMode="External"/><Relationship Id="rId4" Type="http://schemas.openxmlformats.org/officeDocument/2006/relationships/hyperlink" Target="https://www.amazon.com/dp/B0716B2ZFK" TargetMode="External"/><Relationship Id="rId6" Type="http://schemas.openxmlformats.org/officeDocument/2006/relationships/hyperlink" Target="https://www.amazon.com/dp/B08119CKGM" TargetMode="External"/><Relationship Id="rId8" Type="http://schemas.openxmlformats.org/officeDocument/2006/relationships/hyperlink" Target="https://www.wayfair.com/furniture/pdp/hokku-designs-360-swivel-accent-chair-velvet-upholstered-open-back-swivel-barrel-chair-modern-swivel-lounge-chair-for-living-room-dining-room-bedroom-w119643556.html?piid=1272737804" TargetMode="External"/><Relationship Id="rId1" Type="http://schemas.openxmlformats.org/officeDocument/2006/relationships/image" Target="../media/image-2-1.png"/><Relationship Id="rId3" Type="http://schemas.openxmlformats.org/officeDocument/2006/relationships/image" Target="../media/image-2-2.png"/><Relationship Id="rId5" Type="http://schemas.openxmlformats.org/officeDocument/2006/relationships/image" Target="../media/image-2-3.png"/><Relationship Id="rId7"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 Id="rId12" Type="http://schemas.openxmlformats.org/officeDocument/2006/relationships/image" Target="../media/image-2-8.png"/><Relationship Id="rId13" Type="http://schemas.openxmlformats.org/officeDocument/2006/relationships/image" Target="../media/image-2-9.png"/><Relationship Id="rId14" Type="http://schemas.openxmlformats.org/officeDocument/2006/relationships/slideLayout" Target="../slideLayouts/slideLayout2.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2.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2103120"/>
            <a:ext cx="6675120" cy="8686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Staples Marketplace</a:t>
            </a:r>
            <a:endParaRPr lang="en-US" sz="4400" dirty="0"/>
          </a:p>
        </p:txBody>
      </p:sp>
      <p:sp>
        <p:nvSpPr>
          <p:cNvPr id="3" name="Shape 1"/>
          <p:cNvSpPr/>
          <p:nvPr/>
        </p:nvSpPr>
        <p:spPr>
          <a:xfrm>
            <a:off x="658368" y="3072384"/>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246120"/>
            <a:ext cx="6675120" cy="548640"/>
          </a:xfrm>
          <a:prstGeom prst="rect">
            <a:avLst/>
          </a:prstGeom>
          <a:noFill/>
          <a:ln/>
        </p:spPr>
        <p:txBody>
          <a:bodyPr wrap="square" lIns="0" tIns="0" rIns="0" bIns="0" rtlCol="0" anchor="t"/>
          <a:lstStyle/>
          <a:p>
            <a:pPr indent="0" marL="0">
              <a:buNone/>
            </a:pPr>
            <a:r>
              <a:rPr lang="en-US" sz="2600" dirty="0">
                <a:solidFill>
                  <a:srgbClr val="CADCFC"/>
                </a:solidFill>
                <a:latin typeface="Calibri" pitchFamily="34" charset="0"/>
                <a:ea typeface="Calibri" pitchFamily="34" charset="-122"/>
                <a:cs typeface="Calibri" pitchFamily="34" charset="-120"/>
              </a:rPr>
              <a:t>Assortment Gap &amp; Archetype Recommendation</a:t>
            </a:r>
            <a:endParaRPr lang="en-US" sz="26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
        <p:nvSpPr>
          <p:cNvPr id="6" name="Text 4"/>
          <p:cNvSpPr txBox="1"/>
          <p:nvPr/>
        </p:nvSpPr>
        <p:spPr>
          <a:xfrm>
            <a:off x="763524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HERO</a:t>
            </a:r>
            <a:endParaRPr lang="en-US" sz="1000" dirty="0"/>
          </a:p>
        </p:txBody>
      </p:sp>
      <p:sp>
        <p:nvSpPr>
          <p:cNvPr id="7" name="Shape 5"/>
          <p:cNvSpPr/>
          <p:nvPr/>
        </p:nvSpPr>
        <p:spPr>
          <a:xfrm>
            <a:off x="7635240" y="804672"/>
            <a:ext cx="1188720" cy="1243584"/>
          </a:xfrm>
          <a:prstGeom prst="roundRect">
            <a:avLst>
              <a:gd name="adj" fmla="val 9231"/>
            </a:avLst>
          </a:prstGeom>
          <a:solidFill>
            <a:srgbClr val="1C3A7A"/>
          </a:solidFill>
          <a:ln w="12700">
            <a:solidFill>
              <a:srgbClr val="1C3A7A"/>
            </a:solidFill>
            <a:prstDash val="solid"/>
          </a:ln>
        </p:spPr>
      </p:sp>
      <p:pic>
        <p:nvPicPr>
          <p:cNvPr id="8" name="Image 0" descr="preencoded.png">    </p:cNvPr>
          <p:cNvPicPr>
            <a:picLocks noChangeAspect="1"/>
          </p:cNvPicPr>
          <p:nvPr/>
        </p:nvPicPr>
        <p:blipFill>
          <a:blip r:embed="rId1"/>
          <a:stretch>
            <a:fillRect/>
          </a:stretch>
        </p:blipFill>
        <p:spPr>
          <a:xfrm>
            <a:off x="7991856" y="950976"/>
            <a:ext cx="475488" cy="475488"/>
          </a:xfrm>
          <a:prstGeom prst="rect">
            <a:avLst/>
          </a:prstGeom>
        </p:spPr>
      </p:pic>
      <p:sp>
        <p:nvSpPr>
          <p:cNvPr id="9" name="Text 6"/>
          <p:cNvSpPr txBox="1"/>
          <p:nvPr/>
        </p:nvSpPr>
        <p:spPr>
          <a:xfrm>
            <a:off x="768096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Planners</a:t>
            </a:r>
            <a:endParaRPr lang="en-US" sz="1050" dirty="0"/>
          </a:p>
        </p:txBody>
      </p:sp>
      <p:sp>
        <p:nvSpPr>
          <p:cNvPr id="10" name="Shape 7"/>
          <p:cNvSpPr/>
          <p:nvPr/>
        </p:nvSpPr>
        <p:spPr>
          <a:xfrm>
            <a:off x="7635240" y="2176272"/>
            <a:ext cx="1188720" cy="1243584"/>
          </a:xfrm>
          <a:prstGeom prst="roundRect">
            <a:avLst>
              <a:gd name="adj" fmla="val 9231"/>
            </a:avLst>
          </a:prstGeom>
          <a:solidFill>
            <a:srgbClr val="1C3A7A"/>
          </a:solidFill>
          <a:ln w="12700">
            <a:solidFill>
              <a:srgbClr val="1C3A7A"/>
            </a:solidFill>
            <a:prstDash val="solid"/>
          </a:ln>
        </p:spPr>
      </p:sp>
      <p:pic>
        <p:nvPicPr>
          <p:cNvPr id="11" name="Image 1" descr="preencoded.png">    </p:cNvPr>
          <p:cNvPicPr>
            <a:picLocks noChangeAspect="1"/>
          </p:cNvPicPr>
          <p:nvPr/>
        </p:nvPicPr>
        <p:blipFill>
          <a:blip r:embed="rId2"/>
          <a:stretch>
            <a:fillRect/>
          </a:stretch>
        </p:blipFill>
        <p:spPr>
          <a:xfrm>
            <a:off x="7991856" y="2322576"/>
            <a:ext cx="475488" cy="475488"/>
          </a:xfrm>
          <a:prstGeom prst="rect">
            <a:avLst/>
          </a:prstGeom>
        </p:spPr>
      </p:pic>
      <p:sp>
        <p:nvSpPr>
          <p:cNvPr id="12" name="Text 8"/>
          <p:cNvSpPr txBox="1"/>
          <p:nvPr/>
        </p:nvSpPr>
        <p:spPr>
          <a:xfrm>
            <a:off x="768096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Organizers</a:t>
            </a:r>
            <a:endParaRPr lang="en-US" sz="1050" dirty="0"/>
          </a:p>
        </p:txBody>
      </p:sp>
      <p:sp>
        <p:nvSpPr>
          <p:cNvPr id="13" name="Shape 9"/>
          <p:cNvSpPr/>
          <p:nvPr/>
        </p:nvSpPr>
        <p:spPr>
          <a:xfrm>
            <a:off x="7635240" y="3547872"/>
            <a:ext cx="1188720" cy="1243584"/>
          </a:xfrm>
          <a:prstGeom prst="roundRect">
            <a:avLst>
              <a:gd name="adj" fmla="val 9231"/>
            </a:avLst>
          </a:prstGeom>
          <a:solidFill>
            <a:srgbClr val="1C3A7A"/>
          </a:solidFill>
          <a:ln w="12700">
            <a:solidFill>
              <a:srgbClr val="1C3A7A"/>
            </a:solidFill>
            <a:prstDash val="solid"/>
          </a:ln>
        </p:spPr>
      </p:sp>
      <p:pic>
        <p:nvPicPr>
          <p:cNvPr id="14" name="Image 2" descr="preencoded.png">    </p:cNvPr>
          <p:cNvPicPr>
            <a:picLocks noChangeAspect="1"/>
          </p:cNvPicPr>
          <p:nvPr/>
        </p:nvPicPr>
        <p:blipFill>
          <a:blip r:embed="rId3"/>
          <a:stretch>
            <a:fillRect/>
          </a:stretch>
        </p:blipFill>
        <p:spPr>
          <a:xfrm>
            <a:off x="7991856" y="3694176"/>
            <a:ext cx="475488" cy="475488"/>
          </a:xfrm>
          <a:prstGeom prst="rect">
            <a:avLst/>
          </a:prstGeom>
        </p:spPr>
      </p:pic>
      <p:sp>
        <p:nvSpPr>
          <p:cNvPr id="15" name="Text 10"/>
          <p:cNvSpPr txBox="1"/>
          <p:nvPr/>
        </p:nvSpPr>
        <p:spPr>
          <a:xfrm>
            <a:off x="768096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Backpacks</a:t>
            </a:r>
            <a:endParaRPr lang="en-US" sz="1050" dirty="0"/>
          </a:p>
        </p:txBody>
      </p:sp>
      <p:sp>
        <p:nvSpPr>
          <p:cNvPr id="16" name="Shape 11"/>
          <p:cNvSpPr/>
          <p:nvPr/>
        </p:nvSpPr>
        <p:spPr>
          <a:xfrm>
            <a:off x="7635240" y="4919472"/>
            <a:ext cx="1188720" cy="1243584"/>
          </a:xfrm>
          <a:prstGeom prst="roundRect">
            <a:avLst>
              <a:gd name="adj" fmla="val 9231"/>
            </a:avLst>
          </a:prstGeom>
          <a:solidFill>
            <a:srgbClr val="1C3A7A"/>
          </a:solidFill>
          <a:ln w="12700">
            <a:solidFill>
              <a:srgbClr val="1C3A7A"/>
            </a:solidFill>
            <a:prstDash val="solid"/>
          </a:ln>
        </p:spPr>
      </p:sp>
      <p:pic>
        <p:nvPicPr>
          <p:cNvPr id="17" name="Image 3" descr="preencoded.png">    </p:cNvPr>
          <p:cNvPicPr>
            <a:picLocks noChangeAspect="1"/>
          </p:cNvPicPr>
          <p:nvPr/>
        </p:nvPicPr>
        <p:blipFill>
          <a:blip r:embed="rId4"/>
          <a:stretch>
            <a:fillRect/>
          </a:stretch>
        </p:blipFill>
        <p:spPr>
          <a:xfrm>
            <a:off x="7991856" y="5065776"/>
            <a:ext cx="475488" cy="475488"/>
          </a:xfrm>
          <a:prstGeom prst="rect">
            <a:avLst/>
          </a:prstGeom>
        </p:spPr>
      </p:pic>
      <p:sp>
        <p:nvSpPr>
          <p:cNvPr id="18" name="Text 12"/>
          <p:cNvSpPr txBox="1"/>
          <p:nvPr/>
        </p:nvSpPr>
        <p:spPr>
          <a:xfrm>
            <a:off x="768096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Office Desks</a:t>
            </a:r>
            <a:endParaRPr lang="en-US" sz="1050" dirty="0"/>
          </a:p>
        </p:txBody>
      </p:sp>
      <p:sp>
        <p:nvSpPr>
          <p:cNvPr id="19" name="Text 13"/>
          <p:cNvSpPr txBox="1"/>
          <p:nvPr/>
        </p:nvSpPr>
        <p:spPr>
          <a:xfrm>
            <a:off x="896112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PROBABLE HERO</a:t>
            </a:r>
            <a:endParaRPr lang="en-US" sz="1000" dirty="0"/>
          </a:p>
        </p:txBody>
      </p:sp>
      <p:sp>
        <p:nvSpPr>
          <p:cNvPr id="20" name="Shape 14"/>
          <p:cNvSpPr/>
          <p:nvPr/>
        </p:nvSpPr>
        <p:spPr>
          <a:xfrm>
            <a:off x="8961120" y="804672"/>
            <a:ext cx="1188720" cy="1243584"/>
          </a:xfrm>
          <a:prstGeom prst="roundRect">
            <a:avLst>
              <a:gd name="adj" fmla="val 9231"/>
            </a:avLst>
          </a:prstGeom>
          <a:solidFill>
            <a:srgbClr val="24498F"/>
          </a:solidFill>
          <a:ln w="12700">
            <a:solidFill>
              <a:srgbClr val="24498F"/>
            </a:solidFill>
            <a:prstDash val="solid"/>
          </a:ln>
        </p:spPr>
      </p:sp>
      <p:pic>
        <p:nvPicPr>
          <p:cNvPr id="21" name="Image 4" descr="preencoded.png">    </p:cNvPr>
          <p:cNvPicPr>
            <a:picLocks noChangeAspect="1"/>
          </p:cNvPicPr>
          <p:nvPr/>
        </p:nvPicPr>
        <p:blipFill>
          <a:blip r:embed="rId5"/>
          <a:stretch>
            <a:fillRect/>
          </a:stretch>
        </p:blipFill>
        <p:spPr>
          <a:xfrm>
            <a:off x="9317736" y="950976"/>
            <a:ext cx="475488" cy="475488"/>
          </a:xfrm>
          <a:prstGeom prst="rect">
            <a:avLst/>
          </a:prstGeom>
        </p:spPr>
      </p:pic>
      <p:sp>
        <p:nvSpPr>
          <p:cNvPr id="22" name="Text 15"/>
          <p:cNvSpPr txBox="1"/>
          <p:nvPr/>
        </p:nvSpPr>
        <p:spPr>
          <a:xfrm>
            <a:off x="900684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Water Bottles</a:t>
            </a:r>
            <a:endParaRPr lang="en-US" sz="1050" dirty="0"/>
          </a:p>
        </p:txBody>
      </p:sp>
      <p:sp>
        <p:nvSpPr>
          <p:cNvPr id="23" name="Shape 16"/>
          <p:cNvSpPr/>
          <p:nvPr/>
        </p:nvSpPr>
        <p:spPr>
          <a:xfrm>
            <a:off x="8961120" y="2176272"/>
            <a:ext cx="1188720" cy="1243584"/>
          </a:xfrm>
          <a:prstGeom prst="roundRect">
            <a:avLst>
              <a:gd name="adj" fmla="val 9231"/>
            </a:avLst>
          </a:prstGeom>
          <a:solidFill>
            <a:srgbClr val="24498F"/>
          </a:solidFill>
          <a:ln w="12700">
            <a:solidFill>
              <a:srgbClr val="24498F"/>
            </a:solidFill>
            <a:prstDash val="solid"/>
          </a:ln>
        </p:spPr>
      </p:sp>
      <p:pic>
        <p:nvPicPr>
          <p:cNvPr id="24" name="Image 5" descr="preencoded.png">    </p:cNvPr>
          <p:cNvPicPr>
            <a:picLocks noChangeAspect="1"/>
          </p:cNvPicPr>
          <p:nvPr/>
        </p:nvPicPr>
        <p:blipFill>
          <a:blip r:embed="rId6"/>
          <a:stretch>
            <a:fillRect/>
          </a:stretch>
        </p:blipFill>
        <p:spPr>
          <a:xfrm>
            <a:off x="9317736" y="2322576"/>
            <a:ext cx="475488" cy="475488"/>
          </a:xfrm>
          <a:prstGeom prst="rect">
            <a:avLst/>
          </a:prstGeom>
        </p:spPr>
      </p:pic>
      <p:sp>
        <p:nvSpPr>
          <p:cNvPr id="25" name="Text 17"/>
          <p:cNvSpPr txBox="1"/>
          <p:nvPr/>
        </p:nvSpPr>
        <p:spPr>
          <a:xfrm>
            <a:off x="900684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Accent Chairs</a:t>
            </a:r>
            <a:endParaRPr lang="en-US" sz="1050" dirty="0"/>
          </a:p>
        </p:txBody>
      </p:sp>
      <p:sp>
        <p:nvSpPr>
          <p:cNvPr id="26" name="Shape 18"/>
          <p:cNvSpPr/>
          <p:nvPr/>
        </p:nvSpPr>
        <p:spPr>
          <a:xfrm>
            <a:off x="8961120" y="3547872"/>
            <a:ext cx="1188720" cy="1243584"/>
          </a:xfrm>
          <a:prstGeom prst="roundRect">
            <a:avLst>
              <a:gd name="adj" fmla="val 9231"/>
            </a:avLst>
          </a:prstGeom>
          <a:solidFill>
            <a:srgbClr val="24498F"/>
          </a:solidFill>
          <a:ln w="12700">
            <a:solidFill>
              <a:srgbClr val="24498F"/>
            </a:solidFill>
            <a:prstDash val="solid"/>
          </a:ln>
        </p:spPr>
      </p:sp>
      <p:pic>
        <p:nvPicPr>
          <p:cNvPr id="27" name="Image 6" descr="preencoded.png">    </p:cNvPr>
          <p:cNvPicPr>
            <a:picLocks noChangeAspect="1"/>
          </p:cNvPicPr>
          <p:nvPr/>
        </p:nvPicPr>
        <p:blipFill>
          <a:blip r:embed="rId7"/>
          <a:stretch>
            <a:fillRect/>
          </a:stretch>
        </p:blipFill>
        <p:spPr>
          <a:xfrm>
            <a:off x="9317736" y="3694176"/>
            <a:ext cx="475488" cy="475488"/>
          </a:xfrm>
          <a:prstGeom prst="rect">
            <a:avLst/>
          </a:prstGeom>
        </p:spPr>
      </p:pic>
      <p:sp>
        <p:nvSpPr>
          <p:cNvPr id="28" name="Text 19"/>
          <p:cNvSpPr txBox="1"/>
          <p:nvPr/>
        </p:nvSpPr>
        <p:spPr>
          <a:xfrm>
            <a:off x="900684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Lamps</a:t>
            </a:r>
            <a:endParaRPr lang="en-US" sz="1050" dirty="0"/>
          </a:p>
        </p:txBody>
      </p:sp>
      <p:sp>
        <p:nvSpPr>
          <p:cNvPr id="29" name="Shape 20"/>
          <p:cNvSpPr/>
          <p:nvPr/>
        </p:nvSpPr>
        <p:spPr>
          <a:xfrm>
            <a:off x="8961120" y="4919472"/>
            <a:ext cx="1188720" cy="1243584"/>
          </a:xfrm>
          <a:prstGeom prst="roundRect">
            <a:avLst>
              <a:gd name="adj" fmla="val 9231"/>
            </a:avLst>
          </a:prstGeom>
          <a:solidFill>
            <a:srgbClr val="24498F"/>
          </a:solidFill>
          <a:ln w="12700">
            <a:solidFill>
              <a:srgbClr val="24498F"/>
            </a:solidFill>
            <a:prstDash val="solid"/>
          </a:ln>
        </p:spPr>
      </p:sp>
      <p:pic>
        <p:nvPicPr>
          <p:cNvPr id="30" name="Image 7" descr="preencoded.png">    </p:cNvPr>
          <p:cNvPicPr>
            <a:picLocks noChangeAspect="1"/>
          </p:cNvPicPr>
          <p:nvPr/>
        </p:nvPicPr>
        <p:blipFill>
          <a:blip r:embed="rId8"/>
          <a:stretch>
            <a:fillRect/>
          </a:stretch>
        </p:blipFill>
        <p:spPr>
          <a:xfrm>
            <a:off x="9317736" y="5065776"/>
            <a:ext cx="475488" cy="475488"/>
          </a:xfrm>
          <a:prstGeom prst="rect">
            <a:avLst/>
          </a:prstGeom>
        </p:spPr>
      </p:pic>
      <p:sp>
        <p:nvSpPr>
          <p:cNvPr id="31" name="Text 21"/>
          <p:cNvSpPr txBox="1"/>
          <p:nvPr/>
        </p:nvSpPr>
        <p:spPr>
          <a:xfrm>
            <a:off x="900684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Lunch Bags</a:t>
            </a:r>
            <a:endParaRPr lang="en-US" sz="1050" dirty="0"/>
          </a:p>
        </p:txBody>
      </p:sp>
      <p:sp>
        <p:nvSpPr>
          <p:cNvPr id="32" name="Text 22"/>
          <p:cNvSpPr txBox="1"/>
          <p:nvPr/>
        </p:nvSpPr>
        <p:spPr>
          <a:xfrm>
            <a:off x="1028700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NON-HERO</a:t>
            </a:r>
            <a:endParaRPr lang="en-US" sz="1000" dirty="0"/>
          </a:p>
        </p:txBody>
      </p:sp>
      <p:sp>
        <p:nvSpPr>
          <p:cNvPr id="33" name="Shape 23"/>
          <p:cNvSpPr/>
          <p:nvPr/>
        </p:nvSpPr>
        <p:spPr>
          <a:xfrm>
            <a:off x="10287000" y="804672"/>
            <a:ext cx="1188720" cy="1243584"/>
          </a:xfrm>
          <a:prstGeom prst="roundRect">
            <a:avLst>
              <a:gd name="adj" fmla="val 9231"/>
            </a:avLst>
          </a:prstGeom>
          <a:solidFill>
            <a:srgbClr val="2D5AA6"/>
          </a:solidFill>
          <a:ln w="12700">
            <a:solidFill>
              <a:srgbClr val="2D5AA6"/>
            </a:solidFill>
            <a:prstDash val="solid"/>
          </a:ln>
        </p:spPr>
      </p:sp>
      <p:pic>
        <p:nvPicPr>
          <p:cNvPr id="34" name="Image 8" descr="preencoded.png">    </p:cNvPr>
          <p:cNvPicPr>
            <a:picLocks noChangeAspect="1"/>
          </p:cNvPicPr>
          <p:nvPr/>
        </p:nvPicPr>
        <p:blipFill>
          <a:blip r:embed="rId9"/>
          <a:stretch>
            <a:fillRect/>
          </a:stretch>
        </p:blipFill>
        <p:spPr>
          <a:xfrm>
            <a:off x="10643616" y="950976"/>
            <a:ext cx="475488" cy="475488"/>
          </a:xfrm>
          <a:prstGeom prst="rect">
            <a:avLst/>
          </a:prstGeom>
        </p:spPr>
      </p:pic>
      <p:sp>
        <p:nvSpPr>
          <p:cNvPr id="35" name="Text 24"/>
          <p:cNvSpPr txBox="1"/>
          <p:nvPr/>
        </p:nvSpPr>
        <p:spPr>
          <a:xfrm>
            <a:off x="1033272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Clocks</a:t>
            </a:r>
            <a:endParaRPr lang="en-US" sz="1050" dirty="0"/>
          </a:p>
        </p:txBody>
      </p:sp>
      <p:sp>
        <p:nvSpPr>
          <p:cNvPr id="36" name="Shape 25"/>
          <p:cNvSpPr/>
          <p:nvPr/>
        </p:nvSpPr>
        <p:spPr>
          <a:xfrm>
            <a:off x="10287000" y="2176272"/>
            <a:ext cx="1188720" cy="1243584"/>
          </a:xfrm>
          <a:prstGeom prst="roundRect">
            <a:avLst>
              <a:gd name="adj" fmla="val 9231"/>
            </a:avLst>
          </a:prstGeom>
          <a:solidFill>
            <a:srgbClr val="2D5AA6"/>
          </a:solidFill>
          <a:ln w="12700">
            <a:solidFill>
              <a:srgbClr val="2D5AA6"/>
            </a:solidFill>
            <a:prstDash val="solid"/>
          </a:ln>
        </p:spPr>
      </p:sp>
      <p:pic>
        <p:nvPicPr>
          <p:cNvPr id="37" name="Image 9" descr="preencoded.png">    </p:cNvPr>
          <p:cNvPicPr>
            <a:picLocks noChangeAspect="1"/>
          </p:cNvPicPr>
          <p:nvPr/>
        </p:nvPicPr>
        <p:blipFill>
          <a:blip r:embed="rId10"/>
          <a:stretch>
            <a:fillRect/>
          </a:stretch>
        </p:blipFill>
        <p:spPr>
          <a:xfrm>
            <a:off x="10643616" y="2322576"/>
            <a:ext cx="475488" cy="475488"/>
          </a:xfrm>
          <a:prstGeom prst="rect">
            <a:avLst/>
          </a:prstGeom>
        </p:spPr>
      </p:pic>
      <p:sp>
        <p:nvSpPr>
          <p:cNvPr id="38" name="Text 26"/>
          <p:cNvSpPr txBox="1"/>
          <p:nvPr/>
        </p:nvSpPr>
        <p:spPr>
          <a:xfrm>
            <a:off x="1033272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Pads</a:t>
            </a:r>
            <a:endParaRPr lang="en-US" sz="1050" dirty="0"/>
          </a:p>
        </p:txBody>
      </p:sp>
      <p:sp>
        <p:nvSpPr>
          <p:cNvPr id="39" name="Shape 27"/>
          <p:cNvSpPr/>
          <p:nvPr/>
        </p:nvSpPr>
        <p:spPr>
          <a:xfrm>
            <a:off x="10287000" y="3547872"/>
            <a:ext cx="1188720" cy="1243584"/>
          </a:xfrm>
          <a:prstGeom prst="roundRect">
            <a:avLst>
              <a:gd name="adj" fmla="val 9231"/>
            </a:avLst>
          </a:prstGeom>
          <a:solidFill>
            <a:srgbClr val="2D5AA6"/>
          </a:solidFill>
          <a:ln w="12700">
            <a:solidFill>
              <a:srgbClr val="2D5AA6"/>
            </a:solidFill>
            <a:prstDash val="solid"/>
          </a:ln>
        </p:spPr>
      </p:sp>
      <p:pic>
        <p:nvPicPr>
          <p:cNvPr id="40" name="Image 10" descr="preencoded.png">    </p:cNvPr>
          <p:cNvPicPr>
            <a:picLocks noChangeAspect="1"/>
          </p:cNvPicPr>
          <p:nvPr/>
        </p:nvPicPr>
        <p:blipFill>
          <a:blip r:embed="rId11"/>
          <a:stretch>
            <a:fillRect/>
          </a:stretch>
        </p:blipFill>
        <p:spPr>
          <a:xfrm>
            <a:off x="10643616" y="3694176"/>
            <a:ext cx="475488" cy="475488"/>
          </a:xfrm>
          <a:prstGeom prst="rect">
            <a:avLst/>
          </a:prstGeom>
        </p:spPr>
      </p:pic>
      <p:sp>
        <p:nvSpPr>
          <p:cNvPr id="41" name="Text 28"/>
          <p:cNvSpPr txBox="1"/>
          <p:nvPr/>
        </p:nvSpPr>
        <p:spPr>
          <a:xfrm>
            <a:off x="1033272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Coffee Organizers</a:t>
            </a:r>
            <a:endParaRPr lang="en-US" sz="1050" dirty="0"/>
          </a:p>
        </p:txBody>
      </p:sp>
      <p:sp>
        <p:nvSpPr>
          <p:cNvPr id="42" name="Shape 29"/>
          <p:cNvSpPr/>
          <p:nvPr/>
        </p:nvSpPr>
        <p:spPr>
          <a:xfrm>
            <a:off x="10287000" y="4919472"/>
            <a:ext cx="1188720" cy="1243584"/>
          </a:xfrm>
          <a:prstGeom prst="roundRect">
            <a:avLst>
              <a:gd name="adj" fmla="val 9231"/>
            </a:avLst>
          </a:prstGeom>
          <a:solidFill>
            <a:srgbClr val="2D5AA6"/>
          </a:solidFill>
          <a:ln w="12700">
            <a:solidFill>
              <a:srgbClr val="2D5AA6"/>
            </a:solidFill>
            <a:prstDash val="solid"/>
          </a:ln>
        </p:spPr>
      </p:sp>
      <p:pic>
        <p:nvPicPr>
          <p:cNvPr id="43" name="Image 11" descr="preencoded.png">    </p:cNvPr>
          <p:cNvPicPr>
            <a:picLocks noChangeAspect="1"/>
          </p:cNvPicPr>
          <p:nvPr/>
        </p:nvPicPr>
        <p:blipFill>
          <a:blip r:embed="rId12"/>
          <a:stretch>
            <a:fillRect/>
          </a:stretch>
        </p:blipFill>
        <p:spPr>
          <a:xfrm>
            <a:off x="10643616" y="5065776"/>
            <a:ext cx="475488" cy="475488"/>
          </a:xfrm>
          <a:prstGeom prst="rect">
            <a:avLst/>
          </a:prstGeom>
        </p:spPr>
      </p:pic>
      <p:sp>
        <p:nvSpPr>
          <p:cNvPr id="44" name="Text 30"/>
          <p:cNvSpPr txBox="1"/>
          <p:nvPr/>
        </p:nvSpPr>
        <p:spPr>
          <a:xfrm>
            <a:off x="1033272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Partitions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Executive Summary</a:t>
            </a:r>
            <a:endParaRPr lang="en-US" sz="2800" dirty="0"/>
          </a:p>
        </p:txBody>
      </p:sp>
      <p:sp>
        <p:nvSpPr>
          <p:cNvPr id="3" name="Shape 1"/>
          <p:cNvSpPr/>
          <p:nvPr/>
        </p:nvSpPr>
        <p:spPr>
          <a:xfrm>
            <a:off x="411480" y="1097280"/>
            <a:ext cx="11365992" cy="475488"/>
          </a:xfrm>
          <a:prstGeom prst="roundRect">
            <a:avLst>
              <a:gd name="adj" fmla="val 15385"/>
            </a:avLst>
          </a:prstGeom>
          <a:solidFill>
            <a:srgbClr val="13285B"/>
          </a:solidFill>
          <a:ln w="12700">
            <a:solidFill>
              <a:srgbClr val="13285B"/>
            </a:solidFill>
            <a:prstDash val="solid"/>
          </a:ln>
        </p:spPr>
      </p:sp>
      <p:sp>
        <p:nvSpPr>
          <p:cNvPr id="4" name="Text 2"/>
          <p:cNvSpPr txBox="1"/>
          <p:nvPr/>
        </p:nvSpPr>
        <p:spPr>
          <a:xfrm>
            <a:off x="548640" y="1097280"/>
            <a:ext cx="914400" cy="475488"/>
          </a:xfrm>
          <a:prstGeom prst="rect">
            <a:avLst/>
          </a:prstGeom>
          <a:noFill/>
          <a:ln/>
        </p:spPr>
        <p:txBody>
          <a:bodyPr wrap="square" lIns="0" tIns="0" rIns="0" bIns="0" rtlCol="0" anchor="ctr"/>
          <a:lstStyle/>
          <a:p>
            <a:pPr indent="0" marL="0">
              <a:buNone/>
            </a:pPr>
            <a:r>
              <a:rPr lang="en-US" sz="1200" b="1" spc="100" kern="0" dirty="0">
                <a:solidFill>
                  <a:srgbClr val="F5A623"/>
                </a:solidFill>
                <a:latin typeface="Calibri" pitchFamily="34" charset="0"/>
                <a:ea typeface="Calibri" pitchFamily="34" charset="-122"/>
                <a:cs typeface="Calibri" pitchFamily="34" charset="-120"/>
              </a:rPr>
              <a:t>THE ASK</a:t>
            </a:r>
            <a:endParaRPr lang="en-US" sz="1200" dirty="0"/>
          </a:p>
        </p:txBody>
      </p:sp>
      <p:sp>
        <p:nvSpPr>
          <p:cNvPr id="5" name="Text 3"/>
          <p:cNvSpPr txBox="1"/>
          <p:nvPr/>
        </p:nvSpPr>
        <p:spPr>
          <a:xfrm>
            <a:off x="1481328" y="1097280"/>
            <a:ext cx="10195560"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Which design-led, core-adjacent products can Staples add to its marketplace without cannibalising 1P sales, using only external data?</a:t>
            </a:r>
            <a:endParaRPr lang="en-US" sz="1250" dirty="0"/>
          </a:p>
        </p:txBody>
      </p:sp>
      <p:sp>
        <p:nvSpPr>
          <p:cNvPr id="6" name="Shape 4"/>
          <p:cNvSpPr/>
          <p:nvPr/>
        </p:nvSpPr>
        <p:spPr>
          <a:xfrm>
            <a:off x="411480" y="1755648"/>
            <a:ext cx="2704338" cy="950976"/>
          </a:xfrm>
          <a:prstGeom prst="roundRect">
            <a:avLst>
              <a:gd name="adj" fmla="val 9615"/>
            </a:avLst>
          </a:prstGeom>
          <a:solidFill>
            <a:srgbClr val="EEF3FB"/>
          </a:solidFill>
          <a:ln w="12700">
            <a:solidFill>
              <a:srgbClr val="EEF3FB"/>
            </a:solidFill>
            <a:prstDash val="solid"/>
          </a:ln>
        </p:spPr>
      </p:sp>
      <p:sp>
        <p:nvSpPr>
          <p:cNvPr id="7" name="Text 5"/>
          <p:cNvSpPr txBox="1"/>
          <p:nvPr/>
        </p:nvSpPr>
        <p:spPr>
          <a:xfrm>
            <a:off x="484632"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12</a:t>
            </a:r>
            <a:endParaRPr lang="en-US" sz="2800" dirty="0"/>
          </a:p>
        </p:txBody>
      </p:sp>
      <p:sp>
        <p:nvSpPr>
          <p:cNvPr id="8" name="Text 6"/>
          <p:cNvSpPr txBox="1"/>
          <p:nvPr/>
        </p:nvSpPr>
        <p:spPr>
          <a:xfrm>
            <a:off x="539496"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Staples nodes across 3 segments, vs Amazon &amp; Wayfair</a:t>
            </a:r>
            <a:endParaRPr lang="en-US" sz="1050" dirty="0"/>
          </a:p>
        </p:txBody>
      </p:sp>
      <p:sp>
        <p:nvSpPr>
          <p:cNvPr id="9" name="Shape 7"/>
          <p:cNvSpPr/>
          <p:nvPr/>
        </p:nvSpPr>
        <p:spPr>
          <a:xfrm>
            <a:off x="3298698" y="1755648"/>
            <a:ext cx="2704338" cy="950976"/>
          </a:xfrm>
          <a:prstGeom prst="roundRect">
            <a:avLst>
              <a:gd name="adj" fmla="val 9615"/>
            </a:avLst>
          </a:prstGeom>
          <a:solidFill>
            <a:srgbClr val="EEF3FB"/>
          </a:solidFill>
          <a:ln w="12700">
            <a:solidFill>
              <a:srgbClr val="EEF3FB"/>
            </a:solidFill>
            <a:prstDash val="solid"/>
          </a:ln>
        </p:spPr>
      </p:sp>
      <p:sp>
        <p:nvSpPr>
          <p:cNvPr id="10" name="Text 8"/>
          <p:cNvSpPr txBox="1"/>
          <p:nvPr/>
        </p:nvSpPr>
        <p:spPr>
          <a:xfrm>
            <a:off x="3371850"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19.9K</a:t>
            </a:r>
            <a:endParaRPr lang="en-US" sz="2800" dirty="0"/>
          </a:p>
        </p:txBody>
      </p:sp>
      <p:sp>
        <p:nvSpPr>
          <p:cNvPr id="11" name="Text 9"/>
          <p:cNvSpPr txBox="1"/>
          <p:nvPr/>
        </p:nvSpPr>
        <p:spPr>
          <a:xfrm>
            <a:off x="3426714"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product families analysed: 3.4K Staples, 16.5K competitor</a:t>
            </a:r>
            <a:endParaRPr lang="en-US" sz="1050" dirty="0"/>
          </a:p>
        </p:txBody>
      </p:sp>
      <p:sp>
        <p:nvSpPr>
          <p:cNvPr id="12" name="Shape 10"/>
          <p:cNvSpPr/>
          <p:nvPr/>
        </p:nvSpPr>
        <p:spPr>
          <a:xfrm>
            <a:off x="6185916" y="1755648"/>
            <a:ext cx="2704338" cy="950976"/>
          </a:xfrm>
          <a:prstGeom prst="roundRect">
            <a:avLst>
              <a:gd name="adj" fmla="val 9615"/>
            </a:avLst>
          </a:prstGeom>
          <a:solidFill>
            <a:srgbClr val="EEF3FB"/>
          </a:solidFill>
          <a:ln w="12700">
            <a:solidFill>
              <a:srgbClr val="EEF3FB"/>
            </a:solidFill>
            <a:prstDash val="solid"/>
          </a:ln>
        </p:spPr>
      </p:sp>
      <p:sp>
        <p:nvSpPr>
          <p:cNvPr id="13" name="Text 11"/>
          <p:cNvSpPr txBox="1"/>
          <p:nvPr/>
        </p:nvSpPr>
        <p:spPr>
          <a:xfrm>
            <a:off x="6259068"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897</a:t>
            </a:r>
            <a:endParaRPr lang="en-US" sz="2800" dirty="0"/>
          </a:p>
        </p:txBody>
      </p:sp>
      <p:sp>
        <p:nvSpPr>
          <p:cNvPr id="14" name="Text 12"/>
          <p:cNvSpPr txBox="1"/>
          <p:nvPr/>
        </p:nvSpPr>
        <p:spPr>
          <a:xfrm>
            <a:off x="6313932"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archetypes (attribute combinations) compared</a:t>
            </a:r>
            <a:endParaRPr lang="en-US" sz="1050" dirty="0"/>
          </a:p>
        </p:txBody>
      </p:sp>
      <p:sp>
        <p:nvSpPr>
          <p:cNvPr id="15" name="Shape 13"/>
          <p:cNvSpPr/>
          <p:nvPr/>
        </p:nvSpPr>
        <p:spPr>
          <a:xfrm>
            <a:off x="9073134" y="1755648"/>
            <a:ext cx="2704338" cy="950976"/>
          </a:xfrm>
          <a:prstGeom prst="roundRect">
            <a:avLst>
              <a:gd name="adj" fmla="val 9615"/>
            </a:avLst>
          </a:prstGeom>
          <a:solidFill>
            <a:srgbClr val="DDF3E7"/>
          </a:solidFill>
          <a:ln w="12700">
            <a:solidFill>
              <a:srgbClr val="7CCB9F"/>
            </a:solidFill>
            <a:prstDash val="solid"/>
          </a:ln>
        </p:spPr>
      </p:sp>
      <p:sp>
        <p:nvSpPr>
          <p:cNvPr id="16" name="Text 14"/>
          <p:cNvSpPr txBox="1"/>
          <p:nvPr/>
        </p:nvSpPr>
        <p:spPr>
          <a:xfrm>
            <a:off x="9146286" y="1810512"/>
            <a:ext cx="2558034" cy="420624"/>
          </a:xfrm>
          <a:prstGeom prst="rect">
            <a:avLst/>
          </a:prstGeom>
          <a:noFill/>
          <a:ln/>
        </p:spPr>
        <p:txBody>
          <a:bodyPr wrap="square" lIns="0" tIns="0" rIns="0" bIns="0" rtlCol="0" anchor="ctr"/>
          <a:lstStyle/>
          <a:p>
            <a:pPr algn="ctr" indent="0" marL="0">
              <a:buNone/>
            </a:pPr>
            <a:r>
              <a:rPr lang="en-US" sz="2800" b="1" dirty="0">
                <a:solidFill>
                  <a:srgbClr val="1E8E5A"/>
                </a:solidFill>
                <a:latin typeface="Calibri" pitchFamily="34" charset="0"/>
                <a:ea typeface="Calibri" pitchFamily="34" charset="-122"/>
                <a:cs typeface="Calibri" pitchFamily="34" charset="-120"/>
              </a:rPr>
              <a:t>74</a:t>
            </a:r>
            <a:endParaRPr lang="en-US" sz="2800" dirty="0"/>
          </a:p>
        </p:txBody>
      </p:sp>
      <p:sp>
        <p:nvSpPr>
          <p:cNvPr id="17" name="Text 15"/>
          <p:cNvSpPr txBox="1"/>
          <p:nvPr/>
        </p:nvSpPr>
        <p:spPr>
          <a:xfrm>
            <a:off x="9201150"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safe to add; 22 confirmed by both methods</a:t>
            </a:r>
            <a:endParaRPr lang="en-US" sz="1050" dirty="0"/>
          </a:p>
        </p:txBody>
      </p:sp>
      <p:sp>
        <p:nvSpPr>
          <p:cNvPr id="18" name="Text 16"/>
          <p:cNvSpPr txBox="1"/>
          <p:nvPr/>
        </p:nvSpPr>
        <p:spPr>
          <a:xfrm>
            <a:off x="411480" y="2926080"/>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WHAT STAPLES SHOULD ADD FIRST</a:t>
            </a:r>
            <a:endParaRPr lang="en-US" sz="1200" dirty="0"/>
          </a:p>
        </p:txBody>
      </p:sp>
      <p:sp>
        <p:nvSpPr>
          <p:cNvPr id="19" name="Shape 17"/>
          <p:cNvSpPr/>
          <p:nvPr/>
        </p:nvSpPr>
        <p:spPr>
          <a:xfrm>
            <a:off x="411480"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8"/>
          <p:cNvSpPr/>
          <p:nvPr/>
        </p:nvSpPr>
        <p:spPr>
          <a:xfrm>
            <a:off x="539496" y="3364992"/>
            <a:ext cx="438912" cy="438912"/>
          </a:xfrm>
          <a:prstGeom prst="ellipse">
            <a:avLst/>
          </a:prstGeom>
          <a:solidFill>
            <a:srgbClr val="1F4E9A"/>
          </a:solidFill>
          <a:ln w="12700">
            <a:solidFill>
              <a:srgbClr val="1F4E9A"/>
            </a:solidFill>
            <a:prstDash val="solid"/>
          </a:ln>
        </p:spPr>
      </p:sp>
      <p:pic>
        <p:nvPicPr>
          <p:cNvPr id="21" name="Image 0" descr="preencoded.png">    </p:cNvPr>
          <p:cNvPicPr>
            <a:picLocks noChangeAspect="1"/>
          </p:cNvPicPr>
          <p:nvPr/>
        </p:nvPicPr>
        <p:blipFill>
          <a:blip r:embed="rId1"/>
          <a:stretch>
            <a:fillRect/>
          </a:stretch>
        </p:blipFill>
        <p:spPr>
          <a:xfrm>
            <a:off x="636057" y="3461553"/>
            <a:ext cx="245791" cy="245791"/>
          </a:xfrm>
          <a:prstGeom prst="rect">
            <a:avLst/>
          </a:prstGeom>
        </p:spPr>
      </p:pic>
      <p:sp>
        <p:nvSpPr>
          <p:cNvPr id="22" name="Text 19"/>
          <p:cNvSpPr txBox="1"/>
          <p:nvPr/>
        </p:nvSpPr>
        <p:spPr>
          <a:xfrm>
            <a:off x="1069848"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Wooden K-Cup pod drawers</a:t>
            </a:r>
            <a:endParaRPr lang="en-US" sz="1250" dirty="0"/>
          </a:p>
        </p:txBody>
      </p:sp>
      <p:sp>
        <p:nvSpPr>
          <p:cNvPr id="23" name="Text 20"/>
          <p:cNvSpPr txBox="1"/>
          <p:nvPr/>
        </p:nvSpPr>
        <p:spPr>
          <a:xfrm>
            <a:off x="557784"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sells 583 single-serve coffees &amp; 139 coffee makers; its organisers are 62% plastic</a:t>
            </a:r>
            <a:endParaRPr lang="en-US" sz="950" dirty="0"/>
          </a:p>
        </p:txBody>
      </p:sp>
      <p:sp>
        <p:nvSpPr>
          <p:cNvPr id="24" name="Text 21"/>
          <p:cNvSpPr txBox="1"/>
          <p:nvPr/>
        </p:nvSpPr>
        <p:spPr>
          <a:xfrm>
            <a:off x="557784"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50</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10%</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25" name="Text 22"/>
          <p:cNvSpPr txBox="1"/>
          <p:nvPr/>
        </p:nvSpPr>
        <p:spPr>
          <a:xfrm>
            <a:off x="557784"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2" invalidUrl="" action="" tgtFrame="" tooltip="HTB K Cup Holder Compatible Coffee Pod Storage Drawer, Wood Brown" history="1" highlightClick="0" endSnd="0">
                  <a:extLst>
                    <a:ext uri="{A12FA001-AC4F-418D-AE19-62706E023703}">
                      <ahyp:hlinkClr xmlns:ahyp="http://schemas.microsoft.com/office/drawing/2018/hyperlinkcolor" val="tx"/>
                    </a:ext>
                  </a:extLst>
                </a:hlinkClick>
              </a:rPr>
              <a:t>HTB K Cup Holder Compatible… · $36 ↗</a:t>
            </a:r>
            <a:endParaRPr lang="en-US" sz="950" dirty="0"/>
          </a:p>
        </p:txBody>
      </p:sp>
      <p:sp>
        <p:nvSpPr>
          <p:cNvPr id="26" name="Shape 23"/>
          <p:cNvSpPr/>
          <p:nvPr/>
        </p:nvSpPr>
        <p:spPr>
          <a:xfrm>
            <a:off x="3287268"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7" name="Shape 24"/>
          <p:cNvSpPr/>
          <p:nvPr/>
        </p:nvSpPr>
        <p:spPr>
          <a:xfrm>
            <a:off x="3415284" y="3364992"/>
            <a:ext cx="438912" cy="438912"/>
          </a:xfrm>
          <a:prstGeom prst="ellipse">
            <a:avLst/>
          </a:prstGeom>
          <a:solidFill>
            <a:srgbClr val="1F4E9A"/>
          </a:solidFill>
          <a:ln w="12700">
            <a:solidFill>
              <a:srgbClr val="1F4E9A"/>
            </a:solidFill>
            <a:prstDash val="solid"/>
          </a:ln>
        </p:spPr>
      </p:sp>
      <p:pic>
        <p:nvPicPr>
          <p:cNvPr id="28" name="Image 1" descr="preencoded.png">    </p:cNvPr>
          <p:cNvPicPr>
            <a:picLocks noChangeAspect="1"/>
          </p:cNvPicPr>
          <p:nvPr/>
        </p:nvPicPr>
        <p:blipFill>
          <a:blip r:embed="rId3"/>
          <a:stretch>
            <a:fillRect/>
          </a:stretch>
        </p:blipFill>
        <p:spPr>
          <a:xfrm>
            <a:off x="3511845" y="3461553"/>
            <a:ext cx="245791" cy="245791"/>
          </a:xfrm>
          <a:prstGeom prst="rect">
            <a:avLst/>
          </a:prstGeom>
        </p:spPr>
      </p:pic>
      <p:sp>
        <p:nvSpPr>
          <p:cNvPr id="29" name="Text 25"/>
          <p:cNvSpPr txBox="1"/>
          <p:nvPr/>
        </p:nvSpPr>
        <p:spPr>
          <a:xfrm>
            <a:off x="3945636"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Adult bento boxes for the commute</a:t>
            </a:r>
            <a:endParaRPr lang="en-US" sz="1250" dirty="0"/>
          </a:p>
        </p:txBody>
      </p:sp>
      <p:sp>
        <p:nvSpPr>
          <p:cNvPr id="30" name="Text 26"/>
          <p:cNvSpPr txBox="1"/>
          <p:nvPr/>
        </p:nvSpPr>
        <p:spPr>
          <a:xfrm>
            <a:off x="3433572"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Lunch range built for school (59% kids vs 27% at Amazon); office commuters under-served</a:t>
            </a:r>
            <a:endParaRPr lang="en-US" sz="950" dirty="0"/>
          </a:p>
        </p:txBody>
      </p:sp>
      <p:sp>
        <p:nvSpPr>
          <p:cNvPr id="31" name="Text 27"/>
          <p:cNvSpPr txBox="1"/>
          <p:nvPr/>
        </p:nvSpPr>
        <p:spPr>
          <a:xfrm>
            <a:off x="3433572"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1 of 318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11%</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2" name="Text 28"/>
          <p:cNvSpPr txBox="1"/>
          <p:nvPr/>
        </p:nvSpPr>
        <p:spPr>
          <a:xfrm>
            <a:off x="3433572"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4" invalidUrl="" action="" tgtFrame="" tooltip="Stackable Stainless Steel Bento Box for Adults, 6 Cup with Snack Pod" history="1" highlightClick="0" endSnd="0">
                  <a:extLst>
                    <a:ext uri="{A12FA001-AC4F-418D-AE19-62706E023703}">
                      <ahyp:hlinkClr xmlns:ahyp="http://schemas.microsoft.com/office/drawing/2018/hyperlinkcolor" val="tx"/>
                    </a:ext>
                  </a:extLst>
                </a:hlinkClick>
              </a:rPr>
              <a:t>Stackable Stainless Steel… · $39 ↗</a:t>
            </a:r>
            <a:endParaRPr lang="en-US" sz="950" dirty="0"/>
          </a:p>
        </p:txBody>
      </p:sp>
      <p:sp>
        <p:nvSpPr>
          <p:cNvPr id="33" name="Shape 29"/>
          <p:cNvSpPr/>
          <p:nvPr/>
        </p:nvSpPr>
        <p:spPr>
          <a:xfrm>
            <a:off x="6163056"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6291072" y="3364992"/>
            <a:ext cx="438912" cy="438912"/>
          </a:xfrm>
          <a:prstGeom prst="ellipse">
            <a:avLst/>
          </a:prstGeom>
          <a:solidFill>
            <a:srgbClr val="1F4E9A"/>
          </a:solidFill>
          <a:ln w="12700">
            <a:solidFill>
              <a:srgbClr val="1F4E9A"/>
            </a:solidFill>
            <a:prstDash val="solid"/>
          </a:ln>
        </p:spPr>
      </p:sp>
      <p:pic>
        <p:nvPicPr>
          <p:cNvPr id="35" name="Image 2" descr="preencoded.png">    </p:cNvPr>
          <p:cNvPicPr>
            <a:picLocks noChangeAspect="1"/>
          </p:cNvPicPr>
          <p:nvPr/>
        </p:nvPicPr>
        <p:blipFill>
          <a:blip r:embed="rId5"/>
          <a:stretch>
            <a:fillRect/>
          </a:stretch>
        </p:blipFill>
        <p:spPr>
          <a:xfrm>
            <a:off x="6387633" y="3461553"/>
            <a:ext cx="245791" cy="245791"/>
          </a:xfrm>
          <a:prstGeom prst="rect">
            <a:avLst/>
          </a:prstGeom>
        </p:spPr>
      </p:pic>
      <p:sp>
        <p:nvSpPr>
          <p:cNvPr id="36" name="Text 31"/>
          <p:cNvSpPr txBox="1"/>
          <p:nvPr/>
        </p:nvSpPr>
        <p:spPr>
          <a:xfrm>
            <a:off x="6821424"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Guided &amp; daily journals</a:t>
            </a:r>
            <a:endParaRPr lang="en-US" sz="1250" dirty="0"/>
          </a:p>
        </p:txBody>
      </p:sp>
      <p:sp>
        <p:nvSpPr>
          <p:cNvPr id="37" name="Text 32"/>
          <p:cNvSpPr txBox="1"/>
          <p:nvPr/>
        </p:nvSpPr>
        <p:spPr>
          <a:xfrm>
            <a:off x="6309360"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Planner shoppers already come to Staples (805 planners); a journal is the natural add-on</a:t>
            </a:r>
            <a:endParaRPr lang="en-US" sz="950" dirty="0"/>
          </a:p>
        </p:txBody>
      </p:sp>
      <p:sp>
        <p:nvSpPr>
          <p:cNvPr id="38" name="Text 33"/>
          <p:cNvSpPr txBox="1"/>
          <p:nvPr/>
        </p:nvSpPr>
        <p:spPr>
          <a:xfrm>
            <a:off x="6309360"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805</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17%</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9" name="Text 34"/>
          <p:cNvSpPr txBox="1"/>
          <p:nvPr/>
        </p:nvSpPr>
        <p:spPr>
          <a:xfrm>
            <a:off x="6309360"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6" invalidUrl="" action="" tgtFrame="" tooltip="Self Mastery Journal for Men | 12-Week Guided Mindfulness Journal, Gift Box" history="1" highlightClick="0" endSnd="0">
                  <a:extLst>
                    <a:ext uri="{A12FA001-AC4F-418D-AE19-62706E023703}">
                      <ahyp:hlinkClr xmlns:ahyp="http://schemas.microsoft.com/office/drawing/2018/hyperlinkcolor" val="tx"/>
                    </a:ext>
                  </a:extLst>
                </a:hlinkClick>
              </a:rPr>
              <a:t>Self Mastery Journal for Men… · $25 ↗</a:t>
            </a:r>
            <a:endParaRPr lang="en-US" sz="950" dirty="0"/>
          </a:p>
        </p:txBody>
      </p:sp>
      <p:sp>
        <p:nvSpPr>
          <p:cNvPr id="40" name="Shape 35"/>
          <p:cNvSpPr/>
          <p:nvPr/>
        </p:nvSpPr>
        <p:spPr>
          <a:xfrm>
            <a:off x="9038844"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1" name="Shape 36"/>
          <p:cNvSpPr/>
          <p:nvPr/>
        </p:nvSpPr>
        <p:spPr>
          <a:xfrm>
            <a:off x="9166860" y="3364992"/>
            <a:ext cx="438912" cy="438912"/>
          </a:xfrm>
          <a:prstGeom prst="ellipse">
            <a:avLst/>
          </a:prstGeom>
          <a:solidFill>
            <a:srgbClr val="1F4E9A"/>
          </a:solidFill>
          <a:ln w="12700">
            <a:solidFill>
              <a:srgbClr val="1F4E9A"/>
            </a:solidFill>
            <a:prstDash val="solid"/>
          </a:ln>
        </p:spPr>
      </p:sp>
      <p:pic>
        <p:nvPicPr>
          <p:cNvPr id="42" name="Image 3" descr="preencoded.png">    </p:cNvPr>
          <p:cNvPicPr>
            <a:picLocks noChangeAspect="1"/>
          </p:cNvPicPr>
          <p:nvPr/>
        </p:nvPicPr>
        <p:blipFill>
          <a:blip r:embed="rId7"/>
          <a:stretch>
            <a:fillRect/>
          </a:stretch>
        </p:blipFill>
        <p:spPr>
          <a:xfrm>
            <a:off x="9263421" y="3461553"/>
            <a:ext cx="245791" cy="245791"/>
          </a:xfrm>
          <a:prstGeom prst="rect">
            <a:avLst/>
          </a:prstGeom>
        </p:spPr>
      </p:pic>
      <p:sp>
        <p:nvSpPr>
          <p:cNvPr id="43" name="Text 37"/>
          <p:cNvSpPr txBox="1"/>
          <p:nvPr/>
        </p:nvSpPr>
        <p:spPr>
          <a:xfrm>
            <a:off x="9697212"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The "White Chair": swivel barrel chair</a:t>
            </a:r>
            <a:endParaRPr lang="en-US" sz="1250" dirty="0"/>
          </a:p>
        </p:txBody>
      </p:sp>
      <p:sp>
        <p:nvSpPr>
          <p:cNvPr id="44" name="Text 38"/>
          <p:cNvSpPr txBox="1"/>
          <p:nvPr/>
        </p:nvSpPr>
        <p:spPr>
          <a:xfrm>
            <a:off x="9185148"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Accent chairs built for lobbies (57% reception vs 1% at Wayfair); no home-office chair</a:t>
            </a:r>
            <a:endParaRPr lang="en-US" sz="950" dirty="0"/>
          </a:p>
        </p:txBody>
      </p:sp>
      <p:sp>
        <p:nvSpPr>
          <p:cNvPr id="45" name="Text 39"/>
          <p:cNvSpPr txBox="1"/>
          <p:nvPr/>
        </p:nvSpPr>
        <p:spPr>
          <a:xfrm>
            <a:off x="9185148"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116</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13%</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46" name="Text 40"/>
          <p:cNvSpPr txBox="1"/>
          <p:nvPr/>
        </p:nvSpPr>
        <p:spPr>
          <a:xfrm>
            <a:off x="9185148"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8" invalidUrl="" action="" tgtFrame="" tooltip="360° Swivel Accent Chair, Velvet Upholstered Open-Back Swivel Barrel Chair , Modern Swivel Lounge Chair for Living Room, Dining Room, Bedroom" history="1" highlightClick="0" endSnd="0">
                  <a:extLst>
                    <a:ext uri="{A12FA001-AC4F-418D-AE19-62706E023703}">
                      <ahyp:hlinkClr xmlns:ahyp="http://schemas.microsoft.com/office/drawing/2018/hyperlinkcolor" val="tx"/>
                    </a:ext>
                  </a:extLst>
                </a:hlinkClick>
              </a:rPr>
              <a:t>360° Swivel Accent Chair… · $260 ↗</a:t>
            </a:r>
            <a:endParaRPr lang="en-US" sz="950" dirty="0"/>
          </a:p>
        </p:txBody>
      </p:sp>
      <p:sp>
        <p:nvSpPr>
          <p:cNvPr id="47" name="Text 41"/>
          <p:cNvSpPr txBox="1"/>
          <p:nvPr/>
        </p:nvSpPr>
        <p:spPr>
          <a:xfrm>
            <a:off x="411480" y="5175504"/>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NEXT STEPS</a:t>
            </a:r>
            <a:endParaRPr lang="en-US" sz="1200" dirty="0"/>
          </a:p>
        </p:txBody>
      </p:sp>
      <p:sp>
        <p:nvSpPr>
          <p:cNvPr id="48" name="Shape 42"/>
          <p:cNvSpPr/>
          <p:nvPr/>
        </p:nvSpPr>
        <p:spPr>
          <a:xfrm>
            <a:off x="411480" y="5486400"/>
            <a:ext cx="2163470" cy="804672"/>
          </a:xfrm>
          <a:prstGeom prst="roundRect">
            <a:avLst>
              <a:gd name="adj" fmla="val 9091"/>
            </a:avLst>
          </a:prstGeom>
          <a:solidFill>
            <a:srgbClr val="DCE7F8"/>
          </a:solidFill>
          <a:ln w="12700">
            <a:solidFill>
              <a:srgbClr val="DCE7F8"/>
            </a:solidFill>
            <a:prstDash val="solid"/>
          </a:ln>
        </p:spPr>
      </p:sp>
      <p:sp>
        <p:nvSpPr>
          <p:cNvPr id="49" name="Shape 43"/>
          <p:cNvSpPr/>
          <p:nvPr/>
        </p:nvSpPr>
        <p:spPr>
          <a:xfrm>
            <a:off x="411480" y="5486400"/>
            <a:ext cx="2163470" cy="347472"/>
          </a:xfrm>
          <a:prstGeom prst="roundRect">
            <a:avLst>
              <a:gd name="adj" fmla="val 21053"/>
            </a:avLst>
          </a:prstGeom>
          <a:solidFill>
            <a:srgbClr val="1F4E9A"/>
          </a:solidFill>
          <a:ln w="12700">
            <a:solidFill>
              <a:srgbClr val="1F4E9A"/>
            </a:solidFill>
            <a:prstDash val="solid"/>
          </a:ln>
        </p:spPr>
      </p:sp>
      <p:pic>
        <p:nvPicPr>
          <p:cNvPr id="50" name="Image 4" descr="preencoded.png">    </p:cNvPr>
          <p:cNvPicPr>
            <a:picLocks noChangeAspect="1"/>
          </p:cNvPicPr>
          <p:nvPr/>
        </p:nvPicPr>
        <p:blipFill>
          <a:blip r:embed="rId9"/>
          <a:stretch>
            <a:fillRect/>
          </a:stretch>
        </p:blipFill>
        <p:spPr>
          <a:xfrm>
            <a:off x="521208" y="5559552"/>
            <a:ext cx="201168" cy="201168"/>
          </a:xfrm>
          <a:prstGeom prst="rect">
            <a:avLst/>
          </a:prstGeom>
        </p:spPr>
      </p:pic>
      <p:sp>
        <p:nvSpPr>
          <p:cNvPr id="51" name="Text 44"/>
          <p:cNvSpPr txBox="1"/>
          <p:nvPr/>
        </p:nvSpPr>
        <p:spPr>
          <a:xfrm>
            <a:off x="81381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52" name="Text 45"/>
          <p:cNvSpPr txBox="1"/>
          <p:nvPr/>
        </p:nvSpPr>
        <p:spPr>
          <a:xfrm>
            <a:off x="52120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Demand &amp; segment prioritisation</a:t>
            </a:r>
            <a:endParaRPr lang="en-US" sz="1050" dirty="0"/>
          </a:p>
        </p:txBody>
      </p:sp>
      <p:sp>
        <p:nvSpPr>
          <p:cNvPr id="53" name="Shape 46"/>
          <p:cNvSpPr/>
          <p:nvPr/>
        </p:nvSpPr>
        <p:spPr>
          <a:xfrm>
            <a:off x="2712110" y="5486400"/>
            <a:ext cx="2163470" cy="804672"/>
          </a:xfrm>
          <a:prstGeom prst="roundRect">
            <a:avLst>
              <a:gd name="adj" fmla="val 9091"/>
            </a:avLst>
          </a:prstGeom>
          <a:solidFill>
            <a:srgbClr val="DCE7F8"/>
          </a:solidFill>
          <a:ln w="12700">
            <a:solidFill>
              <a:srgbClr val="DCE7F8"/>
            </a:solidFill>
            <a:prstDash val="solid"/>
          </a:ln>
        </p:spPr>
      </p:sp>
      <p:sp>
        <p:nvSpPr>
          <p:cNvPr id="54" name="Shape 47"/>
          <p:cNvSpPr/>
          <p:nvPr/>
        </p:nvSpPr>
        <p:spPr>
          <a:xfrm>
            <a:off x="2712110" y="5486400"/>
            <a:ext cx="2163470" cy="347472"/>
          </a:xfrm>
          <a:prstGeom prst="roundRect">
            <a:avLst>
              <a:gd name="adj" fmla="val 21053"/>
            </a:avLst>
          </a:prstGeom>
          <a:solidFill>
            <a:srgbClr val="1F4E9A"/>
          </a:solidFill>
          <a:ln w="12700">
            <a:solidFill>
              <a:srgbClr val="1F4E9A"/>
            </a:solidFill>
            <a:prstDash val="solid"/>
          </a:ln>
        </p:spPr>
      </p:sp>
      <p:pic>
        <p:nvPicPr>
          <p:cNvPr id="55" name="Image 5" descr="preencoded.png">    </p:cNvPr>
          <p:cNvPicPr>
            <a:picLocks noChangeAspect="1"/>
          </p:cNvPicPr>
          <p:nvPr/>
        </p:nvPicPr>
        <p:blipFill>
          <a:blip r:embed="rId10"/>
          <a:stretch>
            <a:fillRect/>
          </a:stretch>
        </p:blipFill>
        <p:spPr>
          <a:xfrm>
            <a:off x="2821838" y="5559552"/>
            <a:ext cx="201168" cy="201168"/>
          </a:xfrm>
          <a:prstGeom prst="rect">
            <a:avLst/>
          </a:prstGeom>
        </p:spPr>
      </p:pic>
      <p:sp>
        <p:nvSpPr>
          <p:cNvPr id="56" name="Text 48"/>
          <p:cNvSpPr txBox="1"/>
          <p:nvPr/>
        </p:nvSpPr>
        <p:spPr>
          <a:xfrm>
            <a:off x="311444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57" name="Text 49"/>
          <p:cNvSpPr txBox="1"/>
          <p:nvPr/>
        </p:nvSpPr>
        <p:spPr>
          <a:xfrm>
            <a:off x="282183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Cannibalisation &amp; threshold tuning</a:t>
            </a:r>
            <a:endParaRPr lang="en-US" sz="1050" dirty="0"/>
          </a:p>
        </p:txBody>
      </p:sp>
      <p:sp>
        <p:nvSpPr>
          <p:cNvPr id="58" name="Shape 50"/>
          <p:cNvSpPr/>
          <p:nvPr/>
        </p:nvSpPr>
        <p:spPr>
          <a:xfrm>
            <a:off x="5012741" y="5486400"/>
            <a:ext cx="2163470" cy="804672"/>
          </a:xfrm>
          <a:prstGeom prst="roundRect">
            <a:avLst>
              <a:gd name="adj" fmla="val 9091"/>
            </a:avLst>
          </a:prstGeom>
          <a:solidFill>
            <a:srgbClr val="DCE7F8"/>
          </a:solidFill>
          <a:ln w="12700">
            <a:solidFill>
              <a:srgbClr val="DCE7F8"/>
            </a:solidFill>
            <a:prstDash val="solid"/>
          </a:ln>
        </p:spPr>
      </p:sp>
      <p:sp>
        <p:nvSpPr>
          <p:cNvPr id="59" name="Shape 51"/>
          <p:cNvSpPr/>
          <p:nvPr/>
        </p:nvSpPr>
        <p:spPr>
          <a:xfrm>
            <a:off x="5012741" y="5486400"/>
            <a:ext cx="2163470" cy="347472"/>
          </a:xfrm>
          <a:prstGeom prst="roundRect">
            <a:avLst>
              <a:gd name="adj" fmla="val 21053"/>
            </a:avLst>
          </a:prstGeom>
          <a:solidFill>
            <a:srgbClr val="2F6FD0"/>
          </a:solidFill>
          <a:ln w="12700">
            <a:solidFill>
              <a:srgbClr val="2F6FD0"/>
            </a:solidFill>
            <a:prstDash val="solid"/>
          </a:ln>
        </p:spPr>
      </p:sp>
      <p:pic>
        <p:nvPicPr>
          <p:cNvPr id="60" name="Image 6" descr="preencoded.png">    </p:cNvPr>
          <p:cNvPicPr>
            <a:picLocks noChangeAspect="1"/>
          </p:cNvPicPr>
          <p:nvPr/>
        </p:nvPicPr>
        <p:blipFill>
          <a:blip r:embed="rId11"/>
          <a:stretch>
            <a:fillRect/>
          </a:stretch>
        </p:blipFill>
        <p:spPr>
          <a:xfrm>
            <a:off x="5122469" y="5559552"/>
            <a:ext cx="201168" cy="201168"/>
          </a:xfrm>
          <a:prstGeom prst="rect">
            <a:avLst/>
          </a:prstGeom>
        </p:spPr>
      </p:pic>
      <p:sp>
        <p:nvSpPr>
          <p:cNvPr id="61" name="Text 52"/>
          <p:cNvSpPr txBox="1"/>
          <p:nvPr/>
        </p:nvSpPr>
        <p:spPr>
          <a:xfrm>
            <a:off x="541507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62" name="Text 53"/>
          <p:cNvSpPr txBox="1"/>
          <p:nvPr/>
        </p:nvSpPr>
        <p:spPr>
          <a:xfrm>
            <a:off x="512246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Any node, competitor or audience</a:t>
            </a:r>
            <a:endParaRPr lang="en-US" sz="1050" dirty="0"/>
          </a:p>
        </p:txBody>
      </p:sp>
      <p:sp>
        <p:nvSpPr>
          <p:cNvPr id="63" name="Shape 54"/>
          <p:cNvSpPr/>
          <p:nvPr/>
        </p:nvSpPr>
        <p:spPr>
          <a:xfrm>
            <a:off x="7313371" y="5486400"/>
            <a:ext cx="2163470" cy="804672"/>
          </a:xfrm>
          <a:prstGeom prst="roundRect">
            <a:avLst>
              <a:gd name="adj" fmla="val 9091"/>
            </a:avLst>
          </a:prstGeom>
          <a:solidFill>
            <a:srgbClr val="DCE7F8"/>
          </a:solidFill>
          <a:ln w="12700">
            <a:solidFill>
              <a:srgbClr val="DCE7F8"/>
            </a:solidFill>
            <a:prstDash val="solid"/>
          </a:ln>
        </p:spPr>
      </p:sp>
      <p:sp>
        <p:nvSpPr>
          <p:cNvPr id="64" name="Shape 55"/>
          <p:cNvSpPr/>
          <p:nvPr/>
        </p:nvSpPr>
        <p:spPr>
          <a:xfrm>
            <a:off x="7313371" y="5486400"/>
            <a:ext cx="2163470" cy="347472"/>
          </a:xfrm>
          <a:prstGeom prst="roundRect">
            <a:avLst>
              <a:gd name="adj" fmla="val 21053"/>
            </a:avLst>
          </a:prstGeom>
          <a:solidFill>
            <a:srgbClr val="13285B"/>
          </a:solidFill>
          <a:ln w="12700">
            <a:solidFill>
              <a:srgbClr val="13285B"/>
            </a:solidFill>
            <a:prstDash val="solid"/>
          </a:ln>
        </p:spPr>
      </p:sp>
      <p:pic>
        <p:nvPicPr>
          <p:cNvPr id="65" name="Image 7" descr="preencoded.png">    </p:cNvPr>
          <p:cNvPicPr>
            <a:picLocks noChangeAspect="1"/>
          </p:cNvPicPr>
          <p:nvPr/>
        </p:nvPicPr>
        <p:blipFill>
          <a:blip r:embed="rId12"/>
          <a:stretch>
            <a:fillRect/>
          </a:stretch>
        </p:blipFill>
        <p:spPr>
          <a:xfrm>
            <a:off x="7423099" y="5559552"/>
            <a:ext cx="201168" cy="201168"/>
          </a:xfrm>
          <a:prstGeom prst="rect">
            <a:avLst/>
          </a:prstGeom>
        </p:spPr>
      </p:pic>
      <p:sp>
        <p:nvSpPr>
          <p:cNvPr id="66" name="Text 56"/>
          <p:cNvSpPr txBox="1"/>
          <p:nvPr/>
        </p:nvSpPr>
        <p:spPr>
          <a:xfrm>
            <a:off x="771570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67" name="Text 57"/>
          <p:cNvSpPr txBox="1"/>
          <p:nvPr/>
        </p:nvSpPr>
        <p:spPr>
          <a:xfrm>
            <a:off x="742309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Automated seller-listing vetting</a:t>
            </a:r>
            <a:endParaRPr lang="en-US" sz="1050" dirty="0"/>
          </a:p>
        </p:txBody>
      </p:sp>
      <p:sp>
        <p:nvSpPr>
          <p:cNvPr id="68" name="Shape 58"/>
          <p:cNvSpPr/>
          <p:nvPr/>
        </p:nvSpPr>
        <p:spPr>
          <a:xfrm>
            <a:off x="9614002" y="5486400"/>
            <a:ext cx="2163470" cy="804672"/>
          </a:xfrm>
          <a:prstGeom prst="roundRect">
            <a:avLst>
              <a:gd name="adj" fmla="val 9091"/>
            </a:avLst>
          </a:prstGeom>
          <a:solidFill>
            <a:srgbClr val="DCE7F8"/>
          </a:solidFill>
          <a:ln w="12700">
            <a:solidFill>
              <a:srgbClr val="DCE7F8"/>
            </a:solidFill>
            <a:prstDash val="solid"/>
          </a:ln>
        </p:spPr>
      </p:sp>
      <p:sp>
        <p:nvSpPr>
          <p:cNvPr id="69" name="Shape 59"/>
          <p:cNvSpPr/>
          <p:nvPr/>
        </p:nvSpPr>
        <p:spPr>
          <a:xfrm>
            <a:off x="9614002" y="5486400"/>
            <a:ext cx="2163470" cy="347472"/>
          </a:xfrm>
          <a:prstGeom prst="roundRect">
            <a:avLst>
              <a:gd name="adj" fmla="val 21053"/>
            </a:avLst>
          </a:prstGeom>
          <a:solidFill>
            <a:srgbClr val="13285B"/>
          </a:solidFill>
          <a:ln w="12700">
            <a:solidFill>
              <a:srgbClr val="13285B"/>
            </a:solidFill>
            <a:prstDash val="solid"/>
          </a:ln>
        </p:spPr>
      </p:sp>
      <p:pic>
        <p:nvPicPr>
          <p:cNvPr id="70" name="Image 8" descr="preencoded.png">    </p:cNvPr>
          <p:cNvPicPr>
            <a:picLocks noChangeAspect="1"/>
          </p:cNvPicPr>
          <p:nvPr/>
        </p:nvPicPr>
        <p:blipFill>
          <a:blip r:embed="rId13"/>
          <a:stretch>
            <a:fillRect/>
          </a:stretch>
        </p:blipFill>
        <p:spPr>
          <a:xfrm>
            <a:off x="9723730" y="5559552"/>
            <a:ext cx="201168" cy="201168"/>
          </a:xfrm>
          <a:prstGeom prst="rect">
            <a:avLst/>
          </a:prstGeom>
        </p:spPr>
      </p:pic>
      <p:sp>
        <p:nvSpPr>
          <p:cNvPr id="71" name="Text 60"/>
          <p:cNvSpPr txBox="1"/>
          <p:nvPr/>
        </p:nvSpPr>
        <p:spPr>
          <a:xfrm>
            <a:off x="10016338"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72" name="Text 61"/>
          <p:cNvSpPr txBox="1"/>
          <p:nvPr/>
        </p:nvSpPr>
        <p:spPr>
          <a:xfrm>
            <a:off x="9723730"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Market radar &amp; pilot tracking</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PoC Scope at a Glance: 12 Nodes · 3 Segments · 2 Competitors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11365992" cy="914400"/>
        </p:xfrm>
        <a:graphic>
          <a:graphicData uri="http://schemas.openxmlformats.org/drawingml/2006/table">
            <a:tbl>
              <a:tblPr/>
              <a:tblGrid>
                <a:gridCol w="1737360"/>
                <a:gridCol w="3017520"/>
                <a:gridCol w="3657600"/>
                <a:gridCol w="1417320"/>
                <a:gridCol w="1536192"/>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Segment · Play</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Staples node</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Category path</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Primary competitor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Archetypes recommended</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EXTEND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3285B"/>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Planners &amp; Personal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Calendars &amp; Planners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Backpacks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Backpacks &amp; Laptop 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Desks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Desks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Probable 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2F6FD0"/>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Water Bottles, Tumblers &amp; Travel Mugs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Water &amp; Beverages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Accent &amp; Waiting Room Chairs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Chairs &amp; Seating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Lamps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Lamps &amp; Lighting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Lunch Bags &amp; Boxes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Totes &amp; Handbags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13285B"/>
                          </a:solidFill>
                          <a:latin typeface="Calibri" pitchFamily="34" charset="0"/>
                          <a:ea typeface="Calibri" pitchFamily="34" charset="-122"/>
                          <a:cs typeface="Calibri" pitchFamily="34" charset="-120"/>
                        </a:rPr>
                        <a:t>Non-Hero</a:t>
                      </a:r>
                      <a:endParaRPr lang="en-US" sz="1300" dirty="0">
                        <a:latin typeface="Calibri" charset="0"/>
                        <a:ea typeface="Calibri" charset="0"/>
                        <a:cs typeface="Calibri" charset="0"/>
                      </a:endParaRPr>
                    </a:p>
                    <a:p>
                      <a:pPr algn="ctr" indent="0" marL="0">
                        <a:buNone/>
                      </a:pPr>
                      <a:r>
                        <a:rPr lang="en-US" sz="1300" b="1" dirty="0">
                          <a:solidFill>
                            <a:srgbClr val="13285B"/>
                          </a:solidFill>
                          <a:latin typeface="Calibri" pitchFamily="34" charset="0"/>
                          <a:ea typeface="Calibri" pitchFamily="34" charset="-122"/>
                          <a:cs typeface="Calibri" pitchFamily="34" charset="-120"/>
                        </a:rPr>
                        <a:t>EXPLORE</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8FB0E8"/>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Clocks &amp; Timers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Decor</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Pads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Coffee Organizers &amp; Dispensers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Coffee, Coffee Makers &amp; Supplies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Partitions &amp; Dividers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Cubicle &amp; Panel Systems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bl>
          </a:graphicData>
        </a:graphic>
      </p:graphicFrame>
      <p:sp>
        <p:nvSpPr>
          <p:cNvPr id="4" name="Shape 1"/>
          <p:cNvSpPr/>
          <p:nvPr/>
        </p:nvSpPr>
        <p:spPr>
          <a:xfrm>
            <a:off x="411480" y="5943600"/>
            <a:ext cx="11365992" cy="384048"/>
          </a:xfrm>
          <a:prstGeom prst="roundRect">
            <a:avLst>
              <a:gd name="adj" fmla="val 19048"/>
            </a:avLst>
          </a:prstGeom>
          <a:solidFill>
            <a:srgbClr val="FFF4E0"/>
          </a:solidFill>
          <a:ln w="12700">
            <a:solidFill>
              <a:srgbClr val="F5A623"/>
            </a:solidFill>
            <a:prstDash val="solid"/>
          </a:ln>
        </p:spPr>
      </p:sp>
      <p:pic>
        <p:nvPicPr>
          <p:cNvPr id="5" name="Image 0" descr="preencoded.png">    </p:cNvPr>
          <p:cNvPicPr>
            <a:picLocks noChangeAspect="1"/>
          </p:cNvPicPr>
          <p:nvPr/>
        </p:nvPicPr>
        <p:blipFill>
          <a:blip r:embed="rId1"/>
          <a:stretch>
            <a:fillRect/>
          </a:stretch>
        </p:blipFill>
        <p:spPr>
          <a:xfrm>
            <a:off x="566928" y="6025896"/>
            <a:ext cx="219456" cy="219456"/>
          </a:xfrm>
          <a:prstGeom prst="rect">
            <a:avLst/>
          </a:prstGeom>
        </p:spPr>
      </p:pic>
      <p:sp>
        <p:nvSpPr>
          <p:cNvPr id="6" name="Text 2"/>
          <p:cNvSpPr txBox="1"/>
          <p:nvPr/>
        </p:nvSpPr>
        <p:spPr>
          <a:xfrm>
            <a:off x="914400" y="5943600"/>
            <a:ext cx="10698480" cy="384048"/>
          </a:xfrm>
          <a:prstGeom prst="rect">
            <a:avLst/>
          </a:prstGeom>
          <a:noFill/>
          <a:ln/>
        </p:spPr>
        <p:txBody>
          <a:bodyPr wrap="square" lIns="0" tIns="0" rIns="0" bIns="0" rtlCol="0" anchor="ctr"/>
          <a:lstStyle/>
          <a:p>
            <a:pPr indent="0" marL="0">
              <a:buNone/>
            </a:pPr>
            <a:r>
              <a:rPr lang="en-US" sz="1100" b="1" dirty="0">
                <a:solidFill>
                  <a:srgbClr val="8A5A00"/>
                </a:solidFill>
                <a:latin typeface="Calibri" pitchFamily="34" charset="0"/>
                <a:ea typeface="Calibri" pitchFamily="34" charset="-122"/>
                <a:cs typeface="Calibri" pitchFamily="34" charset="-120"/>
              </a:rPr>
              <a:t>Data disclaimer:  </a:t>
            </a:r>
            <a:pPr indent="0" marL="0">
              <a:buNone/>
            </a:pPr>
            <a:r>
              <a:rPr lang="en-US" sz="1100" dirty="0">
                <a:solidFill>
                  <a:srgbClr val="1F2937"/>
                </a:solidFill>
                <a:latin typeface="Calibri" pitchFamily="34" charset="0"/>
                <a:ea typeface="Calibri" pitchFamily="34" charset="-122"/>
                <a:cs typeface="Calibri" pitchFamily="34" charset="-120"/>
              </a:rPr>
              <a:t>competitor data are scraped listing samples, not full catalogs; Staples data are close to complete.</a:t>
            </a:r>
            <a:endParaRPr lang="en-US" sz="11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Demo</a:t>
            </a:r>
            <a:endParaRPr lang="en-US" sz="2800" dirty="0"/>
          </a:p>
        </p:txBody>
      </p:sp>
      <p:pic>
        <p:nvPicPr>
          <p:cNvPr id="3" name="Image 0" descr="preencoded.png">    </p:cNvPr>
          <p:cNvPicPr>
            <a:picLocks noChangeAspect="1"/>
          </p:cNvPicPr>
          <p:nvPr/>
        </p:nvPicPr>
        <p:blipFill>
          <a:blip r:embed="rId1"/>
          <a:stretch>
            <a:fillRect/>
          </a:stretch>
        </p:blipFill>
        <p:spPr>
          <a:xfrm>
            <a:off x="5641848" y="1828800"/>
            <a:ext cx="914400" cy="914400"/>
          </a:xfrm>
          <a:prstGeom prst="rect">
            <a:avLst/>
          </a:prstGeom>
        </p:spPr>
      </p:pic>
      <p:sp>
        <p:nvSpPr>
          <p:cNvPr id="4" name="Text 1"/>
          <p:cNvSpPr txBox="1"/>
          <p:nvPr/>
        </p:nvSpPr>
        <p:spPr>
          <a:xfrm>
            <a:off x="411480" y="2880360"/>
            <a:ext cx="11365992" cy="731520"/>
          </a:xfrm>
          <a:prstGeom prst="rect">
            <a:avLst/>
          </a:prstGeom>
          <a:noFill/>
          <a:ln/>
        </p:spPr>
        <p:txBody>
          <a:bodyPr wrap="square" lIns="0" tIns="0" rIns="0" bIns="0" rtlCol="0" anchor="ctr"/>
          <a:lstStyle/>
          <a:p>
            <a:pPr algn="ctr" indent="0" marL="0">
              <a:buNone/>
            </a:pPr>
            <a:r>
              <a:rPr lang="en-US" sz="4000" b="1" dirty="0">
                <a:solidFill>
                  <a:srgbClr val="13285B"/>
                </a:solidFill>
                <a:latin typeface="Calibri" pitchFamily="34" charset="0"/>
                <a:ea typeface="Calibri" pitchFamily="34" charset="-122"/>
                <a:cs typeface="Calibri" pitchFamily="34" charset="-120"/>
              </a:rPr>
              <a:t>Live Demo</a:t>
            </a:r>
            <a:endParaRPr lang="en-US" sz="4000" dirty="0"/>
          </a:p>
        </p:txBody>
      </p:sp>
      <p:sp>
        <p:nvSpPr>
          <p:cNvPr id="5" name="Shape 2"/>
          <p:cNvSpPr/>
          <p:nvPr/>
        </p:nvSpPr>
        <p:spPr>
          <a:xfrm>
            <a:off x="3355848" y="3886200"/>
            <a:ext cx="5486400" cy="640080"/>
          </a:xfrm>
          <a:prstGeom prst="roundRect">
            <a:avLst>
              <a:gd name="adj" fmla="val 14286"/>
            </a:avLst>
          </a:prstGeom>
          <a:solidFill>
            <a:srgbClr val="EEF3FB"/>
          </a:solidFill>
          <a:ln w="9525">
            <a:solidFill>
              <a:srgbClr val="8FB0E8"/>
            </a:solidFill>
            <a:prstDash val="dash"/>
          </a:ln>
        </p:spPr>
      </p:sp>
      <p:pic>
        <p:nvPicPr>
          <p:cNvPr id="6" name="Image 1" descr="preencoded.png">    </p:cNvPr>
          <p:cNvPicPr>
            <a:picLocks noChangeAspect="1"/>
          </p:cNvPicPr>
          <p:nvPr/>
        </p:nvPicPr>
        <p:blipFill>
          <a:blip r:embed="rId2"/>
          <a:stretch>
            <a:fillRect/>
          </a:stretch>
        </p:blipFill>
        <p:spPr>
          <a:xfrm>
            <a:off x="3611880" y="4059936"/>
            <a:ext cx="292608" cy="292608"/>
          </a:xfrm>
          <a:prstGeom prst="rect">
            <a:avLst/>
          </a:prstGeom>
        </p:spPr>
      </p:pic>
      <p:sp>
        <p:nvSpPr>
          <p:cNvPr id="7" name="Text 3"/>
          <p:cNvSpPr txBox="1"/>
          <p:nvPr/>
        </p:nvSpPr>
        <p:spPr>
          <a:xfrm>
            <a:off x="4069080" y="3886200"/>
            <a:ext cx="4572000" cy="640080"/>
          </a:xfrm>
          <a:prstGeom prst="rect">
            <a:avLst/>
          </a:prstGeom>
          <a:noFill/>
          <a:ln/>
        </p:spPr>
        <p:txBody>
          <a:bodyPr wrap="square" lIns="0" tIns="0" rIns="0" bIns="0" rtlCol="0" anchor="ctr"/>
          <a:lstStyle/>
          <a:p>
            <a:pPr indent="0" marL="0">
              <a:buNone/>
            </a:pPr>
            <a:r>
              <a:rPr lang="en-US" sz="1800" dirty="0">
                <a:solidFill>
                  <a:srgbClr val="2F6FD0"/>
                </a:solidFill>
                <a:latin typeface="Calibri" pitchFamily="34" charset="0"/>
                <a:ea typeface="Calibri" pitchFamily="34" charset="-122"/>
                <a:cs typeface="Calibri" pitchFamily="34" charset="-120"/>
              </a:rPr>
              <a:t>Link: [to be added]</a:t>
            </a:r>
            <a:endParaRPr lang="en-US" sz="1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The PoC Engine on Staples Data</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The same Assortment Gap &amp; Recommendation analysis, powered by </a:t>
            </a:r>
            <a:pPr algn="ctr" indent="0" marL="0">
              <a:buNone/>
            </a:pPr>
            <a:r>
              <a:rPr lang="en-US" sz="1150" b="1" dirty="0">
                <a:solidFill>
                  <a:srgbClr val="13285B"/>
                </a:solidFill>
                <a:latin typeface="Calibri" pitchFamily="34" charset="0"/>
                <a:ea typeface="Calibri" pitchFamily="34" charset="-122"/>
                <a:cs typeface="Calibri" pitchFamily="34" charset="-120"/>
              </a:rPr>
              <a:t>real demand</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Staples' own data</a:t>
            </a:r>
            <a:pPr algn="ctr" indent="0" marL="0">
              <a:buNone/>
            </a:pPr>
            <a:r>
              <a:rPr lang="en-US" sz="1150" dirty="0">
                <a:solidFill>
                  <a:srgbClr val="1F2937"/>
                </a:solidFill>
                <a:latin typeface="Calibri" pitchFamily="34" charset="0"/>
                <a:ea typeface="Calibri" pitchFamily="34" charset="-122"/>
                <a:cs typeface="Calibri" pitchFamily="34" charset="-120"/>
              </a:rPr>
              <a:t> and </a:t>
            </a:r>
            <a:pPr algn="ctr" indent="0" marL="0">
              <a:buNone/>
            </a:pPr>
            <a:r>
              <a:rPr lang="en-US" sz="1150" b="1" dirty="0">
                <a:solidFill>
                  <a:srgbClr val="13285B"/>
                </a:solidFill>
                <a:latin typeface="Calibri" pitchFamily="34" charset="0"/>
                <a:ea typeface="Calibri" pitchFamily="34" charset="-122"/>
                <a:cs typeface="Calibri" pitchFamily="34" charset="-120"/>
              </a:rPr>
              <a:t>merchant-set thresholds</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737360"/>
            <a:ext cx="2083003" cy="713232"/>
          </a:xfrm>
          <a:prstGeom prst="roundRect">
            <a:avLst>
              <a:gd name="adj" fmla="val 10256"/>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21208" y="1920240"/>
            <a:ext cx="347472" cy="347472"/>
          </a:xfrm>
          <a:prstGeom prst="rect">
            <a:avLst/>
          </a:prstGeom>
        </p:spPr>
      </p:pic>
      <p:sp>
        <p:nvSpPr>
          <p:cNvPr id="7" name="Text 4"/>
          <p:cNvSpPr txBox="1"/>
          <p:nvPr/>
        </p:nvSpPr>
        <p:spPr>
          <a:xfrm>
            <a:off x="960120"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8" name="Text 5"/>
          <p:cNvSpPr txBox="1"/>
          <p:nvPr/>
        </p:nvSpPr>
        <p:spPr>
          <a:xfrm>
            <a:off x="960120"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Demand &amp; segment prioritisation</a:t>
            </a:r>
            <a:endParaRPr lang="en-US" sz="1100" dirty="0"/>
          </a:p>
        </p:txBody>
      </p:sp>
      <p:sp>
        <p:nvSpPr>
          <p:cNvPr id="9" name="Shape 6"/>
          <p:cNvSpPr/>
          <p:nvPr/>
        </p:nvSpPr>
        <p:spPr>
          <a:xfrm>
            <a:off x="411480" y="2505456"/>
            <a:ext cx="2083003" cy="3401568"/>
          </a:xfrm>
          <a:prstGeom prst="roundRect">
            <a:avLst>
              <a:gd name="adj" fmla="val 3512"/>
            </a:avLst>
          </a:prstGeom>
          <a:solidFill>
            <a:srgbClr val="FFFFFF"/>
          </a:solidFill>
          <a:ln w="9525">
            <a:solidFill>
              <a:srgbClr val="C9D3E3"/>
            </a:solidFill>
            <a:prstDash val="solid"/>
          </a:ln>
        </p:spPr>
      </p:sp>
      <p:sp>
        <p:nvSpPr>
          <p:cNvPr id="10" name="Text 7"/>
          <p:cNvSpPr txBox="1"/>
          <p:nvPr/>
        </p:nvSpPr>
        <p:spPr>
          <a:xfrm>
            <a:off x="521208"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Which gaps will sell, and to whom?</a:t>
            </a:r>
            <a:endParaRPr lang="en-US" sz="1000" dirty="0"/>
          </a:p>
        </p:txBody>
      </p:sp>
      <p:sp>
        <p:nvSpPr>
          <p:cNvPr id="11" name="Text 8"/>
          <p:cNvSpPr txBox="1"/>
          <p:nvPr/>
        </p:nvSpPr>
        <p:spPr>
          <a:xfrm>
            <a:off x="502920"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Link sales, traffic &amp; search to each archetype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Profile buyers: B2B vs B2C, RFM, basket mix</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Re-rank add-lists by expected GMV &amp; commission</a:t>
            </a:r>
            <a:endParaRPr lang="en-US" sz="950" dirty="0"/>
          </a:p>
        </p:txBody>
      </p:sp>
      <p:sp>
        <p:nvSpPr>
          <p:cNvPr id="12" name="Shape 9"/>
          <p:cNvSpPr/>
          <p:nvPr/>
        </p:nvSpPr>
        <p:spPr>
          <a:xfrm>
            <a:off x="484632" y="4517136"/>
            <a:ext cx="1936699" cy="566928"/>
          </a:xfrm>
          <a:prstGeom prst="roundRect">
            <a:avLst>
              <a:gd name="adj" fmla="val 9677"/>
            </a:avLst>
          </a:prstGeom>
          <a:solidFill>
            <a:srgbClr val="EEF3FB"/>
          </a:solidFill>
          <a:ln w="12700">
            <a:solidFill>
              <a:srgbClr val="EEF3FB"/>
            </a:solidFill>
            <a:prstDash val="solid"/>
          </a:ln>
        </p:spPr>
      </p:sp>
      <p:sp>
        <p:nvSpPr>
          <p:cNvPr id="13" name="Text 10"/>
          <p:cNvSpPr txBox="1"/>
          <p:nvPr/>
        </p:nvSpPr>
        <p:spPr>
          <a:xfrm>
            <a:off x="557784"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14" name="Text 11"/>
          <p:cNvSpPr txBox="1"/>
          <p:nvPr/>
        </p:nvSpPr>
        <p:spPr>
          <a:xfrm>
            <a:off x="557784"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traffic · customers</a:t>
            </a:r>
            <a:endParaRPr lang="en-US" sz="950" dirty="0"/>
          </a:p>
        </p:txBody>
      </p:sp>
      <p:sp>
        <p:nvSpPr>
          <p:cNvPr id="15" name="Shape 12"/>
          <p:cNvSpPr/>
          <p:nvPr/>
        </p:nvSpPr>
        <p:spPr>
          <a:xfrm>
            <a:off x="484632" y="5157216"/>
            <a:ext cx="1936699" cy="676656"/>
          </a:xfrm>
          <a:prstGeom prst="roundRect">
            <a:avLst>
              <a:gd name="adj" fmla="val 8108"/>
            </a:avLst>
          </a:prstGeom>
          <a:solidFill>
            <a:srgbClr val="DCE7F8"/>
          </a:solidFill>
          <a:ln w="12700">
            <a:solidFill>
              <a:srgbClr val="DCE7F8"/>
            </a:solidFill>
            <a:prstDash val="solid"/>
          </a:ln>
        </p:spPr>
      </p:sp>
      <p:sp>
        <p:nvSpPr>
          <p:cNvPr id="16" name="Text 13"/>
          <p:cNvSpPr txBox="1"/>
          <p:nvPr/>
        </p:nvSpPr>
        <p:spPr>
          <a:xfrm>
            <a:off x="557784"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7" name="Text 14"/>
          <p:cNvSpPr txBox="1"/>
          <p:nvPr/>
        </p:nvSpPr>
        <p:spPr>
          <a:xfrm>
            <a:off x="557784"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Revenue-ranked add-list per segment</a:t>
            </a:r>
            <a:endParaRPr lang="en-US" sz="1050" dirty="0"/>
          </a:p>
        </p:txBody>
      </p:sp>
      <p:sp>
        <p:nvSpPr>
          <p:cNvPr id="18" name="Shape 15"/>
          <p:cNvSpPr/>
          <p:nvPr/>
        </p:nvSpPr>
        <p:spPr>
          <a:xfrm>
            <a:off x="2732227" y="1737360"/>
            <a:ext cx="2083003" cy="713232"/>
          </a:xfrm>
          <a:prstGeom prst="roundRect">
            <a:avLst>
              <a:gd name="adj" fmla="val 10256"/>
            </a:avLst>
          </a:prstGeom>
          <a:solidFill>
            <a:srgbClr val="1F4E9A"/>
          </a:solidFill>
          <a:ln w="12700">
            <a:solidFill>
              <a:srgbClr val="1F4E9A"/>
            </a:solidFill>
            <a:prstDash val="solid"/>
          </a:ln>
        </p:spPr>
      </p:sp>
      <p:pic>
        <p:nvPicPr>
          <p:cNvPr id="19" name="Image 1" descr="preencoded.png">    </p:cNvPr>
          <p:cNvPicPr>
            <a:picLocks noChangeAspect="1"/>
          </p:cNvPicPr>
          <p:nvPr/>
        </p:nvPicPr>
        <p:blipFill>
          <a:blip r:embed="rId2"/>
          <a:stretch>
            <a:fillRect/>
          </a:stretch>
        </p:blipFill>
        <p:spPr>
          <a:xfrm>
            <a:off x="2841955" y="1920240"/>
            <a:ext cx="347472" cy="347472"/>
          </a:xfrm>
          <a:prstGeom prst="rect">
            <a:avLst/>
          </a:prstGeom>
        </p:spPr>
      </p:pic>
      <p:sp>
        <p:nvSpPr>
          <p:cNvPr id="20" name="Text 16"/>
          <p:cNvSpPr txBox="1"/>
          <p:nvPr/>
        </p:nvSpPr>
        <p:spPr>
          <a:xfrm>
            <a:off x="3280867"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21" name="Text 17"/>
          <p:cNvSpPr txBox="1"/>
          <p:nvPr/>
        </p:nvSpPr>
        <p:spPr>
          <a:xfrm>
            <a:off x="3280867"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Cannibalisation &amp; threshold tuning</a:t>
            </a:r>
            <a:endParaRPr lang="en-US" sz="1100" dirty="0"/>
          </a:p>
        </p:txBody>
      </p:sp>
      <p:sp>
        <p:nvSpPr>
          <p:cNvPr id="22" name="Shape 18"/>
          <p:cNvSpPr/>
          <p:nvPr/>
        </p:nvSpPr>
        <p:spPr>
          <a:xfrm>
            <a:off x="2732227" y="2505456"/>
            <a:ext cx="2083003" cy="3401568"/>
          </a:xfrm>
          <a:prstGeom prst="roundRect">
            <a:avLst>
              <a:gd name="adj" fmla="val 3512"/>
            </a:avLst>
          </a:prstGeom>
          <a:solidFill>
            <a:srgbClr val="FFFFFF"/>
          </a:solidFill>
          <a:ln w="9525">
            <a:solidFill>
              <a:srgbClr val="C9D3E3"/>
            </a:solidFill>
            <a:prstDash val="solid"/>
          </a:ln>
        </p:spPr>
      </p:sp>
      <p:sp>
        <p:nvSpPr>
          <p:cNvPr id="23" name="Text 19"/>
          <p:cNvSpPr txBox="1"/>
          <p:nvPr/>
        </p:nvSpPr>
        <p:spPr>
          <a:xfrm>
            <a:off x="2841955"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Will this listing take sales from 1P?</a:t>
            </a:r>
            <a:endParaRPr lang="en-US" sz="1000" dirty="0"/>
          </a:p>
        </p:txBody>
      </p:sp>
      <p:sp>
        <p:nvSpPr>
          <p:cNvPr id="24" name="Text 20"/>
          <p:cNvSpPr txBox="1"/>
          <p:nvPr/>
        </p:nvSpPr>
        <p:spPr>
          <a:xfrm>
            <a:off x="2823667"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Tune safety-gate thresholds with merchants: cannibalisation, price, fit, picks per node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Swap today's supply proxy for real 1P sales overlap</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Set price &amp; margin floors per node</a:t>
            </a:r>
            <a:endParaRPr lang="en-US" sz="950" dirty="0"/>
          </a:p>
        </p:txBody>
      </p:sp>
      <p:sp>
        <p:nvSpPr>
          <p:cNvPr id="25" name="Shape 21"/>
          <p:cNvSpPr/>
          <p:nvPr/>
        </p:nvSpPr>
        <p:spPr>
          <a:xfrm>
            <a:off x="2805379" y="4517136"/>
            <a:ext cx="1936699" cy="566928"/>
          </a:xfrm>
          <a:prstGeom prst="roundRect">
            <a:avLst>
              <a:gd name="adj" fmla="val 9677"/>
            </a:avLst>
          </a:prstGeom>
          <a:solidFill>
            <a:srgbClr val="EEF3FB"/>
          </a:solidFill>
          <a:ln w="12700">
            <a:solidFill>
              <a:srgbClr val="EEF3FB"/>
            </a:solidFill>
            <a:prstDash val="solid"/>
          </a:ln>
        </p:spPr>
      </p:sp>
      <p:sp>
        <p:nvSpPr>
          <p:cNvPr id="26" name="Text 22"/>
          <p:cNvSpPr txBox="1"/>
          <p:nvPr/>
        </p:nvSpPr>
        <p:spPr>
          <a:xfrm>
            <a:off x="2878531"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27" name="Text 23"/>
          <p:cNvSpPr txBox="1"/>
          <p:nvPr/>
        </p:nvSpPr>
        <p:spPr>
          <a:xfrm>
            <a:off x="2878531"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1P sales · margin · price history</a:t>
            </a:r>
            <a:endParaRPr lang="en-US" sz="950" dirty="0"/>
          </a:p>
        </p:txBody>
      </p:sp>
      <p:sp>
        <p:nvSpPr>
          <p:cNvPr id="28" name="Shape 24"/>
          <p:cNvSpPr/>
          <p:nvPr/>
        </p:nvSpPr>
        <p:spPr>
          <a:xfrm>
            <a:off x="2805379" y="5157216"/>
            <a:ext cx="1936699" cy="676656"/>
          </a:xfrm>
          <a:prstGeom prst="roundRect">
            <a:avLst>
              <a:gd name="adj" fmla="val 8108"/>
            </a:avLst>
          </a:prstGeom>
          <a:solidFill>
            <a:srgbClr val="DCE7F8"/>
          </a:solidFill>
          <a:ln w="12700">
            <a:solidFill>
              <a:srgbClr val="DCE7F8"/>
            </a:solidFill>
            <a:prstDash val="solid"/>
          </a:ln>
        </p:spPr>
      </p:sp>
      <p:sp>
        <p:nvSpPr>
          <p:cNvPr id="29" name="Text 25"/>
          <p:cNvSpPr txBox="1"/>
          <p:nvPr/>
        </p:nvSpPr>
        <p:spPr>
          <a:xfrm>
            <a:off x="2878531"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0" name="Text 26"/>
          <p:cNvSpPr txBox="1"/>
          <p:nvPr/>
        </p:nvSpPr>
        <p:spPr>
          <a:xfrm>
            <a:off x="2878531"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1P protected in revenue terms</a:t>
            </a:r>
            <a:endParaRPr lang="en-US" sz="1050" dirty="0"/>
          </a:p>
        </p:txBody>
      </p:sp>
      <p:sp>
        <p:nvSpPr>
          <p:cNvPr id="31" name="Shape 27"/>
          <p:cNvSpPr/>
          <p:nvPr/>
        </p:nvSpPr>
        <p:spPr>
          <a:xfrm>
            <a:off x="5052974" y="1737360"/>
            <a:ext cx="2083003" cy="713232"/>
          </a:xfrm>
          <a:prstGeom prst="roundRect">
            <a:avLst>
              <a:gd name="adj" fmla="val 10256"/>
            </a:avLst>
          </a:prstGeom>
          <a:solidFill>
            <a:srgbClr val="2F6FD0"/>
          </a:solidFill>
          <a:ln w="12700">
            <a:solidFill>
              <a:srgbClr val="2F6FD0"/>
            </a:solidFill>
            <a:prstDash val="solid"/>
          </a:ln>
        </p:spPr>
      </p:sp>
      <p:pic>
        <p:nvPicPr>
          <p:cNvPr id="32" name="Image 2" descr="preencoded.png">    </p:cNvPr>
          <p:cNvPicPr>
            <a:picLocks noChangeAspect="1"/>
          </p:cNvPicPr>
          <p:nvPr/>
        </p:nvPicPr>
        <p:blipFill>
          <a:blip r:embed="rId3"/>
          <a:stretch>
            <a:fillRect/>
          </a:stretch>
        </p:blipFill>
        <p:spPr>
          <a:xfrm>
            <a:off x="5162702" y="1920240"/>
            <a:ext cx="347472" cy="347472"/>
          </a:xfrm>
          <a:prstGeom prst="rect">
            <a:avLst/>
          </a:prstGeom>
        </p:spPr>
      </p:pic>
      <p:sp>
        <p:nvSpPr>
          <p:cNvPr id="33" name="Text 28"/>
          <p:cNvSpPr txBox="1"/>
          <p:nvPr/>
        </p:nvSpPr>
        <p:spPr>
          <a:xfrm>
            <a:off x="5601614"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34" name="Text 29"/>
          <p:cNvSpPr txBox="1"/>
          <p:nvPr/>
        </p:nvSpPr>
        <p:spPr>
          <a:xfrm>
            <a:off x="5601614"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Any node, competitor or audience</a:t>
            </a:r>
            <a:endParaRPr lang="en-US" sz="1100" dirty="0"/>
          </a:p>
        </p:txBody>
      </p:sp>
      <p:sp>
        <p:nvSpPr>
          <p:cNvPr id="35" name="Shape 30"/>
          <p:cNvSpPr/>
          <p:nvPr/>
        </p:nvSpPr>
        <p:spPr>
          <a:xfrm>
            <a:off x="5052974" y="2505456"/>
            <a:ext cx="2083003" cy="3401568"/>
          </a:xfrm>
          <a:prstGeom prst="roundRect">
            <a:avLst>
              <a:gd name="adj" fmla="val 3512"/>
            </a:avLst>
          </a:prstGeom>
          <a:solidFill>
            <a:srgbClr val="FFFFFF"/>
          </a:solidFill>
          <a:ln w="9525">
            <a:solidFill>
              <a:srgbClr val="C9D3E3"/>
            </a:solidFill>
            <a:prstDash val="solid"/>
          </a:ln>
        </p:spPr>
      </p:sp>
      <p:sp>
        <p:nvSpPr>
          <p:cNvPr id="36" name="Text 31"/>
          <p:cNvSpPr txBox="1"/>
          <p:nvPr/>
        </p:nvSpPr>
        <p:spPr>
          <a:xfrm>
            <a:off x="5162702"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Where should Staples grow next?</a:t>
            </a:r>
            <a:endParaRPr lang="en-US" sz="1000" dirty="0"/>
          </a:p>
        </p:txBody>
      </p:sp>
      <p:sp>
        <p:nvSpPr>
          <p:cNvPr id="37" name="Text 32"/>
          <p:cNvSpPr txBox="1"/>
          <p:nvPr/>
        </p:nvSpPr>
        <p:spPr>
          <a:xfrm>
            <a:off x="5144414"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Pick the category and the competitor to benchmark</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e.g. IKEA for small-space home offices, Target for Back-to-School, Etsy for gifting</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From 12 nodes to every category: config only, no new code</a:t>
            </a:r>
            <a:endParaRPr lang="en-US" sz="950" dirty="0"/>
          </a:p>
        </p:txBody>
      </p:sp>
      <p:sp>
        <p:nvSpPr>
          <p:cNvPr id="38" name="Shape 33"/>
          <p:cNvSpPr/>
          <p:nvPr/>
        </p:nvSpPr>
        <p:spPr>
          <a:xfrm>
            <a:off x="5126126" y="4517136"/>
            <a:ext cx="1936699" cy="566928"/>
          </a:xfrm>
          <a:prstGeom prst="roundRect">
            <a:avLst>
              <a:gd name="adj" fmla="val 9677"/>
            </a:avLst>
          </a:prstGeom>
          <a:solidFill>
            <a:srgbClr val="EEF3FB"/>
          </a:solidFill>
          <a:ln w="12700">
            <a:solidFill>
              <a:srgbClr val="EEF3FB"/>
            </a:solidFill>
            <a:prstDash val="solid"/>
          </a:ln>
        </p:spPr>
      </p:sp>
      <p:sp>
        <p:nvSpPr>
          <p:cNvPr id="39" name="Text 34"/>
          <p:cNvSpPr txBox="1"/>
          <p:nvPr/>
        </p:nvSpPr>
        <p:spPr>
          <a:xfrm>
            <a:off x="5199278"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40" name="Text 35"/>
          <p:cNvSpPr txBox="1"/>
          <p:nvPr/>
        </p:nvSpPr>
        <p:spPr>
          <a:xfrm>
            <a:off x="5199278"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Staples catalog + new competitor crawls</a:t>
            </a:r>
            <a:endParaRPr lang="en-US" sz="950" dirty="0"/>
          </a:p>
        </p:txBody>
      </p:sp>
      <p:sp>
        <p:nvSpPr>
          <p:cNvPr id="41" name="Shape 36"/>
          <p:cNvSpPr/>
          <p:nvPr/>
        </p:nvSpPr>
        <p:spPr>
          <a:xfrm>
            <a:off x="5126126" y="5157216"/>
            <a:ext cx="1936699" cy="676656"/>
          </a:xfrm>
          <a:prstGeom prst="roundRect">
            <a:avLst>
              <a:gd name="adj" fmla="val 8108"/>
            </a:avLst>
          </a:prstGeom>
          <a:solidFill>
            <a:srgbClr val="DCE7F8"/>
          </a:solidFill>
          <a:ln w="12700">
            <a:solidFill>
              <a:srgbClr val="DCE7F8"/>
            </a:solidFill>
            <a:prstDash val="solid"/>
          </a:ln>
        </p:spPr>
      </p:sp>
      <p:sp>
        <p:nvSpPr>
          <p:cNvPr id="42" name="Text 37"/>
          <p:cNvSpPr txBox="1"/>
          <p:nvPr/>
        </p:nvSpPr>
        <p:spPr>
          <a:xfrm>
            <a:off x="5199278"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5199278"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The engine aimed at the audience Staples wants</a:t>
            </a:r>
            <a:endParaRPr lang="en-US" sz="1050" dirty="0"/>
          </a:p>
        </p:txBody>
      </p:sp>
      <p:sp>
        <p:nvSpPr>
          <p:cNvPr id="44" name="Shape 39"/>
          <p:cNvSpPr/>
          <p:nvPr/>
        </p:nvSpPr>
        <p:spPr>
          <a:xfrm>
            <a:off x="7373722" y="1737360"/>
            <a:ext cx="2083003" cy="713232"/>
          </a:xfrm>
          <a:prstGeom prst="roundRect">
            <a:avLst>
              <a:gd name="adj" fmla="val 10256"/>
            </a:avLst>
          </a:prstGeom>
          <a:solidFill>
            <a:srgbClr val="13285B"/>
          </a:solidFill>
          <a:ln w="12700">
            <a:solidFill>
              <a:srgbClr val="13285B"/>
            </a:solidFill>
            <a:prstDash val="solid"/>
          </a:ln>
        </p:spPr>
      </p:sp>
      <p:pic>
        <p:nvPicPr>
          <p:cNvPr id="45" name="Image 3" descr="preencoded.png">    </p:cNvPr>
          <p:cNvPicPr>
            <a:picLocks noChangeAspect="1"/>
          </p:cNvPicPr>
          <p:nvPr/>
        </p:nvPicPr>
        <p:blipFill>
          <a:blip r:embed="rId4"/>
          <a:stretch>
            <a:fillRect/>
          </a:stretch>
        </p:blipFill>
        <p:spPr>
          <a:xfrm>
            <a:off x="7483450" y="1920240"/>
            <a:ext cx="347472" cy="347472"/>
          </a:xfrm>
          <a:prstGeom prst="rect">
            <a:avLst/>
          </a:prstGeom>
        </p:spPr>
      </p:pic>
      <p:sp>
        <p:nvSpPr>
          <p:cNvPr id="46" name="Text 40"/>
          <p:cNvSpPr txBox="1"/>
          <p:nvPr/>
        </p:nvSpPr>
        <p:spPr>
          <a:xfrm>
            <a:off x="7922362"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47" name="Text 41"/>
          <p:cNvSpPr txBox="1"/>
          <p:nvPr/>
        </p:nvSpPr>
        <p:spPr>
          <a:xfrm>
            <a:off x="7922362"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Automated seller-listing vetting</a:t>
            </a:r>
            <a:endParaRPr lang="en-US" sz="1100" dirty="0"/>
          </a:p>
        </p:txBody>
      </p:sp>
      <p:sp>
        <p:nvSpPr>
          <p:cNvPr id="48" name="Shape 42"/>
          <p:cNvSpPr/>
          <p:nvPr/>
        </p:nvSpPr>
        <p:spPr>
          <a:xfrm>
            <a:off x="7373722" y="2505456"/>
            <a:ext cx="2083003" cy="3401568"/>
          </a:xfrm>
          <a:prstGeom prst="roundRect">
            <a:avLst>
              <a:gd name="adj" fmla="val 3512"/>
            </a:avLst>
          </a:prstGeom>
          <a:solidFill>
            <a:srgbClr val="FFFFFF"/>
          </a:solidFill>
          <a:ln w="9525">
            <a:solidFill>
              <a:srgbClr val="C9D3E3"/>
            </a:solidFill>
            <a:prstDash val="solid"/>
          </a:ln>
        </p:spPr>
      </p:sp>
      <p:sp>
        <p:nvSpPr>
          <p:cNvPr id="49" name="Text 43"/>
          <p:cNvSpPr txBox="1"/>
          <p:nvPr/>
        </p:nvSpPr>
        <p:spPr>
          <a:xfrm>
            <a:off x="7483450"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Should this listing go live?</a:t>
            </a:r>
            <a:endParaRPr lang="en-US" sz="1000" dirty="0"/>
          </a:p>
        </p:txBody>
      </p:sp>
      <p:sp>
        <p:nvSpPr>
          <p:cNvPr id="50" name="Text 44"/>
          <p:cNvSpPr txBox="1"/>
          <p:nvPr/>
        </p:nvSpPr>
        <p:spPr>
          <a:xfrm>
            <a:off x="7465162"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Score every seller submission with the same engine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Check fit, 1P overlap &amp; price automatically</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Approve / review / reject queue that learns from curators</a:t>
            </a:r>
            <a:endParaRPr lang="en-US" sz="950" dirty="0"/>
          </a:p>
        </p:txBody>
      </p:sp>
      <p:sp>
        <p:nvSpPr>
          <p:cNvPr id="51" name="Shape 45"/>
          <p:cNvSpPr/>
          <p:nvPr/>
        </p:nvSpPr>
        <p:spPr>
          <a:xfrm>
            <a:off x="7446874" y="4517136"/>
            <a:ext cx="1936699" cy="566928"/>
          </a:xfrm>
          <a:prstGeom prst="roundRect">
            <a:avLst>
              <a:gd name="adj" fmla="val 9677"/>
            </a:avLst>
          </a:prstGeom>
          <a:solidFill>
            <a:srgbClr val="EEF3FB"/>
          </a:solidFill>
          <a:ln w="12700">
            <a:solidFill>
              <a:srgbClr val="EEF3FB"/>
            </a:solidFill>
            <a:prstDash val="solid"/>
          </a:ln>
        </p:spPr>
      </p:sp>
      <p:sp>
        <p:nvSpPr>
          <p:cNvPr id="52" name="Text 46"/>
          <p:cNvSpPr txBox="1"/>
          <p:nvPr/>
        </p:nvSpPr>
        <p:spPr>
          <a:xfrm>
            <a:off x="7520026"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53" name="Text 47"/>
          <p:cNvSpPr txBox="1"/>
          <p:nvPr/>
        </p:nvSpPr>
        <p:spPr>
          <a:xfrm>
            <a:off x="7520026"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Seller submissions · curator decisions</a:t>
            </a:r>
            <a:endParaRPr lang="en-US" sz="950" dirty="0"/>
          </a:p>
        </p:txBody>
      </p:sp>
      <p:sp>
        <p:nvSpPr>
          <p:cNvPr id="54" name="Shape 48"/>
          <p:cNvSpPr/>
          <p:nvPr/>
        </p:nvSpPr>
        <p:spPr>
          <a:xfrm>
            <a:off x="7446874" y="5157216"/>
            <a:ext cx="1936699" cy="676656"/>
          </a:xfrm>
          <a:prstGeom prst="roundRect">
            <a:avLst>
              <a:gd name="adj" fmla="val 8108"/>
            </a:avLst>
          </a:prstGeom>
          <a:solidFill>
            <a:srgbClr val="DCE7F8"/>
          </a:solidFill>
          <a:ln w="12700">
            <a:solidFill>
              <a:srgbClr val="DCE7F8"/>
            </a:solidFill>
            <a:prstDash val="solid"/>
          </a:ln>
        </p:spPr>
      </p:sp>
      <p:sp>
        <p:nvSpPr>
          <p:cNvPr id="55" name="Text 49"/>
          <p:cNvSpPr txBox="1"/>
          <p:nvPr/>
        </p:nvSpPr>
        <p:spPr>
          <a:xfrm>
            <a:off x="7520026"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6" name="Text 50"/>
          <p:cNvSpPr txBox="1"/>
          <p:nvPr/>
        </p:nvSpPr>
        <p:spPr>
          <a:xfrm>
            <a:off x="7520026"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Curation that scales beyond manual review</a:t>
            </a:r>
            <a:endParaRPr lang="en-US" sz="1050" dirty="0"/>
          </a:p>
        </p:txBody>
      </p:sp>
      <p:sp>
        <p:nvSpPr>
          <p:cNvPr id="57" name="Shape 51"/>
          <p:cNvSpPr/>
          <p:nvPr/>
        </p:nvSpPr>
        <p:spPr>
          <a:xfrm>
            <a:off x="9694469" y="1737360"/>
            <a:ext cx="2083003" cy="713232"/>
          </a:xfrm>
          <a:prstGeom prst="roundRect">
            <a:avLst>
              <a:gd name="adj" fmla="val 10256"/>
            </a:avLst>
          </a:prstGeom>
          <a:solidFill>
            <a:srgbClr val="13285B"/>
          </a:solidFill>
          <a:ln w="12700">
            <a:solidFill>
              <a:srgbClr val="13285B"/>
            </a:solidFill>
            <a:prstDash val="solid"/>
          </a:ln>
        </p:spPr>
      </p:sp>
      <p:pic>
        <p:nvPicPr>
          <p:cNvPr id="58" name="Image 4" descr="preencoded.png">    </p:cNvPr>
          <p:cNvPicPr>
            <a:picLocks noChangeAspect="1"/>
          </p:cNvPicPr>
          <p:nvPr/>
        </p:nvPicPr>
        <p:blipFill>
          <a:blip r:embed="rId5"/>
          <a:stretch>
            <a:fillRect/>
          </a:stretch>
        </p:blipFill>
        <p:spPr>
          <a:xfrm>
            <a:off x="9804197" y="1920240"/>
            <a:ext cx="347472" cy="347472"/>
          </a:xfrm>
          <a:prstGeom prst="rect">
            <a:avLst/>
          </a:prstGeom>
        </p:spPr>
      </p:pic>
      <p:sp>
        <p:nvSpPr>
          <p:cNvPr id="59" name="Text 52"/>
          <p:cNvSpPr txBox="1"/>
          <p:nvPr/>
        </p:nvSpPr>
        <p:spPr>
          <a:xfrm>
            <a:off x="10243109"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60" name="Text 53"/>
          <p:cNvSpPr txBox="1"/>
          <p:nvPr/>
        </p:nvSpPr>
        <p:spPr>
          <a:xfrm>
            <a:off x="10243109"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Market radar &amp; pilot tracking</a:t>
            </a:r>
            <a:endParaRPr lang="en-US" sz="1100" dirty="0"/>
          </a:p>
        </p:txBody>
      </p:sp>
      <p:sp>
        <p:nvSpPr>
          <p:cNvPr id="61" name="Shape 54"/>
          <p:cNvSpPr/>
          <p:nvPr/>
        </p:nvSpPr>
        <p:spPr>
          <a:xfrm>
            <a:off x="9694469" y="2505456"/>
            <a:ext cx="2083003" cy="3401568"/>
          </a:xfrm>
          <a:prstGeom prst="roundRect">
            <a:avLst>
              <a:gd name="adj" fmla="val 3512"/>
            </a:avLst>
          </a:prstGeom>
          <a:solidFill>
            <a:srgbClr val="FFFFFF"/>
          </a:solidFill>
          <a:ln w="9525">
            <a:solidFill>
              <a:srgbClr val="C9D3E3"/>
            </a:solidFill>
            <a:prstDash val="solid"/>
          </a:ln>
        </p:spPr>
      </p:sp>
      <p:sp>
        <p:nvSpPr>
          <p:cNvPr id="62" name="Text 55"/>
          <p:cNvSpPr txBox="1"/>
          <p:nvPr/>
        </p:nvSpPr>
        <p:spPr>
          <a:xfrm>
            <a:off x="9804197"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What changed, and what worked?</a:t>
            </a:r>
            <a:endParaRPr lang="en-US" sz="1000" dirty="0"/>
          </a:p>
        </p:txBody>
      </p:sp>
      <p:sp>
        <p:nvSpPr>
          <p:cNvPr id="63" name="Text 56"/>
          <p:cNvSpPr txBox="1"/>
          <p:nvPr/>
        </p:nvSpPr>
        <p:spPr>
          <a:xfrm>
            <a:off x="9785909"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Monthly re-crawls flag new &amp; closing gaps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Track listed picks' GMV, attach &amp; commission</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Compare with forecast; feed back into step 1</a:t>
            </a:r>
            <a:endParaRPr lang="en-US" sz="950" dirty="0"/>
          </a:p>
        </p:txBody>
      </p:sp>
      <p:sp>
        <p:nvSpPr>
          <p:cNvPr id="64" name="Shape 57"/>
          <p:cNvSpPr/>
          <p:nvPr/>
        </p:nvSpPr>
        <p:spPr>
          <a:xfrm>
            <a:off x="9767621" y="4517136"/>
            <a:ext cx="1936699" cy="566928"/>
          </a:xfrm>
          <a:prstGeom prst="roundRect">
            <a:avLst>
              <a:gd name="adj" fmla="val 9677"/>
            </a:avLst>
          </a:prstGeom>
          <a:solidFill>
            <a:srgbClr val="EEF3FB"/>
          </a:solidFill>
          <a:ln w="12700">
            <a:solidFill>
              <a:srgbClr val="EEF3FB"/>
            </a:solidFill>
            <a:prstDash val="solid"/>
          </a:ln>
        </p:spPr>
      </p:sp>
      <p:sp>
        <p:nvSpPr>
          <p:cNvPr id="65" name="Text 58"/>
          <p:cNvSpPr txBox="1"/>
          <p:nvPr/>
        </p:nvSpPr>
        <p:spPr>
          <a:xfrm>
            <a:off x="9840773"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66" name="Text 59"/>
          <p:cNvSpPr txBox="1"/>
          <p:nvPr/>
        </p:nvSpPr>
        <p:spPr>
          <a:xfrm>
            <a:off x="9840773"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pilot results (+ competitor crawls)</a:t>
            </a:r>
            <a:endParaRPr lang="en-US" sz="950" dirty="0"/>
          </a:p>
        </p:txBody>
      </p:sp>
      <p:sp>
        <p:nvSpPr>
          <p:cNvPr id="67" name="Shape 60"/>
          <p:cNvSpPr/>
          <p:nvPr/>
        </p:nvSpPr>
        <p:spPr>
          <a:xfrm>
            <a:off x="9767621" y="5157216"/>
            <a:ext cx="1936699" cy="676656"/>
          </a:xfrm>
          <a:prstGeom prst="roundRect">
            <a:avLst>
              <a:gd name="adj" fmla="val 8108"/>
            </a:avLst>
          </a:prstGeom>
          <a:solidFill>
            <a:srgbClr val="DCE7F8"/>
          </a:solidFill>
          <a:ln w="12700">
            <a:solidFill>
              <a:srgbClr val="DCE7F8"/>
            </a:solidFill>
            <a:prstDash val="solid"/>
          </a:ln>
        </p:spPr>
      </p:sp>
      <p:sp>
        <p:nvSpPr>
          <p:cNvPr id="68" name="Text 61"/>
          <p:cNvSpPr txBox="1"/>
          <p:nvPr/>
        </p:nvSpPr>
        <p:spPr>
          <a:xfrm>
            <a:off x="9840773"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9" name="Text 62"/>
          <p:cNvSpPr txBox="1"/>
          <p:nvPr/>
        </p:nvSpPr>
        <p:spPr>
          <a:xfrm>
            <a:off x="9840773"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Live gap list &amp; proven ROI</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Growth Paths for the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Beyond assortment gaps: </a:t>
            </a:r>
            <a:pPr algn="ctr" indent="0" marL="0">
              <a:buNone/>
            </a:pPr>
            <a:r>
              <a:rPr lang="en-US" sz="1150" b="1" dirty="0">
                <a:solidFill>
                  <a:srgbClr val="13285B"/>
                </a:solidFill>
                <a:latin typeface="Calibri" pitchFamily="34" charset="0"/>
                <a:ea typeface="Calibri" pitchFamily="34" charset="-122"/>
                <a:cs typeface="Calibri" pitchFamily="34" charset="-120"/>
              </a:rPr>
              <a:t>six more ways to grow</a:t>
            </a:r>
            <a:pPr algn="ctr" indent="0" marL="0">
              <a:buNone/>
            </a:pPr>
            <a:r>
              <a:rPr lang="en-US" sz="1150" dirty="0">
                <a:solidFill>
                  <a:srgbClr val="1F2937"/>
                </a:solidFill>
                <a:latin typeface="Calibri" pitchFamily="34" charset="0"/>
                <a:ea typeface="Calibri" pitchFamily="34" charset="-122"/>
                <a:cs typeface="Calibri" pitchFamily="34" charset="-120"/>
              </a:rPr>
              <a:t>, combining external signals with Staples data.</a:t>
            </a:r>
            <a:endParaRPr lang="en-US" sz="1200" dirty="0"/>
          </a:p>
        </p:txBody>
      </p:sp>
      <p:sp>
        <p:nvSpPr>
          <p:cNvPr id="5" name="Shape 3"/>
          <p:cNvSpPr/>
          <p:nvPr/>
        </p:nvSpPr>
        <p:spPr>
          <a:xfrm>
            <a:off x="411480" y="1554480"/>
            <a:ext cx="3630168" cy="384048"/>
          </a:xfrm>
          <a:prstGeom prst="roundRect">
            <a:avLst>
              <a:gd name="adj" fmla="val 19048"/>
            </a:avLst>
          </a:prstGeom>
          <a:solidFill>
            <a:srgbClr val="1F4E9A"/>
          </a:solidFill>
          <a:ln w="12700">
            <a:solidFill>
              <a:srgbClr val="1F4E9A"/>
            </a:solidFill>
            <a:prstDash val="solid"/>
          </a:ln>
        </p:spPr>
      </p:sp>
      <p:sp>
        <p:nvSpPr>
          <p:cNvPr id="6" name="Text 4"/>
          <p:cNvSpPr txBox="1"/>
          <p:nvPr/>
        </p:nvSpPr>
        <p:spPr>
          <a:xfrm>
            <a:off x="411480"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 · SENSE demand early</a:t>
            </a:r>
            <a:endParaRPr lang="en-US" sz="1300" dirty="0"/>
          </a:p>
        </p:txBody>
      </p:sp>
      <p:sp>
        <p:nvSpPr>
          <p:cNvPr id="7" name="Shape 5"/>
          <p:cNvSpPr/>
          <p:nvPr/>
        </p:nvSpPr>
        <p:spPr>
          <a:xfrm>
            <a:off x="4078224" y="1618488"/>
            <a:ext cx="164592" cy="256032"/>
          </a:xfrm>
          <a:prstGeom prst="rightArrow">
            <a:avLst/>
          </a:prstGeom>
          <a:solidFill>
            <a:srgbClr val="A9C3EE"/>
          </a:solidFill>
          <a:ln w="12700">
            <a:solidFill>
              <a:srgbClr val="A9C3EE"/>
            </a:solidFill>
            <a:prstDash val="solid"/>
          </a:ln>
        </p:spPr>
      </p:sp>
      <p:sp>
        <p:nvSpPr>
          <p:cNvPr id="8" name="Shape 6"/>
          <p:cNvSpPr/>
          <p:nvPr/>
        </p:nvSpPr>
        <p:spPr>
          <a:xfrm>
            <a:off x="411480"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9" name="Shape 7"/>
          <p:cNvSpPr/>
          <p:nvPr/>
        </p:nvSpPr>
        <p:spPr>
          <a:xfrm>
            <a:off x="539496" y="2176272"/>
            <a:ext cx="438912" cy="438912"/>
          </a:xfrm>
          <a:prstGeom prst="ellipse">
            <a:avLst/>
          </a:prstGeom>
          <a:solidFill>
            <a:srgbClr val="1F4E9A"/>
          </a:solidFill>
          <a:ln w="12700">
            <a:solidFill>
              <a:srgbClr val="1F4E9A"/>
            </a:solidFill>
            <a:prstDash val="solid"/>
          </a:ln>
        </p:spPr>
      </p:sp>
      <p:pic>
        <p:nvPicPr>
          <p:cNvPr id="10" name="Image 0" descr="preencoded.png">    </p:cNvPr>
          <p:cNvPicPr>
            <a:picLocks noChangeAspect="1"/>
          </p:cNvPicPr>
          <p:nvPr/>
        </p:nvPicPr>
        <p:blipFill>
          <a:blip r:embed="rId1"/>
          <a:stretch>
            <a:fillRect/>
          </a:stretch>
        </p:blipFill>
        <p:spPr>
          <a:xfrm>
            <a:off x="636057" y="2272833"/>
            <a:ext cx="245791" cy="245791"/>
          </a:xfrm>
          <a:prstGeom prst="rect">
            <a:avLst/>
          </a:prstGeom>
        </p:spPr>
      </p:pic>
      <p:sp>
        <p:nvSpPr>
          <p:cNvPr id="11" name="Text 8"/>
          <p:cNvSpPr txBox="1"/>
          <p:nvPr/>
        </p:nvSpPr>
        <p:spPr>
          <a:xfrm>
            <a:off x="1088136"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SEO &amp; search-intent gaps</a:t>
            </a:r>
            <a:endParaRPr lang="en-US" sz="1250" dirty="0"/>
          </a:p>
        </p:txBody>
      </p:sp>
      <p:sp>
        <p:nvSpPr>
          <p:cNvPr id="12" name="Text 9"/>
          <p:cNvSpPr txBox="1"/>
          <p:nvPr/>
        </p:nvSpPr>
        <p:spPr>
          <a:xfrm>
            <a:off x="1088136"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do shoppers search for but not find?</a:t>
            </a:r>
            <a:endParaRPr lang="en-US" sz="1000" dirty="0"/>
          </a:p>
        </p:txBody>
      </p:sp>
      <p:sp>
        <p:nvSpPr>
          <p:cNvPr id="13" name="Text 10"/>
          <p:cNvSpPr txBox="1"/>
          <p:nvPr/>
        </p:nvSpPr>
        <p:spPr>
          <a:xfrm>
            <a:off x="594360"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Map on-site searches &amp; SEO keywords to archetypes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Flag zero-result searches &amp; keywords rivals win</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seller recruiting &amp; product pages</a:t>
            </a:r>
            <a:endParaRPr lang="en-US" sz="1000" dirty="0"/>
          </a:p>
        </p:txBody>
      </p:sp>
      <p:sp>
        <p:nvSpPr>
          <p:cNvPr id="14" name="Shape 11"/>
          <p:cNvSpPr/>
          <p:nvPr/>
        </p:nvSpPr>
        <p:spPr>
          <a:xfrm>
            <a:off x="502920" y="3529584"/>
            <a:ext cx="3447288" cy="493776"/>
          </a:xfrm>
          <a:prstGeom prst="roundRect">
            <a:avLst>
              <a:gd name="adj" fmla="val 11111"/>
            </a:avLst>
          </a:prstGeom>
          <a:solidFill>
            <a:srgbClr val="EEF3FB"/>
          </a:solidFill>
          <a:ln w="12700">
            <a:solidFill>
              <a:srgbClr val="EEF3FB"/>
            </a:solidFill>
            <a:prstDash val="solid"/>
          </a:ln>
        </p:spPr>
      </p:sp>
      <p:sp>
        <p:nvSpPr>
          <p:cNvPr id="15" name="Text 12"/>
          <p:cNvSpPr txBox="1"/>
          <p:nvPr/>
        </p:nvSpPr>
        <p:spPr>
          <a:xfrm>
            <a:off x="594360"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16" name="Text 13"/>
          <p:cNvSpPr txBox="1"/>
          <p:nvPr/>
        </p:nvSpPr>
        <p:spPr>
          <a:xfrm>
            <a:off x="594360"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On-site search logs · SEO keywords</a:t>
            </a:r>
            <a:endParaRPr lang="en-US" sz="900" dirty="0"/>
          </a:p>
        </p:txBody>
      </p:sp>
      <p:sp>
        <p:nvSpPr>
          <p:cNvPr id="17" name="Text 14"/>
          <p:cNvSpPr txBox="1"/>
          <p:nvPr/>
        </p:nvSpPr>
        <p:spPr>
          <a:xfrm>
            <a:off x="2272284"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8" name="Text 15"/>
          <p:cNvSpPr txBox="1"/>
          <p:nvPr/>
        </p:nvSpPr>
        <p:spPr>
          <a:xfrm>
            <a:off x="2272284"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Existing traffic, converted</a:t>
            </a:r>
            <a:endParaRPr lang="en-US" sz="900" dirty="0"/>
          </a:p>
        </p:txBody>
      </p:sp>
      <p:sp>
        <p:nvSpPr>
          <p:cNvPr id="19" name="Shape 16"/>
          <p:cNvSpPr/>
          <p:nvPr/>
        </p:nvSpPr>
        <p:spPr>
          <a:xfrm>
            <a:off x="411480"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7"/>
          <p:cNvSpPr/>
          <p:nvPr/>
        </p:nvSpPr>
        <p:spPr>
          <a:xfrm>
            <a:off x="539496" y="4334256"/>
            <a:ext cx="438912" cy="438912"/>
          </a:xfrm>
          <a:prstGeom prst="ellipse">
            <a:avLst/>
          </a:prstGeom>
          <a:solidFill>
            <a:srgbClr val="1F4E9A"/>
          </a:solidFill>
          <a:ln w="12700">
            <a:solidFill>
              <a:srgbClr val="1F4E9A"/>
            </a:solidFill>
            <a:prstDash val="solid"/>
          </a:ln>
        </p:spPr>
      </p:sp>
      <p:pic>
        <p:nvPicPr>
          <p:cNvPr id="21" name="Image 1" descr="preencoded.png">    </p:cNvPr>
          <p:cNvPicPr>
            <a:picLocks noChangeAspect="1"/>
          </p:cNvPicPr>
          <p:nvPr/>
        </p:nvPicPr>
        <p:blipFill>
          <a:blip r:embed="rId2"/>
          <a:stretch>
            <a:fillRect/>
          </a:stretch>
        </p:blipFill>
        <p:spPr>
          <a:xfrm>
            <a:off x="636057" y="4430817"/>
            <a:ext cx="245791" cy="245791"/>
          </a:xfrm>
          <a:prstGeom prst="rect">
            <a:avLst/>
          </a:prstGeom>
        </p:spPr>
      </p:pic>
      <p:sp>
        <p:nvSpPr>
          <p:cNvPr id="22" name="Text 18"/>
          <p:cNvSpPr txBox="1"/>
          <p:nvPr/>
        </p:nvSpPr>
        <p:spPr>
          <a:xfrm>
            <a:off x="1088136"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Social media &amp; trend listening</a:t>
            </a:r>
            <a:endParaRPr lang="en-US" sz="1250" dirty="0"/>
          </a:p>
        </p:txBody>
      </p:sp>
      <p:sp>
        <p:nvSpPr>
          <p:cNvPr id="23" name="Text 19"/>
          <p:cNvSpPr txBox="1"/>
          <p:nvPr/>
        </p:nvSpPr>
        <p:spPr>
          <a:xfrm>
            <a:off x="1088136"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styles are taking off?</a:t>
            </a:r>
            <a:endParaRPr lang="en-US" sz="1000" dirty="0"/>
          </a:p>
        </p:txBody>
      </p:sp>
      <p:sp>
        <p:nvSpPr>
          <p:cNvPr id="24" name="Text 20"/>
          <p:cNvSpPr txBox="1"/>
          <p:nvPr/>
        </p:nvSpPr>
        <p:spPr>
          <a:xfrm>
            <a:off x="594360"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Track archetype mentions &amp; saves on TikTok, Pinterest, Reddit</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Google Trends; score growth &amp; sentiment</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Flag rising styles for Explore nodes</a:t>
            </a:r>
            <a:endParaRPr lang="en-US" sz="1000" dirty="0"/>
          </a:p>
        </p:txBody>
      </p:sp>
      <p:sp>
        <p:nvSpPr>
          <p:cNvPr id="25" name="Shape 21"/>
          <p:cNvSpPr/>
          <p:nvPr/>
        </p:nvSpPr>
        <p:spPr>
          <a:xfrm>
            <a:off x="502920" y="5687568"/>
            <a:ext cx="3447288" cy="493776"/>
          </a:xfrm>
          <a:prstGeom prst="roundRect">
            <a:avLst>
              <a:gd name="adj" fmla="val 11111"/>
            </a:avLst>
          </a:prstGeom>
          <a:solidFill>
            <a:srgbClr val="EEF3FB"/>
          </a:solidFill>
          <a:ln w="12700">
            <a:solidFill>
              <a:srgbClr val="EEF3FB"/>
            </a:solidFill>
            <a:prstDash val="solid"/>
          </a:ln>
        </p:spPr>
      </p:sp>
      <p:sp>
        <p:nvSpPr>
          <p:cNvPr id="26" name="Text 22"/>
          <p:cNvSpPr txBox="1"/>
          <p:nvPr/>
        </p:nvSpPr>
        <p:spPr>
          <a:xfrm>
            <a:off x="594360"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27" name="Text 23"/>
          <p:cNvSpPr txBox="1"/>
          <p:nvPr/>
        </p:nvSpPr>
        <p:spPr>
          <a:xfrm>
            <a:off x="594360"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Social &amp; trend data + Staples sales</a:t>
            </a:r>
            <a:endParaRPr lang="en-US" sz="900" dirty="0"/>
          </a:p>
        </p:txBody>
      </p:sp>
      <p:sp>
        <p:nvSpPr>
          <p:cNvPr id="28" name="Text 24"/>
          <p:cNvSpPr txBox="1"/>
          <p:nvPr/>
        </p:nvSpPr>
        <p:spPr>
          <a:xfrm>
            <a:off x="2272284"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9" name="Text 25"/>
          <p:cNvSpPr txBox="1"/>
          <p:nvPr/>
        </p:nvSpPr>
        <p:spPr>
          <a:xfrm>
            <a:off x="2272284"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Spot the next "White Chair" early</a:t>
            </a:r>
            <a:endParaRPr lang="en-US" sz="900" dirty="0"/>
          </a:p>
        </p:txBody>
      </p:sp>
      <p:sp>
        <p:nvSpPr>
          <p:cNvPr id="30" name="Shape 26"/>
          <p:cNvSpPr/>
          <p:nvPr/>
        </p:nvSpPr>
        <p:spPr>
          <a:xfrm>
            <a:off x="4279392" y="1554480"/>
            <a:ext cx="3630168" cy="384048"/>
          </a:xfrm>
          <a:prstGeom prst="roundRect">
            <a:avLst>
              <a:gd name="adj" fmla="val 19048"/>
            </a:avLst>
          </a:prstGeom>
          <a:solidFill>
            <a:srgbClr val="2F6FD0"/>
          </a:solidFill>
          <a:ln w="12700">
            <a:solidFill>
              <a:srgbClr val="2F6FD0"/>
            </a:solidFill>
            <a:prstDash val="solid"/>
          </a:ln>
        </p:spPr>
      </p:sp>
      <p:sp>
        <p:nvSpPr>
          <p:cNvPr id="31" name="Text 27"/>
          <p:cNvSpPr txBox="1"/>
          <p:nvPr/>
        </p:nvSpPr>
        <p:spPr>
          <a:xfrm>
            <a:off x="4279392"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 · SIZE &amp; VALIDATE</a:t>
            </a:r>
            <a:endParaRPr lang="en-US" sz="1300" dirty="0"/>
          </a:p>
        </p:txBody>
      </p:sp>
      <p:sp>
        <p:nvSpPr>
          <p:cNvPr id="32" name="Shape 28"/>
          <p:cNvSpPr/>
          <p:nvPr/>
        </p:nvSpPr>
        <p:spPr>
          <a:xfrm>
            <a:off x="7946136" y="1618488"/>
            <a:ext cx="164592" cy="256032"/>
          </a:xfrm>
          <a:prstGeom prst="rightArrow">
            <a:avLst/>
          </a:prstGeom>
          <a:solidFill>
            <a:srgbClr val="A9C3EE"/>
          </a:solidFill>
          <a:ln w="12700">
            <a:solidFill>
              <a:srgbClr val="A9C3EE"/>
            </a:solidFill>
            <a:prstDash val="solid"/>
          </a:ln>
        </p:spPr>
      </p:sp>
      <p:sp>
        <p:nvSpPr>
          <p:cNvPr id="33" name="Shape 29"/>
          <p:cNvSpPr/>
          <p:nvPr/>
        </p:nvSpPr>
        <p:spPr>
          <a:xfrm>
            <a:off x="4279392"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4407408" y="2176272"/>
            <a:ext cx="438912" cy="438912"/>
          </a:xfrm>
          <a:prstGeom prst="ellipse">
            <a:avLst/>
          </a:prstGeom>
          <a:solidFill>
            <a:srgbClr val="2F6FD0"/>
          </a:solidFill>
          <a:ln w="12700">
            <a:solidFill>
              <a:srgbClr val="2F6FD0"/>
            </a:solidFill>
            <a:prstDash val="solid"/>
          </a:ln>
        </p:spPr>
      </p:sp>
      <p:pic>
        <p:nvPicPr>
          <p:cNvPr id="35" name="Image 2" descr="preencoded.png">    </p:cNvPr>
          <p:cNvPicPr>
            <a:picLocks noChangeAspect="1"/>
          </p:cNvPicPr>
          <p:nvPr/>
        </p:nvPicPr>
        <p:blipFill>
          <a:blip r:embed="rId3"/>
          <a:stretch>
            <a:fillRect/>
          </a:stretch>
        </p:blipFill>
        <p:spPr>
          <a:xfrm>
            <a:off x="4503969" y="2272833"/>
            <a:ext cx="245791" cy="245791"/>
          </a:xfrm>
          <a:prstGeom prst="rect">
            <a:avLst/>
          </a:prstGeom>
        </p:spPr>
      </p:pic>
      <p:sp>
        <p:nvSpPr>
          <p:cNvPr id="36" name="Text 31"/>
          <p:cNvSpPr txBox="1"/>
          <p:nvPr/>
        </p:nvSpPr>
        <p:spPr>
          <a:xfrm>
            <a:off x="4956048"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Market research &amp; customer surveys</a:t>
            </a:r>
            <a:endParaRPr lang="en-US" sz="1250" dirty="0"/>
          </a:p>
        </p:txBody>
      </p:sp>
      <p:sp>
        <p:nvSpPr>
          <p:cNvPr id="37" name="Text 32"/>
          <p:cNvSpPr txBox="1"/>
          <p:nvPr/>
        </p:nvSpPr>
        <p:spPr>
          <a:xfrm>
            <a:off x="4956048"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do Staples customers actually want?</a:t>
            </a:r>
            <a:endParaRPr lang="en-US" sz="1000" dirty="0"/>
          </a:p>
        </p:txBody>
      </p:sp>
      <p:sp>
        <p:nvSpPr>
          <p:cNvPr id="38" name="Text 33"/>
          <p:cNvSpPr txBox="1"/>
          <p:nvPr/>
        </p:nvSpPr>
        <p:spPr>
          <a:xfrm>
            <a:off x="4462272"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Survey B2B &amp; B2C customers on needs, style &amp; price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Concept-test the top archetypes with images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results into the prioritisation weights</a:t>
            </a:r>
            <a:endParaRPr lang="en-US" sz="1000" dirty="0"/>
          </a:p>
        </p:txBody>
      </p:sp>
      <p:sp>
        <p:nvSpPr>
          <p:cNvPr id="39" name="Shape 34"/>
          <p:cNvSpPr/>
          <p:nvPr/>
        </p:nvSpPr>
        <p:spPr>
          <a:xfrm>
            <a:off x="4370832" y="3529584"/>
            <a:ext cx="3447288" cy="493776"/>
          </a:xfrm>
          <a:prstGeom prst="roundRect">
            <a:avLst>
              <a:gd name="adj" fmla="val 11111"/>
            </a:avLst>
          </a:prstGeom>
          <a:solidFill>
            <a:srgbClr val="EEF3FB"/>
          </a:solidFill>
          <a:ln w="12700">
            <a:solidFill>
              <a:srgbClr val="EEF3FB"/>
            </a:solidFill>
            <a:prstDash val="solid"/>
          </a:ln>
        </p:spPr>
      </p:sp>
      <p:sp>
        <p:nvSpPr>
          <p:cNvPr id="40" name="Text 35"/>
          <p:cNvSpPr txBox="1"/>
          <p:nvPr/>
        </p:nvSpPr>
        <p:spPr>
          <a:xfrm>
            <a:off x="4462272"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41" name="Text 36"/>
          <p:cNvSpPr txBox="1"/>
          <p:nvPr/>
        </p:nvSpPr>
        <p:spPr>
          <a:xfrm>
            <a:off x="4462272"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Customer panel · email base</a:t>
            </a:r>
            <a:endParaRPr lang="en-US" sz="900" dirty="0"/>
          </a:p>
        </p:txBody>
      </p:sp>
      <p:sp>
        <p:nvSpPr>
          <p:cNvPr id="42" name="Text 37"/>
          <p:cNvSpPr txBox="1"/>
          <p:nvPr/>
        </p:nvSpPr>
        <p:spPr>
          <a:xfrm>
            <a:off x="6140196"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6140196"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Picks validated by Staples' own customers</a:t>
            </a:r>
            <a:endParaRPr lang="en-US" sz="900" dirty="0"/>
          </a:p>
        </p:txBody>
      </p:sp>
      <p:sp>
        <p:nvSpPr>
          <p:cNvPr id="44" name="Shape 39"/>
          <p:cNvSpPr/>
          <p:nvPr/>
        </p:nvSpPr>
        <p:spPr>
          <a:xfrm>
            <a:off x="4279392"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5" name="Shape 40"/>
          <p:cNvSpPr/>
          <p:nvPr/>
        </p:nvSpPr>
        <p:spPr>
          <a:xfrm>
            <a:off x="4407408" y="4334256"/>
            <a:ext cx="438912" cy="438912"/>
          </a:xfrm>
          <a:prstGeom prst="ellipse">
            <a:avLst/>
          </a:prstGeom>
          <a:solidFill>
            <a:srgbClr val="2F6FD0"/>
          </a:solidFill>
          <a:ln w="12700">
            <a:solidFill>
              <a:srgbClr val="2F6FD0"/>
            </a:solidFill>
            <a:prstDash val="solid"/>
          </a:ln>
        </p:spPr>
      </p:sp>
      <p:pic>
        <p:nvPicPr>
          <p:cNvPr id="46" name="Image 3" descr="preencoded.png">    </p:cNvPr>
          <p:cNvPicPr>
            <a:picLocks noChangeAspect="1"/>
          </p:cNvPicPr>
          <p:nvPr/>
        </p:nvPicPr>
        <p:blipFill>
          <a:blip r:embed="rId4"/>
          <a:stretch>
            <a:fillRect/>
          </a:stretch>
        </p:blipFill>
        <p:spPr>
          <a:xfrm>
            <a:off x="4503969" y="4430817"/>
            <a:ext cx="245791" cy="245791"/>
          </a:xfrm>
          <a:prstGeom prst="rect">
            <a:avLst/>
          </a:prstGeom>
        </p:spPr>
      </p:pic>
      <p:sp>
        <p:nvSpPr>
          <p:cNvPr id="47" name="Text 41"/>
          <p:cNvSpPr txBox="1"/>
          <p:nvPr/>
        </p:nvSpPr>
        <p:spPr>
          <a:xfrm>
            <a:off x="4956048"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Demand forecasting</a:t>
            </a:r>
            <a:endParaRPr lang="en-US" sz="1250" dirty="0"/>
          </a:p>
        </p:txBody>
      </p:sp>
      <p:sp>
        <p:nvSpPr>
          <p:cNvPr id="48" name="Text 42"/>
          <p:cNvSpPr txBox="1"/>
          <p:nvPr/>
        </p:nvSpPr>
        <p:spPr>
          <a:xfrm>
            <a:off x="4956048"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How much will each archetype sell?</a:t>
            </a:r>
            <a:endParaRPr lang="en-US" sz="1000" dirty="0"/>
          </a:p>
        </p:txBody>
      </p:sp>
      <p:sp>
        <p:nvSpPr>
          <p:cNvPr id="49" name="Text 43"/>
          <p:cNvSpPr txBox="1"/>
          <p:nvPr/>
        </p:nvSpPr>
        <p:spPr>
          <a:xfrm>
            <a:off x="4462272"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Forecast demand per node &amp; archetype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seasonality (Back-to-School) &amp; trend signals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GMV &amp; commission before listing</a:t>
            </a:r>
            <a:endParaRPr lang="en-US" sz="1000" dirty="0"/>
          </a:p>
        </p:txBody>
      </p:sp>
      <p:sp>
        <p:nvSpPr>
          <p:cNvPr id="50" name="Shape 44"/>
          <p:cNvSpPr/>
          <p:nvPr/>
        </p:nvSpPr>
        <p:spPr>
          <a:xfrm>
            <a:off x="4370832" y="5687568"/>
            <a:ext cx="3447288" cy="493776"/>
          </a:xfrm>
          <a:prstGeom prst="roundRect">
            <a:avLst>
              <a:gd name="adj" fmla="val 11111"/>
            </a:avLst>
          </a:prstGeom>
          <a:solidFill>
            <a:srgbClr val="EEF3FB"/>
          </a:solidFill>
          <a:ln w="12700">
            <a:solidFill>
              <a:srgbClr val="EEF3FB"/>
            </a:solidFill>
            <a:prstDash val="solid"/>
          </a:ln>
        </p:spPr>
      </p:sp>
      <p:sp>
        <p:nvSpPr>
          <p:cNvPr id="51" name="Text 45"/>
          <p:cNvSpPr txBox="1"/>
          <p:nvPr/>
        </p:nvSpPr>
        <p:spPr>
          <a:xfrm>
            <a:off x="4462272"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52" name="Text 46"/>
          <p:cNvSpPr txBox="1"/>
          <p:nvPr/>
        </p:nvSpPr>
        <p:spPr>
          <a:xfrm>
            <a:off x="4462272"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Sales history + trend signals</a:t>
            </a:r>
            <a:endParaRPr lang="en-US" sz="900" dirty="0"/>
          </a:p>
        </p:txBody>
      </p:sp>
      <p:sp>
        <p:nvSpPr>
          <p:cNvPr id="53" name="Text 47"/>
          <p:cNvSpPr txBox="1"/>
          <p:nvPr/>
        </p:nvSpPr>
        <p:spPr>
          <a:xfrm>
            <a:off x="6140196"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4" name="Text 48"/>
          <p:cNvSpPr txBox="1"/>
          <p:nvPr/>
        </p:nvSpPr>
        <p:spPr>
          <a:xfrm>
            <a:off x="6140196"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Supply in place before the season</a:t>
            </a:r>
            <a:endParaRPr lang="en-US" sz="900" dirty="0"/>
          </a:p>
        </p:txBody>
      </p:sp>
      <p:sp>
        <p:nvSpPr>
          <p:cNvPr id="55" name="Shape 49"/>
          <p:cNvSpPr/>
          <p:nvPr/>
        </p:nvSpPr>
        <p:spPr>
          <a:xfrm>
            <a:off x="8147304" y="1554480"/>
            <a:ext cx="3630168" cy="384048"/>
          </a:xfrm>
          <a:prstGeom prst="roundRect">
            <a:avLst>
              <a:gd name="adj" fmla="val 19048"/>
            </a:avLst>
          </a:prstGeom>
          <a:solidFill>
            <a:srgbClr val="13285B"/>
          </a:solidFill>
          <a:ln w="12700">
            <a:solidFill>
              <a:srgbClr val="13285B"/>
            </a:solidFill>
            <a:prstDash val="solid"/>
          </a:ln>
        </p:spPr>
      </p:sp>
      <p:sp>
        <p:nvSpPr>
          <p:cNvPr id="56" name="Text 50"/>
          <p:cNvSpPr txBox="1"/>
          <p:nvPr/>
        </p:nvSpPr>
        <p:spPr>
          <a:xfrm>
            <a:off x="8147304"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 · ACT on basket &amp; catalog</a:t>
            </a:r>
            <a:endParaRPr lang="en-US" sz="1300" dirty="0"/>
          </a:p>
        </p:txBody>
      </p:sp>
      <p:sp>
        <p:nvSpPr>
          <p:cNvPr id="57" name="Shape 51"/>
          <p:cNvSpPr/>
          <p:nvPr/>
        </p:nvSpPr>
        <p:spPr>
          <a:xfrm>
            <a:off x="8147304"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58" name="Shape 52"/>
          <p:cNvSpPr/>
          <p:nvPr/>
        </p:nvSpPr>
        <p:spPr>
          <a:xfrm>
            <a:off x="8275320" y="2176272"/>
            <a:ext cx="438912" cy="438912"/>
          </a:xfrm>
          <a:prstGeom prst="ellipse">
            <a:avLst/>
          </a:prstGeom>
          <a:solidFill>
            <a:srgbClr val="13285B"/>
          </a:solidFill>
          <a:ln w="12700">
            <a:solidFill>
              <a:srgbClr val="13285B"/>
            </a:solidFill>
            <a:prstDash val="solid"/>
          </a:ln>
        </p:spPr>
      </p:sp>
      <p:pic>
        <p:nvPicPr>
          <p:cNvPr id="59" name="Image 4" descr="preencoded.png">    </p:cNvPr>
          <p:cNvPicPr>
            <a:picLocks noChangeAspect="1"/>
          </p:cNvPicPr>
          <p:nvPr/>
        </p:nvPicPr>
        <p:blipFill>
          <a:blip r:embed="rId5"/>
          <a:stretch>
            <a:fillRect/>
          </a:stretch>
        </p:blipFill>
        <p:spPr>
          <a:xfrm>
            <a:off x="8371881" y="2272833"/>
            <a:ext cx="245791" cy="245791"/>
          </a:xfrm>
          <a:prstGeom prst="rect">
            <a:avLst/>
          </a:prstGeom>
        </p:spPr>
      </p:pic>
      <p:sp>
        <p:nvSpPr>
          <p:cNvPr id="60" name="Text 53"/>
          <p:cNvSpPr txBox="1"/>
          <p:nvPr/>
        </p:nvSpPr>
        <p:spPr>
          <a:xfrm>
            <a:off x="8823960"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New-category whitespace</a:t>
            </a:r>
            <a:endParaRPr lang="en-US" sz="1250" dirty="0"/>
          </a:p>
        </p:txBody>
      </p:sp>
      <p:sp>
        <p:nvSpPr>
          <p:cNvPr id="61" name="Text 54"/>
          <p:cNvSpPr txBox="1"/>
          <p:nvPr/>
        </p:nvSpPr>
        <p:spPr>
          <a:xfrm>
            <a:off x="8823960"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new categories are worth opening?</a:t>
            </a:r>
            <a:endParaRPr lang="en-US" sz="1000" dirty="0"/>
          </a:p>
        </p:txBody>
      </p:sp>
      <p:sp>
        <p:nvSpPr>
          <p:cNvPr id="62" name="Text 55"/>
          <p:cNvSpPr txBox="1"/>
          <p:nvPr/>
        </p:nvSpPr>
        <p:spPr>
          <a:xfrm>
            <a:off x="8330184"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Start from the 8.4K competitor products outside the 12 nodes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adjacent verticals, e.g. facility supplies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with forecasting &amp; research; open the best</a:t>
            </a:r>
            <a:endParaRPr lang="en-US" sz="1000" dirty="0"/>
          </a:p>
        </p:txBody>
      </p:sp>
      <p:sp>
        <p:nvSpPr>
          <p:cNvPr id="63" name="Shape 56"/>
          <p:cNvSpPr/>
          <p:nvPr/>
        </p:nvSpPr>
        <p:spPr>
          <a:xfrm>
            <a:off x="8238744" y="3529584"/>
            <a:ext cx="3447288" cy="493776"/>
          </a:xfrm>
          <a:prstGeom prst="roundRect">
            <a:avLst>
              <a:gd name="adj" fmla="val 11111"/>
            </a:avLst>
          </a:prstGeom>
          <a:solidFill>
            <a:srgbClr val="EEF3FB"/>
          </a:solidFill>
          <a:ln w="12700">
            <a:solidFill>
              <a:srgbClr val="EEF3FB"/>
            </a:solidFill>
            <a:prstDash val="solid"/>
          </a:ln>
        </p:spPr>
      </p:sp>
      <p:sp>
        <p:nvSpPr>
          <p:cNvPr id="64" name="Text 57"/>
          <p:cNvSpPr txBox="1"/>
          <p:nvPr/>
        </p:nvSpPr>
        <p:spPr>
          <a:xfrm>
            <a:off x="8330184"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65" name="Text 58"/>
          <p:cNvSpPr txBox="1"/>
          <p:nvPr/>
        </p:nvSpPr>
        <p:spPr>
          <a:xfrm>
            <a:off x="8330184"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PoC backlog + sales &amp; search</a:t>
            </a:r>
            <a:endParaRPr lang="en-US" sz="900" dirty="0"/>
          </a:p>
        </p:txBody>
      </p:sp>
      <p:sp>
        <p:nvSpPr>
          <p:cNvPr id="66" name="Text 59"/>
          <p:cNvSpPr txBox="1"/>
          <p:nvPr/>
        </p:nvSpPr>
        <p:spPr>
          <a:xfrm>
            <a:off x="10008108"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7" name="Text 60"/>
          <p:cNvSpPr txBox="1"/>
          <p:nvPr/>
        </p:nvSpPr>
        <p:spPr>
          <a:xfrm>
            <a:off x="10008108"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Evidence-backed new categories</a:t>
            </a:r>
            <a:endParaRPr lang="en-US" sz="900" dirty="0"/>
          </a:p>
        </p:txBody>
      </p:sp>
      <p:sp>
        <p:nvSpPr>
          <p:cNvPr id="68" name="Shape 61"/>
          <p:cNvSpPr/>
          <p:nvPr/>
        </p:nvSpPr>
        <p:spPr>
          <a:xfrm>
            <a:off x="8147304"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69" name="Shape 62"/>
          <p:cNvSpPr/>
          <p:nvPr/>
        </p:nvSpPr>
        <p:spPr>
          <a:xfrm>
            <a:off x="8275320" y="4334256"/>
            <a:ext cx="438912" cy="438912"/>
          </a:xfrm>
          <a:prstGeom prst="ellipse">
            <a:avLst/>
          </a:prstGeom>
          <a:solidFill>
            <a:srgbClr val="13285B"/>
          </a:solidFill>
          <a:ln w="12700">
            <a:solidFill>
              <a:srgbClr val="13285B"/>
            </a:solidFill>
            <a:prstDash val="solid"/>
          </a:ln>
        </p:spPr>
      </p:sp>
      <p:pic>
        <p:nvPicPr>
          <p:cNvPr id="70" name="Image 5" descr="preencoded.png">    </p:cNvPr>
          <p:cNvPicPr>
            <a:picLocks noChangeAspect="1"/>
          </p:cNvPicPr>
          <p:nvPr/>
        </p:nvPicPr>
        <p:blipFill>
          <a:blip r:embed="rId6"/>
          <a:stretch>
            <a:fillRect/>
          </a:stretch>
        </p:blipFill>
        <p:spPr>
          <a:xfrm>
            <a:off x="8371881" y="4430817"/>
            <a:ext cx="245791" cy="245791"/>
          </a:xfrm>
          <a:prstGeom prst="rect">
            <a:avLst/>
          </a:prstGeom>
        </p:spPr>
      </p:pic>
      <p:sp>
        <p:nvSpPr>
          <p:cNvPr id="71" name="Text 63"/>
          <p:cNvSpPr txBox="1"/>
          <p:nvPr/>
        </p:nvSpPr>
        <p:spPr>
          <a:xfrm>
            <a:off x="8823960"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Basket completion &amp; Back-to-School kits</a:t>
            </a:r>
            <a:endParaRPr lang="en-US" sz="1250" dirty="0"/>
          </a:p>
        </p:txBody>
      </p:sp>
      <p:sp>
        <p:nvSpPr>
          <p:cNvPr id="72" name="Text 64"/>
          <p:cNvSpPr txBox="1"/>
          <p:nvPr/>
        </p:nvSpPr>
        <p:spPr>
          <a:xfrm>
            <a:off x="8823960"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item would complete the basket?</a:t>
            </a:r>
            <a:endParaRPr lang="en-US" sz="1000" dirty="0"/>
          </a:p>
        </p:txBody>
      </p:sp>
      <p:sp>
        <p:nvSpPr>
          <p:cNvPr id="73" name="Text 65"/>
          <p:cNvSpPr txBox="1"/>
          <p:nvPr/>
        </p:nvSpPr>
        <p:spPr>
          <a:xfrm>
            <a:off x="8330184"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Market-basket analysis on transactions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Find missing complements &amp; seasonal kits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Recruit sellers for 1–2 attach items per order</a:t>
            </a:r>
            <a:endParaRPr lang="en-US" sz="1000" dirty="0"/>
          </a:p>
        </p:txBody>
      </p:sp>
      <p:sp>
        <p:nvSpPr>
          <p:cNvPr id="74" name="Shape 66"/>
          <p:cNvSpPr/>
          <p:nvPr/>
        </p:nvSpPr>
        <p:spPr>
          <a:xfrm>
            <a:off x="8238744" y="5687568"/>
            <a:ext cx="3447288" cy="493776"/>
          </a:xfrm>
          <a:prstGeom prst="roundRect">
            <a:avLst>
              <a:gd name="adj" fmla="val 11111"/>
            </a:avLst>
          </a:prstGeom>
          <a:solidFill>
            <a:srgbClr val="EEF3FB"/>
          </a:solidFill>
          <a:ln w="12700">
            <a:solidFill>
              <a:srgbClr val="EEF3FB"/>
            </a:solidFill>
            <a:prstDash val="solid"/>
          </a:ln>
        </p:spPr>
      </p:sp>
      <p:sp>
        <p:nvSpPr>
          <p:cNvPr id="75" name="Text 67"/>
          <p:cNvSpPr txBox="1"/>
          <p:nvPr/>
        </p:nvSpPr>
        <p:spPr>
          <a:xfrm>
            <a:off x="8330184"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76" name="Text 68"/>
          <p:cNvSpPr txBox="1"/>
          <p:nvPr/>
        </p:nvSpPr>
        <p:spPr>
          <a:xfrm>
            <a:off x="8330184"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Transactions</a:t>
            </a:r>
            <a:endParaRPr lang="en-US" sz="900" dirty="0"/>
          </a:p>
        </p:txBody>
      </p:sp>
      <p:sp>
        <p:nvSpPr>
          <p:cNvPr id="77" name="Text 69"/>
          <p:cNvSpPr txBox="1"/>
          <p:nvPr/>
        </p:nvSpPr>
        <p:spPr>
          <a:xfrm>
            <a:off x="10008108"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78" name="Text 70"/>
          <p:cNvSpPr txBox="1"/>
          <p:nvPr/>
        </p:nvSpPr>
        <p:spPr>
          <a:xfrm>
            <a:off x="10008108"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Bigger baskets, new commission</a:t>
            </a:r>
            <a:endParaRPr lang="en-US" sz="9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Solution Architecture: From Listings to Safe Recommendations</a:t>
            </a:r>
            <a:endParaRPr lang="en-US" sz="2800" dirty="0"/>
          </a:p>
        </p:txBody>
      </p:sp>
      <p:sp>
        <p:nvSpPr>
          <p:cNvPr id="3" name="Shape 1"/>
          <p:cNvSpPr/>
          <p:nvPr/>
        </p:nvSpPr>
        <p:spPr>
          <a:xfrm>
            <a:off x="411480" y="1170432"/>
            <a:ext cx="2066544" cy="548640"/>
          </a:xfrm>
          <a:prstGeom prst="homePlate">
            <a:avLst/>
          </a:prstGeom>
          <a:solidFill>
            <a:srgbClr val="DCE7F8"/>
          </a:solidFill>
          <a:ln w="12700">
            <a:solidFill>
              <a:srgbClr val="FFFFFF"/>
            </a:solidFill>
            <a:prstDash val="solid"/>
          </a:ln>
        </p:spPr>
      </p:sp>
      <p:sp>
        <p:nvSpPr>
          <p:cNvPr id="4" name="Text 2"/>
          <p:cNvSpPr txBox="1"/>
          <p:nvPr/>
        </p:nvSpPr>
        <p:spPr>
          <a:xfrm>
            <a:off x="502920" y="1170432"/>
            <a:ext cx="170078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Data Acquisition</a:t>
            </a:r>
            <a:endParaRPr lang="en-US" sz="1250" dirty="0"/>
          </a:p>
        </p:txBody>
      </p:sp>
      <p:sp>
        <p:nvSpPr>
          <p:cNvPr id="5" name="Shape 3"/>
          <p:cNvSpPr/>
          <p:nvPr/>
        </p:nvSpPr>
        <p:spPr>
          <a:xfrm>
            <a:off x="411480" y="1874520"/>
            <a:ext cx="1737360" cy="4251960"/>
          </a:xfrm>
          <a:prstGeom prst="roundRect">
            <a:avLst>
              <a:gd name="adj" fmla="val 4211"/>
            </a:avLst>
          </a:prstGeom>
          <a:solidFill>
            <a:srgbClr val="FFFFFF"/>
          </a:solidFill>
          <a:ln w="6350">
            <a:solidFill>
              <a:srgbClr val="D3DDEE"/>
            </a:solidFill>
            <a:prstDash val="solid"/>
          </a:ln>
        </p:spPr>
      </p:sp>
      <p:pic>
        <p:nvPicPr>
          <p:cNvPr id="6" name="Image 0" descr="preencoded.png">    </p:cNvPr>
          <p:cNvPicPr>
            <a:picLocks noChangeAspect="1"/>
          </p:cNvPicPr>
          <p:nvPr/>
        </p:nvPicPr>
        <p:blipFill>
          <a:blip r:embed="rId1"/>
          <a:stretch>
            <a:fillRect/>
          </a:stretch>
        </p:blipFill>
        <p:spPr>
          <a:xfrm>
            <a:off x="1051560" y="2148840"/>
            <a:ext cx="457200" cy="457200"/>
          </a:xfrm>
          <a:prstGeom prst="rect">
            <a:avLst/>
          </a:prstGeom>
        </p:spPr>
      </p:pic>
      <p:sp>
        <p:nvSpPr>
          <p:cNvPr id="7" name="Text 4"/>
          <p:cNvSpPr txBox="1"/>
          <p:nvPr/>
        </p:nvSpPr>
        <p:spPr>
          <a:xfrm>
            <a:off x="484632"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Staples.com</a:t>
            </a:r>
            <a:endParaRPr lang="en-US" sz="1150" dirty="0"/>
          </a:p>
        </p:txBody>
      </p:sp>
      <p:sp>
        <p:nvSpPr>
          <p:cNvPr id="8" name="Text 5"/>
          <p:cNvSpPr txBox="1"/>
          <p:nvPr/>
        </p:nvSpPr>
        <p:spPr>
          <a:xfrm>
            <a:off x="484632"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4.9K SKUs · 12 nodes</a:t>
            </a:r>
            <a:endParaRPr lang="en-US" sz="950" dirty="0"/>
          </a:p>
        </p:txBody>
      </p:sp>
      <p:pic>
        <p:nvPicPr>
          <p:cNvPr id="9" name="Image 1" descr="preencoded.png">    </p:cNvPr>
          <p:cNvPicPr>
            <a:picLocks noChangeAspect="1"/>
          </p:cNvPicPr>
          <p:nvPr/>
        </p:nvPicPr>
        <p:blipFill>
          <a:blip r:embed="rId2"/>
          <a:stretch>
            <a:fillRect/>
          </a:stretch>
        </p:blipFill>
        <p:spPr>
          <a:xfrm>
            <a:off x="1051560" y="3502152"/>
            <a:ext cx="457200" cy="457200"/>
          </a:xfrm>
          <a:prstGeom prst="rect">
            <a:avLst/>
          </a:prstGeom>
        </p:spPr>
      </p:pic>
      <p:sp>
        <p:nvSpPr>
          <p:cNvPr id="10" name="Text 6"/>
          <p:cNvSpPr txBox="1"/>
          <p:nvPr/>
        </p:nvSpPr>
        <p:spPr>
          <a:xfrm>
            <a:off x="484632"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Amazon</a:t>
            </a:r>
            <a:endParaRPr lang="en-US" sz="1150" dirty="0"/>
          </a:p>
        </p:txBody>
      </p:sp>
      <p:sp>
        <p:nvSpPr>
          <p:cNvPr id="11" name="Text 7"/>
          <p:cNvSpPr txBox="1"/>
          <p:nvPr/>
        </p:nvSpPr>
        <p:spPr>
          <a:xfrm>
            <a:off x="484632"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14.6K SKUs · 7 nodes</a:t>
            </a:r>
            <a:endParaRPr lang="en-US" sz="950" dirty="0"/>
          </a:p>
        </p:txBody>
      </p:sp>
      <p:pic>
        <p:nvPicPr>
          <p:cNvPr id="12" name="Image 2" descr="preencoded.png">    </p:cNvPr>
          <p:cNvPicPr>
            <a:picLocks noChangeAspect="1"/>
          </p:cNvPicPr>
          <p:nvPr/>
        </p:nvPicPr>
        <p:blipFill>
          <a:blip r:embed="rId3"/>
          <a:stretch>
            <a:fillRect/>
          </a:stretch>
        </p:blipFill>
        <p:spPr>
          <a:xfrm>
            <a:off x="1051560" y="4855464"/>
            <a:ext cx="457200" cy="457200"/>
          </a:xfrm>
          <a:prstGeom prst="rect">
            <a:avLst/>
          </a:prstGeom>
        </p:spPr>
      </p:pic>
      <p:sp>
        <p:nvSpPr>
          <p:cNvPr id="13" name="Text 8"/>
          <p:cNvSpPr txBox="1"/>
          <p:nvPr/>
        </p:nvSpPr>
        <p:spPr>
          <a:xfrm>
            <a:off x="484632"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Wayfair</a:t>
            </a:r>
            <a:endParaRPr lang="en-US" sz="1150" dirty="0"/>
          </a:p>
        </p:txBody>
      </p:sp>
      <p:sp>
        <p:nvSpPr>
          <p:cNvPr id="14" name="Text 9"/>
          <p:cNvSpPr txBox="1"/>
          <p:nvPr/>
        </p:nvSpPr>
        <p:spPr>
          <a:xfrm>
            <a:off x="484632"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11.2K SKUs · 5 nodes</a:t>
            </a:r>
            <a:endParaRPr lang="en-US" sz="950" dirty="0"/>
          </a:p>
        </p:txBody>
      </p:sp>
      <p:sp>
        <p:nvSpPr>
          <p:cNvPr id="15" name="Shape 10"/>
          <p:cNvSpPr/>
          <p:nvPr/>
        </p:nvSpPr>
        <p:spPr>
          <a:xfrm>
            <a:off x="2221992" y="3863340"/>
            <a:ext cx="201168" cy="274320"/>
          </a:xfrm>
          <a:prstGeom prst="rightArrow">
            <a:avLst/>
          </a:prstGeom>
          <a:solidFill>
            <a:srgbClr val="A9C3EE"/>
          </a:solidFill>
          <a:ln w="12700">
            <a:solidFill>
              <a:srgbClr val="A9C3EE"/>
            </a:solidFill>
            <a:prstDash val="solid"/>
          </a:ln>
        </p:spPr>
      </p:sp>
      <p:sp>
        <p:nvSpPr>
          <p:cNvPr id="16" name="Shape 11"/>
          <p:cNvSpPr/>
          <p:nvPr/>
        </p:nvSpPr>
        <p:spPr>
          <a:xfrm>
            <a:off x="2404872" y="1170432"/>
            <a:ext cx="2295144" cy="548640"/>
          </a:xfrm>
          <a:prstGeom prst="chevron">
            <a:avLst/>
          </a:prstGeom>
          <a:solidFill>
            <a:srgbClr val="CFDDF5"/>
          </a:solidFill>
          <a:ln w="12700">
            <a:solidFill>
              <a:srgbClr val="FFFFFF"/>
            </a:solidFill>
            <a:prstDash val="solid"/>
          </a:ln>
        </p:spPr>
      </p:sp>
      <p:sp>
        <p:nvSpPr>
          <p:cNvPr id="17" name="Text 12"/>
          <p:cNvSpPr txBox="1"/>
          <p:nvPr/>
        </p:nvSpPr>
        <p:spPr>
          <a:xfrm>
            <a:off x="2724912" y="1170432"/>
            <a:ext cx="17922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Prep &amp; Mapping</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S0–S2</a:t>
            </a:r>
            <a:endParaRPr lang="en-US" sz="1250" dirty="0"/>
          </a:p>
        </p:txBody>
      </p:sp>
      <p:sp>
        <p:nvSpPr>
          <p:cNvPr id="18" name="Shape 13"/>
          <p:cNvSpPr/>
          <p:nvPr/>
        </p:nvSpPr>
        <p:spPr>
          <a:xfrm>
            <a:off x="2496312" y="1874520"/>
            <a:ext cx="1874520" cy="4251960"/>
          </a:xfrm>
          <a:prstGeom prst="roundRect">
            <a:avLst>
              <a:gd name="adj" fmla="val 3902"/>
            </a:avLst>
          </a:prstGeom>
          <a:solidFill>
            <a:srgbClr val="FFFFFF"/>
          </a:solidFill>
          <a:ln w="6350">
            <a:solidFill>
              <a:srgbClr val="D3DDEE"/>
            </a:solidFill>
            <a:prstDash val="solid"/>
          </a:ln>
        </p:spPr>
      </p:sp>
      <p:pic>
        <p:nvPicPr>
          <p:cNvPr id="19" name="Image 3" descr="preencoded.png">    </p:cNvPr>
          <p:cNvPicPr>
            <a:picLocks noChangeAspect="1"/>
          </p:cNvPicPr>
          <p:nvPr/>
        </p:nvPicPr>
        <p:blipFill>
          <a:blip r:embed="rId4"/>
          <a:stretch>
            <a:fillRect/>
          </a:stretch>
        </p:blipFill>
        <p:spPr>
          <a:xfrm>
            <a:off x="3204972" y="2148840"/>
            <a:ext cx="457200" cy="457200"/>
          </a:xfrm>
          <a:prstGeom prst="rect">
            <a:avLst/>
          </a:prstGeom>
        </p:spPr>
      </p:pic>
      <p:sp>
        <p:nvSpPr>
          <p:cNvPr id="20" name="Text 14"/>
          <p:cNvSpPr txBox="1"/>
          <p:nvPr/>
        </p:nvSpPr>
        <p:spPr>
          <a:xfrm>
            <a:off x="2569464" y="2660904"/>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Clean &amp; de-identify</a:t>
            </a:r>
            <a:endParaRPr lang="en-US" sz="1150" dirty="0"/>
          </a:p>
        </p:txBody>
      </p:sp>
      <p:sp>
        <p:nvSpPr>
          <p:cNvPr id="21" name="Text 15"/>
          <p:cNvSpPr txBox="1"/>
          <p:nvPr/>
        </p:nvSpPr>
        <p:spPr>
          <a:xfrm>
            <a:off x="2569464" y="2880360"/>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prices, text fixes, PII removed</a:t>
            </a:r>
            <a:endParaRPr lang="en-US" sz="950" dirty="0"/>
          </a:p>
        </p:txBody>
      </p:sp>
      <p:pic>
        <p:nvPicPr>
          <p:cNvPr id="22" name="Image 4" descr="preencoded.png">    </p:cNvPr>
          <p:cNvPicPr>
            <a:picLocks noChangeAspect="1"/>
          </p:cNvPicPr>
          <p:nvPr/>
        </p:nvPicPr>
        <p:blipFill>
          <a:blip r:embed="rId5"/>
          <a:stretch>
            <a:fillRect/>
          </a:stretch>
        </p:blipFill>
        <p:spPr>
          <a:xfrm>
            <a:off x="3204972" y="3502152"/>
            <a:ext cx="457200" cy="457200"/>
          </a:xfrm>
          <a:prstGeom prst="rect">
            <a:avLst/>
          </a:prstGeom>
        </p:spPr>
      </p:pic>
      <p:sp>
        <p:nvSpPr>
          <p:cNvPr id="23" name="Text 16"/>
          <p:cNvSpPr txBox="1"/>
          <p:nvPr/>
        </p:nvSpPr>
        <p:spPr>
          <a:xfrm>
            <a:off x="2569464" y="4014216"/>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 families</a:t>
            </a:r>
            <a:endParaRPr lang="en-US" sz="1150" dirty="0"/>
          </a:p>
        </p:txBody>
      </p:sp>
      <p:sp>
        <p:nvSpPr>
          <p:cNvPr id="24" name="Text 17"/>
          <p:cNvSpPr txBox="1"/>
          <p:nvPr/>
        </p:nvSpPr>
        <p:spPr>
          <a:xfrm>
            <a:off x="2569464" y="4233672"/>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colour / size variants merged</a:t>
            </a:r>
            <a:endParaRPr lang="en-US" sz="950" dirty="0"/>
          </a:p>
        </p:txBody>
      </p:sp>
      <p:pic>
        <p:nvPicPr>
          <p:cNvPr id="25" name="Image 5" descr="preencoded.png">    </p:cNvPr>
          <p:cNvPicPr>
            <a:picLocks noChangeAspect="1"/>
          </p:cNvPicPr>
          <p:nvPr/>
        </p:nvPicPr>
        <p:blipFill>
          <a:blip r:embed="rId6"/>
          <a:stretch>
            <a:fillRect/>
          </a:stretch>
        </p:blipFill>
        <p:spPr>
          <a:xfrm>
            <a:off x="3204972" y="4855464"/>
            <a:ext cx="457200" cy="457200"/>
          </a:xfrm>
          <a:prstGeom prst="rect">
            <a:avLst/>
          </a:prstGeom>
        </p:spPr>
      </p:pic>
      <p:sp>
        <p:nvSpPr>
          <p:cNvPr id="26" name="Text 18"/>
          <p:cNvSpPr txBox="1"/>
          <p:nvPr/>
        </p:nvSpPr>
        <p:spPr>
          <a:xfrm>
            <a:off x="2569464" y="5367528"/>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Node mapping</a:t>
            </a:r>
            <a:endParaRPr lang="en-US" sz="1150" dirty="0"/>
          </a:p>
        </p:txBody>
      </p:sp>
      <p:sp>
        <p:nvSpPr>
          <p:cNvPr id="27" name="Text 19"/>
          <p:cNvSpPr txBox="1"/>
          <p:nvPr/>
        </p:nvSpPr>
        <p:spPr>
          <a:xfrm>
            <a:off x="2569464" y="5586984"/>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k-NN classifier</a:t>
            </a:r>
            <a:endParaRPr lang="en-US" sz="950" dirty="0"/>
          </a:p>
        </p:txBody>
      </p:sp>
      <p:sp>
        <p:nvSpPr>
          <p:cNvPr id="28" name="Shape 20"/>
          <p:cNvSpPr/>
          <p:nvPr/>
        </p:nvSpPr>
        <p:spPr>
          <a:xfrm>
            <a:off x="4443984" y="3863340"/>
            <a:ext cx="201168" cy="274320"/>
          </a:xfrm>
          <a:prstGeom prst="rightArrow">
            <a:avLst/>
          </a:prstGeom>
          <a:solidFill>
            <a:srgbClr val="A9C3EE"/>
          </a:solidFill>
          <a:ln w="12700">
            <a:solidFill>
              <a:srgbClr val="A9C3EE"/>
            </a:solidFill>
            <a:prstDash val="solid"/>
          </a:ln>
        </p:spPr>
      </p:sp>
      <p:sp>
        <p:nvSpPr>
          <p:cNvPr id="29" name="Shape 21"/>
          <p:cNvSpPr/>
          <p:nvPr/>
        </p:nvSpPr>
        <p:spPr>
          <a:xfrm>
            <a:off x="4626864" y="1170432"/>
            <a:ext cx="2523744" cy="548640"/>
          </a:xfrm>
          <a:prstGeom prst="chevron">
            <a:avLst/>
          </a:prstGeom>
          <a:solidFill>
            <a:srgbClr val="B9CEF2"/>
          </a:solidFill>
          <a:ln w="12700">
            <a:solidFill>
              <a:srgbClr val="FFFFFF"/>
            </a:solidFill>
            <a:prstDash val="solid"/>
          </a:ln>
        </p:spPr>
      </p:sp>
      <p:sp>
        <p:nvSpPr>
          <p:cNvPr id="30" name="Text 22"/>
          <p:cNvSpPr txBox="1"/>
          <p:nvPr/>
        </p:nvSpPr>
        <p:spPr>
          <a:xfrm>
            <a:off x="4946904" y="1170432"/>
            <a:ext cx="20208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Attributes &amp; Archetypes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S3–S4</a:t>
            </a:r>
            <a:endParaRPr lang="en-US" sz="1250" dirty="0"/>
          </a:p>
        </p:txBody>
      </p:sp>
      <p:sp>
        <p:nvSpPr>
          <p:cNvPr id="31" name="Shape 23"/>
          <p:cNvSpPr/>
          <p:nvPr/>
        </p:nvSpPr>
        <p:spPr>
          <a:xfrm>
            <a:off x="4718304" y="1874520"/>
            <a:ext cx="2103120" cy="4251960"/>
          </a:xfrm>
          <a:prstGeom prst="roundRect">
            <a:avLst>
              <a:gd name="adj" fmla="val 3478"/>
            </a:avLst>
          </a:prstGeom>
          <a:solidFill>
            <a:srgbClr val="FFFFFF"/>
          </a:solidFill>
          <a:ln w="6350">
            <a:solidFill>
              <a:srgbClr val="D3DDEE"/>
            </a:solidFill>
            <a:prstDash val="solid"/>
          </a:ln>
        </p:spPr>
      </p:sp>
      <p:pic>
        <p:nvPicPr>
          <p:cNvPr id="32" name="Image 6" descr="preencoded.png">    </p:cNvPr>
          <p:cNvPicPr>
            <a:picLocks noChangeAspect="1"/>
          </p:cNvPicPr>
          <p:nvPr/>
        </p:nvPicPr>
        <p:blipFill>
          <a:blip r:embed="rId7"/>
          <a:stretch>
            <a:fillRect/>
          </a:stretch>
        </p:blipFill>
        <p:spPr>
          <a:xfrm>
            <a:off x="5541264" y="2148840"/>
            <a:ext cx="457200" cy="457200"/>
          </a:xfrm>
          <a:prstGeom prst="rect">
            <a:avLst/>
          </a:prstGeom>
        </p:spPr>
      </p:pic>
      <p:sp>
        <p:nvSpPr>
          <p:cNvPr id="33" name="Text 24"/>
          <p:cNvSpPr txBox="1"/>
          <p:nvPr/>
        </p:nvSpPr>
        <p:spPr>
          <a:xfrm>
            <a:off x="4791456" y="2660904"/>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3-tier attributes</a:t>
            </a:r>
            <a:endParaRPr lang="en-US" sz="1150" dirty="0"/>
          </a:p>
        </p:txBody>
      </p:sp>
      <p:sp>
        <p:nvSpPr>
          <p:cNvPr id="34" name="Text 25"/>
          <p:cNvSpPr txBox="1"/>
          <p:nvPr/>
        </p:nvSpPr>
        <p:spPr>
          <a:xfrm>
            <a:off x="4791456" y="2880360"/>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function · look · lifestyle, same extractor on both sides</a:t>
            </a:r>
            <a:endParaRPr lang="en-US" sz="950" dirty="0"/>
          </a:p>
        </p:txBody>
      </p:sp>
      <p:pic>
        <p:nvPicPr>
          <p:cNvPr id="35" name="Image 7" descr="preencoded.png">    </p:cNvPr>
          <p:cNvPicPr>
            <a:picLocks noChangeAspect="1"/>
          </p:cNvPicPr>
          <p:nvPr/>
        </p:nvPicPr>
        <p:blipFill>
          <a:blip r:embed="rId8"/>
          <a:stretch>
            <a:fillRect/>
          </a:stretch>
        </p:blipFill>
        <p:spPr>
          <a:xfrm>
            <a:off x="5541264" y="3502152"/>
            <a:ext cx="457200" cy="457200"/>
          </a:xfrm>
          <a:prstGeom prst="rect">
            <a:avLst/>
          </a:prstGeom>
        </p:spPr>
      </p:pic>
      <p:sp>
        <p:nvSpPr>
          <p:cNvPr id="36" name="Text 26"/>
          <p:cNvSpPr txBox="1"/>
          <p:nvPr/>
        </p:nvSpPr>
        <p:spPr>
          <a:xfrm>
            <a:off x="4791456" y="4014216"/>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Neutral product embeddings</a:t>
            </a:r>
            <a:endParaRPr lang="en-US" sz="1150" dirty="0"/>
          </a:p>
        </p:txBody>
      </p:sp>
      <p:sp>
        <p:nvSpPr>
          <p:cNvPr id="37" name="Text 27"/>
          <p:cNvSpPr txBox="1"/>
          <p:nvPr/>
        </p:nvSpPr>
        <p:spPr>
          <a:xfrm>
            <a:off x="4791456" y="4233672"/>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extracted attributes only (no title, price or brand), bge-base</a:t>
            </a:r>
            <a:endParaRPr lang="en-US" sz="950" dirty="0"/>
          </a:p>
        </p:txBody>
      </p:sp>
      <p:pic>
        <p:nvPicPr>
          <p:cNvPr id="38" name="Image 8" descr="preencoded.png">    </p:cNvPr>
          <p:cNvPicPr>
            <a:picLocks noChangeAspect="1"/>
          </p:cNvPicPr>
          <p:nvPr/>
        </p:nvPicPr>
        <p:blipFill>
          <a:blip r:embed="rId9"/>
          <a:stretch>
            <a:fillRect/>
          </a:stretch>
        </p:blipFill>
        <p:spPr>
          <a:xfrm>
            <a:off x="5541264" y="4855464"/>
            <a:ext cx="457200" cy="457200"/>
          </a:xfrm>
          <a:prstGeom prst="rect">
            <a:avLst/>
          </a:prstGeom>
        </p:spPr>
      </p:pic>
      <p:sp>
        <p:nvSpPr>
          <p:cNvPr id="39" name="Text 28"/>
          <p:cNvSpPr txBox="1"/>
          <p:nvPr/>
        </p:nvSpPr>
        <p:spPr>
          <a:xfrm>
            <a:off x="4791456" y="5367528"/>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Archetypes</a:t>
            </a:r>
            <a:endParaRPr lang="en-US" sz="1150" dirty="0"/>
          </a:p>
        </p:txBody>
      </p:sp>
      <p:sp>
        <p:nvSpPr>
          <p:cNvPr id="40" name="Text 29"/>
          <p:cNvSpPr txBox="1"/>
          <p:nvPr/>
        </p:nvSpPr>
        <p:spPr>
          <a:xfrm>
            <a:off x="4791456" y="5586984"/>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4–6-attribute combinations, up to 3 sets per node</a:t>
            </a:r>
            <a:endParaRPr lang="en-US" sz="950" dirty="0"/>
          </a:p>
        </p:txBody>
      </p:sp>
      <p:sp>
        <p:nvSpPr>
          <p:cNvPr id="41" name="Shape 30"/>
          <p:cNvSpPr/>
          <p:nvPr/>
        </p:nvSpPr>
        <p:spPr>
          <a:xfrm>
            <a:off x="6894576" y="3863340"/>
            <a:ext cx="201168" cy="274320"/>
          </a:xfrm>
          <a:prstGeom prst="rightArrow">
            <a:avLst/>
          </a:prstGeom>
          <a:solidFill>
            <a:srgbClr val="A9C3EE"/>
          </a:solidFill>
          <a:ln w="12700">
            <a:solidFill>
              <a:srgbClr val="A9C3EE"/>
            </a:solidFill>
            <a:prstDash val="solid"/>
          </a:ln>
        </p:spPr>
      </p:sp>
      <p:sp>
        <p:nvSpPr>
          <p:cNvPr id="42" name="Shape 31"/>
          <p:cNvSpPr/>
          <p:nvPr/>
        </p:nvSpPr>
        <p:spPr>
          <a:xfrm>
            <a:off x="7077456" y="1170432"/>
            <a:ext cx="2944368" cy="548640"/>
          </a:xfrm>
          <a:prstGeom prst="chevron">
            <a:avLst/>
          </a:prstGeom>
          <a:solidFill>
            <a:srgbClr val="A9C3EE"/>
          </a:solidFill>
          <a:ln w="12700">
            <a:solidFill>
              <a:srgbClr val="FFFFFF"/>
            </a:solidFill>
            <a:prstDash val="solid"/>
          </a:ln>
        </p:spPr>
      </p:sp>
      <p:sp>
        <p:nvSpPr>
          <p:cNvPr id="43" name="Text 32"/>
          <p:cNvSpPr txBox="1"/>
          <p:nvPr/>
        </p:nvSpPr>
        <p:spPr>
          <a:xfrm>
            <a:off x="7397496" y="1170432"/>
            <a:ext cx="2441448"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Two Scoring Methods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S5–S6</a:t>
            </a:r>
            <a:endParaRPr lang="en-US" sz="1250" dirty="0"/>
          </a:p>
        </p:txBody>
      </p:sp>
      <p:sp>
        <p:nvSpPr>
          <p:cNvPr id="44" name="Shape 33"/>
          <p:cNvSpPr/>
          <p:nvPr/>
        </p:nvSpPr>
        <p:spPr>
          <a:xfrm>
            <a:off x="7168896" y="1874520"/>
            <a:ext cx="2523744" cy="4251960"/>
          </a:xfrm>
          <a:prstGeom prst="roundRect">
            <a:avLst>
              <a:gd name="adj" fmla="val 2899"/>
            </a:avLst>
          </a:prstGeom>
          <a:solidFill>
            <a:srgbClr val="FFFFFF"/>
          </a:solidFill>
          <a:ln w="6350">
            <a:solidFill>
              <a:srgbClr val="D3DDEE"/>
            </a:solidFill>
            <a:prstDash val="solid"/>
          </a:ln>
        </p:spPr>
      </p:sp>
      <p:sp>
        <p:nvSpPr>
          <p:cNvPr id="45" name="Shape 34"/>
          <p:cNvSpPr/>
          <p:nvPr/>
        </p:nvSpPr>
        <p:spPr>
          <a:xfrm>
            <a:off x="7260336" y="1965960"/>
            <a:ext cx="2340864" cy="1988820"/>
          </a:xfrm>
          <a:prstGeom prst="roundRect">
            <a:avLst>
              <a:gd name="adj" fmla="val 3678"/>
            </a:avLst>
          </a:prstGeom>
          <a:solidFill>
            <a:srgbClr val="EEF3FB"/>
          </a:solidFill>
          <a:ln w="12700">
            <a:solidFill>
              <a:srgbClr val="EEF3FB"/>
            </a:solidFill>
            <a:prstDash val="solid"/>
          </a:ln>
        </p:spPr>
      </p:sp>
      <p:sp>
        <p:nvSpPr>
          <p:cNvPr id="46" name="Text 35"/>
          <p:cNvSpPr txBox="1"/>
          <p:nvPr/>
        </p:nvSpPr>
        <p:spPr>
          <a:xfrm>
            <a:off x="7351776" y="203911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1 · Vector view</a:t>
            </a:r>
            <a:endParaRPr lang="en-US" sz="1200" dirty="0"/>
          </a:p>
        </p:txBody>
      </p:sp>
      <p:sp>
        <p:nvSpPr>
          <p:cNvPr id="47" name="Text 36"/>
          <p:cNvSpPr txBox="1"/>
          <p:nvPr/>
        </p:nvSpPr>
        <p:spPr>
          <a:xfrm>
            <a:off x="7351776" y="237744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VW (Vector Whitespace)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AAS (Adjacency Affinity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CRS (Cannibalisation Risk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AD (Aesthetic Delta)</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PPR (Price Position Ratio)</a:t>
            </a:r>
            <a:endParaRPr lang="en-US" sz="950" dirty="0"/>
          </a:p>
        </p:txBody>
      </p:sp>
      <p:sp>
        <p:nvSpPr>
          <p:cNvPr id="48" name="Text 37"/>
          <p:cNvSpPr txBox="1"/>
          <p:nvPr/>
        </p:nvSpPr>
        <p:spPr>
          <a:xfrm>
            <a:off x="7351776" y="358902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VOS (Vector Opportunity Score)</a:t>
            </a:r>
            <a:endParaRPr lang="en-US" sz="1100" dirty="0"/>
          </a:p>
        </p:txBody>
      </p:sp>
      <p:sp>
        <p:nvSpPr>
          <p:cNvPr id="49" name="Shape 38"/>
          <p:cNvSpPr/>
          <p:nvPr/>
        </p:nvSpPr>
        <p:spPr>
          <a:xfrm>
            <a:off x="7260336" y="4046220"/>
            <a:ext cx="2340864" cy="1988820"/>
          </a:xfrm>
          <a:prstGeom prst="roundRect">
            <a:avLst>
              <a:gd name="adj" fmla="val 3678"/>
            </a:avLst>
          </a:prstGeom>
          <a:solidFill>
            <a:srgbClr val="F3F0FA"/>
          </a:solidFill>
          <a:ln w="12700">
            <a:solidFill>
              <a:srgbClr val="F3F0FA"/>
            </a:solidFill>
            <a:prstDash val="solid"/>
          </a:ln>
        </p:spPr>
      </p:sp>
      <p:sp>
        <p:nvSpPr>
          <p:cNvPr id="50" name="Text 39"/>
          <p:cNvSpPr txBox="1"/>
          <p:nvPr/>
        </p:nvSpPr>
        <p:spPr>
          <a:xfrm>
            <a:off x="7351776" y="411937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2 · Attribute view</a:t>
            </a:r>
            <a:endParaRPr lang="en-US" sz="1200" dirty="0"/>
          </a:p>
        </p:txBody>
      </p:sp>
      <p:sp>
        <p:nvSpPr>
          <p:cNvPr id="51" name="Text 40"/>
          <p:cNvSpPr txBox="1"/>
          <p:nvPr/>
        </p:nvSpPr>
        <p:spPr>
          <a:xfrm>
            <a:off x="7351776" y="445770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LSR (Log Share Ratio)</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PPG (Price Position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CG (Colour Gap) · MSG (Material/Style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DFG (Design-Forward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ACR (Attribute Cannibalisation Risk)</a:t>
            </a:r>
            <a:endParaRPr lang="en-US" sz="950" dirty="0"/>
          </a:p>
        </p:txBody>
      </p:sp>
      <p:sp>
        <p:nvSpPr>
          <p:cNvPr id="52" name="Text 41"/>
          <p:cNvSpPr txBox="1"/>
          <p:nvPr/>
        </p:nvSpPr>
        <p:spPr>
          <a:xfrm>
            <a:off x="7351776" y="566928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TG (Total Gap)</a:t>
            </a:r>
            <a:endParaRPr lang="en-US" sz="1100" dirty="0"/>
          </a:p>
        </p:txBody>
      </p:sp>
      <p:sp>
        <p:nvSpPr>
          <p:cNvPr id="53" name="Shape 42"/>
          <p:cNvSpPr/>
          <p:nvPr/>
        </p:nvSpPr>
        <p:spPr>
          <a:xfrm>
            <a:off x="9765792" y="3863340"/>
            <a:ext cx="201168" cy="274320"/>
          </a:xfrm>
          <a:prstGeom prst="rightArrow">
            <a:avLst/>
          </a:prstGeom>
          <a:solidFill>
            <a:srgbClr val="A9C3EE"/>
          </a:solidFill>
          <a:ln w="12700">
            <a:solidFill>
              <a:srgbClr val="A9C3EE"/>
            </a:solidFill>
            <a:prstDash val="solid"/>
          </a:ln>
        </p:spPr>
      </p:sp>
      <p:sp>
        <p:nvSpPr>
          <p:cNvPr id="54" name="Shape 43"/>
          <p:cNvSpPr/>
          <p:nvPr/>
        </p:nvSpPr>
        <p:spPr>
          <a:xfrm>
            <a:off x="9948672" y="1170432"/>
            <a:ext cx="1828800" cy="548640"/>
          </a:xfrm>
          <a:prstGeom prst="chevron">
            <a:avLst/>
          </a:prstGeom>
          <a:solidFill>
            <a:srgbClr val="97B6EA"/>
          </a:solidFill>
          <a:ln w="12700">
            <a:solidFill>
              <a:srgbClr val="FFFFFF"/>
            </a:solidFill>
            <a:prstDash val="solid"/>
          </a:ln>
        </p:spPr>
      </p:sp>
      <p:sp>
        <p:nvSpPr>
          <p:cNvPr id="55" name="Text 44"/>
          <p:cNvSpPr txBox="1"/>
          <p:nvPr/>
        </p:nvSpPr>
        <p:spPr>
          <a:xfrm>
            <a:off x="10268712" y="1170432"/>
            <a:ext cx="132588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Gates &amp; Picks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S7–S8</a:t>
            </a:r>
            <a:endParaRPr lang="en-US" sz="1250" dirty="0"/>
          </a:p>
        </p:txBody>
      </p:sp>
      <p:sp>
        <p:nvSpPr>
          <p:cNvPr id="56" name="Shape 45"/>
          <p:cNvSpPr/>
          <p:nvPr/>
        </p:nvSpPr>
        <p:spPr>
          <a:xfrm>
            <a:off x="10040112" y="1874520"/>
            <a:ext cx="1737360" cy="4251960"/>
          </a:xfrm>
          <a:prstGeom prst="roundRect">
            <a:avLst>
              <a:gd name="adj" fmla="val 4211"/>
            </a:avLst>
          </a:prstGeom>
          <a:solidFill>
            <a:srgbClr val="FFFFFF"/>
          </a:solidFill>
          <a:ln w="6350">
            <a:solidFill>
              <a:srgbClr val="D3DDEE"/>
            </a:solidFill>
            <a:prstDash val="solid"/>
          </a:ln>
        </p:spPr>
      </p:sp>
      <p:pic>
        <p:nvPicPr>
          <p:cNvPr id="57" name="Image 9" descr="preencoded.png">    </p:cNvPr>
          <p:cNvPicPr>
            <a:picLocks noChangeAspect="1"/>
          </p:cNvPicPr>
          <p:nvPr/>
        </p:nvPicPr>
        <p:blipFill>
          <a:blip r:embed="rId10"/>
          <a:stretch>
            <a:fillRect/>
          </a:stretch>
        </p:blipFill>
        <p:spPr>
          <a:xfrm>
            <a:off x="10680192" y="2148840"/>
            <a:ext cx="457200" cy="457200"/>
          </a:xfrm>
          <a:prstGeom prst="rect">
            <a:avLst/>
          </a:prstGeom>
        </p:spPr>
      </p:pic>
      <p:sp>
        <p:nvSpPr>
          <p:cNvPr id="58" name="Text 46"/>
          <p:cNvSpPr txBox="1"/>
          <p:nvPr/>
        </p:nvSpPr>
        <p:spPr>
          <a:xfrm>
            <a:off x="10113264"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Safety gates</a:t>
            </a:r>
            <a:endParaRPr lang="en-US" sz="1150" dirty="0"/>
          </a:p>
        </p:txBody>
      </p:sp>
      <p:sp>
        <p:nvSpPr>
          <p:cNvPr id="59" name="Text 47"/>
          <p:cNvSpPr txBox="1"/>
          <p:nvPr/>
        </p:nvSpPr>
        <p:spPr>
          <a:xfrm>
            <a:off x="10113264"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common → per method → final</a:t>
            </a:r>
            <a:endParaRPr lang="en-US" sz="950" dirty="0"/>
          </a:p>
        </p:txBody>
      </p:sp>
      <p:pic>
        <p:nvPicPr>
          <p:cNvPr id="60" name="Image 10" descr="preencoded.png">    </p:cNvPr>
          <p:cNvPicPr>
            <a:picLocks noChangeAspect="1"/>
          </p:cNvPicPr>
          <p:nvPr/>
        </p:nvPicPr>
        <p:blipFill>
          <a:blip r:embed="rId11"/>
          <a:stretch>
            <a:fillRect/>
          </a:stretch>
        </p:blipFill>
        <p:spPr>
          <a:xfrm>
            <a:off x="10680192" y="3502152"/>
            <a:ext cx="457200" cy="457200"/>
          </a:xfrm>
          <a:prstGeom prst="rect">
            <a:avLst/>
          </a:prstGeom>
        </p:spPr>
      </p:pic>
      <p:sp>
        <p:nvSpPr>
          <p:cNvPr id="61" name="Text 48"/>
          <p:cNvSpPr txBox="1"/>
          <p:nvPr/>
        </p:nvSpPr>
        <p:spPr>
          <a:xfrm>
            <a:off x="10113264"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Final list</a:t>
            </a:r>
            <a:endParaRPr lang="en-US" sz="1150" dirty="0"/>
          </a:p>
        </p:txBody>
      </p:sp>
      <p:sp>
        <p:nvSpPr>
          <p:cNvPr id="62" name="Text 49"/>
          <p:cNvSpPr txBox="1"/>
          <p:nvPr/>
        </p:nvSpPr>
        <p:spPr>
          <a:xfrm>
            <a:off x="10113264"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union of both methods, 3–10 per node</a:t>
            </a:r>
            <a:endParaRPr lang="en-US" sz="950" dirty="0"/>
          </a:p>
        </p:txBody>
      </p:sp>
      <p:pic>
        <p:nvPicPr>
          <p:cNvPr id="63" name="Image 11" descr="preencoded.png">    </p:cNvPr>
          <p:cNvPicPr>
            <a:picLocks noChangeAspect="1"/>
          </p:cNvPicPr>
          <p:nvPr/>
        </p:nvPicPr>
        <p:blipFill>
          <a:blip r:embed="rId12"/>
          <a:stretch>
            <a:fillRect/>
          </a:stretch>
        </p:blipFill>
        <p:spPr>
          <a:xfrm>
            <a:off x="10680192" y="4855464"/>
            <a:ext cx="457200" cy="457200"/>
          </a:xfrm>
          <a:prstGeom prst="rect">
            <a:avLst/>
          </a:prstGeom>
        </p:spPr>
      </p:pic>
      <p:sp>
        <p:nvSpPr>
          <p:cNvPr id="64" name="Text 50"/>
          <p:cNvSpPr txBox="1"/>
          <p:nvPr/>
        </p:nvSpPr>
        <p:spPr>
          <a:xfrm>
            <a:off x="10113264"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Products &amp; sellers</a:t>
            </a:r>
            <a:endParaRPr lang="en-US" sz="1150" dirty="0"/>
          </a:p>
        </p:txBody>
      </p:sp>
      <p:sp>
        <p:nvSpPr>
          <p:cNvPr id="65" name="Text 51"/>
          <p:cNvSpPr txBox="1"/>
          <p:nvPr/>
        </p:nvSpPr>
        <p:spPr>
          <a:xfrm>
            <a:off x="10113264"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each beside its nearest Staples item</a:t>
            </a:r>
            <a:endParaRPr lang="en-US" sz="9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Method 1 (Vector View): Framework</a:t>
            </a:r>
            <a:endParaRPr lang="en-US" sz="2800" dirty="0"/>
          </a:p>
        </p:txBody>
      </p:sp>
      <p:sp>
        <p:nvSpPr>
          <p:cNvPr id="3" name="Text 1"/>
          <p:cNvSpPr txBox="1"/>
          <p:nvPr/>
        </p:nvSpPr>
        <p:spPr>
          <a:xfrm>
            <a:off x="1600200"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&lt; 30</a:t>
            </a:r>
            <a:endParaRPr lang="en-US" sz="1100" dirty="0"/>
          </a:p>
        </p:txBody>
      </p:sp>
      <p:sp>
        <p:nvSpPr>
          <p:cNvPr id="4" name="Text 2"/>
          <p:cNvSpPr txBox="1"/>
          <p:nvPr/>
        </p:nvSpPr>
        <p:spPr>
          <a:xfrm>
            <a:off x="3666744" y="1188720"/>
            <a:ext cx="237744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30 ≤ CRS &lt; 70</a:t>
            </a:r>
            <a:endParaRPr lang="en-US" sz="1100" dirty="0"/>
          </a:p>
        </p:txBody>
      </p:sp>
      <p:sp>
        <p:nvSpPr>
          <p:cNvPr id="5" name="Text 3"/>
          <p:cNvSpPr txBox="1"/>
          <p:nvPr/>
        </p:nvSpPr>
        <p:spPr>
          <a:xfrm>
            <a:off x="6099048"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 70</a:t>
            </a:r>
            <a:endParaRPr lang="en-US" sz="1100" dirty="0"/>
          </a:p>
        </p:txBody>
      </p:sp>
      <p:sp>
        <p:nvSpPr>
          <p:cNvPr id="6" name="Shape 4"/>
          <p:cNvSpPr/>
          <p:nvPr/>
        </p:nvSpPr>
        <p:spPr>
          <a:xfrm>
            <a:off x="1600200" y="1536192"/>
            <a:ext cx="2011680" cy="1408176"/>
          </a:xfrm>
          <a:prstGeom prst="roundRect">
            <a:avLst>
              <a:gd name="adj" fmla="val 5195"/>
            </a:avLst>
          </a:prstGeom>
          <a:solidFill>
            <a:srgbClr val="D5F0E6"/>
          </a:solidFill>
          <a:ln w="12700">
            <a:solidFill>
              <a:srgbClr val="5CC49A"/>
            </a:solidFill>
            <a:prstDash val="solid"/>
          </a:ln>
        </p:spPr>
      </p:sp>
      <p:sp>
        <p:nvSpPr>
          <p:cNvPr id="7" name="Text 5"/>
          <p:cNvSpPr txBox="1"/>
          <p:nvPr/>
        </p:nvSpPr>
        <p:spPr>
          <a:xfrm>
            <a:off x="1645920" y="153619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CURATE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true whitespace · approve</a:t>
            </a:r>
            <a:endParaRPr lang="en-US" sz="1200" dirty="0"/>
          </a:p>
        </p:txBody>
      </p:sp>
      <p:sp>
        <p:nvSpPr>
          <p:cNvPr id="8" name="Shape 6"/>
          <p:cNvSpPr/>
          <p:nvPr/>
        </p:nvSpPr>
        <p:spPr>
          <a:xfrm>
            <a:off x="1600200" y="2999232"/>
            <a:ext cx="2011680" cy="1408176"/>
          </a:xfrm>
          <a:prstGeom prst="roundRect">
            <a:avLst>
              <a:gd name="adj" fmla="val 5195"/>
            </a:avLst>
          </a:prstGeom>
          <a:solidFill>
            <a:srgbClr val="FCEBCB"/>
          </a:solidFill>
          <a:ln w="12700">
            <a:solidFill>
              <a:srgbClr val="E8B44A"/>
            </a:solidFill>
            <a:prstDash val="solid"/>
          </a:ln>
        </p:spPr>
      </p:sp>
      <p:sp>
        <p:nvSpPr>
          <p:cNvPr id="9" name="Text 7"/>
          <p:cNvSpPr txBox="1"/>
          <p:nvPr/>
        </p:nvSpPr>
        <p:spPr>
          <a:xfrm>
            <a:off x="1645920" y="299923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EDGE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weaker fit · hold for phase 2</a:t>
            </a:r>
            <a:endParaRPr lang="en-US" sz="1200" dirty="0"/>
          </a:p>
        </p:txBody>
      </p:sp>
      <p:sp>
        <p:nvSpPr>
          <p:cNvPr id="10" name="Shape 8"/>
          <p:cNvSpPr/>
          <p:nvPr/>
        </p:nvSpPr>
        <p:spPr>
          <a:xfrm>
            <a:off x="3666744" y="1536192"/>
            <a:ext cx="2377440" cy="676656"/>
          </a:xfrm>
          <a:prstGeom prst="roundRect">
            <a:avLst>
              <a:gd name="adj" fmla="val 10811"/>
            </a:avLst>
          </a:prstGeom>
          <a:solidFill>
            <a:srgbClr val="D5F0E6"/>
          </a:solidFill>
          <a:ln w="12700">
            <a:solidFill>
              <a:srgbClr val="5CC49A"/>
            </a:solidFill>
            <a:prstDash val="solid"/>
          </a:ln>
        </p:spPr>
      </p:sp>
      <p:sp>
        <p:nvSpPr>
          <p:cNvPr id="11" name="Text 9"/>
          <p:cNvSpPr txBox="1"/>
          <p:nvPr/>
        </p:nvSpPr>
        <p:spPr>
          <a:xfrm>
            <a:off x="3712464" y="1536192"/>
            <a:ext cx="228600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LEAN-APPROVE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(clearly different look) · approve, flag</a:t>
            </a:r>
            <a:endParaRPr lang="en-US" sz="1200" dirty="0"/>
          </a:p>
        </p:txBody>
      </p:sp>
      <p:sp>
        <p:nvSpPr>
          <p:cNvPr id="12" name="Shape 10"/>
          <p:cNvSpPr/>
          <p:nvPr/>
        </p:nvSpPr>
        <p:spPr>
          <a:xfrm>
            <a:off x="3666744" y="2267712"/>
            <a:ext cx="2377440" cy="2139696"/>
          </a:xfrm>
          <a:prstGeom prst="roundRect">
            <a:avLst>
              <a:gd name="adj" fmla="val 3419"/>
            </a:avLst>
          </a:prstGeom>
          <a:solidFill>
            <a:srgbClr val="FCEBCB"/>
          </a:solidFill>
          <a:ln w="12700">
            <a:solidFill>
              <a:srgbClr val="E8B44A"/>
            </a:solidFill>
            <a:prstDash val="solid"/>
          </a:ln>
        </p:spPr>
      </p:sp>
      <p:sp>
        <p:nvSpPr>
          <p:cNvPr id="13" name="Text 11"/>
          <p:cNvSpPr txBox="1"/>
          <p:nvPr/>
        </p:nvSpPr>
        <p:spPr>
          <a:xfrm>
            <a:off x="3712464" y="2267712"/>
            <a:ext cx="2286000" cy="213969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REVIEW</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undecided · calibration queue</a:t>
            </a:r>
            <a:endParaRPr lang="en-US" sz="1200" dirty="0"/>
          </a:p>
        </p:txBody>
      </p:sp>
      <p:sp>
        <p:nvSpPr>
          <p:cNvPr id="14" name="Shape 12"/>
          <p:cNvSpPr/>
          <p:nvPr/>
        </p:nvSpPr>
        <p:spPr>
          <a:xfrm>
            <a:off x="6099048" y="1536192"/>
            <a:ext cx="2011680" cy="676656"/>
          </a:xfrm>
          <a:prstGeom prst="roundRect">
            <a:avLst>
              <a:gd name="adj" fmla="val 10811"/>
            </a:avLst>
          </a:prstGeom>
          <a:solidFill>
            <a:srgbClr val="E6E3FA"/>
          </a:solidFill>
          <a:ln w="12700">
            <a:solidFill>
              <a:srgbClr val="A99BEA"/>
            </a:solidFill>
            <a:prstDash val="solid"/>
          </a:ln>
        </p:spPr>
      </p:sp>
      <p:sp>
        <p:nvSpPr>
          <p:cNvPr id="15" name="Text 13"/>
          <p:cNvSpPr txBox="1"/>
          <p:nvPr/>
        </p:nvSpPr>
        <p:spPr>
          <a:xfrm>
            <a:off x="6144768" y="153619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1 · UNDERCUT</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&lt; 0.85× · hard reject</a:t>
            </a:r>
            <a:endParaRPr lang="en-US" sz="1200" dirty="0"/>
          </a:p>
        </p:txBody>
      </p:sp>
      <p:sp>
        <p:nvSpPr>
          <p:cNvPr id="16" name="Shape 14"/>
          <p:cNvSpPr/>
          <p:nvPr/>
        </p:nvSpPr>
        <p:spPr>
          <a:xfrm>
            <a:off x="6099048" y="2267712"/>
            <a:ext cx="2011680" cy="676656"/>
          </a:xfrm>
          <a:prstGeom prst="roundRect">
            <a:avLst>
              <a:gd name="adj" fmla="val 10811"/>
            </a:avLst>
          </a:prstGeom>
          <a:solidFill>
            <a:srgbClr val="D5F0E6"/>
          </a:solidFill>
          <a:ln w="12700">
            <a:solidFill>
              <a:srgbClr val="5CC49A"/>
            </a:solidFill>
            <a:prstDash val="solid"/>
          </a:ln>
        </p:spPr>
      </p:sp>
      <p:sp>
        <p:nvSpPr>
          <p:cNvPr id="17" name="Text 15"/>
          <p:cNvSpPr txBox="1"/>
          <p:nvPr/>
        </p:nvSpPr>
        <p:spPr>
          <a:xfrm>
            <a:off x="6144768" y="226771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2 · TRADE-UP</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 1.5× + design/material upgrade</a:t>
            </a:r>
            <a:endParaRPr lang="en-US" sz="1200" dirty="0"/>
          </a:p>
        </p:txBody>
      </p:sp>
      <p:sp>
        <p:nvSpPr>
          <p:cNvPr id="18" name="Shape 16"/>
          <p:cNvSpPr/>
          <p:nvPr/>
        </p:nvSpPr>
        <p:spPr>
          <a:xfrm>
            <a:off x="6099048" y="2999232"/>
            <a:ext cx="2011680" cy="676656"/>
          </a:xfrm>
          <a:prstGeom prst="roundRect">
            <a:avLst>
              <a:gd name="adj" fmla="val 10811"/>
            </a:avLst>
          </a:prstGeom>
          <a:solidFill>
            <a:srgbClr val="D5F0E6"/>
          </a:solidFill>
          <a:ln w="12700">
            <a:solidFill>
              <a:srgbClr val="5CC49A"/>
            </a:solidFill>
            <a:prstDash val="solid"/>
          </a:ln>
        </p:spPr>
      </p:sp>
      <p:sp>
        <p:nvSpPr>
          <p:cNvPr id="19" name="Text 17"/>
          <p:cNvSpPr txBox="1"/>
          <p:nvPr/>
        </p:nvSpPr>
        <p:spPr>
          <a:xfrm>
            <a:off x="6144768" y="299923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3 · STYLE-EXTENSION</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new colour/material/style</a:t>
            </a:r>
            <a:endParaRPr lang="en-US" sz="1200" dirty="0"/>
          </a:p>
        </p:txBody>
      </p:sp>
      <p:sp>
        <p:nvSpPr>
          <p:cNvPr id="20" name="Shape 18"/>
          <p:cNvSpPr/>
          <p:nvPr/>
        </p:nvSpPr>
        <p:spPr>
          <a:xfrm>
            <a:off x="6099048" y="3730752"/>
            <a:ext cx="2011680" cy="676656"/>
          </a:xfrm>
          <a:prstGeom prst="roundRect">
            <a:avLst>
              <a:gd name="adj" fmla="val 10811"/>
            </a:avLst>
          </a:prstGeom>
          <a:solidFill>
            <a:srgbClr val="E6E3FA"/>
          </a:solidFill>
          <a:ln w="12700">
            <a:solidFill>
              <a:srgbClr val="A99BEA"/>
            </a:solidFill>
            <a:prstDash val="solid"/>
          </a:ln>
        </p:spPr>
      </p:sp>
      <p:sp>
        <p:nvSpPr>
          <p:cNvPr id="21" name="Text 19"/>
          <p:cNvSpPr txBox="1"/>
          <p:nvPr/>
        </p:nvSpPr>
        <p:spPr>
          <a:xfrm>
            <a:off x="6144768" y="373075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4 · SUBSTITUTE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otherwise: same job, same look · reject</a:t>
            </a:r>
            <a:endParaRPr lang="en-US" sz="1200" dirty="0"/>
          </a:p>
        </p:txBody>
      </p:sp>
      <p:sp>
        <p:nvSpPr>
          <p:cNvPr id="22" name="Shape 20"/>
          <p:cNvSpPr/>
          <p:nvPr/>
        </p:nvSpPr>
        <p:spPr>
          <a:xfrm>
            <a:off x="1600200" y="4462272"/>
            <a:ext cx="6510528" cy="786384"/>
          </a:xfrm>
          <a:prstGeom prst="roundRect">
            <a:avLst>
              <a:gd name="adj" fmla="val 9302"/>
            </a:avLst>
          </a:prstGeom>
          <a:solidFill>
            <a:srgbClr val="E6E3FA"/>
          </a:solidFill>
          <a:ln w="12700">
            <a:solidFill>
              <a:srgbClr val="A99BEA"/>
            </a:solidFill>
            <a:prstDash val="solid"/>
          </a:ln>
        </p:spPr>
      </p:sp>
      <p:sp>
        <p:nvSpPr>
          <p:cNvPr id="23" name="Text 21"/>
          <p:cNvSpPr txBox="1"/>
          <p:nvPr/>
        </p:nvSpPr>
        <p:spPr>
          <a:xfrm>
            <a:off x="1645920" y="4462272"/>
            <a:ext cx="6419088" cy="786384"/>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OFF-BRAND</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poor fit with Staples' catalog and customers · reject (checked before CRS)</a:t>
            </a:r>
            <a:endParaRPr lang="en-US" sz="1200" dirty="0"/>
          </a:p>
        </p:txBody>
      </p:sp>
      <p:sp>
        <p:nvSpPr>
          <p:cNvPr id="24" name="Text 22"/>
          <p:cNvSpPr txBox="1"/>
          <p:nvPr/>
        </p:nvSpPr>
        <p:spPr>
          <a:xfrm>
            <a:off x="658368" y="153619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 T_high</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(43–61)</a:t>
            </a:r>
            <a:endParaRPr lang="en-US" sz="1000" dirty="0"/>
          </a:p>
        </p:txBody>
      </p:sp>
      <p:sp>
        <p:nvSpPr>
          <p:cNvPr id="25" name="Text 23"/>
          <p:cNvSpPr txBox="1"/>
          <p:nvPr/>
        </p:nvSpPr>
        <p:spPr>
          <a:xfrm>
            <a:off x="658368" y="299923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T_low–T_high</a:t>
            </a:r>
            <a:endParaRPr lang="en-US" sz="1000" dirty="0"/>
          </a:p>
        </p:txBody>
      </p:sp>
      <p:sp>
        <p:nvSpPr>
          <p:cNvPr id="26" name="Text 24"/>
          <p:cNvSpPr txBox="1"/>
          <p:nvPr/>
        </p:nvSpPr>
        <p:spPr>
          <a:xfrm>
            <a:off x="658368" y="4462272"/>
            <a:ext cx="868680" cy="786384"/>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&lt; T_low</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(24–42)</a:t>
            </a:r>
            <a:endParaRPr lang="en-US" sz="1000" dirty="0"/>
          </a:p>
        </p:txBody>
      </p:sp>
      <p:sp>
        <p:nvSpPr>
          <p:cNvPr id="27" name="Text 25"/>
          <p:cNvSpPr txBox="1"/>
          <p:nvPr/>
        </p:nvSpPr>
        <p:spPr>
          <a:xfrm>
            <a:off x="365760" y="1536192"/>
            <a:ext cx="329184" cy="3712464"/>
          </a:xfrm>
          <a:prstGeom prst="rect">
            <a:avLst/>
          </a:prstGeom>
          <a:noFill/>
          <a:ln/>
        </p:spPr>
        <p:txBody>
          <a:bodyPr wrap="square" lIns="0" tIns="0" rIns="0" bIns="0" rtlCol="0" anchor="ctr" vert="vert270"/>
          <a:lstStyle/>
          <a:p>
            <a:pPr algn="ctr" indent="0" marL="0">
              <a:buNone/>
            </a:pPr>
            <a:r>
              <a:rPr lang="en-US" sz="1050" b="1" dirty="0">
                <a:solidFill>
                  <a:srgbClr val="13285B"/>
                </a:solidFill>
                <a:latin typeface="Calibri" pitchFamily="34" charset="0"/>
                <a:ea typeface="Calibri" pitchFamily="34" charset="-122"/>
                <a:cs typeface="Calibri" pitchFamily="34" charset="-120"/>
              </a:rPr>
              <a:t>AAS (Adjacency Affinity Score): fit with Staples →</a:t>
            </a:r>
            <a:endParaRPr lang="en-US" sz="1050" dirty="0"/>
          </a:p>
        </p:txBody>
      </p:sp>
      <p:sp>
        <p:nvSpPr>
          <p:cNvPr id="28" name="Text 26"/>
          <p:cNvSpPr txBox="1"/>
          <p:nvPr/>
        </p:nvSpPr>
        <p:spPr>
          <a:xfrm>
            <a:off x="1600200" y="5321808"/>
            <a:ext cx="6510528" cy="274320"/>
          </a:xfrm>
          <a:prstGeom prst="rect">
            <a:avLst/>
          </a:prstGeom>
          <a:noFill/>
          <a:ln/>
        </p:spPr>
        <p:txBody>
          <a:bodyPr wrap="square" lIns="0" tIns="0" rIns="0" bIns="0" rtlCol="0" anchor="ctr"/>
          <a:lstStyle/>
          <a:p>
            <a:pPr algn="ctr" indent="0" marL="0">
              <a:buNone/>
            </a:pPr>
            <a:r>
              <a:rPr lang="en-US" sz="1050" b="1" dirty="0">
                <a:solidFill>
                  <a:srgbClr val="13285B"/>
                </a:solidFill>
                <a:latin typeface="Calibri" pitchFamily="34" charset="0"/>
                <a:ea typeface="Calibri" pitchFamily="34" charset="-122"/>
                <a:cs typeface="Calibri" pitchFamily="34" charset="-120"/>
              </a:rPr>
              <a:t>CRS (Cannibalisation Risk Score): functional closeness to a Staples product →</a:t>
            </a:r>
            <a:endParaRPr lang="en-US" sz="1050" dirty="0"/>
          </a:p>
        </p:txBody>
      </p:sp>
      <p:sp>
        <p:nvSpPr>
          <p:cNvPr id="29" name="Shape 27"/>
          <p:cNvSpPr/>
          <p:nvPr/>
        </p:nvSpPr>
        <p:spPr>
          <a:xfrm>
            <a:off x="1600200" y="5724144"/>
            <a:ext cx="164592" cy="164592"/>
          </a:xfrm>
          <a:prstGeom prst="roundRect">
            <a:avLst>
              <a:gd name="adj" fmla="val 16667"/>
            </a:avLst>
          </a:prstGeom>
          <a:solidFill>
            <a:srgbClr val="D5F0E6"/>
          </a:solidFill>
          <a:ln w="12700">
            <a:solidFill>
              <a:srgbClr val="5CC49A"/>
            </a:solidFill>
            <a:prstDash val="solid"/>
          </a:ln>
        </p:spPr>
      </p:sp>
      <p:sp>
        <p:nvSpPr>
          <p:cNvPr id="30" name="Text 28"/>
          <p:cNvSpPr txBox="1"/>
          <p:nvPr/>
        </p:nvSpPr>
        <p:spPr>
          <a:xfrm>
            <a:off x="18379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approve (safe)</a:t>
            </a:r>
            <a:endParaRPr lang="en-US" sz="950" dirty="0"/>
          </a:p>
        </p:txBody>
      </p:sp>
      <p:sp>
        <p:nvSpPr>
          <p:cNvPr id="31" name="Shape 29"/>
          <p:cNvSpPr/>
          <p:nvPr/>
        </p:nvSpPr>
        <p:spPr>
          <a:xfrm>
            <a:off x="3200400" y="5724144"/>
            <a:ext cx="164592" cy="164592"/>
          </a:xfrm>
          <a:prstGeom prst="roundRect">
            <a:avLst>
              <a:gd name="adj" fmla="val 16667"/>
            </a:avLst>
          </a:prstGeom>
          <a:solidFill>
            <a:srgbClr val="FCEBCB"/>
          </a:solidFill>
          <a:ln w="12700">
            <a:solidFill>
              <a:srgbClr val="E8B44A"/>
            </a:solidFill>
            <a:prstDash val="solid"/>
          </a:ln>
        </p:spPr>
      </p:sp>
      <p:sp>
        <p:nvSpPr>
          <p:cNvPr id="32" name="Text 30"/>
          <p:cNvSpPr txBox="1"/>
          <p:nvPr/>
        </p:nvSpPr>
        <p:spPr>
          <a:xfrm>
            <a:off x="34381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hold / undecided</a:t>
            </a:r>
            <a:endParaRPr lang="en-US" sz="950" dirty="0"/>
          </a:p>
        </p:txBody>
      </p:sp>
      <p:sp>
        <p:nvSpPr>
          <p:cNvPr id="33" name="Shape 31"/>
          <p:cNvSpPr/>
          <p:nvPr/>
        </p:nvSpPr>
        <p:spPr>
          <a:xfrm>
            <a:off x="4800600" y="5724144"/>
            <a:ext cx="164592" cy="164592"/>
          </a:xfrm>
          <a:prstGeom prst="roundRect">
            <a:avLst>
              <a:gd name="adj" fmla="val 16667"/>
            </a:avLst>
          </a:prstGeom>
          <a:solidFill>
            <a:srgbClr val="E6E3FA"/>
          </a:solidFill>
          <a:ln w="12700">
            <a:solidFill>
              <a:srgbClr val="A99BEA"/>
            </a:solidFill>
            <a:prstDash val="solid"/>
          </a:ln>
        </p:spPr>
      </p:sp>
      <p:sp>
        <p:nvSpPr>
          <p:cNvPr id="34" name="Text 32"/>
          <p:cNvSpPr txBox="1"/>
          <p:nvPr/>
        </p:nvSpPr>
        <p:spPr>
          <a:xfrm>
            <a:off x="50383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reject</a:t>
            </a:r>
            <a:endParaRPr lang="en-US" sz="950" dirty="0"/>
          </a:p>
        </p:txBody>
      </p:sp>
      <p:sp>
        <p:nvSpPr>
          <p:cNvPr id="35" name="Text 33"/>
          <p:cNvSpPr txBox="1"/>
          <p:nvPr/>
        </p:nvSpPr>
        <p:spPr>
          <a:xfrm>
            <a:off x="5349240" y="5687568"/>
            <a:ext cx="2761488" cy="237744"/>
          </a:xfrm>
          <a:prstGeom prst="rect">
            <a:avLst/>
          </a:prstGeom>
          <a:noFill/>
          <a:ln/>
        </p:spPr>
        <p:txBody>
          <a:bodyPr wrap="square" lIns="0" tIns="0" rIns="0" bIns="0" rtlCol="0" anchor="ctr"/>
          <a:lstStyle/>
          <a:p>
            <a:pPr algn="r" indent="0" marL="0">
              <a:buNone/>
            </a:pPr>
            <a:r>
              <a:rPr lang="en-US" sz="950" i="1" dirty="0">
                <a:solidFill>
                  <a:srgbClr val="5B6475"/>
                </a:solidFill>
                <a:latin typeface="Calibri" pitchFamily="34" charset="0"/>
                <a:ea typeface="Calibri" pitchFamily="34" charset="-122"/>
                <a:cs typeface="Calibri" pitchFamily="34" charset="-120"/>
              </a:rPr>
              <a:t>EXCLUDE (identical to a Staples product) is checked first.</a:t>
            </a:r>
            <a:endParaRPr lang="en-US" sz="950" dirty="0"/>
          </a:p>
        </p:txBody>
      </p:sp>
      <p:sp>
        <p:nvSpPr>
          <p:cNvPr id="36" name="Text 34"/>
          <p:cNvSpPr txBox="1"/>
          <p:nvPr/>
        </p:nvSpPr>
        <p:spPr>
          <a:xfrm>
            <a:off x="8641080" y="1188720"/>
            <a:ext cx="3136392" cy="274320"/>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KEY TERMS</a:t>
            </a:r>
            <a:endParaRPr lang="en-US" sz="1200" dirty="0"/>
          </a:p>
        </p:txBody>
      </p:sp>
      <p:sp>
        <p:nvSpPr>
          <p:cNvPr id="37" name="Shape 35"/>
          <p:cNvSpPr/>
          <p:nvPr/>
        </p:nvSpPr>
        <p:spPr>
          <a:xfrm>
            <a:off x="8641080" y="1536192"/>
            <a:ext cx="3136392" cy="694944"/>
          </a:xfrm>
          <a:prstGeom prst="roundRect">
            <a:avLst>
              <a:gd name="adj" fmla="val 10526"/>
            </a:avLst>
          </a:prstGeom>
          <a:solidFill>
            <a:srgbClr val="EEF3FB"/>
          </a:solidFill>
          <a:ln w="12700">
            <a:solidFill>
              <a:srgbClr val="EEF3FB"/>
            </a:solidFill>
            <a:prstDash val="solid"/>
          </a:ln>
        </p:spPr>
      </p:sp>
      <p:sp>
        <p:nvSpPr>
          <p:cNvPr id="38" name="Text 36"/>
          <p:cNvSpPr txBox="1"/>
          <p:nvPr/>
        </p:nvSpPr>
        <p:spPr>
          <a:xfrm>
            <a:off x="8769096" y="1591056"/>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AAS</a:t>
            </a:r>
            <a:pPr indent="0" marL="0">
              <a:buNone/>
            </a:pPr>
            <a:r>
              <a:rPr lang="en-US" sz="1050" b="1" dirty="0">
                <a:solidFill>
                  <a:srgbClr val="13285B"/>
                </a:solidFill>
                <a:latin typeface="Calibri" pitchFamily="34" charset="0"/>
                <a:ea typeface="Calibri" pitchFamily="34" charset="-122"/>
                <a:cs typeface="Calibri" pitchFamily="34" charset="-120"/>
              </a:rPr>
              <a:t>  (Adjacency Affinity Score)</a:t>
            </a:r>
            <a:endParaRPr lang="en-US" sz="1200" dirty="0"/>
          </a:p>
        </p:txBody>
      </p:sp>
      <p:sp>
        <p:nvSpPr>
          <p:cNvPr id="39" name="Text 37"/>
          <p:cNvSpPr txBox="1"/>
          <p:nvPr/>
        </p:nvSpPr>
        <p:spPr>
          <a:xfrm>
            <a:off x="8769096" y="1865376"/>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well the product fits Staples' catalog and customers</a:t>
            </a:r>
            <a:endParaRPr lang="en-US" sz="950" dirty="0"/>
          </a:p>
        </p:txBody>
      </p:sp>
      <p:sp>
        <p:nvSpPr>
          <p:cNvPr id="40" name="Shape 38"/>
          <p:cNvSpPr/>
          <p:nvPr/>
        </p:nvSpPr>
        <p:spPr>
          <a:xfrm>
            <a:off x="8641080" y="2304288"/>
            <a:ext cx="3136392" cy="694944"/>
          </a:xfrm>
          <a:prstGeom prst="roundRect">
            <a:avLst>
              <a:gd name="adj" fmla="val 10526"/>
            </a:avLst>
          </a:prstGeom>
          <a:solidFill>
            <a:srgbClr val="EEF3FB"/>
          </a:solidFill>
          <a:ln w="12700">
            <a:solidFill>
              <a:srgbClr val="EEF3FB"/>
            </a:solidFill>
            <a:prstDash val="solid"/>
          </a:ln>
        </p:spPr>
      </p:sp>
      <p:sp>
        <p:nvSpPr>
          <p:cNvPr id="41" name="Text 39"/>
          <p:cNvSpPr txBox="1"/>
          <p:nvPr/>
        </p:nvSpPr>
        <p:spPr>
          <a:xfrm>
            <a:off x="8769096" y="2359152"/>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CRS</a:t>
            </a:r>
            <a:pPr indent="0" marL="0">
              <a:buNone/>
            </a:pPr>
            <a:r>
              <a:rPr lang="en-US" sz="1050" b="1" dirty="0">
                <a:solidFill>
                  <a:srgbClr val="13285B"/>
                </a:solidFill>
                <a:latin typeface="Calibri" pitchFamily="34" charset="0"/>
                <a:ea typeface="Calibri" pitchFamily="34" charset="-122"/>
                <a:cs typeface="Calibri" pitchFamily="34" charset="-120"/>
              </a:rPr>
              <a:t>  (Cannibalisation Risk Score)</a:t>
            </a:r>
            <a:endParaRPr lang="en-US" sz="1200" dirty="0"/>
          </a:p>
        </p:txBody>
      </p:sp>
      <p:sp>
        <p:nvSpPr>
          <p:cNvPr id="42" name="Text 40"/>
          <p:cNvSpPr txBox="1"/>
          <p:nvPr/>
        </p:nvSpPr>
        <p:spPr>
          <a:xfrm>
            <a:off x="8769096" y="2633472"/>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close it is in function to a Staples product (0–100); higher = more likely to take 1P sales</a:t>
            </a:r>
            <a:endParaRPr lang="en-US" sz="950" dirty="0"/>
          </a:p>
        </p:txBody>
      </p:sp>
      <p:sp>
        <p:nvSpPr>
          <p:cNvPr id="43" name="Shape 41"/>
          <p:cNvSpPr/>
          <p:nvPr/>
        </p:nvSpPr>
        <p:spPr>
          <a:xfrm>
            <a:off x="8641080" y="3072384"/>
            <a:ext cx="3136392" cy="694944"/>
          </a:xfrm>
          <a:prstGeom prst="roundRect">
            <a:avLst>
              <a:gd name="adj" fmla="val 10526"/>
            </a:avLst>
          </a:prstGeom>
          <a:solidFill>
            <a:srgbClr val="EEF3FB"/>
          </a:solidFill>
          <a:ln w="12700">
            <a:solidFill>
              <a:srgbClr val="EEF3FB"/>
            </a:solidFill>
            <a:prstDash val="solid"/>
          </a:ln>
        </p:spPr>
      </p:sp>
      <p:sp>
        <p:nvSpPr>
          <p:cNvPr id="44" name="Text 42"/>
          <p:cNvSpPr txBox="1"/>
          <p:nvPr/>
        </p:nvSpPr>
        <p:spPr>
          <a:xfrm>
            <a:off x="8769096" y="3127248"/>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PPR</a:t>
            </a:r>
            <a:pPr indent="0" marL="0">
              <a:buNone/>
            </a:pPr>
            <a:r>
              <a:rPr lang="en-US" sz="1050" b="1" dirty="0">
                <a:solidFill>
                  <a:srgbClr val="13285B"/>
                </a:solidFill>
                <a:latin typeface="Calibri" pitchFamily="34" charset="0"/>
                <a:ea typeface="Calibri" pitchFamily="34" charset="-122"/>
                <a:cs typeface="Calibri" pitchFamily="34" charset="-120"/>
              </a:rPr>
              <a:t>  (Price Position Ratio)</a:t>
            </a:r>
            <a:endParaRPr lang="en-US" sz="1200" dirty="0"/>
          </a:p>
        </p:txBody>
      </p:sp>
      <p:sp>
        <p:nvSpPr>
          <p:cNvPr id="45" name="Text 43"/>
          <p:cNvSpPr txBox="1"/>
          <p:nvPr/>
        </p:nvSpPr>
        <p:spPr>
          <a:xfrm>
            <a:off x="8769096" y="3401568"/>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its price ÷ the median price of the nearest Staples products</a:t>
            </a:r>
            <a:endParaRPr lang="en-US" sz="950" dirty="0"/>
          </a:p>
        </p:txBody>
      </p:sp>
      <p:sp>
        <p:nvSpPr>
          <p:cNvPr id="46" name="Shape 44"/>
          <p:cNvSpPr/>
          <p:nvPr/>
        </p:nvSpPr>
        <p:spPr>
          <a:xfrm>
            <a:off x="8641080" y="3840480"/>
            <a:ext cx="3136392" cy="694944"/>
          </a:xfrm>
          <a:prstGeom prst="roundRect">
            <a:avLst>
              <a:gd name="adj" fmla="val 10526"/>
            </a:avLst>
          </a:prstGeom>
          <a:solidFill>
            <a:srgbClr val="EEF3FB"/>
          </a:solidFill>
          <a:ln w="12700">
            <a:solidFill>
              <a:srgbClr val="EEF3FB"/>
            </a:solidFill>
            <a:prstDash val="solid"/>
          </a:ln>
        </p:spPr>
      </p:sp>
      <p:sp>
        <p:nvSpPr>
          <p:cNvPr id="47" name="Text 45"/>
          <p:cNvSpPr txBox="1"/>
          <p:nvPr/>
        </p:nvSpPr>
        <p:spPr>
          <a:xfrm>
            <a:off x="8769096" y="3895344"/>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AD</a:t>
            </a:r>
            <a:pPr indent="0" marL="0">
              <a:buNone/>
            </a:pPr>
            <a:r>
              <a:rPr lang="en-US" sz="1050" b="1" dirty="0">
                <a:solidFill>
                  <a:srgbClr val="13285B"/>
                </a:solidFill>
                <a:latin typeface="Calibri" pitchFamily="34" charset="0"/>
                <a:ea typeface="Calibri" pitchFamily="34" charset="-122"/>
                <a:cs typeface="Calibri" pitchFamily="34" charset="-120"/>
              </a:rPr>
              <a:t>  (Aesthetic Delta)</a:t>
            </a:r>
            <a:endParaRPr lang="en-US" sz="1200" dirty="0"/>
          </a:p>
        </p:txBody>
      </p:sp>
      <p:sp>
        <p:nvSpPr>
          <p:cNvPr id="48" name="Text 46"/>
          <p:cNvSpPr txBox="1"/>
          <p:nvPr/>
        </p:nvSpPr>
        <p:spPr>
          <a:xfrm>
            <a:off x="8769096" y="4169664"/>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look difference from the nearest Staples product (colour, material, style)</a:t>
            </a:r>
            <a:endParaRPr lang="en-US" sz="950" dirty="0"/>
          </a:p>
        </p:txBody>
      </p:sp>
      <p:sp>
        <p:nvSpPr>
          <p:cNvPr id="49" name="Shape 47"/>
          <p:cNvSpPr/>
          <p:nvPr/>
        </p:nvSpPr>
        <p:spPr>
          <a:xfrm>
            <a:off x="8641080" y="4608576"/>
            <a:ext cx="3136392" cy="640080"/>
          </a:xfrm>
          <a:prstGeom prst="roundRect">
            <a:avLst>
              <a:gd name="adj" fmla="val 11429"/>
            </a:avLst>
          </a:prstGeom>
          <a:solidFill>
            <a:srgbClr val="13285B"/>
          </a:solidFill>
          <a:ln w="12700">
            <a:solidFill>
              <a:srgbClr val="13285B"/>
            </a:solidFill>
            <a:prstDash val="solid"/>
          </a:ln>
        </p:spPr>
      </p:sp>
      <p:sp>
        <p:nvSpPr>
          <p:cNvPr id="50" name="Text 48"/>
          <p:cNvSpPr txBox="1"/>
          <p:nvPr/>
        </p:nvSpPr>
        <p:spPr>
          <a:xfrm>
            <a:off x="8769096" y="4608576"/>
            <a:ext cx="2880360" cy="640080"/>
          </a:xfrm>
          <a:prstGeom prst="rect">
            <a:avLst/>
          </a:prstGeom>
          <a:noFill/>
          <a:ln/>
        </p:spPr>
        <p:txBody>
          <a:bodyPr wrap="square" lIns="0" tIns="0" rIns="0" bIns="0"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Green labels = safe for Method 1. </a:t>
            </a:r>
            <a:pPr indent="0" marL="0">
              <a:buNone/>
            </a:pPr>
            <a:r>
              <a:rPr lang="en-US" sz="1000" dirty="0">
                <a:solidFill>
                  <a:srgbClr val="FFFFFF"/>
                </a:solidFill>
                <a:latin typeface="Calibri" pitchFamily="34" charset="0"/>
                <a:ea typeface="Calibri" pitchFamily="34" charset="-122"/>
                <a:cs typeface="Calibri" pitchFamily="34" charset="-120"/>
              </a:rPr>
              <a:t>They are ranked by VOS (Vector Opportunity Score) and joined with Method 2's picks at the final gate.</a:t>
            </a:r>
            <a:endParaRPr lang="en-US" sz="10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2377440"/>
            <a:ext cx="7315200" cy="91440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Shape 1"/>
          <p:cNvSpPr/>
          <p:nvPr/>
        </p:nvSpPr>
        <p:spPr>
          <a:xfrm>
            <a:off x="658368" y="3364992"/>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520440"/>
            <a:ext cx="7315200" cy="45720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LatentView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Staples Marketplace: Assortment Gap and Archetype Recommendation PoC</dc:title>
  <dc:subject>PptxGenJS Presentation</dc:subject>
  <dc:creator>LatentView Analytics</dc:creator>
  <cp:lastModifiedBy>LatentView Analytics</cp:lastModifiedBy>
  <cp:revision>1</cp:revision>
  <dcterms:created xsi:type="dcterms:W3CDTF">2026-10-06T19:21:09Z</dcterms:created>
  <dcterms:modified xsi:type="dcterms:W3CDTF">2026-10-06T19:21:09Z</dcterms:modified>
</cp:coreProperties>
</file>