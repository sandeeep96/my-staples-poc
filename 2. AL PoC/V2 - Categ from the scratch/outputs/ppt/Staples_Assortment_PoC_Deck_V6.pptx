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3" r:id="rId8"/>
    <p:sldId id="262"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6839A7D-7F0F-FA6B-C453-82C122580B8D}">
          <p14:sldIdLst>
            <p14:sldId id="256"/>
          </p14:sldIdLst>
        </p14:section>
        <p14:section name="Summary" id="{4455CD22-E08E-4B51-50C4-01339002A9D0}">
          <p14:sldIdLst>
            <p14:sldId id="257"/>
            <p14:sldId id="258"/>
          </p14:sldIdLst>
        </p14:section>
        <p14:section name="Demo" id="{01436586-DF3E-A816-E414-8E253F9D1789}">
          <p14:sldIdLst>
            <p14:sldId id="259"/>
          </p14:sldIdLst>
        </p14:section>
        <p14:section name="Next steps" id="{5D90FCB3-D126-39EC-9943-1DF4C0D135F1}">
          <p14:sldIdLst>
            <p14:sldId id="260"/>
            <p14:sldId id="261"/>
          </p14:sldIdLst>
        </p14:section>
        <p14:section name="Appendix" id="{D503AFAF-70FD-6E44-1A19-6E469A25BEC5}">
          <p14:sldIdLst>
            <p14:sldId id="263"/>
            <p14:sldId id="262"/>
          </p14:sldIdLst>
        </p14:section>
        <p14:section name="Close" id="{219126EA-B45D-E5EF-5714-22C05D760E4C}">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7519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897 archetypes compared → 99 pass the safety gates (23 Strong, 30 Vector-led, 45 Gap-led, 1 Conditional) → 263 example products, each shown beside the nearest Staples item → 13 brands already selling on Staples (at-A-Glance, BAGSMART, Bentgo, Blue Sky, CamelBak, Fringe, High Sierra, House of Doolittle, Mead, OttLite,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wooden K-Cup pod drawers 0 of 50 coffee organisers (Strong: both methods; Staples sells 583 single-serve coffee items and 139 coffee makers); adult stainless bento 1 of 318 lunch bags (Strong); journals 0 of 805 planners (Gap-led); barrel chairs 0 of 116 accent chairs (Gap-led; the literal "White Chair").
Backup picks if asked: folding screens under $150 (0 of 99 partitions vs 20% of Wayfair's; Strong), statement wall clocks (Staples' clocks 60% plastic vs 5% at Wayfair; Strong),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95 further archetypes, each with example products, are in the demo.
Next steps: the five steps of slide 5 (same labels and headings). First moves if asked: 1 Prioritise: Link sales &amp; search to the top picks in 2–3 pilot nodes; 2 Protect: Calibrate gates with merchants (60 side-by-side pairs); 3 Expand: Agree the next nodes &amp; benchmark competitors; 4 Curate: Vet top picks; start with the 13 brands on Staples; 5 Monitor: Track pilots' GMV, attach &amp; commission.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If asked about order: deepen the 12 nodes first, then broaden.
1 Prioritise: join sales, traffic and search data to each archetype; profile buyers (B2B vs B2C, RFM, basket mix); re-rank each node's add-list by expected GMV and commission per segment (Hero / Probable / Non-Hero).
2 Protect: today's cannibalisation checks use supply only (how close a competitor product sits to Staples products). With Staples data we tune every safety-gate threshold with merchants (cannibalisation risk bands, price-position limits, fit-with-Staples cut-offs, picks per node; the merchant calibration session on slide 2 is the first move) and replace the supply proxy with real 1P sales overlap and substitution seen in baskets, plus price and margin floors per node.
3 Expand: once calibrated, point the engine at any Staples category and any competitor that represents the audience Staples wants (e.g. IKEA for small-space home offices, Target for students and Back-to-School, Etsy for gifting). A new competitor is one adapter entry and a new node one config file; no code change.
4 Curate: the same attribute and archetype engine scores every seller submission for fit, 1P overlap and price, feeding an approve / review / reject queue that learns from curator decisions (first move: vet the top picks, starting with the brands already on Staples).
5 Monitor: scheduled re-crawls flag new and closing gaps; pilot listings are tracked for GMV, attach rate and commission against the forecast, and results feed back into prioritisation.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the catalog. Each combines external signals with Staples data.
- Social media &amp; trend listening (social media analytics + trend listening): mentions, hashtags and saves per archetype on TikTok, Instagram, Pinterest and Reddit plus Google Trends, scored for growth and sentiment; rising styles feed the Explore nodes.
- SEO &amp; search-intent gaps: on-site searches (zero-result, high-exit) and external SEO keywords where competitors rank and Staples does not, mapped to archetypes; feeds seller recruiting and product pages.
- Demand forecasting: per node and archetype from sales history, with Back-to-School seasonality and the trend signals from social listening; sizes GMV and commission before listing.
- Market research &amp; customer surveys (market research + market survey): B2B and B2C customers on unmet needs, style and price; concept tests of the top archetypes; results set the prioritisation weights.
- Basket completion &amp; Back-to-School kits: market-basket analysis finds missing complements; target 1–2 attach items per order (the brief's basket goal).
- New-category whitespace: the PoC already set aside 8,399 competitor product families that fit none of the 12 nodes (e.g. wall calendars, thermocoolers, reusable bags, briefcases, many of which Staples shelves elsewhere); running the engine against the whole Staples tree, plus the brief's adjacent verticals such as facility supplies, finds categories with no Staples home.
Further options if asked: B2B account cross-sell, seller recruitment scoring, listing content enrichment (our attribute extractor auto-tags seller listings for filters and search).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S0–S2: ingest and clean the three sources (PII from Wayfair reviews removed), merge colour/size variants into product families, map each competitor product to the right Staples node with a k-NN classifier over all Staples nodes. S3–S4: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S5: Method 1 in embedding space (whitespace, fit with Staples, aesthetic difference, cannibalisation risk, price position) gives VOS. S6: Method 2 on attribute shares (share gap, price, colour, material/style, design) gives TG, with its own attribute cannibalisation check (ACR). S7: each method has its own safety gate; the final gate takes the union and tiers it. S8: example products safe under the recommending method, each shown next to the nearest Staples product, plus brand and seller notes.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 5 (the PoC engine on Staples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marL="0" indent="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a:spLocks noGrp="1"/>
          </p:cNvSpPr>
          <p:nvPr>
            <p:ph type="title" idx="103" hasCustomPrompt="1"/>
          </p:nvPr>
        </p:nvSpPr>
        <p:spPr>
          <a:xfrm>
            <a:off x="411480" y="219456"/>
            <a:ext cx="11365992" cy="658368"/>
          </a:xfrm>
          <a:prstGeom prst="rect">
            <a:avLst/>
          </a:prstGeom>
          <a:noFill/>
          <a:ln/>
        </p:spPr>
        <p:txBody>
          <a:bodyPr wrap="square" rtlCol="0"/>
          <a:lstStyle>
            <a:lvl1pPr marL="0" indent="0" algn="l">
              <a:buNone/>
              <a:defRPr lang="en-US" sz="2800" b="1" dirty="0">
                <a:solidFill>
                  <a:srgbClr val="1F4E9A"/>
                </a:solidFill>
                <a:latin typeface="Calibri" pitchFamily="34" charset="0"/>
                <a:ea typeface="Calibri" pitchFamily="34" charset="-122"/>
                <a:cs typeface="Calibri"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99"/>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99"/>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hyperlink" Target="https://www.amazon.com/dp/B0BJ34MZ1J" TargetMode="External"/><Relationship Id="rId13"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png"/><Relationship Id="rId12"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amazon.com/dp/B0716B2ZFK" TargetMode="External"/><Relationship Id="rId11" Type="http://schemas.openxmlformats.org/officeDocument/2006/relationships/image" Target="../media/image13.png"/><Relationship Id="rId5" Type="http://schemas.openxmlformats.org/officeDocument/2006/relationships/image" Target="../media/image8.png"/><Relationship Id="rId15" Type="http://schemas.openxmlformats.org/officeDocument/2006/relationships/image" Target="../media/image17.png"/><Relationship Id="rId10"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4" Type="http://schemas.openxmlformats.org/officeDocument/2006/relationships/hyperlink" Target="https://www.amazon.com/dp/B0DBH21SRN" TargetMode="External"/><Relationship Id="rId9" Type="http://schemas.openxmlformats.org/officeDocument/2006/relationships/image" Target="../media/image6.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marL="0" indent="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Text 4"/>
          <p:cNvSpPr txBox="1"/>
          <p:nvPr/>
        </p:nvSpPr>
        <p:spPr>
          <a:xfrm>
            <a:off x="7635240" y="457200"/>
            <a:ext cx="1188720" cy="274320"/>
          </a:xfrm>
          <a:prstGeom prst="rect">
            <a:avLst/>
          </a:prstGeom>
          <a:noFill/>
          <a:ln/>
        </p:spPr>
        <p:txBody>
          <a:bodyPr wrap="square" lIns="0" tIns="0" rIns="0" bIns="0" rtlCol="0" anchor="t"/>
          <a:lstStyle/>
          <a:p>
            <a:pPr marL="0" indent="0" algn="ctr">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7" name="Shape 5"/>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8" name="Image 0" descr="preencoded.png"/>
          <p:cNvPicPr>
            <a:picLocks noChangeAspect="1"/>
          </p:cNvPicPr>
          <p:nvPr/>
        </p:nvPicPr>
        <p:blipFill>
          <a:blip r:embed="rId3"/>
          <a:stretch>
            <a:fillRect/>
          </a:stretch>
        </p:blipFill>
        <p:spPr>
          <a:xfrm>
            <a:off x="7991856" y="950976"/>
            <a:ext cx="475488" cy="475488"/>
          </a:xfrm>
          <a:prstGeom prst="rect">
            <a:avLst/>
          </a:prstGeom>
        </p:spPr>
      </p:pic>
      <p:sp>
        <p:nvSpPr>
          <p:cNvPr id="9" name="Text 6"/>
          <p:cNvSpPr txBox="1"/>
          <p:nvPr/>
        </p:nvSpPr>
        <p:spPr>
          <a:xfrm>
            <a:off x="7680960" y="1517904"/>
            <a:ext cx="1097280"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0" name="Shape 7"/>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1" name="Image 1" descr="preencoded.png"/>
          <p:cNvPicPr>
            <a:picLocks noChangeAspect="1"/>
          </p:cNvPicPr>
          <p:nvPr/>
        </p:nvPicPr>
        <p:blipFill>
          <a:blip r:embed="rId4"/>
          <a:stretch>
            <a:fillRect/>
          </a:stretch>
        </p:blipFill>
        <p:spPr>
          <a:xfrm>
            <a:off x="7991856" y="2322576"/>
            <a:ext cx="475488" cy="475488"/>
          </a:xfrm>
          <a:prstGeom prst="rect">
            <a:avLst/>
          </a:prstGeom>
        </p:spPr>
      </p:pic>
      <p:sp>
        <p:nvSpPr>
          <p:cNvPr id="12" name="Text 8"/>
          <p:cNvSpPr txBox="1"/>
          <p:nvPr/>
        </p:nvSpPr>
        <p:spPr>
          <a:xfrm>
            <a:off x="7680960" y="2889504"/>
            <a:ext cx="1097280"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3" name="Shape 9"/>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4" name="Image 2" descr="preencoded.png"/>
          <p:cNvPicPr>
            <a:picLocks noChangeAspect="1"/>
          </p:cNvPicPr>
          <p:nvPr/>
        </p:nvPicPr>
        <p:blipFill>
          <a:blip r:embed="rId5"/>
          <a:stretch>
            <a:fillRect/>
          </a:stretch>
        </p:blipFill>
        <p:spPr>
          <a:xfrm>
            <a:off x="7991856" y="3694176"/>
            <a:ext cx="475488" cy="475488"/>
          </a:xfrm>
          <a:prstGeom prst="rect">
            <a:avLst/>
          </a:prstGeom>
        </p:spPr>
      </p:pic>
      <p:sp>
        <p:nvSpPr>
          <p:cNvPr id="15" name="Text 10"/>
          <p:cNvSpPr txBox="1"/>
          <p:nvPr/>
        </p:nvSpPr>
        <p:spPr>
          <a:xfrm>
            <a:off x="7680960" y="4261104"/>
            <a:ext cx="1097280"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16" name="Shape 11"/>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17" name="Image 3" descr="preencoded.png"/>
          <p:cNvPicPr>
            <a:picLocks noChangeAspect="1"/>
          </p:cNvPicPr>
          <p:nvPr/>
        </p:nvPicPr>
        <p:blipFill>
          <a:blip r:embed="rId6"/>
          <a:stretch>
            <a:fillRect/>
          </a:stretch>
        </p:blipFill>
        <p:spPr>
          <a:xfrm>
            <a:off x="7991856" y="5065776"/>
            <a:ext cx="475488" cy="475488"/>
          </a:xfrm>
          <a:prstGeom prst="rect">
            <a:avLst/>
          </a:prstGeom>
        </p:spPr>
      </p:pic>
      <p:sp>
        <p:nvSpPr>
          <p:cNvPr id="18" name="Text 12"/>
          <p:cNvSpPr txBox="1"/>
          <p:nvPr/>
        </p:nvSpPr>
        <p:spPr>
          <a:xfrm>
            <a:off x="7680960" y="5632704"/>
            <a:ext cx="1097280"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19" name="Text 13"/>
          <p:cNvSpPr txBox="1"/>
          <p:nvPr/>
        </p:nvSpPr>
        <p:spPr>
          <a:xfrm>
            <a:off x="8961120" y="457200"/>
            <a:ext cx="1188720" cy="274320"/>
          </a:xfrm>
          <a:prstGeom prst="rect">
            <a:avLst/>
          </a:prstGeom>
          <a:noFill/>
          <a:ln/>
        </p:spPr>
        <p:txBody>
          <a:bodyPr wrap="square" lIns="0" tIns="0" rIns="0" bIns="0" rtlCol="0" anchor="t"/>
          <a:lstStyle/>
          <a:p>
            <a:pPr marL="0" indent="0" algn="ctr">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0" name="Shape 14"/>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1" name="Image 4" descr="preencoded.png"/>
          <p:cNvPicPr>
            <a:picLocks noChangeAspect="1"/>
          </p:cNvPicPr>
          <p:nvPr/>
        </p:nvPicPr>
        <p:blipFill>
          <a:blip r:embed="rId7"/>
          <a:stretch>
            <a:fillRect/>
          </a:stretch>
        </p:blipFill>
        <p:spPr>
          <a:xfrm>
            <a:off x="9317736" y="950976"/>
            <a:ext cx="475488" cy="475488"/>
          </a:xfrm>
          <a:prstGeom prst="rect">
            <a:avLst/>
          </a:prstGeom>
        </p:spPr>
      </p:pic>
      <p:sp>
        <p:nvSpPr>
          <p:cNvPr id="22" name="Text 15"/>
          <p:cNvSpPr txBox="1"/>
          <p:nvPr/>
        </p:nvSpPr>
        <p:spPr>
          <a:xfrm>
            <a:off x="9006840" y="1517904"/>
            <a:ext cx="1097280"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3" name="Shape 16"/>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4" name="Image 5" descr="preencoded.png"/>
          <p:cNvPicPr>
            <a:picLocks noChangeAspect="1"/>
          </p:cNvPicPr>
          <p:nvPr/>
        </p:nvPicPr>
        <p:blipFill>
          <a:blip r:embed="rId8"/>
          <a:stretch>
            <a:fillRect/>
          </a:stretch>
        </p:blipFill>
        <p:spPr>
          <a:xfrm>
            <a:off x="9317736" y="2322576"/>
            <a:ext cx="475488" cy="475488"/>
          </a:xfrm>
          <a:prstGeom prst="rect">
            <a:avLst/>
          </a:prstGeom>
        </p:spPr>
      </p:pic>
      <p:sp>
        <p:nvSpPr>
          <p:cNvPr id="25" name="Text 17"/>
          <p:cNvSpPr txBox="1"/>
          <p:nvPr/>
        </p:nvSpPr>
        <p:spPr>
          <a:xfrm>
            <a:off x="9006840" y="2889504"/>
            <a:ext cx="1097280"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26" name="Shape 18"/>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27" name="Image 6" descr="preencoded.png"/>
          <p:cNvPicPr>
            <a:picLocks noChangeAspect="1"/>
          </p:cNvPicPr>
          <p:nvPr/>
        </p:nvPicPr>
        <p:blipFill>
          <a:blip r:embed="rId9"/>
          <a:stretch>
            <a:fillRect/>
          </a:stretch>
        </p:blipFill>
        <p:spPr>
          <a:xfrm>
            <a:off x="9317736" y="3694176"/>
            <a:ext cx="475488" cy="475488"/>
          </a:xfrm>
          <a:prstGeom prst="rect">
            <a:avLst/>
          </a:prstGeom>
        </p:spPr>
      </p:pic>
      <p:sp>
        <p:nvSpPr>
          <p:cNvPr id="28" name="Text 19"/>
          <p:cNvSpPr txBox="1"/>
          <p:nvPr/>
        </p:nvSpPr>
        <p:spPr>
          <a:xfrm>
            <a:off x="9006840" y="4261104"/>
            <a:ext cx="1097280"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29" name="Shape 20"/>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0" name="Image 7" descr="preencoded.png"/>
          <p:cNvPicPr>
            <a:picLocks noChangeAspect="1"/>
          </p:cNvPicPr>
          <p:nvPr/>
        </p:nvPicPr>
        <p:blipFill>
          <a:blip r:embed="rId10"/>
          <a:stretch>
            <a:fillRect/>
          </a:stretch>
        </p:blipFill>
        <p:spPr>
          <a:xfrm>
            <a:off x="9317736" y="5065776"/>
            <a:ext cx="475488" cy="475488"/>
          </a:xfrm>
          <a:prstGeom prst="rect">
            <a:avLst/>
          </a:prstGeom>
        </p:spPr>
      </p:pic>
      <p:sp>
        <p:nvSpPr>
          <p:cNvPr id="31" name="Text 21"/>
          <p:cNvSpPr txBox="1"/>
          <p:nvPr/>
        </p:nvSpPr>
        <p:spPr>
          <a:xfrm>
            <a:off x="9006840" y="5632704"/>
            <a:ext cx="1097280"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2" name="Text 22"/>
          <p:cNvSpPr txBox="1"/>
          <p:nvPr/>
        </p:nvSpPr>
        <p:spPr>
          <a:xfrm>
            <a:off x="10287000" y="457200"/>
            <a:ext cx="1188720" cy="274320"/>
          </a:xfrm>
          <a:prstGeom prst="rect">
            <a:avLst/>
          </a:prstGeom>
          <a:noFill/>
          <a:ln/>
        </p:spPr>
        <p:txBody>
          <a:bodyPr wrap="square" lIns="0" tIns="0" rIns="0" bIns="0" rtlCol="0" anchor="t"/>
          <a:lstStyle/>
          <a:p>
            <a:pPr marL="0" indent="0" algn="ctr">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3" name="Shape 23"/>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4" name="Image 8" descr="preencoded.png"/>
          <p:cNvPicPr>
            <a:picLocks noChangeAspect="1"/>
          </p:cNvPicPr>
          <p:nvPr/>
        </p:nvPicPr>
        <p:blipFill>
          <a:blip r:embed="rId11"/>
          <a:stretch>
            <a:fillRect/>
          </a:stretch>
        </p:blipFill>
        <p:spPr>
          <a:xfrm>
            <a:off x="10643616" y="950976"/>
            <a:ext cx="475488" cy="475488"/>
          </a:xfrm>
          <a:prstGeom prst="rect">
            <a:avLst/>
          </a:prstGeom>
        </p:spPr>
      </p:pic>
      <p:sp>
        <p:nvSpPr>
          <p:cNvPr id="35" name="Text 24"/>
          <p:cNvSpPr txBox="1"/>
          <p:nvPr/>
        </p:nvSpPr>
        <p:spPr>
          <a:xfrm>
            <a:off x="10332720" y="1517904"/>
            <a:ext cx="1097280"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36" name="Shape 25"/>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37" name="Image 9" descr="preencoded.png"/>
          <p:cNvPicPr>
            <a:picLocks noChangeAspect="1"/>
          </p:cNvPicPr>
          <p:nvPr/>
        </p:nvPicPr>
        <p:blipFill>
          <a:blip r:embed="rId12"/>
          <a:stretch>
            <a:fillRect/>
          </a:stretch>
        </p:blipFill>
        <p:spPr>
          <a:xfrm>
            <a:off x="10643616" y="2322576"/>
            <a:ext cx="475488" cy="475488"/>
          </a:xfrm>
          <a:prstGeom prst="rect">
            <a:avLst/>
          </a:prstGeom>
        </p:spPr>
      </p:pic>
      <p:sp>
        <p:nvSpPr>
          <p:cNvPr id="38" name="Text 26"/>
          <p:cNvSpPr txBox="1"/>
          <p:nvPr/>
        </p:nvSpPr>
        <p:spPr>
          <a:xfrm>
            <a:off x="10332720" y="2889504"/>
            <a:ext cx="1097280"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39" name="Shape 27"/>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0" name="Image 10" descr="preencoded.png"/>
          <p:cNvPicPr>
            <a:picLocks noChangeAspect="1"/>
          </p:cNvPicPr>
          <p:nvPr/>
        </p:nvPicPr>
        <p:blipFill>
          <a:blip r:embed="rId13"/>
          <a:stretch>
            <a:fillRect/>
          </a:stretch>
        </p:blipFill>
        <p:spPr>
          <a:xfrm>
            <a:off x="10643616" y="3694176"/>
            <a:ext cx="475488" cy="475488"/>
          </a:xfrm>
          <a:prstGeom prst="rect">
            <a:avLst/>
          </a:prstGeom>
        </p:spPr>
      </p:pic>
      <p:sp>
        <p:nvSpPr>
          <p:cNvPr id="41" name="Text 28"/>
          <p:cNvSpPr txBox="1"/>
          <p:nvPr/>
        </p:nvSpPr>
        <p:spPr>
          <a:xfrm>
            <a:off x="10332720" y="4261104"/>
            <a:ext cx="1097280"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2" name="Shape 29"/>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3" name="Image 11" descr="preencoded.png"/>
          <p:cNvPicPr>
            <a:picLocks noChangeAspect="1"/>
          </p:cNvPicPr>
          <p:nvPr/>
        </p:nvPicPr>
        <p:blipFill>
          <a:blip r:embed="rId14"/>
          <a:stretch>
            <a:fillRect/>
          </a:stretch>
        </p:blipFill>
        <p:spPr>
          <a:xfrm>
            <a:off x="10643616" y="5065776"/>
            <a:ext cx="475488" cy="475488"/>
          </a:xfrm>
          <a:prstGeom prst="rect">
            <a:avLst/>
          </a:prstGeom>
        </p:spPr>
      </p:pic>
      <p:sp>
        <p:nvSpPr>
          <p:cNvPr id="44" name="Text 30"/>
          <p:cNvSpPr txBox="1"/>
          <p:nvPr/>
        </p:nvSpPr>
        <p:spPr>
          <a:xfrm>
            <a:off x="10332720" y="5632704"/>
            <a:ext cx="1097280"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219456"/>
            <a:ext cx="11365992" cy="658368"/>
          </a:xfrm>
          <a:prstGeom prst="rect">
            <a:avLst/>
          </a:prstGeom>
          <a:noFill/>
          <a:ln/>
        </p:spPr>
        <p:txBody>
          <a:bodyPr wrap="square" lIns="0" tIns="0" rIns="0" bIns="0" rtlCol="0" anchor="ctr"/>
          <a:lstStyle/>
          <a:p>
            <a:pPr marL="0" indent="0" algn="l">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marL="0" indent="0">
              <a:buNone/>
            </a:pPr>
            <a:r>
              <a:rPr lang="en-US" sz="1200" b="1" kern="0" spc="10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Which design-led, core-adjacent ("White Chair") products can Staples add to its marketplace without cannibalising 1P sales, using only external data?</a:t>
            </a:r>
            <a:endParaRPr lang="en-US" sz="1250" dirty="0"/>
          </a:p>
        </p:txBody>
      </p:sp>
      <p:sp>
        <p:nvSpPr>
          <p:cNvPr id="6" name="Shape 4"/>
          <p:cNvSpPr/>
          <p:nvPr/>
        </p:nvSpPr>
        <p:spPr>
          <a:xfrm>
            <a:off x="411480" y="1755648"/>
            <a:ext cx="2141525"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1995221" cy="420624"/>
          </a:xfrm>
          <a:prstGeom prst="rect">
            <a:avLst/>
          </a:prstGeom>
          <a:noFill/>
          <a:ln/>
        </p:spPr>
        <p:txBody>
          <a:bodyPr wrap="square" lIns="0" tIns="0" rIns="0" bIns="0" rtlCol="0" anchor="ctr"/>
          <a:lstStyle/>
          <a:p>
            <a:pPr marL="0" indent="0" algn="ctr">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1885493" cy="402336"/>
          </a:xfrm>
          <a:prstGeom prst="rect">
            <a:avLst/>
          </a:prstGeom>
          <a:noFill/>
          <a:ln/>
        </p:spPr>
        <p:txBody>
          <a:bodyPr wrap="square" lIns="0" tIns="0" rIns="0" bIns="0" rtlCol="0" anchor="t"/>
          <a:lstStyle/>
          <a:p>
            <a:pPr marL="0" indent="0" algn="ctr">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2717597" y="1755648"/>
            <a:ext cx="2141525"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2790749" y="1810512"/>
            <a:ext cx="1995221" cy="420624"/>
          </a:xfrm>
          <a:prstGeom prst="rect">
            <a:avLst/>
          </a:prstGeom>
          <a:noFill/>
          <a:ln/>
        </p:spPr>
        <p:txBody>
          <a:bodyPr wrap="square" lIns="0" tIns="0" rIns="0" bIns="0" rtlCol="0" anchor="ctr"/>
          <a:lstStyle/>
          <a:p>
            <a:pPr marL="0" indent="0" algn="ctr">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2845613" y="2249424"/>
            <a:ext cx="1885493" cy="402336"/>
          </a:xfrm>
          <a:prstGeom prst="rect">
            <a:avLst/>
          </a:prstGeom>
          <a:noFill/>
          <a:ln/>
        </p:spPr>
        <p:txBody>
          <a:bodyPr wrap="square" lIns="0" tIns="0" rIns="0" bIns="0" rtlCol="0" anchor="t"/>
          <a:lstStyle/>
          <a:p>
            <a:pPr marL="0" indent="0" algn="ctr">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5023714" y="1755648"/>
            <a:ext cx="2141525"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5096866" y="1810512"/>
            <a:ext cx="1995221" cy="420624"/>
          </a:xfrm>
          <a:prstGeom prst="rect">
            <a:avLst/>
          </a:prstGeom>
          <a:noFill/>
          <a:ln/>
        </p:spPr>
        <p:txBody>
          <a:bodyPr wrap="square" lIns="0" tIns="0" rIns="0" bIns="0" rtlCol="0" anchor="ctr"/>
          <a:lstStyle/>
          <a:p>
            <a:pPr marL="0" indent="0" algn="ctr">
              <a:buNone/>
            </a:pPr>
            <a:r>
              <a:rPr lang="en-US" sz="2800" b="1" dirty="0">
                <a:solidFill>
                  <a:srgbClr val="1F4E9A"/>
                </a:solidFill>
                <a:latin typeface="Calibri" pitchFamily="34" charset="0"/>
                <a:ea typeface="Calibri" pitchFamily="34" charset="-122"/>
                <a:cs typeface="Calibri" pitchFamily="34" charset="-120"/>
              </a:rPr>
              <a:t>897</a:t>
            </a:r>
            <a:endParaRPr lang="en-US" sz="2800" dirty="0"/>
          </a:p>
        </p:txBody>
      </p:sp>
      <p:sp>
        <p:nvSpPr>
          <p:cNvPr id="14" name="Text 12"/>
          <p:cNvSpPr txBox="1"/>
          <p:nvPr/>
        </p:nvSpPr>
        <p:spPr>
          <a:xfrm>
            <a:off x="5151730" y="2249424"/>
            <a:ext cx="1885493" cy="402336"/>
          </a:xfrm>
          <a:prstGeom prst="rect">
            <a:avLst/>
          </a:prstGeom>
          <a:noFill/>
          <a:ln/>
        </p:spPr>
        <p:txBody>
          <a:bodyPr wrap="square" lIns="0" tIns="0" rIns="0" bIns="0" rtlCol="0" anchor="t"/>
          <a:lstStyle/>
          <a:p>
            <a:pPr marL="0" indent="0" algn="ctr">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7329830" y="1755648"/>
            <a:ext cx="2141525" cy="950976"/>
          </a:xfrm>
          <a:prstGeom prst="roundRect">
            <a:avLst>
              <a:gd name="adj" fmla="val 9615"/>
            </a:avLst>
          </a:prstGeom>
          <a:solidFill>
            <a:srgbClr val="EEF3FB"/>
          </a:solidFill>
          <a:ln w="12700">
            <a:solidFill>
              <a:srgbClr val="EEF3FB"/>
            </a:solidFill>
            <a:prstDash val="solid"/>
          </a:ln>
        </p:spPr>
      </p:sp>
      <p:sp>
        <p:nvSpPr>
          <p:cNvPr id="16" name="Text 14"/>
          <p:cNvSpPr txBox="1"/>
          <p:nvPr/>
        </p:nvSpPr>
        <p:spPr>
          <a:xfrm>
            <a:off x="7402982" y="1810512"/>
            <a:ext cx="1995221" cy="420624"/>
          </a:xfrm>
          <a:prstGeom prst="rect">
            <a:avLst/>
          </a:prstGeom>
          <a:noFill/>
          <a:ln/>
        </p:spPr>
        <p:txBody>
          <a:bodyPr wrap="square" lIns="0" tIns="0" rIns="0" bIns="0" rtlCol="0" anchor="ctr"/>
          <a:lstStyle/>
          <a:p>
            <a:pPr marL="0" indent="0" algn="ctr">
              <a:buNone/>
            </a:pPr>
            <a:r>
              <a:rPr lang="en-US" sz="2800" b="1" dirty="0">
                <a:solidFill>
                  <a:srgbClr val="1F4E9A"/>
                </a:solidFill>
                <a:latin typeface="Calibri" pitchFamily="34" charset="0"/>
                <a:ea typeface="Calibri" pitchFamily="34" charset="-122"/>
                <a:cs typeface="Calibri" pitchFamily="34" charset="-120"/>
              </a:rPr>
              <a:t>99</a:t>
            </a:r>
            <a:endParaRPr lang="en-US" sz="2800" dirty="0"/>
          </a:p>
        </p:txBody>
      </p:sp>
      <p:sp>
        <p:nvSpPr>
          <p:cNvPr id="17" name="Text 15"/>
          <p:cNvSpPr txBox="1"/>
          <p:nvPr/>
        </p:nvSpPr>
        <p:spPr>
          <a:xfrm>
            <a:off x="7457846" y="2249424"/>
            <a:ext cx="1885493" cy="402336"/>
          </a:xfrm>
          <a:prstGeom prst="rect">
            <a:avLst/>
          </a:prstGeom>
          <a:noFill/>
          <a:ln/>
        </p:spPr>
        <p:txBody>
          <a:bodyPr wrap="square" lIns="0" tIns="0" rIns="0" bIns="0" rtlCol="0" anchor="t"/>
          <a:lstStyle/>
          <a:p>
            <a:pPr marL="0" indent="0" algn="ctr">
              <a:buNone/>
            </a:pPr>
            <a:r>
              <a:rPr lang="en-US" sz="1050" dirty="0">
                <a:solidFill>
                  <a:srgbClr val="1F2937"/>
                </a:solidFill>
                <a:latin typeface="Calibri" pitchFamily="34" charset="0"/>
                <a:ea typeface="Calibri" pitchFamily="34" charset="-122"/>
                <a:cs typeface="Calibri" pitchFamily="34" charset="-120"/>
              </a:rPr>
              <a:t>safe to add; 23 confirmed by both methods</a:t>
            </a:r>
            <a:endParaRPr lang="en-US" sz="1050" dirty="0"/>
          </a:p>
        </p:txBody>
      </p:sp>
      <p:sp>
        <p:nvSpPr>
          <p:cNvPr id="18" name="Shape 16"/>
          <p:cNvSpPr/>
          <p:nvPr/>
        </p:nvSpPr>
        <p:spPr>
          <a:xfrm>
            <a:off x="9635947" y="1755648"/>
            <a:ext cx="2141525" cy="950976"/>
          </a:xfrm>
          <a:prstGeom prst="roundRect">
            <a:avLst>
              <a:gd name="adj" fmla="val 9615"/>
            </a:avLst>
          </a:prstGeom>
          <a:solidFill>
            <a:srgbClr val="EEF3FB"/>
          </a:solidFill>
          <a:ln w="12700">
            <a:solidFill>
              <a:srgbClr val="EEF3FB"/>
            </a:solidFill>
            <a:prstDash val="solid"/>
          </a:ln>
        </p:spPr>
      </p:sp>
      <p:sp>
        <p:nvSpPr>
          <p:cNvPr id="19" name="Text 17"/>
          <p:cNvSpPr txBox="1"/>
          <p:nvPr/>
        </p:nvSpPr>
        <p:spPr>
          <a:xfrm>
            <a:off x="9709099" y="1810512"/>
            <a:ext cx="1995221" cy="420624"/>
          </a:xfrm>
          <a:prstGeom prst="rect">
            <a:avLst/>
          </a:prstGeom>
          <a:noFill/>
          <a:ln/>
        </p:spPr>
        <p:txBody>
          <a:bodyPr wrap="square" lIns="0" tIns="0" rIns="0" bIns="0" rtlCol="0" anchor="ctr"/>
          <a:lstStyle/>
          <a:p>
            <a:pPr marL="0" indent="0" algn="ctr">
              <a:buNone/>
            </a:pPr>
            <a:r>
              <a:rPr lang="en-US" sz="2800" b="1" dirty="0">
                <a:solidFill>
                  <a:srgbClr val="1F4E9A"/>
                </a:solidFill>
                <a:latin typeface="Calibri" pitchFamily="34" charset="0"/>
                <a:ea typeface="Calibri" pitchFamily="34" charset="-122"/>
                <a:cs typeface="Calibri" pitchFamily="34" charset="-120"/>
              </a:rPr>
              <a:t>263</a:t>
            </a:r>
            <a:endParaRPr lang="en-US" sz="2800" dirty="0"/>
          </a:p>
        </p:txBody>
      </p:sp>
      <p:sp>
        <p:nvSpPr>
          <p:cNvPr id="20" name="Text 18"/>
          <p:cNvSpPr txBox="1"/>
          <p:nvPr/>
        </p:nvSpPr>
        <p:spPr>
          <a:xfrm>
            <a:off x="9763963" y="2249424"/>
            <a:ext cx="1885493" cy="402336"/>
          </a:xfrm>
          <a:prstGeom prst="rect">
            <a:avLst/>
          </a:prstGeom>
          <a:noFill/>
          <a:ln/>
        </p:spPr>
        <p:txBody>
          <a:bodyPr wrap="square" lIns="0" tIns="0" rIns="0" bIns="0" rtlCol="0" anchor="t"/>
          <a:lstStyle/>
          <a:p>
            <a:pPr marL="0" indent="0" algn="ctr">
              <a:buNone/>
            </a:pPr>
            <a:r>
              <a:rPr lang="en-US" sz="1050" dirty="0">
                <a:solidFill>
                  <a:srgbClr val="1F2937"/>
                </a:solidFill>
                <a:latin typeface="Calibri" pitchFamily="34" charset="0"/>
                <a:ea typeface="Calibri" pitchFamily="34" charset="-122"/>
                <a:cs typeface="Calibri" pitchFamily="34" charset="-120"/>
              </a:rPr>
              <a:t>example products ready to list</a:t>
            </a:r>
            <a:endParaRPr lang="en-US" sz="1050" dirty="0"/>
          </a:p>
        </p:txBody>
      </p:sp>
      <p:sp>
        <p:nvSpPr>
          <p:cNvPr id="21" name="Text 19"/>
          <p:cNvSpPr txBox="1"/>
          <p:nvPr/>
        </p:nvSpPr>
        <p:spPr>
          <a:xfrm>
            <a:off x="411480" y="2926080"/>
            <a:ext cx="5486400" cy="256032"/>
          </a:xfrm>
          <a:prstGeom prst="rect">
            <a:avLst/>
          </a:prstGeom>
          <a:noFill/>
          <a:ln/>
        </p:spPr>
        <p:txBody>
          <a:bodyPr wrap="square" lIns="0" tIns="0" rIns="0" bIns="0" rtlCol="0" anchor="ctr"/>
          <a:lstStyle/>
          <a:p>
            <a:pPr marL="0" indent="0">
              <a:buNone/>
            </a:pPr>
            <a:r>
              <a:rPr lang="en-US" sz="1200" b="1" kern="0" spc="10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22" name="Shape 20"/>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blurRad="50800" dist="19050" dir="5400000" algn="bl" rotWithShape="0">
              <a:srgbClr val="9AA5B8">
                <a:alpha val="35000"/>
              </a:srgbClr>
            </a:outerShdw>
          </a:effectLst>
        </p:spPr>
      </p:sp>
      <p:sp>
        <p:nvSpPr>
          <p:cNvPr id="23" name="Shape 21"/>
          <p:cNvSpPr/>
          <p:nvPr/>
        </p:nvSpPr>
        <p:spPr>
          <a:xfrm>
            <a:off x="539496" y="3364992"/>
            <a:ext cx="438912" cy="438912"/>
          </a:xfrm>
          <a:prstGeom prst="ellipse">
            <a:avLst/>
          </a:prstGeom>
          <a:solidFill>
            <a:srgbClr val="1F4E9A"/>
          </a:solidFill>
          <a:ln w="12700">
            <a:solidFill>
              <a:srgbClr val="1F4E9A"/>
            </a:solidFill>
            <a:prstDash val="solid"/>
          </a:ln>
        </p:spPr>
      </p:sp>
      <p:pic>
        <p:nvPicPr>
          <p:cNvPr id="24" name="Image 0" descr="preencoded.png"/>
          <p:cNvPicPr>
            <a:picLocks noChangeAspect="1"/>
          </p:cNvPicPr>
          <p:nvPr/>
        </p:nvPicPr>
        <p:blipFill>
          <a:blip r:embed="rId3"/>
          <a:stretch>
            <a:fillRect/>
          </a:stretch>
        </p:blipFill>
        <p:spPr>
          <a:xfrm>
            <a:off x="636057" y="3461553"/>
            <a:ext cx="245791" cy="245791"/>
          </a:xfrm>
          <a:prstGeom prst="rect">
            <a:avLst/>
          </a:prstGeom>
        </p:spPr>
      </p:pic>
      <p:sp>
        <p:nvSpPr>
          <p:cNvPr id="25" name="Text 22"/>
          <p:cNvSpPr txBox="1"/>
          <p:nvPr/>
        </p:nvSpPr>
        <p:spPr>
          <a:xfrm>
            <a:off x="1069848" y="3328416"/>
            <a:ext cx="1988820" cy="512064"/>
          </a:xfrm>
          <a:prstGeom prst="rect">
            <a:avLst/>
          </a:prstGeom>
          <a:noFill/>
          <a:ln/>
        </p:spPr>
        <p:txBody>
          <a:bodyPr wrap="square" lIns="0" tIns="0" rIns="0" bIns="0" rtlCol="0" anchor="ctr"/>
          <a:lstStyle/>
          <a:p>
            <a:pPr marL="0" indent="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26" name="Text 23"/>
          <p:cNvSpPr txBox="1"/>
          <p:nvPr/>
        </p:nvSpPr>
        <p:spPr>
          <a:xfrm>
            <a:off x="557784" y="3913632"/>
            <a:ext cx="2464308" cy="457200"/>
          </a:xfrm>
          <a:prstGeom prst="rect">
            <a:avLst/>
          </a:prstGeom>
          <a:noFill/>
          <a:ln/>
        </p:spPr>
        <p:txBody>
          <a:bodyPr wrap="square" lIns="0" tIns="0" rIns="0" bIns="0" rtlCol="0" anchor="t"/>
          <a:lstStyle/>
          <a:p>
            <a:pPr marL="0" indent="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27" name="Text 24"/>
          <p:cNvSpPr txBox="1"/>
          <p:nvPr/>
        </p:nvSpPr>
        <p:spPr>
          <a:xfrm>
            <a:off x="557784" y="4389120"/>
            <a:ext cx="2464308" cy="219456"/>
          </a:xfrm>
          <a:prstGeom prst="rect">
            <a:avLst/>
          </a:prstGeom>
          <a:noFill/>
          <a:ln/>
        </p:spPr>
        <p:txBody>
          <a:bodyPr wrap="square" lIns="0" tIns="0" rIns="0" bIns="0" rtlCol="0" anchor="ctr"/>
          <a:lstStyle/>
          <a:p>
            <a:pPr marL="0" indent="0">
              <a:buNone/>
            </a:pPr>
            <a:r>
              <a:rPr lang="en-US" sz="1050" dirty="0">
                <a:solidFill>
                  <a:srgbClr val="5B6475"/>
                </a:solidFill>
                <a:latin typeface="Calibri" pitchFamily="34" charset="0"/>
                <a:ea typeface="Calibri" pitchFamily="34" charset="-122"/>
                <a:cs typeface="Calibri" pitchFamily="34" charset="-120"/>
              </a:rPr>
              <a:t>Staples: </a:t>
            </a:r>
            <a:r>
              <a:rPr lang="en-US" sz="1050" b="1" dirty="0">
                <a:solidFill>
                  <a:srgbClr val="CC0000"/>
                </a:solidFill>
                <a:latin typeface="Calibri" pitchFamily="34" charset="0"/>
                <a:ea typeface="Calibri" pitchFamily="34" charset="-122"/>
                <a:cs typeface="Calibri" pitchFamily="34" charset="-120"/>
              </a:rPr>
              <a:t>0 of 50</a:t>
            </a:r>
            <a:r>
              <a:rPr lang="en-US" sz="1050" dirty="0">
                <a:solidFill>
                  <a:srgbClr val="1F2937"/>
                </a:solidFill>
                <a:latin typeface="Calibri" pitchFamily="34" charset="0"/>
                <a:ea typeface="Calibri" pitchFamily="34" charset="-122"/>
                <a:cs typeface="Calibri" pitchFamily="34" charset="-120"/>
              </a:rPr>
              <a:t> · </a:t>
            </a:r>
            <a:r>
              <a:rPr lang="en-US" sz="1050" dirty="0">
                <a:solidFill>
                  <a:srgbClr val="5B6475"/>
                </a:solidFill>
                <a:latin typeface="Calibri" pitchFamily="34" charset="0"/>
                <a:ea typeface="Calibri" pitchFamily="34" charset="-122"/>
                <a:cs typeface="Calibri" pitchFamily="34" charset="-120"/>
              </a:rPr>
              <a:t>Amazon: </a:t>
            </a:r>
            <a:r>
              <a:rPr lang="en-US" sz="1050" b="1" dirty="0">
                <a:solidFill>
                  <a:srgbClr val="C45500"/>
                </a:solidFill>
                <a:latin typeface="Calibri" pitchFamily="34" charset="0"/>
                <a:ea typeface="Calibri" pitchFamily="34" charset="-122"/>
                <a:cs typeface="Calibri" pitchFamily="34" charset="-120"/>
              </a:rPr>
              <a:t>10%</a:t>
            </a: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8" name="Text 25"/>
          <p:cNvSpPr txBox="1"/>
          <p:nvPr/>
        </p:nvSpPr>
        <p:spPr>
          <a:xfrm>
            <a:off x="557784" y="4645152"/>
            <a:ext cx="2464308" cy="182880"/>
          </a:xfrm>
          <a:prstGeom prst="rect">
            <a:avLst/>
          </a:prstGeom>
          <a:noFill/>
          <a:ln/>
        </p:spPr>
        <p:txBody>
          <a:bodyPr wrap="square" lIns="0" tIns="0" rIns="0" bIns="0" rtlCol="0" anchor="t"/>
          <a:lstStyle/>
          <a:p>
            <a:pPr marL="0" indent="0">
              <a:buNone/>
            </a:pPr>
            <a:r>
              <a:rPr lang="en-US" sz="950" dirty="0">
                <a:solidFill>
                  <a:srgbClr val="5B6475"/>
                </a:solidFill>
                <a:latin typeface="Calibri" pitchFamily="34" charset="0"/>
                <a:ea typeface="Calibri" pitchFamily="34" charset="-122"/>
                <a:cs typeface="Calibri" pitchFamily="34" charset="-120"/>
              </a:rPr>
              <a:t>e.g. </a:t>
            </a:r>
            <a:r>
              <a:rPr lang="en-US" sz="950" u="sng" dirty="0">
                <a:solidFill>
                  <a:srgbClr val="2F6FD0"/>
                </a:solidFill>
                <a:latin typeface="Calibri" pitchFamily="34" charset="0"/>
                <a:ea typeface="Calibri" pitchFamily="34" charset="-122"/>
                <a:cs typeface="Calibri" pitchFamily="34" charset="-120"/>
                <a:hlinkClick r:id="rId4" tooltip="HTB K Cup Holder Compatible Coffee Pod Storage Drawer, Wood Brown">
                  <a:extLst>
                    <a:ext uri="{A12FA001-AC4F-418D-AE19-62706E023703}">
                      <ahyp:hlinkClr xmlns:ahyp="http://schemas.microsoft.com/office/drawing/2018/hyperlinkcolor" val="tx"/>
                    </a:ext>
                  </a:extLst>
                </a:hlinkClick>
              </a:rPr>
              <a:t>HTB K Cup Holder Compatible… · $36 ↗</a:t>
            </a:r>
            <a:endParaRPr lang="en-US" sz="950" dirty="0"/>
          </a:p>
        </p:txBody>
      </p:sp>
      <p:sp>
        <p:nvSpPr>
          <p:cNvPr id="29" name="Shape 26"/>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blurRad="50800" dist="19050" dir="5400000" algn="bl" rotWithShape="0">
              <a:srgbClr val="9AA5B8">
                <a:alpha val="35000"/>
              </a:srgbClr>
            </a:outerShdw>
          </a:effectLst>
        </p:spPr>
      </p:sp>
      <p:sp>
        <p:nvSpPr>
          <p:cNvPr id="30" name="Shape 27"/>
          <p:cNvSpPr/>
          <p:nvPr/>
        </p:nvSpPr>
        <p:spPr>
          <a:xfrm>
            <a:off x="3415284" y="3364992"/>
            <a:ext cx="438912" cy="438912"/>
          </a:xfrm>
          <a:prstGeom prst="ellipse">
            <a:avLst/>
          </a:prstGeom>
          <a:solidFill>
            <a:srgbClr val="1F4E9A"/>
          </a:solidFill>
          <a:ln w="12700">
            <a:solidFill>
              <a:srgbClr val="1F4E9A"/>
            </a:solidFill>
            <a:prstDash val="solid"/>
          </a:ln>
        </p:spPr>
      </p:sp>
      <p:pic>
        <p:nvPicPr>
          <p:cNvPr id="31" name="Image 1" descr="preencoded.png"/>
          <p:cNvPicPr>
            <a:picLocks noChangeAspect="1"/>
          </p:cNvPicPr>
          <p:nvPr/>
        </p:nvPicPr>
        <p:blipFill>
          <a:blip r:embed="rId5"/>
          <a:stretch>
            <a:fillRect/>
          </a:stretch>
        </p:blipFill>
        <p:spPr>
          <a:xfrm>
            <a:off x="3511845" y="3461553"/>
            <a:ext cx="245791" cy="245791"/>
          </a:xfrm>
          <a:prstGeom prst="rect">
            <a:avLst/>
          </a:prstGeom>
        </p:spPr>
      </p:pic>
      <p:sp>
        <p:nvSpPr>
          <p:cNvPr id="32" name="Text 28"/>
          <p:cNvSpPr txBox="1"/>
          <p:nvPr/>
        </p:nvSpPr>
        <p:spPr>
          <a:xfrm>
            <a:off x="3945636" y="3328416"/>
            <a:ext cx="1988820" cy="512064"/>
          </a:xfrm>
          <a:prstGeom prst="rect">
            <a:avLst/>
          </a:prstGeom>
          <a:noFill/>
          <a:ln/>
        </p:spPr>
        <p:txBody>
          <a:bodyPr wrap="square" lIns="0" tIns="0" rIns="0" bIns="0" rtlCol="0" anchor="ctr"/>
          <a:lstStyle/>
          <a:p>
            <a:pPr marL="0" indent="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3" name="Text 29"/>
          <p:cNvSpPr txBox="1"/>
          <p:nvPr/>
        </p:nvSpPr>
        <p:spPr>
          <a:xfrm>
            <a:off x="3433572" y="3913632"/>
            <a:ext cx="2464308" cy="457200"/>
          </a:xfrm>
          <a:prstGeom prst="rect">
            <a:avLst/>
          </a:prstGeom>
          <a:noFill/>
          <a:ln/>
        </p:spPr>
        <p:txBody>
          <a:bodyPr wrap="square" lIns="0" tIns="0" rIns="0" bIns="0" rtlCol="0" anchor="t"/>
          <a:lstStyle/>
          <a:p>
            <a:pPr marL="0" indent="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4" name="Text 30"/>
          <p:cNvSpPr txBox="1"/>
          <p:nvPr/>
        </p:nvSpPr>
        <p:spPr>
          <a:xfrm>
            <a:off x="3433572" y="4389120"/>
            <a:ext cx="2464308" cy="219456"/>
          </a:xfrm>
          <a:prstGeom prst="rect">
            <a:avLst/>
          </a:prstGeom>
          <a:noFill/>
          <a:ln/>
        </p:spPr>
        <p:txBody>
          <a:bodyPr wrap="square" lIns="0" tIns="0" rIns="0" bIns="0" rtlCol="0" anchor="ctr"/>
          <a:lstStyle/>
          <a:p>
            <a:pPr marL="0" indent="0">
              <a:buNone/>
            </a:pPr>
            <a:r>
              <a:rPr lang="en-US" sz="1050" dirty="0">
                <a:solidFill>
                  <a:srgbClr val="5B6475"/>
                </a:solidFill>
                <a:latin typeface="Calibri" pitchFamily="34" charset="0"/>
                <a:ea typeface="Calibri" pitchFamily="34" charset="-122"/>
                <a:cs typeface="Calibri" pitchFamily="34" charset="-120"/>
              </a:rPr>
              <a:t>Staples: </a:t>
            </a:r>
            <a:r>
              <a:rPr lang="en-US" sz="1050" b="1" dirty="0">
                <a:solidFill>
                  <a:srgbClr val="CC0000"/>
                </a:solidFill>
                <a:latin typeface="Calibri" pitchFamily="34" charset="0"/>
                <a:ea typeface="Calibri" pitchFamily="34" charset="-122"/>
                <a:cs typeface="Calibri" pitchFamily="34" charset="-120"/>
              </a:rPr>
              <a:t>1 of 318</a:t>
            </a:r>
            <a:r>
              <a:rPr lang="en-US" sz="1050" dirty="0">
                <a:solidFill>
                  <a:srgbClr val="1F2937"/>
                </a:solidFill>
                <a:latin typeface="Calibri" pitchFamily="34" charset="0"/>
                <a:ea typeface="Calibri" pitchFamily="34" charset="-122"/>
                <a:cs typeface="Calibri" pitchFamily="34" charset="-120"/>
              </a:rPr>
              <a:t> · </a:t>
            </a:r>
            <a:r>
              <a:rPr lang="en-US" sz="1050" dirty="0">
                <a:solidFill>
                  <a:srgbClr val="5B6475"/>
                </a:solidFill>
                <a:latin typeface="Calibri" pitchFamily="34" charset="0"/>
                <a:ea typeface="Calibri" pitchFamily="34" charset="-122"/>
                <a:cs typeface="Calibri" pitchFamily="34" charset="-120"/>
              </a:rPr>
              <a:t>Amazon: </a:t>
            </a:r>
            <a:r>
              <a:rPr lang="en-US" sz="1050" b="1" dirty="0">
                <a:solidFill>
                  <a:srgbClr val="C45500"/>
                </a:solidFill>
                <a:latin typeface="Calibri" pitchFamily="34" charset="0"/>
                <a:ea typeface="Calibri" pitchFamily="34" charset="-122"/>
                <a:cs typeface="Calibri" pitchFamily="34" charset="-120"/>
              </a:rPr>
              <a:t>11%</a:t>
            </a: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5" name="Text 31"/>
          <p:cNvSpPr txBox="1"/>
          <p:nvPr/>
        </p:nvSpPr>
        <p:spPr>
          <a:xfrm>
            <a:off x="3433572" y="4645152"/>
            <a:ext cx="2464308" cy="182880"/>
          </a:xfrm>
          <a:prstGeom prst="rect">
            <a:avLst/>
          </a:prstGeom>
          <a:noFill/>
          <a:ln/>
        </p:spPr>
        <p:txBody>
          <a:bodyPr wrap="square" lIns="0" tIns="0" rIns="0" bIns="0" rtlCol="0" anchor="t"/>
          <a:lstStyle/>
          <a:p>
            <a:pPr marL="0" indent="0">
              <a:buNone/>
            </a:pPr>
            <a:r>
              <a:rPr lang="en-US" sz="950" dirty="0">
                <a:solidFill>
                  <a:srgbClr val="5B6475"/>
                </a:solidFill>
                <a:latin typeface="Calibri" pitchFamily="34" charset="0"/>
                <a:ea typeface="Calibri" pitchFamily="34" charset="-122"/>
                <a:cs typeface="Calibri" pitchFamily="34" charset="-120"/>
              </a:rPr>
              <a:t>e.g. </a:t>
            </a:r>
            <a:r>
              <a:rPr lang="en-US" sz="950" u="sng" dirty="0">
                <a:solidFill>
                  <a:srgbClr val="2F6FD0"/>
                </a:solidFill>
                <a:latin typeface="Calibri" pitchFamily="34" charset="0"/>
                <a:ea typeface="Calibri" pitchFamily="34" charset="-122"/>
                <a:cs typeface="Calibri" pitchFamily="34" charset="-120"/>
                <a:hlinkClick r:id="rId6" tooltip="Stackable Stainless Steel Bento Box for Adults, 6 Cup with Snack Pod">
                  <a:extLst>
                    <a:ext uri="{A12FA001-AC4F-418D-AE19-62706E023703}">
                      <ahyp:hlinkClr xmlns:ahyp="http://schemas.microsoft.com/office/drawing/2018/hyperlinkcolor" val="tx"/>
                    </a:ext>
                  </a:extLst>
                </a:hlinkClick>
              </a:rPr>
              <a:t>Stackable Stainless Steel… · $39 ↗</a:t>
            </a:r>
            <a:endParaRPr lang="en-US" sz="950" dirty="0"/>
          </a:p>
        </p:txBody>
      </p:sp>
      <p:sp>
        <p:nvSpPr>
          <p:cNvPr id="36" name="Shape 32"/>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blurRad="50800" dist="19050" dir="5400000" algn="bl" rotWithShape="0">
              <a:srgbClr val="9AA5B8">
                <a:alpha val="35000"/>
              </a:srgbClr>
            </a:outerShdw>
          </a:effectLst>
        </p:spPr>
      </p:sp>
      <p:sp>
        <p:nvSpPr>
          <p:cNvPr id="37" name="Shape 33"/>
          <p:cNvSpPr/>
          <p:nvPr/>
        </p:nvSpPr>
        <p:spPr>
          <a:xfrm>
            <a:off x="6291072" y="3364992"/>
            <a:ext cx="438912" cy="438912"/>
          </a:xfrm>
          <a:prstGeom prst="ellipse">
            <a:avLst/>
          </a:prstGeom>
          <a:solidFill>
            <a:srgbClr val="1F4E9A"/>
          </a:solidFill>
          <a:ln w="12700">
            <a:solidFill>
              <a:srgbClr val="1F4E9A"/>
            </a:solidFill>
            <a:prstDash val="solid"/>
          </a:ln>
        </p:spPr>
      </p:sp>
      <p:pic>
        <p:nvPicPr>
          <p:cNvPr id="38" name="Image 2" descr="preencoded.png"/>
          <p:cNvPicPr>
            <a:picLocks noChangeAspect="1"/>
          </p:cNvPicPr>
          <p:nvPr/>
        </p:nvPicPr>
        <p:blipFill>
          <a:blip r:embed="rId7"/>
          <a:stretch>
            <a:fillRect/>
          </a:stretch>
        </p:blipFill>
        <p:spPr>
          <a:xfrm>
            <a:off x="6387633" y="3461553"/>
            <a:ext cx="245791" cy="245791"/>
          </a:xfrm>
          <a:prstGeom prst="rect">
            <a:avLst/>
          </a:prstGeom>
        </p:spPr>
      </p:pic>
      <p:sp>
        <p:nvSpPr>
          <p:cNvPr id="39" name="Text 34"/>
          <p:cNvSpPr txBox="1"/>
          <p:nvPr/>
        </p:nvSpPr>
        <p:spPr>
          <a:xfrm>
            <a:off x="6821424" y="3328416"/>
            <a:ext cx="1988820" cy="512064"/>
          </a:xfrm>
          <a:prstGeom prst="rect">
            <a:avLst/>
          </a:prstGeom>
          <a:noFill/>
          <a:ln/>
        </p:spPr>
        <p:txBody>
          <a:bodyPr wrap="square" lIns="0" tIns="0" rIns="0" bIns="0" rtlCol="0" anchor="ctr"/>
          <a:lstStyle/>
          <a:p>
            <a:pPr marL="0" indent="0">
              <a:buNone/>
            </a:pPr>
            <a:r>
              <a:rPr lang="en-US" sz="1250" b="1" dirty="0">
                <a:solidFill>
                  <a:srgbClr val="13285B"/>
                </a:solidFill>
                <a:latin typeface="Calibri" pitchFamily="34" charset="0"/>
                <a:ea typeface="Calibri" pitchFamily="34" charset="-122"/>
                <a:cs typeface="Calibri" pitchFamily="34" charset="-120"/>
              </a:rPr>
              <a:t>Guided &amp; daily journals</a:t>
            </a:r>
            <a:endParaRPr lang="en-US" sz="1250" dirty="0"/>
          </a:p>
        </p:txBody>
      </p:sp>
      <p:sp>
        <p:nvSpPr>
          <p:cNvPr id="40" name="Text 35"/>
          <p:cNvSpPr txBox="1"/>
          <p:nvPr/>
        </p:nvSpPr>
        <p:spPr>
          <a:xfrm>
            <a:off x="6309360" y="3913632"/>
            <a:ext cx="2464308" cy="457200"/>
          </a:xfrm>
          <a:prstGeom prst="rect">
            <a:avLst/>
          </a:prstGeom>
          <a:noFill/>
          <a:ln/>
        </p:spPr>
        <p:txBody>
          <a:bodyPr wrap="square" lIns="0" tIns="0" rIns="0" bIns="0" rtlCol="0" anchor="t"/>
          <a:lstStyle/>
          <a:p>
            <a:pPr marL="0" indent="0">
              <a:buNone/>
            </a:pPr>
            <a:r>
              <a:rPr lang="en-US" sz="950" i="1" dirty="0">
                <a:solidFill>
                  <a:srgbClr val="1F2937"/>
                </a:solidFill>
                <a:latin typeface="Calibri" pitchFamily="34" charset="0"/>
                <a:ea typeface="Calibri" pitchFamily="34" charset="-122"/>
                <a:cs typeface="Calibri" pitchFamily="34" charset="-120"/>
              </a:rPr>
              <a:t>Planner shoppers already come to Staples (805 planners); a journal is the natural add-on</a:t>
            </a:r>
            <a:endParaRPr lang="en-US" sz="950" dirty="0"/>
          </a:p>
        </p:txBody>
      </p:sp>
      <p:sp>
        <p:nvSpPr>
          <p:cNvPr id="41" name="Text 36"/>
          <p:cNvSpPr txBox="1"/>
          <p:nvPr/>
        </p:nvSpPr>
        <p:spPr>
          <a:xfrm>
            <a:off x="6309360" y="4389120"/>
            <a:ext cx="2464308" cy="219456"/>
          </a:xfrm>
          <a:prstGeom prst="rect">
            <a:avLst/>
          </a:prstGeom>
          <a:noFill/>
          <a:ln/>
        </p:spPr>
        <p:txBody>
          <a:bodyPr wrap="square" lIns="0" tIns="0" rIns="0" bIns="0" rtlCol="0" anchor="ctr"/>
          <a:lstStyle/>
          <a:p>
            <a:pPr marL="0" indent="0">
              <a:buNone/>
            </a:pPr>
            <a:r>
              <a:rPr lang="en-US" sz="1050" dirty="0">
                <a:solidFill>
                  <a:srgbClr val="5B6475"/>
                </a:solidFill>
                <a:latin typeface="Calibri" pitchFamily="34" charset="0"/>
                <a:ea typeface="Calibri" pitchFamily="34" charset="-122"/>
                <a:cs typeface="Calibri" pitchFamily="34" charset="-120"/>
              </a:rPr>
              <a:t>Staples: </a:t>
            </a:r>
            <a:r>
              <a:rPr lang="en-US" sz="1050" b="1" dirty="0">
                <a:solidFill>
                  <a:srgbClr val="CC0000"/>
                </a:solidFill>
                <a:latin typeface="Calibri" pitchFamily="34" charset="0"/>
                <a:ea typeface="Calibri" pitchFamily="34" charset="-122"/>
                <a:cs typeface="Calibri" pitchFamily="34" charset="-120"/>
              </a:rPr>
              <a:t>0 of 805</a:t>
            </a:r>
            <a:r>
              <a:rPr lang="en-US" sz="1050" dirty="0">
                <a:solidFill>
                  <a:srgbClr val="1F2937"/>
                </a:solidFill>
                <a:latin typeface="Calibri" pitchFamily="34" charset="0"/>
                <a:ea typeface="Calibri" pitchFamily="34" charset="-122"/>
                <a:cs typeface="Calibri" pitchFamily="34" charset="-120"/>
              </a:rPr>
              <a:t> · </a:t>
            </a:r>
            <a:r>
              <a:rPr lang="en-US" sz="1050" dirty="0">
                <a:solidFill>
                  <a:srgbClr val="5B6475"/>
                </a:solidFill>
                <a:latin typeface="Calibri" pitchFamily="34" charset="0"/>
                <a:ea typeface="Calibri" pitchFamily="34" charset="-122"/>
                <a:cs typeface="Calibri" pitchFamily="34" charset="-120"/>
              </a:rPr>
              <a:t>Amazon: </a:t>
            </a:r>
            <a:r>
              <a:rPr lang="en-US" sz="1050" b="1" dirty="0">
                <a:solidFill>
                  <a:srgbClr val="C45500"/>
                </a:solidFill>
                <a:latin typeface="Calibri" pitchFamily="34" charset="0"/>
                <a:ea typeface="Calibri" pitchFamily="34" charset="-122"/>
                <a:cs typeface="Calibri" pitchFamily="34" charset="-120"/>
              </a:rPr>
              <a:t>17%</a:t>
            </a: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2" name="Text 37"/>
          <p:cNvSpPr txBox="1"/>
          <p:nvPr/>
        </p:nvSpPr>
        <p:spPr>
          <a:xfrm>
            <a:off x="6309360" y="4645152"/>
            <a:ext cx="2464308" cy="182880"/>
          </a:xfrm>
          <a:prstGeom prst="rect">
            <a:avLst/>
          </a:prstGeom>
          <a:noFill/>
          <a:ln/>
        </p:spPr>
        <p:txBody>
          <a:bodyPr wrap="square" lIns="0" tIns="0" rIns="0" bIns="0" rtlCol="0" anchor="t"/>
          <a:lstStyle/>
          <a:p>
            <a:pPr marL="0" indent="0">
              <a:buNone/>
            </a:pPr>
            <a:r>
              <a:rPr lang="en-US" sz="950" dirty="0">
                <a:solidFill>
                  <a:srgbClr val="5B6475"/>
                </a:solidFill>
                <a:latin typeface="Calibri" pitchFamily="34" charset="0"/>
                <a:ea typeface="Calibri" pitchFamily="34" charset="-122"/>
                <a:cs typeface="Calibri" pitchFamily="34" charset="-120"/>
              </a:rPr>
              <a:t>e.g. </a:t>
            </a:r>
            <a:r>
              <a:rPr lang="en-US" sz="950" u="sng" dirty="0">
                <a:solidFill>
                  <a:srgbClr val="2F6FD0"/>
                </a:solidFill>
                <a:latin typeface="Calibri" pitchFamily="34" charset="0"/>
                <a:ea typeface="Calibri" pitchFamily="34" charset="-122"/>
                <a:cs typeface="Calibri" pitchFamily="34" charset="-120"/>
                <a:hlinkClick r:id="rId8" tooltip="The Gratitude Journal 2026: Daily Gratitude Practice to Inspire Thankfulness, Mindfulness, Positivity, Happiness, Upgraded with Pen Holder, Inner Pocket &amp; Elastic Closure Band (Beige)">
                  <a:extLst>
                    <a:ext uri="{A12FA001-AC4F-418D-AE19-62706E023703}">
                      <ahyp:hlinkClr xmlns:ahyp="http://schemas.microsoft.com/office/drawing/2018/hyperlinkcolor" val="tx"/>
                    </a:ext>
                  </a:extLst>
                </a:hlinkClick>
              </a:rPr>
              <a:t>The Gratitude Journal 2026… · $9 ↗</a:t>
            </a:r>
            <a:endParaRPr lang="en-US" sz="950" dirty="0"/>
          </a:p>
        </p:txBody>
      </p:sp>
      <p:sp>
        <p:nvSpPr>
          <p:cNvPr id="43" name="Shape 38"/>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blurRad="50800" dist="19050" dir="5400000" algn="bl" rotWithShape="0">
              <a:srgbClr val="9AA5B8">
                <a:alpha val="35000"/>
              </a:srgbClr>
            </a:outerShdw>
          </a:effectLst>
        </p:spPr>
      </p:sp>
      <p:sp>
        <p:nvSpPr>
          <p:cNvPr id="44" name="Shape 39"/>
          <p:cNvSpPr/>
          <p:nvPr/>
        </p:nvSpPr>
        <p:spPr>
          <a:xfrm>
            <a:off x="9166860" y="3364992"/>
            <a:ext cx="438912" cy="438912"/>
          </a:xfrm>
          <a:prstGeom prst="ellipse">
            <a:avLst/>
          </a:prstGeom>
          <a:solidFill>
            <a:srgbClr val="1F4E9A"/>
          </a:solidFill>
          <a:ln w="12700">
            <a:solidFill>
              <a:srgbClr val="1F4E9A"/>
            </a:solidFill>
            <a:prstDash val="solid"/>
          </a:ln>
        </p:spPr>
      </p:sp>
      <p:pic>
        <p:nvPicPr>
          <p:cNvPr id="45" name="Image 3" descr="preencoded.png"/>
          <p:cNvPicPr>
            <a:picLocks noChangeAspect="1"/>
          </p:cNvPicPr>
          <p:nvPr/>
        </p:nvPicPr>
        <p:blipFill>
          <a:blip r:embed="rId9"/>
          <a:stretch>
            <a:fillRect/>
          </a:stretch>
        </p:blipFill>
        <p:spPr>
          <a:xfrm>
            <a:off x="9263421" y="3461553"/>
            <a:ext cx="245791" cy="245791"/>
          </a:xfrm>
          <a:prstGeom prst="rect">
            <a:avLst/>
          </a:prstGeom>
        </p:spPr>
      </p:pic>
      <p:sp>
        <p:nvSpPr>
          <p:cNvPr id="46" name="Text 40"/>
          <p:cNvSpPr txBox="1"/>
          <p:nvPr/>
        </p:nvSpPr>
        <p:spPr>
          <a:xfrm>
            <a:off x="9697212" y="3328416"/>
            <a:ext cx="1988820" cy="512064"/>
          </a:xfrm>
          <a:prstGeom prst="rect">
            <a:avLst/>
          </a:prstGeom>
          <a:noFill/>
          <a:ln/>
        </p:spPr>
        <p:txBody>
          <a:bodyPr wrap="square" lIns="0" tIns="0" rIns="0" bIns="0" rtlCol="0" anchor="ctr"/>
          <a:lstStyle/>
          <a:p>
            <a:pPr marL="0" indent="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7" name="Text 41"/>
          <p:cNvSpPr txBox="1"/>
          <p:nvPr/>
        </p:nvSpPr>
        <p:spPr>
          <a:xfrm>
            <a:off x="9185148" y="3913632"/>
            <a:ext cx="2464308" cy="457200"/>
          </a:xfrm>
          <a:prstGeom prst="rect">
            <a:avLst/>
          </a:prstGeom>
          <a:noFill/>
          <a:ln/>
        </p:spPr>
        <p:txBody>
          <a:bodyPr wrap="square" lIns="0" tIns="0" rIns="0" bIns="0" rtlCol="0" anchor="t"/>
          <a:lstStyle/>
          <a:p>
            <a:pPr marL="0" indent="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8" name="Text 42"/>
          <p:cNvSpPr txBox="1"/>
          <p:nvPr/>
        </p:nvSpPr>
        <p:spPr>
          <a:xfrm>
            <a:off x="9185148" y="4389120"/>
            <a:ext cx="2464308" cy="219456"/>
          </a:xfrm>
          <a:prstGeom prst="rect">
            <a:avLst/>
          </a:prstGeom>
          <a:noFill/>
          <a:ln/>
        </p:spPr>
        <p:txBody>
          <a:bodyPr wrap="square" lIns="0" tIns="0" rIns="0" bIns="0" rtlCol="0" anchor="ctr"/>
          <a:lstStyle/>
          <a:p>
            <a:pPr marL="0" indent="0">
              <a:buNone/>
            </a:pPr>
            <a:r>
              <a:rPr lang="en-US" sz="1050" dirty="0">
                <a:solidFill>
                  <a:srgbClr val="5B6475"/>
                </a:solidFill>
                <a:latin typeface="Calibri" pitchFamily="34" charset="0"/>
                <a:ea typeface="Calibri" pitchFamily="34" charset="-122"/>
                <a:cs typeface="Calibri" pitchFamily="34" charset="-120"/>
              </a:rPr>
              <a:t>Staples: </a:t>
            </a:r>
            <a:r>
              <a:rPr lang="en-US" sz="1050" b="1" dirty="0">
                <a:solidFill>
                  <a:srgbClr val="CC0000"/>
                </a:solidFill>
                <a:latin typeface="Calibri" pitchFamily="34" charset="0"/>
                <a:ea typeface="Calibri" pitchFamily="34" charset="-122"/>
                <a:cs typeface="Calibri" pitchFamily="34" charset="-120"/>
              </a:rPr>
              <a:t>0 of 116</a:t>
            </a:r>
            <a:r>
              <a:rPr lang="en-US" sz="1050" dirty="0">
                <a:solidFill>
                  <a:srgbClr val="1F2937"/>
                </a:solidFill>
                <a:latin typeface="Calibri" pitchFamily="34" charset="0"/>
                <a:ea typeface="Calibri" pitchFamily="34" charset="-122"/>
                <a:cs typeface="Calibri" pitchFamily="34" charset="-120"/>
              </a:rPr>
              <a:t> · </a:t>
            </a:r>
            <a:r>
              <a:rPr lang="en-US" sz="1050" dirty="0">
                <a:solidFill>
                  <a:srgbClr val="5B6475"/>
                </a:solidFill>
                <a:latin typeface="Calibri" pitchFamily="34" charset="0"/>
                <a:ea typeface="Calibri" pitchFamily="34" charset="-122"/>
                <a:cs typeface="Calibri" pitchFamily="34" charset="-120"/>
              </a:rPr>
              <a:t>Wayfair: </a:t>
            </a:r>
            <a:r>
              <a:rPr lang="en-US" sz="1050" b="1" dirty="0">
                <a:solidFill>
                  <a:srgbClr val="7F187F"/>
                </a:solidFill>
                <a:latin typeface="Calibri" pitchFamily="34" charset="0"/>
                <a:ea typeface="Calibri" pitchFamily="34" charset="-122"/>
                <a:cs typeface="Calibri" pitchFamily="34" charset="-120"/>
              </a:rPr>
              <a:t>13%</a:t>
            </a: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9" name="Text 43"/>
          <p:cNvSpPr txBox="1"/>
          <p:nvPr/>
        </p:nvSpPr>
        <p:spPr>
          <a:xfrm>
            <a:off x="9185148" y="4645152"/>
            <a:ext cx="2464308" cy="182880"/>
          </a:xfrm>
          <a:prstGeom prst="rect">
            <a:avLst/>
          </a:prstGeom>
          <a:noFill/>
          <a:ln/>
        </p:spPr>
        <p:txBody>
          <a:bodyPr wrap="square" lIns="0" tIns="0" rIns="0" bIns="0" rtlCol="0" anchor="t"/>
          <a:lstStyle/>
          <a:p>
            <a:pPr marL="0" indent="0">
              <a:buNone/>
            </a:pPr>
            <a:r>
              <a:rPr lang="en-US" sz="950" dirty="0">
                <a:solidFill>
                  <a:srgbClr val="5B6475"/>
                </a:solidFill>
                <a:latin typeface="Calibri" pitchFamily="34" charset="0"/>
                <a:ea typeface="Calibri" pitchFamily="34" charset="-122"/>
                <a:cs typeface="Calibri" pitchFamily="34" charset="-120"/>
              </a:rPr>
              <a:t>e.g. </a:t>
            </a:r>
            <a:r>
              <a:rPr lang="en-US" sz="950" u="sng" dirty="0">
                <a:solidFill>
                  <a:srgbClr val="2F6FD0"/>
                </a:solidFill>
                <a:latin typeface="Calibri" pitchFamily="34" charset="0"/>
                <a:ea typeface="Calibri" pitchFamily="34" charset="-122"/>
                <a:cs typeface="Calibri" pitchFamily="34" charset="-120"/>
                <a:hlinkClick r:id="rId10" tooltip="360° Swivel Accent Chair, Velvet Upholstered Open-Back Swivel Barrel Chair , Modern Swivel Lounge Chair for Living Room, Dining Room, Bedroom">
                  <a:extLst>
                    <a:ext uri="{A12FA001-AC4F-418D-AE19-62706E023703}">
                      <ahyp:hlinkClr xmlns:ahyp="http://schemas.microsoft.com/office/drawing/2018/hyperlinkcolor" val="tx"/>
                    </a:ext>
                  </a:extLst>
                </a:hlinkClick>
              </a:rPr>
              <a:t>360° Swivel Accent Chair… · $260 ↗</a:t>
            </a:r>
            <a:endParaRPr lang="en-US" sz="950" dirty="0"/>
          </a:p>
        </p:txBody>
      </p:sp>
      <p:sp>
        <p:nvSpPr>
          <p:cNvPr id="50" name="Text 44"/>
          <p:cNvSpPr txBox="1"/>
          <p:nvPr/>
        </p:nvSpPr>
        <p:spPr>
          <a:xfrm>
            <a:off x="411480" y="5175504"/>
            <a:ext cx="5486400" cy="256032"/>
          </a:xfrm>
          <a:prstGeom prst="rect">
            <a:avLst/>
          </a:prstGeom>
          <a:noFill/>
          <a:ln/>
        </p:spPr>
        <p:txBody>
          <a:bodyPr wrap="square" lIns="0" tIns="0" rIns="0" bIns="0" rtlCol="0" anchor="ctr"/>
          <a:lstStyle/>
          <a:p>
            <a:pPr marL="0" indent="0">
              <a:buNone/>
            </a:pPr>
            <a:r>
              <a:rPr lang="en-US" sz="1200" b="1" kern="0" spc="10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51" name="Shape 45"/>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52" name="Shape 46"/>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3" name="Image 4" descr="preencoded.png"/>
          <p:cNvPicPr>
            <a:picLocks noChangeAspect="1"/>
          </p:cNvPicPr>
          <p:nvPr/>
        </p:nvPicPr>
        <p:blipFill>
          <a:blip r:embed="rId11"/>
          <a:stretch>
            <a:fillRect/>
          </a:stretch>
        </p:blipFill>
        <p:spPr>
          <a:xfrm>
            <a:off x="521208" y="5559552"/>
            <a:ext cx="201168" cy="201168"/>
          </a:xfrm>
          <a:prstGeom prst="rect">
            <a:avLst/>
          </a:prstGeom>
        </p:spPr>
      </p:pic>
      <p:sp>
        <p:nvSpPr>
          <p:cNvPr id="54" name="Text 47"/>
          <p:cNvSpPr txBox="1"/>
          <p:nvPr/>
        </p:nvSpPr>
        <p:spPr>
          <a:xfrm>
            <a:off x="813816" y="5486400"/>
            <a:ext cx="1687982" cy="347472"/>
          </a:xfrm>
          <a:prstGeom prst="rect">
            <a:avLst/>
          </a:prstGeom>
          <a:noFill/>
          <a:ln/>
        </p:spPr>
        <p:txBody>
          <a:bodyPr wrap="square" lIns="0" tIns="0" rIns="0" bIns="0" rtlCol="0" anchor="ctr"/>
          <a:lstStyle/>
          <a:p>
            <a:pPr marL="0" indent="0">
              <a:buNone/>
            </a:pPr>
            <a:r>
              <a:rPr lang="en-US" sz="1050" b="1" kern="0" spc="10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5" name="Text 48"/>
          <p:cNvSpPr txBox="1"/>
          <p:nvPr/>
        </p:nvSpPr>
        <p:spPr>
          <a:xfrm>
            <a:off x="521208" y="5870448"/>
            <a:ext cx="1980590" cy="384048"/>
          </a:xfrm>
          <a:prstGeom prst="rect">
            <a:avLst/>
          </a:prstGeom>
          <a:noFill/>
          <a:ln/>
        </p:spPr>
        <p:txBody>
          <a:bodyPr wrap="square" lIns="0" tIns="0" rIns="0" bIns="0" rtlCol="0" anchor="ctr"/>
          <a:lstStyle/>
          <a:p>
            <a:pPr marL="0" indent="0">
              <a:buNone/>
            </a:pPr>
            <a:r>
              <a:rPr lang="en-US" sz="1050" b="1" dirty="0">
                <a:solidFill>
                  <a:srgbClr val="13285B"/>
                </a:solidFill>
                <a:latin typeface="Calibri" pitchFamily="34" charset="0"/>
                <a:ea typeface="Calibri" pitchFamily="34" charset="-122"/>
                <a:cs typeface="Calibri" pitchFamily="34" charset="-120"/>
              </a:rPr>
              <a:t>Demand &amp; segment prioritisation</a:t>
            </a:r>
            <a:endParaRPr lang="en-US" sz="1050" dirty="0"/>
          </a:p>
        </p:txBody>
      </p:sp>
      <p:sp>
        <p:nvSpPr>
          <p:cNvPr id="56" name="Shape 49"/>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7" name="Shape 50"/>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8" name="Image 5" descr="preencoded.png"/>
          <p:cNvPicPr>
            <a:picLocks noChangeAspect="1"/>
          </p:cNvPicPr>
          <p:nvPr/>
        </p:nvPicPr>
        <p:blipFill>
          <a:blip r:embed="rId12"/>
          <a:stretch>
            <a:fillRect/>
          </a:stretch>
        </p:blipFill>
        <p:spPr>
          <a:xfrm>
            <a:off x="2821838" y="5559552"/>
            <a:ext cx="201168" cy="201168"/>
          </a:xfrm>
          <a:prstGeom prst="rect">
            <a:avLst/>
          </a:prstGeom>
        </p:spPr>
      </p:pic>
      <p:sp>
        <p:nvSpPr>
          <p:cNvPr id="59" name="Text 51"/>
          <p:cNvSpPr txBox="1"/>
          <p:nvPr/>
        </p:nvSpPr>
        <p:spPr>
          <a:xfrm>
            <a:off x="3114446" y="5486400"/>
            <a:ext cx="1687982" cy="347472"/>
          </a:xfrm>
          <a:prstGeom prst="rect">
            <a:avLst/>
          </a:prstGeom>
          <a:noFill/>
          <a:ln/>
        </p:spPr>
        <p:txBody>
          <a:bodyPr wrap="square" lIns="0" tIns="0" rIns="0" bIns="0" rtlCol="0" anchor="ctr"/>
          <a:lstStyle/>
          <a:p>
            <a:pPr marL="0" indent="0">
              <a:buNone/>
            </a:pPr>
            <a:r>
              <a:rPr lang="en-US" sz="1050" b="1" kern="0" spc="10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60" name="Text 52"/>
          <p:cNvSpPr txBox="1"/>
          <p:nvPr/>
        </p:nvSpPr>
        <p:spPr>
          <a:xfrm>
            <a:off x="2821838" y="5870448"/>
            <a:ext cx="1980590" cy="384048"/>
          </a:xfrm>
          <a:prstGeom prst="rect">
            <a:avLst/>
          </a:prstGeom>
          <a:noFill/>
          <a:ln/>
        </p:spPr>
        <p:txBody>
          <a:bodyPr wrap="square" lIns="0" tIns="0" rIns="0" bIns="0" rtlCol="0" anchor="ctr"/>
          <a:lstStyle/>
          <a:p>
            <a:pPr marL="0" indent="0">
              <a:buNone/>
            </a:pPr>
            <a:r>
              <a:rPr lang="en-US" sz="1050" b="1" dirty="0">
                <a:solidFill>
                  <a:srgbClr val="13285B"/>
                </a:solidFill>
                <a:latin typeface="Calibri" pitchFamily="34" charset="0"/>
                <a:ea typeface="Calibri" pitchFamily="34" charset="-122"/>
                <a:cs typeface="Calibri" pitchFamily="34" charset="-120"/>
              </a:rPr>
              <a:t>Cannibalisation &amp; threshold tuning</a:t>
            </a:r>
            <a:endParaRPr lang="en-US" sz="1050" dirty="0"/>
          </a:p>
        </p:txBody>
      </p:sp>
      <p:sp>
        <p:nvSpPr>
          <p:cNvPr id="61" name="Shape 53"/>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62" name="Shape 54"/>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3" name="Image 6" descr="preencoded.png"/>
          <p:cNvPicPr>
            <a:picLocks noChangeAspect="1"/>
          </p:cNvPicPr>
          <p:nvPr/>
        </p:nvPicPr>
        <p:blipFill>
          <a:blip r:embed="rId13"/>
          <a:stretch>
            <a:fillRect/>
          </a:stretch>
        </p:blipFill>
        <p:spPr>
          <a:xfrm>
            <a:off x="5122469" y="5559552"/>
            <a:ext cx="201168" cy="201168"/>
          </a:xfrm>
          <a:prstGeom prst="rect">
            <a:avLst/>
          </a:prstGeom>
        </p:spPr>
      </p:pic>
      <p:sp>
        <p:nvSpPr>
          <p:cNvPr id="64" name="Text 55"/>
          <p:cNvSpPr txBox="1"/>
          <p:nvPr/>
        </p:nvSpPr>
        <p:spPr>
          <a:xfrm>
            <a:off x="5415077" y="5486400"/>
            <a:ext cx="1687982" cy="347472"/>
          </a:xfrm>
          <a:prstGeom prst="rect">
            <a:avLst/>
          </a:prstGeom>
          <a:noFill/>
          <a:ln/>
        </p:spPr>
        <p:txBody>
          <a:bodyPr wrap="square" lIns="0" tIns="0" rIns="0" bIns="0" rtlCol="0" anchor="ctr"/>
          <a:lstStyle/>
          <a:p>
            <a:pPr marL="0" indent="0">
              <a:buNone/>
            </a:pPr>
            <a:r>
              <a:rPr lang="en-US" sz="1050" b="1" kern="0" spc="10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5" name="Text 56"/>
          <p:cNvSpPr txBox="1"/>
          <p:nvPr/>
        </p:nvSpPr>
        <p:spPr>
          <a:xfrm>
            <a:off x="5122469" y="5870448"/>
            <a:ext cx="1980590" cy="384048"/>
          </a:xfrm>
          <a:prstGeom prst="rect">
            <a:avLst/>
          </a:prstGeom>
          <a:noFill/>
          <a:ln/>
        </p:spPr>
        <p:txBody>
          <a:bodyPr wrap="square" lIns="0" tIns="0" rIns="0" bIns="0" rtlCol="0" anchor="ctr"/>
          <a:lstStyle/>
          <a:p>
            <a:pPr marL="0" indent="0">
              <a:buNone/>
            </a:pPr>
            <a:r>
              <a:rPr lang="en-US" sz="1050" b="1" dirty="0">
                <a:solidFill>
                  <a:srgbClr val="13285B"/>
                </a:solidFill>
                <a:latin typeface="Calibri" pitchFamily="34" charset="0"/>
                <a:ea typeface="Calibri" pitchFamily="34" charset="-122"/>
                <a:cs typeface="Calibri" pitchFamily="34" charset="-120"/>
              </a:rPr>
              <a:t>Any node, competitor or audience</a:t>
            </a:r>
            <a:endParaRPr lang="en-US" sz="1050" dirty="0"/>
          </a:p>
        </p:txBody>
      </p:sp>
      <p:sp>
        <p:nvSpPr>
          <p:cNvPr id="66" name="Shape 57"/>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7" name="Shape 58"/>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8" name="Image 7" descr="preencoded.png"/>
          <p:cNvPicPr>
            <a:picLocks noChangeAspect="1"/>
          </p:cNvPicPr>
          <p:nvPr/>
        </p:nvPicPr>
        <p:blipFill>
          <a:blip r:embed="rId14"/>
          <a:stretch>
            <a:fillRect/>
          </a:stretch>
        </p:blipFill>
        <p:spPr>
          <a:xfrm>
            <a:off x="7423099" y="5559552"/>
            <a:ext cx="201168" cy="201168"/>
          </a:xfrm>
          <a:prstGeom prst="rect">
            <a:avLst/>
          </a:prstGeom>
        </p:spPr>
      </p:pic>
      <p:sp>
        <p:nvSpPr>
          <p:cNvPr id="69" name="Text 59"/>
          <p:cNvSpPr txBox="1"/>
          <p:nvPr/>
        </p:nvSpPr>
        <p:spPr>
          <a:xfrm>
            <a:off x="7715707" y="5486400"/>
            <a:ext cx="1687982" cy="347472"/>
          </a:xfrm>
          <a:prstGeom prst="rect">
            <a:avLst/>
          </a:prstGeom>
          <a:noFill/>
          <a:ln/>
        </p:spPr>
        <p:txBody>
          <a:bodyPr wrap="square" lIns="0" tIns="0" rIns="0" bIns="0" rtlCol="0" anchor="ctr"/>
          <a:lstStyle/>
          <a:p>
            <a:pPr marL="0" indent="0">
              <a:buNone/>
            </a:pPr>
            <a:r>
              <a:rPr lang="en-US" sz="1050" b="1" kern="0" spc="100" dirty="0">
                <a:solidFill>
                  <a:srgbClr val="F5A623"/>
                </a:solidFill>
                <a:latin typeface="Calibri" pitchFamily="34" charset="0"/>
                <a:ea typeface="Calibri" pitchFamily="34" charset="-122"/>
                <a:cs typeface="Calibri" pitchFamily="34" charset="-120"/>
              </a:rPr>
              <a:t>4 · CURATE</a:t>
            </a:r>
            <a:endParaRPr lang="en-US" sz="1050" dirty="0"/>
          </a:p>
        </p:txBody>
      </p:sp>
      <p:sp>
        <p:nvSpPr>
          <p:cNvPr id="70" name="Text 60"/>
          <p:cNvSpPr txBox="1"/>
          <p:nvPr/>
        </p:nvSpPr>
        <p:spPr>
          <a:xfrm>
            <a:off x="7423099" y="5870448"/>
            <a:ext cx="1980590" cy="384048"/>
          </a:xfrm>
          <a:prstGeom prst="rect">
            <a:avLst/>
          </a:prstGeom>
          <a:noFill/>
          <a:ln/>
        </p:spPr>
        <p:txBody>
          <a:bodyPr wrap="square" lIns="0" tIns="0" rIns="0" bIns="0" rtlCol="0" anchor="ctr"/>
          <a:lstStyle/>
          <a:p>
            <a:pPr marL="0" indent="0">
              <a:buNone/>
            </a:pPr>
            <a:r>
              <a:rPr lang="en-US" sz="1050" b="1" dirty="0">
                <a:solidFill>
                  <a:srgbClr val="13285B"/>
                </a:solidFill>
                <a:latin typeface="Calibri" pitchFamily="34" charset="0"/>
                <a:ea typeface="Calibri" pitchFamily="34" charset="-122"/>
                <a:cs typeface="Calibri" pitchFamily="34" charset="-120"/>
              </a:rPr>
              <a:t>Automated seller-listing vetting</a:t>
            </a:r>
            <a:endParaRPr lang="en-US" sz="1050" dirty="0"/>
          </a:p>
        </p:txBody>
      </p:sp>
      <p:sp>
        <p:nvSpPr>
          <p:cNvPr id="71" name="Shape 61"/>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72" name="Shape 62"/>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3" name="Image 8" descr="preencoded.png"/>
          <p:cNvPicPr>
            <a:picLocks noChangeAspect="1"/>
          </p:cNvPicPr>
          <p:nvPr/>
        </p:nvPicPr>
        <p:blipFill>
          <a:blip r:embed="rId15"/>
          <a:stretch>
            <a:fillRect/>
          </a:stretch>
        </p:blipFill>
        <p:spPr>
          <a:xfrm>
            <a:off x="9723730" y="5559552"/>
            <a:ext cx="201168" cy="201168"/>
          </a:xfrm>
          <a:prstGeom prst="rect">
            <a:avLst/>
          </a:prstGeom>
        </p:spPr>
      </p:pic>
      <p:sp>
        <p:nvSpPr>
          <p:cNvPr id="74" name="Text 63"/>
          <p:cNvSpPr txBox="1"/>
          <p:nvPr/>
        </p:nvSpPr>
        <p:spPr>
          <a:xfrm>
            <a:off x="10016338" y="5486400"/>
            <a:ext cx="1687982" cy="347472"/>
          </a:xfrm>
          <a:prstGeom prst="rect">
            <a:avLst/>
          </a:prstGeom>
          <a:noFill/>
          <a:ln/>
        </p:spPr>
        <p:txBody>
          <a:bodyPr wrap="square" lIns="0" tIns="0" rIns="0" bIns="0" rtlCol="0" anchor="ctr"/>
          <a:lstStyle/>
          <a:p>
            <a:pPr marL="0" indent="0">
              <a:buNone/>
            </a:pPr>
            <a:r>
              <a:rPr lang="en-US" sz="1050" b="1" kern="0" spc="10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5" name="Text 64"/>
          <p:cNvSpPr txBox="1"/>
          <p:nvPr/>
        </p:nvSpPr>
        <p:spPr>
          <a:xfrm>
            <a:off x="9723730" y="5870448"/>
            <a:ext cx="1980590" cy="384048"/>
          </a:xfrm>
          <a:prstGeom prst="rect">
            <a:avLst/>
          </a:prstGeom>
          <a:noFill/>
          <a:ln/>
        </p:spPr>
        <p:txBody>
          <a:bodyPr wrap="square" lIns="0" tIns="0" rIns="0" bIns="0" rtlCol="0" anchor="ctr"/>
          <a:lstStyle/>
          <a:p>
            <a:pPr marL="0" indent="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76"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99"/>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219456"/>
            <a:ext cx="11365992" cy="658368"/>
          </a:xfrm>
          <a:prstGeom prst="rect">
            <a:avLst/>
          </a:prstGeom>
          <a:noFill/>
          <a:ln/>
        </p:spPr>
        <p:txBody>
          <a:bodyPr wrap="square" lIns="0" tIns="0" rIns="0" bIns="0" rtlCol="0" anchor="ctr"/>
          <a:lstStyle/>
          <a:p>
            <a:pPr marL="0" indent="0" algn="l">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4715256"/>
        </p:xfrm>
        <a:graphic>
          <a:graphicData uri="http://schemas.openxmlformats.org/drawingml/2006/table">
            <a:tbl>
              <a:tblPr/>
              <a:tblGrid>
                <a:gridCol w="17373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tblGrid>
              <a:tr h="384048">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extLst>
                  <a:ext uri="{0D108BD9-81ED-4DB2-BD59-A6C34878D82A}">
                    <a16:rowId xmlns:a16="http://schemas.microsoft.com/office/drawing/2014/main" val="10000"/>
                  </a:ext>
                </a:extLst>
              </a:tr>
              <a:tr h="356616">
                <a:tc rowSpan="4">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marL="0" indent="0" algn="ctr">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marL="0" indent="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vMerge="1">
                  <a:txBody>
                    <a:bodyPr/>
                    <a:lstStyle/>
                    <a:p>
                      <a:endParaRPr lang="en-US"/>
                    </a:p>
                  </a:txBody>
                  <a:tcPr/>
                </a:tc>
                <a:tc>
                  <a:txBody>
                    <a:bodyPr/>
                    <a:lstStyle/>
                    <a:p>
                      <a:pPr marL="0" indent="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lgn="ctr">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lgn="ctr">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extLst>
                  <a:ext uri="{0D108BD9-81ED-4DB2-BD59-A6C34878D82A}">
                    <a16:rowId xmlns:a16="http://schemas.microsoft.com/office/drawing/2014/main" val="10002"/>
                  </a:ext>
                </a:extLst>
              </a:tr>
              <a:tr h="356616">
                <a:tc vMerge="1">
                  <a:txBody>
                    <a:bodyPr/>
                    <a:lstStyle/>
                    <a:p>
                      <a:endParaRPr lang="en-US"/>
                    </a:p>
                  </a:txBody>
                  <a:tcPr/>
                </a:tc>
                <a:tc>
                  <a:txBody>
                    <a:bodyPr/>
                    <a:lstStyle/>
                    <a:p>
                      <a:pPr marL="0" indent="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vMerge="1">
                  <a:txBody>
                    <a:bodyPr/>
                    <a:lstStyle/>
                    <a:p>
                      <a:endParaRPr lang="en-US"/>
                    </a:p>
                  </a:txBody>
                  <a:tcPr/>
                </a:tc>
                <a:tc>
                  <a:txBody>
                    <a:bodyPr/>
                    <a:lstStyle/>
                    <a:p>
                      <a:pPr marL="0" indent="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lgn="ctr">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lgn="ctr">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extLst>
                  <a:ext uri="{0D108BD9-81ED-4DB2-BD59-A6C34878D82A}">
                    <a16:rowId xmlns:a16="http://schemas.microsoft.com/office/drawing/2014/main" val="10004"/>
                  </a:ext>
                </a:extLst>
              </a:tr>
              <a:tr h="356616">
                <a:tc rowSpan="4">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marL="0" indent="0" algn="ctr">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marL="0" indent="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6616">
                <a:tc vMerge="1">
                  <a:txBody>
                    <a:bodyPr/>
                    <a:lstStyle/>
                    <a:p>
                      <a:endParaRPr lang="en-US"/>
                    </a:p>
                  </a:txBody>
                  <a:tcPr/>
                </a:tc>
                <a:tc>
                  <a:txBody>
                    <a:bodyPr/>
                    <a:lstStyle/>
                    <a:p>
                      <a:pPr marL="0" indent="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lgn="ctr">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lgn="ctr">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extLst>
                  <a:ext uri="{0D108BD9-81ED-4DB2-BD59-A6C34878D82A}">
                    <a16:rowId xmlns:a16="http://schemas.microsoft.com/office/drawing/2014/main" val="10006"/>
                  </a:ext>
                </a:extLst>
              </a:tr>
              <a:tr h="356616">
                <a:tc vMerge="1">
                  <a:txBody>
                    <a:bodyPr/>
                    <a:lstStyle/>
                    <a:p>
                      <a:endParaRPr lang="en-US"/>
                    </a:p>
                  </a:txBody>
                  <a:tcPr/>
                </a:tc>
                <a:tc>
                  <a:txBody>
                    <a:bodyPr/>
                    <a:lstStyle/>
                    <a:p>
                      <a:pPr marL="0" indent="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6616">
                <a:tc vMerge="1">
                  <a:txBody>
                    <a:bodyPr/>
                    <a:lstStyle/>
                    <a:p>
                      <a:endParaRPr lang="en-US"/>
                    </a:p>
                  </a:txBody>
                  <a:tcPr/>
                </a:tc>
                <a:tc>
                  <a:txBody>
                    <a:bodyPr/>
                    <a:lstStyle/>
                    <a:p>
                      <a:pPr marL="0" indent="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lgn="ctr">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lgn="ctr">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extLst>
                  <a:ext uri="{0D108BD9-81ED-4DB2-BD59-A6C34878D82A}">
                    <a16:rowId xmlns:a16="http://schemas.microsoft.com/office/drawing/2014/main" val="10008"/>
                  </a:ext>
                </a:extLst>
              </a:tr>
              <a:tr h="356616">
                <a:tc rowSpan="4">
                  <a:txBody>
                    <a:bodyPr/>
                    <a:lstStyle/>
                    <a:p>
                      <a:pPr marL="0" indent="0" algn="ctr">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marL="0" indent="0" algn="ctr">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marL="0" indent="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56616">
                <a:tc vMerge="1">
                  <a:txBody>
                    <a:bodyPr/>
                    <a:lstStyle/>
                    <a:p>
                      <a:endParaRPr lang="en-US"/>
                    </a:p>
                  </a:txBody>
                  <a:tcPr/>
                </a:tc>
                <a:tc>
                  <a:txBody>
                    <a:bodyPr/>
                    <a:lstStyle/>
                    <a:p>
                      <a:pPr marL="0" indent="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lgn="ctr">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lgn="ctr">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extLst>
                  <a:ext uri="{0D108BD9-81ED-4DB2-BD59-A6C34878D82A}">
                    <a16:rowId xmlns:a16="http://schemas.microsoft.com/office/drawing/2014/main" val="10010"/>
                  </a:ext>
                </a:extLst>
              </a:tr>
              <a:tr h="356616">
                <a:tc vMerge="1">
                  <a:txBody>
                    <a:bodyPr/>
                    <a:lstStyle/>
                    <a:p>
                      <a:endParaRPr lang="en-US"/>
                    </a:p>
                  </a:txBody>
                  <a:tcPr/>
                </a:tc>
                <a:tc>
                  <a:txBody>
                    <a:bodyPr/>
                    <a:lstStyle/>
                    <a:p>
                      <a:pPr marL="0" indent="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56616">
                <a:tc vMerge="1">
                  <a:txBody>
                    <a:bodyPr/>
                    <a:lstStyle/>
                    <a:p>
                      <a:endParaRPr lang="en-US"/>
                    </a:p>
                  </a:txBody>
                  <a:tcPr/>
                </a:tc>
                <a:tc>
                  <a:txBody>
                    <a:bodyPr/>
                    <a:lstStyle/>
                    <a:p>
                      <a:pPr marL="0" indent="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lgn="ctr">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marL="0" indent="0" algn="ctr">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extLst>
                  <a:ext uri="{0D108BD9-81ED-4DB2-BD59-A6C34878D82A}">
                    <a16:rowId xmlns:a16="http://schemas.microsoft.com/office/drawing/2014/main" val="10012"/>
                  </a:ext>
                </a:extLst>
              </a:tr>
            </a:tbl>
          </a:graphicData>
        </a:graphic>
      </p:graphicFrame>
      <p:sp>
        <p:nvSpPr>
          <p:cNvPr id="3"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icPr>
            <a:picLocks noChangeAspect="1"/>
          </p:cNvPicPr>
          <p:nvPr/>
        </p:nvPicPr>
        <p:blipFill>
          <a:blip r:embed="rId3"/>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marL="0" indent="0">
              <a:buNone/>
            </a:pPr>
            <a:r>
              <a:rPr lang="en-US" sz="1100" b="1" dirty="0">
                <a:solidFill>
                  <a:srgbClr val="8A5A00"/>
                </a:solidFill>
                <a:latin typeface="Calibri" pitchFamily="34" charset="0"/>
                <a:ea typeface="Calibri" pitchFamily="34" charset="-122"/>
                <a:cs typeface="Calibri" pitchFamily="34" charset="-120"/>
              </a:rPr>
              <a:t>Data disclaimer:  </a:t>
            </a: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99"/>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219456"/>
            <a:ext cx="11365992" cy="658368"/>
          </a:xfrm>
          <a:prstGeom prst="rect">
            <a:avLst/>
          </a:prstGeom>
          <a:noFill/>
          <a:ln/>
        </p:spPr>
        <p:txBody>
          <a:bodyPr wrap="square" lIns="0" tIns="0" rIns="0" bIns="0" rtlCol="0" anchor="ctr"/>
          <a:lstStyle/>
          <a:p>
            <a:pPr marL="0" indent="0" algn="l">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icPr>
            <a:picLocks noChangeAspect="1"/>
          </p:cNvPicPr>
          <p:nvPr/>
        </p:nvPicPr>
        <p:blipFill>
          <a:blip r:embed="rId3"/>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marL="0" indent="0" algn="ctr">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icPr>
            <a:picLocks noChangeAspect="1"/>
          </p:cNvPicPr>
          <p:nvPr/>
        </p:nvPicPr>
        <p:blipFill>
          <a:blip r:embed="rId4"/>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marL="0" indent="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99"/>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219456"/>
            <a:ext cx="11365992" cy="658368"/>
          </a:xfrm>
          <a:prstGeom prst="rect">
            <a:avLst/>
          </a:prstGeom>
          <a:noFill/>
          <a:ln/>
        </p:spPr>
        <p:txBody>
          <a:bodyPr wrap="square" lIns="0" tIns="0" rIns="0" bIns="0" rtlCol="0" anchor="ctr"/>
          <a:lstStyle/>
          <a:p>
            <a:pPr marL="0" indent="0" algn="l">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marL="0" indent="0" algn="ctr">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r>
              <a:rPr lang="en-US" sz="1150" b="1" dirty="0">
                <a:solidFill>
                  <a:srgbClr val="13285B"/>
                </a:solidFill>
                <a:latin typeface="Calibri" pitchFamily="34" charset="0"/>
                <a:ea typeface="Calibri" pitchFamily="34" charset="-122"/>
                <a:cs typeface="Calibri" pitchFamily="34" charset="-120"/>
              </a:rPr>
              <a:t>real demand</a:t>
            </a:r>
            <a:r>
              <a:rPr lang="en-US" sz="1150" dirty="0">
                <a:solidFill>
                  <a:srgbClr val="1F2937"/>
                </a:solidFill>
                <a:latin typeface="Calibri" pitchFamily="34" charset="0"/>
                <a:ea typeface="Calibri" pitchFamily="34" charset="-122"/>
                <a:cs typeface="Calibri" pitchFamily="34" charset="-120"/>
              </a:rPr>
              <a:t>, </a:t>
            </a:r>
            <a:r>
              <a:rPr lang="en-US" sz="1150" b="1" dirty="0">
                <a:solidFill>
                  <a:srgbClr val="13285B"/>
                </a:solidFill>
                <a:latin typeface="Calibri" pitchFamily="34" charset="0"/>
                <a:ea typeface="Calibri" pitchFamily="34" charset="-122"/>
                <a:cs typeface="Calibri" pitchFamily="34" charset="-120"/>
              </a:rPr>
              <a:t>Staples' own data</a:t>
            </a:r>
            <a:r>
              <a:rPr lang="en-US" sz="1150" dirty="0">
                <a:solidFill>
                  <a:srgbClr val="1F2937"/>
                </a:solidFill>
                <a:latin typeface="Calibri" pitchFamily="34" charset="0"/>
                <a:ea typeface="Calibri" pitchFamily="34" charset="-122"/>
                <a:cs typeface="Calibri" pitchFamily="34" charset="-120"/>
              </a:rPr>
              <a:t> and </a:t>
            </a:r>
            <a:r>
              <a:rPr lang="en-US" sz="1150" b="1" dirty="0">
                <a:solidFill>
                  <a:srgbClr val="13285B"/>
                </a:solidFill>
                <a:latin typeface="Calibri" pitchFamily="34" charset="0"/>
                <a:ea typeface="Calibri" pitchFamily="34" charset="-122"/>
                <a:cs typeface="Calibri" pitchFamily="34" charset="-120"/>
              </a:rPr>
              <a:t>merchant-set thresholds</a:t>
            </a: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icPr>
            <a:picLocks noChangeAspect="1"/>
          </p:cNvPicPr>
          <p:nvPr/>
        </p:nvPicPr>
        <p:blipFill>
          <a:blip r:embed="rId3"/>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marL="0" indent="0">
              <a:buNone/>
            </a:pPr>
            <a:r>
              <a:rPr lang="en-US" sz="1050" b="1" kern="0" spc="10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Demand &amp; segment prioritisation</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marL="0" indent="0">
              <a:buNone/>
            </a:pPr>
            <a:r>
              <a:rPr lang="en-US" sz="1000" b="1" i="1" dirty="0">
                <a:solidFill>
                  <a:srgbClr val="2F6FD0"/>
                </a:solidFill>
                <a:latin typeface="Calibri" pitchFamily="34" charset="0"/>
                <a:ea typeface="Calibri" pitchFamily="34" charset="-122"/>
                <a:cs typeface="Calibri" pitchFamily="34" charset="-120"/>
              </a:rPr>
              <a:t>Which gaps will sell,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Link sales, traffic &amp; search to each archetype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Profile buyers: B2B vs B2C, RFM, basket mix</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Re-rank add-lists by expected GMV &amp; commission</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marL="0" indent="0">
              <a:buNone/>
            </a:pPr>
            <a:r>
              <a:rPr lang="en-US" sz="950" b="1" dirty="0">
                <a:solidFill>
                  <a:srgbClr val="2F6FD0"/>
                </a:solidFill>
                <a:latin typeface="Calibri" pitchFamily="34" charset="0"/>
                <a:ea typeface="Calibri" pitchFamily="34" charset="-122"/>
                <a:cs typeface="Calibri" pitchFamily="34" charset="-120"/>
              </a:rPr>
              <a:t>Sales · traffic · customers</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marL="0" indent="0">
              <a:buNone/>
            </a:pPr>
            <a:r>
              <a:rPr lang="en-US" sz="1050" b="1" dirty="0">
                <a:solidFill>
                  <a:srgbClr val="13285B"/>
                </a:solidFill>
                <a:latin typeface="Calibri" pitchFamily="34" charset="0"/>
                <a:ea typeface="Calibri" pitchFamily="34" charset="-122"/>
                <a:cs typeface="Calibri" pitchFamily="34" charset="-120"/>
              </a:rPr>
              <a:t>Revenue-ranked add-list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icPr>
            <a:picLocks noChangeAspect="1"/>
          </p:cNvPicPr>
          <p:nvPr/>
        </p:nvPicPr>
        <p:blipFill>
          <a:blip r:embed="rId4"/>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marL="0" indent="0">
              <a:buNone/>
            </a:pPr>
            <a:r>
              <a:rPr lang="en-US" sz="1050" b="1" kern="0" spc="10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Cannibalisation &amp; threshold tuning</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marL="0" indent="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safety-gate thresholds with merchants: cannibalisation, price, fit, picks per node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marL="0" indent="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marL="0" indent="0">
              <a:buNone/>
            </a:pPr>
            <a:r>
              <a:rPr lang="en-US" sz="1050" b="1" dirty="0">
                <a:solidFill>
                  <a:srgbClr val="13285B"/>
                </a:solidFill>
                <a:latin typeface="Calibri" pitchFamily="34" charset="0"/>
                <a:ea typeface="Calibri" pitchFamily="34" charset="-122"/>
                <a:cs typeface="Calibri" pitchFamily="34" charset="-120"/>
              </a:rPr>
              <a:t>1P protected in revenue terms</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icPr>
            <a:picLocks noChangeAspect="1"/>
          </p:cNvPicPr>
          <p:nvPr/>
        </p:nvPicPr>
        <p:blipFill>
          <a:blip r:embed="rId5"/>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marL="0" indent="0">
              <a:buNone/>
            </a:pPr>
            <a:r>
              <a:rPr lang="en-US" sz="1050" b="1" kern="0" spc="10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Any node, competitor or audience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marL="0" indent="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Pick the category and the competitor to benchmark</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e.g. IKEA for small-space home offices, Target for Back-to-School, Etsy for gifting</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From 12 nodes to every category: config only, no new code</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marL="0" indent="0">
              <a:buNone/>
            </a:pPr>
            <a:r>
              <a:rPr lang="en-US" sz="950" b="1" dirty="0">
                <a:solidFill>
                  <a:srgbClr val="2F6FD0"/>
                </a:solidFill>
                <a:latin typeface="Calibri" pitchFamily="34" charset="0"/>
                <a:ea typeface="Calibri" pitchFamily="34" charset="-122"/>
                <a:cs typeface="Calibri" pitchFamily="34" charset="-120"/>
              </a:rPr>
              <a:t>Staples catalog + new 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marL="0" indent="0">
              <a:buNone/>
            </a:pPr>
            <a:r>
              <a:rPr lang="en-US" sz="1050" b="1" dirty="0">
                <a:solidFill>
                  <a:srgbClr val="13285B"/>
                </a:solidFill>
                <a:latin typeface="Calibri" pitchFamily="34" charset="0"/>
                <a:ea typeface="Calibri" pitchFamily="34" charset="-122"/>
                <a:cs typeface="Calibri" pitchFamily="34" charset="-120"/>
              </a:rPr>
              <a:t>The engine aimed at the audience Staples wants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icPr>
            <a:picLocks noChangeAspect="1"/>
          </p:cNvPicPr>
          <p:nvPr/>
        </p:nvPicPr>
        <p:blipFill>
          <a:blip r:embed="rId6"/>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marL="0" indent="0">
              <a:buNone/>
            </a:pPr>
            <a:r>
              <a:rPr lang="en-US" sz="1050" b="1" kern="0" spc="10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Automated seller-listing vetting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marL="0" indent="0">
              <a:buNone/>
            </a:pPr>
            <a:r>
              <a:rPr lang="en-US" sz="1000" b="1" i="1" dirty="0">
                <a:solidFill>
                  <a:srgbClr val="2F6FD0"/>
                </a:solidFill>
                <a:latin typeface="Calibri" pitchFamily="34" charset="0"/>
                <a:ea typeface="Calibri" pitchFamily="34" charset="-122"/>
                <a:cs typeface="Calibri" pitchFamily="34" charset="-120"/>
              </a:rPr>
              <a:t>Should this listing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Check fit, 1P overlap &amp; price automatically</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marL="0" indent="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marL="0" indent="0">
              <a:buNone/>
            </a:pPr>
            <a:r>
              <a:rPr lang="en-US" sz="1050" b="1" dirty="0">
                <a:solidFill>
                  <a:srgbClr val="13285B"/>
                </a:solidFill>
                <a:latin typeface="Calibri" pitchFamily="34" charset="0"/>
                <a:ea typeface="Calibri" pitchFamily="34" charset="-122"/>
                <a:cs typeface="Calibri" pitchFamily="34" charset="-120"/>
              </a:rPr>
              <a:t>Curation that scales beyond manual review</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icPr>
            <a:picLocks noChangeAspect="1"/>
          </p:cNvPicPr>
          <p:nvPr/>
        </p:nvPicPr>
        <p:blipFill>
          <a:blip r:embed="rId7"/>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marL="0" indent="0">
              <a:buNone/>
            </a:pPr>
            <a:r>
              <a:rPr lang="en-US" sz="1050" b="1" kern="0" spc="10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marL="0" indent="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Monthly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listed picks' GMV, attach &amp; commission</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Compare with forecast;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marL="0" indent="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marL="0" indent="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70"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99"/>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219456"/>
            <a:ext cx="11365992" cy="658368"/>
          </a:xfrm>
          <a:prstGeom prst="rect">
            <a:avLst/>
          </a:prstGeom>
          <a:noFill/>
          <a:ln/>
        </p:spPr>
        <p:txBody>
          <a:bodyPr wrap="square" lIns="0" tIns="0" rIns="0" bIns="0" rtlCol="0" anchor="ctr"/>
          <a:lstStyle/>
          <a:p>
            <a:pPr marL="0" indent="0" algn="l">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marL="0" indent="0" algn="ctr">
              <a:buNone/>
            </a:pPr>
            <a:r>
              <a:rPr lang="en-US" sz="1150" dirty="0">
                <a:solidFill>
                  <a:srgbClr val="1F2937"/>
                </a:solidFill>
                <a:latin typeface="Calibri" pitchFamily="34" charset="0"/>
                <a:ea typeface="Calibri" pitchFamily="34" charset="-122"/>
                <a:cs typeface="Calibri" pitchFamily="34" charset="-120"/>
              </a:rPr>
              <a:t>Beyond assortment gaps: </a:t>
            </a:r>
            <a:r>
              <a:rPr lang="en-US" sz="1150" b="1" dirty="0">
                <a:solidFill>
                  <a:srgbClr val="13285B"/>
                </a:solidFill>
                <a:latin typeface="Calibri" pitchFamily="34" charset="0"/>
                <a:ea typeface="Calibri" pitchFamily="34" charset="-122"/>
                <a:cs typeface="Calibri" pitchFamily="34" charset="-120"/>
              </a:rPr>
              <a:t>six more paths to grow</a:t>
            </a: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blurRad="50800" dist="19050" dir="5400000" algn="bl" rotWithShape="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icPr>
            <a:picLocks noChangeAspect="1"/>
          </p:cNvPicPr>
          <p:nvPr/>
        </p:nvPicPr>
        <p:blipFill>
          <a:blip r:embed="rId3"/>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marL="0" indent="0">
              <a:buNone/>
            </a:pPr>
            <a:r>
              <a:rPr lang="en-US" sz="1250" b="1" dirty="0">
                <a:solidFill>
                  <a:srgbClr val="13285B"/>
                </a:solidFill>
                <a:latin typeface="Calibri" pitchFamily="34" charset="0"/>
                <a:ea typeface="Calibri" pitchFamily="34" charset="-122"/>
                <a:cs typeface="Calibri" pitchFamily="34" charset="-120"/>
              </a:rPr>
              <a:t>SEO &amp; search-intent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marL="0" indent="0">
              <a:buNone/>
            </a:pPr>
            <a:r>
              <a:rPr lang="en-US" sz="1000" i="1" dirty="0">
                <a:solidFill>
                  <a:srgbClr val="2F6FD0"/>
                </a:solidFill>
                <a:latin typeface="Calibri" pitchFamily="34" charset="0"/>
                <a:ea typeface="Calibri" pitchFamily="34" charset="-122"/>
                <a:cs typeface="Calibri" pitchFamily="34" charset="-120"/>
              </a:rPr>
              <a:t>What do shoppers search for but not find?</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Flag zero-result searches &amp; keywords rivals win</a:t>
            </a:r>
            <a:endParaRPr lang="en-US" sz="1000" dirty="0"/>
          </a:p>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marL="0" indent="0">
              <a:buNone/>
            </a:pPr>
            <a:r>
              <a:rPr lang="en-US" sz="900" b="1" dirty="0">
                <a:solidFill>
                  <a:srgbClr val="2F6FD0"/>
                </a:solidFill>
                <a:latin typeface="Calibri" pitchFamily="34" charset="0"/>
                <a:ea typeface="Calibri" pitchFamily="34" charset="-122"/>
                <a:cs typeface="Calibri" pitchFamily="34" charset="-120"/>
              </a:rPr>
              <a:t>On-site search logs · SEO keywords</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marL="0" indent="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blurRad="50800" dist="19050" dir="5400000" algn="bl" rotWithShape="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icPr>
            <a:picLocks noChangeAspect="1"/>
          </p:cNvPicPr>
          <p:nvPr/>
        </p:nvPicPr>
        <p:blipFill>
          <a:blip r:embed="rId4"/>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marL="0" indent="0">
              <a:buNone/>
            </a:pPr>
            <a:r>
              <a:rPr lang="en-US" sz="1250" b="1" dirty="0">
                <a:solidFill>
                  <a:srgbClr val="13285B"/>
                </a:solidFill>
                <a:latin typeface="Calibri" pitchFamily="34" charset="0"/>
                <a:ea typeface="Calibri" pitchFamily="34" charset="-122"/>
                <a:cs typeface="Calibri" pitchFamily="34" charset="-120"/>
              </a:rPr>
              <a:t>Social media &amp; trend listening</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marL="0" indent="0">
              <a:buNone/>
            </a:pPr>
            <a:r>
              <a:rPr lang="en-US" sz="1000" i="1" dirty="0">
                <a:solidFill>
                  <a:srgbClr val="2F6FD0"/>
                </a:solidFill>
                <a:latin typeface="Calibri" pitchFamily="34" charset="0"/>
                <a:ea typeface="Calibri" pitchFamily="34" charset="-122"/>
                <a:cs typeface="Calibri" pitchFamily="34" charset="-120"/>
              </a:rPr>
              <a:t>Which styles are taking off?</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Track archetype mentions &amp; saves on TikTok, Pinterest, Reddit</a:t>
            </a:r>
            <a:endParaRPr lang="en-US" sz="1000" dirty="0"/>
          </a:p>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Add Google Trends; score growth &amp; sentiment</a:t>
            </a:r>
            <a:endParaRPr lang="en-US" sz="1000" dirty="0"/>
          </a:p>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Flag rising styles for Explore nodes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marL="0" indent="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marL="0" indent="0">
              <a:buNone/>
            </a:pPr>
            <a:r>
              <a:rPr lang="en-US" sz="900" b="1" dirty="0">
                <a:solidFill>
                  <a:srgbClr val="13285B"/>
                </a:solidFill>
                <a:latin typeface="Calibri" pitchFamily="34" charset="0"/>
                <a:ea typeface="Calibri" pitchFamily="34" charset="-122"/>
                <a:cs typeface="Calibri" pitchFamily="34" charset="-120"/>
              </a:rPr>
              <a:t>Spot the next "White Chair" early</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blurRad="50800" dist="19050" dir="5400000" algn="bl" rotWithShape="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icPr>
            <a:picLocks noChangeAspect="1"/>
          </p:cNvPicPr>
          <p:nvPr/>
        </p:nvPicPr>
        <p:blipFill>
          <a:blip r:embed="rId5"/>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marL="0" indent="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marL="0" indent="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marL="0" indent="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marL="0" indent="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blurRad="50800" dist="19050" dir="5400000" algn="bl" rotWithShape="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icPr>
            <a:picLocks noChangeAspect="1"/>
          </p:cNvPicPr>
          <p:nvPr/>
        </p:nvPicPr>
        <p:blipFill>
          <a:blip r:embed="rId6"/>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marL="0" indent="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marL="0" indent="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marL="0" indent="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marL="0" indent="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3 · ACT on basket &amp; catalog</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blurRad="50800" dist="19050" dir="5400000" algn="bl" rotWithShape="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icPr>
            <a:picLocks noChangeAspect="1"/>
          </p:cNvPicPr>
          <p:nvPr/>
        </p:nvPicPr>
        <p:blipFill>
          <a:blip r:embed="rId7"/>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marL="0" indent="0">
              <a:buNone/>
            </a:pPr>
            <a:r>
              <a:rPr lang="en-US" sz="1250" b="1" dirty="0">
                <a:solidFill>
                  <a:srgbClr val="13285B"/>
                </a:solidFill>
                <a:latin typeface="Calibri" pitchFamily="34" charset="0"/>
                <a:ea typeface="Calibri" pitchFamily="34" charset="-122"/>
                <a:cs typeface="Calibri" pitchFamily="34" charset="-120"/>
              </a:rPr>
              <a:t>New-category whitespace</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marL="0" indent="0">
              <a:buNone/>
            </a:pPr>
            <a:r>
              <a:rPr lang="en-US" sz="1000" i="1" dirty="0">
                <a:solidFill>
                  <a:srgbClr val="2F6FD0"/>
                </a:solidFill>
                <a:latin typeface="Calibri" pitchFamily="34" charset="0"/>
                <a:ea typeface="Calibri" pitchFamily="34" charset="-122"/>
                <a:cs typeface="Calibri" pitchFamily="34" charset="-120"/>
              </a:rPr>
              <a:t>Which new categories are worth opening?</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Start from the 8.4K competitor products outside the 12 nodes</a:t>
            </a:r>
            <a:endParaRPr lang="en-US" sz="1000" dirty="0"/>
          </a:p>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Add adjacent verticals, e.g. facility supplies</a:t>
            </a:r>
            <a:endParaRPr lang="en-US" sz="1000" dirty="0"/>
          </a:p>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Size with forecasting &amp; research; open the best</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marL="0" indent="0">
              <a:buNone/>
            </a:pPr>
            <a:r>
              <a:rPr lang="en-US" sz="900" b="1" dirty="0">
                <a:solidFill>
                  <a:srgbClr val="2F6FD0"/>
                </a:solidFill>
                <a:latin typeface="Calibri" pitchFamily="34" charset="0"/>
                <a:ea typeface="Calibri" pitchFamily="34" charset="-122"/>
                <a:cs typeface="Calibri" pitchFamily="34" charset="-120"/>
              </a:rPr>
              <a:t>PoC backlog + sales &amp; search</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marL="0" indent="0">
              <a:buNone/>
            </a:pPr>
            <a:r>
              <a:rPr lang="en-US" sz="900" b="1" dirty="0">
                <a:solidFill>
                  <a:srgbClr val="13285B"/>
                </a:solidFill>
                <a:latin typeface="Calibri" pitchFamily="34" charset="0"/>
                <a:ea typeface="Calibri" pitchFamily="34" charset="-122"/>
                <a:cs typeface="Calibri" pitchFamily="34" charset="-120"/>
              </a:rPr>
              <a:t>Evidence-backed new categories</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blurRad="50800" dist="19050" dir="5400000" algn="bl" rotWithShape="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icPr>
            <a:picLocks noChangeAspect="1"/>
          </p:cNvPicPr>
          <p:nvPr/>
        </p:nvPicPr>
        <p:blipFill>
          <a:blip r:embed="rId8"/>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marL="0" indent="0">
              <a:buNone/>
            </a:pPr>
            <a:r>
              <a:rPr lang="en-US" sz="1250" b="1" dirty="0">
                <a:solidFill>
                  <a:srgbClr val="13285B"/>
                </a:solidFill>
                <a:latin typeface="Calibri" pitchFamily="34" charset="0"/>
                <a:ea typeface="Calibri" pitchFamily="34" charset="-122"/>
                <a:cs typeface="Calibri" pitchFamily="34" charset="-120"/>
              </a:rPr>
              <a:t>Basket completion &amp; Back-to-School kits</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marL="0" indent="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Find missing complements &amp; seasonal kits</a:t>
            </a:r>
            <a:endParaRPr lang="en-US" sz="1000" dirty="0"/>
          </a:p>
          <a:p>
            <a:pPr marL="342900" indent="-342900">
              <a:spcAft>
                <a:spcPts val="200"/>
              </a:spcAft>
              <a:buSzPct val="100000"/>
              <a:buFont typeface="+mj-lt"/>
              <a:buAutoNum type="arabicPeriod"/>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marL="0" indent="0">
              <a:buNone/>
            </a:pPr>
            <a:r>
              <a:rPr lang="en-US" sz="900" b="1" dirty="0">
                <a:solidFill>
                  <a:srgbClr val="2F6FD0"/>
                </a:solidFill>
                <a:latin typeface="Calibri" pitchFamily="34" charset="0"/>
                <a:ea typeface="Calibri" pitchFamily="34" charset="-122"/>
                <a:cs typeface="Calibri" pitchFamily="34" charset="-120"/>
              </a:rPr>
              <a:t>Transactions</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marL="0" indent="0">
              <a:buNone/>
            </a:pPr>
            <a:r>
              <a:rPr lang="en-US" sz="750" b="1" kern="0" spc="10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marL="0" indent="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79"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99"/>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219456"/>
            <a:ext cx="11365992" cy="658368"/>
          </a:xfrm>
          <a:prstGeom prst="rect">
            <a:avLst/>
          </a:prstGeom>
          <a:noFill/>
          <a:ln/>
        </p:spPr>
        <p:txBody>
          <a:bodyPr wrap="square" lIns="0" tIns="0" rIns="0" bIns="0" rtlCol="0" anchor="ctr"/>
          <a:lstStyle/>
          <a:p>
            <a:pPr marL="0" indent="0" algn="l">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marL="0" indent="0" algn="ctr">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icPr>
            <a:picLocks noChangeAspect="1"/>
          </p:cNvPicPr>
          <p:nvPr/>
        </p:nvPicPr>
        <p:blipFill>
          <a:blip r:embed="rId3"/>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marL="0" indent="0" algn="ctr">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marL="0" indent="0" algn="ctr">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icPr>
            <a:picLocks noChangeAspect="1"/>
          </p:cNvPicPr>
          <p:nvPr/>
        </p:nvPicPr>
        <p:blipFill>
          <a:blip r:embed="rId4"/>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marL="0" indent="0" algn="ctr">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marL="0" indent="0" algn="ctr">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icPr>
            <a:picLocks noChangeAspect="1"/>
          </p:cNvPicPr>
          <p:nvPr/>
        </p:nvPicPr>
        <p:blipFill>
          <a:blip r:embed="rId5"/>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marL="0" indent="0" algn="ctr">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marL="0" indent="0" algn="ctr">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marL="0" indent="0" algn="ctr">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a:p>
            <a:pPr marL="0" indent="0" algn="ctr">
              <a:buNone/>
            </a:pPr>
            <a:r>
              <a:rPr lang="en-US" sz="950" dirty="0">
                <a:solidFill>
                  <a:srgbClr val="5B6475"/>
                </a:solidFill>
                <a:latin typeface="Calibri" pitchFamily="34" charset="0"/>
                <a:ea typeface="Calibri" pitchFamily="34" charset="-122"/>
                <a:cs typeface="Calibri" pitchFamily="34" charset="-120"/>
              </a:rPr>
              <a:t>S0–S2</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icPr>
            <a:picLocks noChangeAspect="1"/>
          </p:cNvPicPr>
          <p:nvPr/>
        </p:nvPicPr>
        <p:blipFill>
          <a:blip r:embed="rId6"/>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marL="0" indent="0" algn="ctr">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marL="0" indent="0" algn="ctr">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icPr>
            <a:picLocks noChangeAspect="1"/>
          </p:cNvPicPr>
          <p:nvPr/>
        </p:nvPicPr>
        <p:blipFill>
          <a:blip r:embed="rId7"/>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marL="0" indent="0" algn="ctr">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marL="0" indent="0" algn="ctr">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icPr>
            <a:picLocks noChangeAspect="1"/>
          </p:cNvPicPr>
          <p:nvPr/>
        </p:nvPicPr>
        <p:blipFill>
          <a:blip r:embed="rId8"/>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marL="0" indent="0" algn="ctr">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marL="0" indent="0" algn="ctr">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marL="0" indent="0" algn="ctr">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a:p>
            <a:pPr marL="0" indent="0" algn="ctr">
              <a:buNone/>
            </a:pPr>
            <a:r>
              <a:rPr lang="en-US" sz="950" dirty="0">
                <a:solidFill>
                  <a:srgbClr val="5B6475"/>
                </a:solidFill>
                <a:latin typeface="Calibri" pitchFamily="34" charset="0"/>
                <a:ea typeface="Calibri" pitchFamily="34" charset="-122"/>
                <a:cs typeface="Calibri" pitchFamily="34" charset="-120"/>
              </a:rPr>
              <a:t>S3–S4</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icPr>
            <a:picLocks noChangeAspect="1"/>
          </p:cNvPicPr>
          <p:nvPr/>
        </p:nvPicPr>
        <p:blipFill>
          <a:blip r:embed="rId9"/>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marL="0" indent="0" algn="ctr">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marL="0" indent="0" algn="ctr">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icPr>
            <a:picLocks noChangeAspect="1"/>
          </p:cNvPicPr>
          <p:nvPr/>
        </p:nvPicPr>
        <p:blipFill>
          <a:blip r:embed="rId10"/>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marL="0" indent="0" algn="ctr">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marL="0" indent="0" algn="ctr">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icPr>
            <a:picLocks noChangeAspect="1"/>
          </p:cNvPicPr>
          <p:nvPr/>
        </p:nvPicPr>
        <p:blipFill>
          <a:blip r:embed="rId11"/>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marL="0" indent="0" algn="ctr">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marL="0" indent="0" algn="ctr">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marL="0" indent="0" algn="ctr">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a:p>
            <a:pPr marL="0" indent="0" algn="ctr">
              <a:buNone/>
            </a:pPr>
            <a:r>
              <a:rPr lang="en-US" sz="950" dirty="0">
                <a:solidFill>
                  <a:srgbClr val="5B6475"/>
                </a:solidFill>
                <a:latin typeface="Calibri" pitchFamily="34" charset="0"/>
                <a:ea typeface="Calibri" pitchFamily="34" charset="-122"/>
                <a:cs typeface="Calibri" pitchFamily="34" charset="-120"/>
              </a:rPr>
              <a:t>S5–S6</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marL="0" indent="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marL="0" indent="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marL="0" indent="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marL="0" indent="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marL="0" indent="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marL="0" indent="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marL="0" indent="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marL="0" indent="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marL="0" indent="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marL="0" indent="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marL="0" indent="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marL="0" indent="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marL="0" indent="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marL="0" indent="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marL="0" indent="0" algn="ctr">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a:p>
            <a:pPr marL="0" indent="0" algn="ctr">
              <a:buNone/>
            </a:pPr>
            <a:r>
              <a:rPr lang="en-US" sz="950" dirty="0">
                <a:solidFill>
                  <a:srgbClr val="5B6475"/>
                </a:solidFill>
                <a:latin typeface="Calibri" pitchFamily="34" charset="0"/>
                <a:ea typeface="Calibri" pitchFamily="34" charset="-122"/>
                <a:cs typeface="Calibri" pitchFamily="34" charset="-120"/>
              </a:rPr>
              <a:t>S7–S8</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icPr>
            <a:picLocks noChangeAspect="1"/>
          </p:cNvPicPr>
          <p:nvPr/>
        </p:nvPicPr>
        <p:blipFill>
          <a:blip r:embed="rId12"/>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marL="0" indent="0" algn="ctr">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marL="0" indent="0" algn="ctr">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icPr>
            <a:picLocks noChangeAspect="1"/>
          </p:cNvPicPr>
          <p:nvPr/>
        </p:nvPicPr>
        <p:blipFill>
          <a:blip r:embed="rId13"/>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marL="0" indent="0" algn="ctr">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marL="0" indent="0" algn="ctr">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icPr>
            <a:picLocks noChangeAspect="1"/>
          </p:cNvPicPr>
          <p:nvPr/>
        </p:nvPicPr>
        <p:blipFill>
          <a:blip r:embed="rId14"/>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marL="0" indent="0" algn="ctr">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marL="0" indent="0" algn="ctr">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66"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99"/>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219456"/>
            <a:ext cx="11365992" cy="658368"/>
          </a:xfrm>
          <a:prstGeom prst="rect">
            <a:avLst/>
          </a:prstGeom>
          <a:noFill/>
          <a:ln/>
        </p:spPr>
        <p:txBody>
          <a:bodyPr wrap="square" lIns="0" tIns="0" rIns="0" bIns="0" rtlCol="0" anchor="ctr"/>
          <a:lstStyle/>
          <a:p>
            <a:pPr marL="0" indent="0" algn="l">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marL="0" indent="0" algn="ctr">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marL="0" indent="0" algn="ctr">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marL="0" indent="0" algn="ctr">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marL="0" indent="0" algn="ctr">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marL="0" indent="0" algn="ctr">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marL="0" indent="0" algn="ctr">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marL="0" indent="0" algn="ctr">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marL="0" indent="0" algn="ctr">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marL="0" indent="0" algn="ctr">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marL="0" indent="0" algn="ctr">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marL="0" indent="0" algn="ctr">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marL="0" indent="0" algn="ctr">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marL="0" indent="0" algn="ctr">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marL="0" indent="0" algn="ctr">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marL="0" indent="0" algn="ctr">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marL="0" indent="0" algn="ctr">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marL="0" indent="0" algn="ctr">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marL="0" indent="0" algn="ctr">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marL="0" indent="0" algn="ctr">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marL="0" indent="0" algn="ctr">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marL="0" indent="0" algn="ctr">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marL="0" indent="0" algn="r">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marL="0" indent="0" algn="r">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marL="0" indent="0" algn="r">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marL="0" indent="0" algn="r">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marL="0" indent="0" algn="r">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vert="vert270" wrap="square" lIns="0" tIns="0" rIns="0" bIns="0" rtlCol="0" anchor="ctr"/>
          <a:lstStyle/>
          <a:p>
            <a:pPr marL="0" indent="0" algn="ctr">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marL="0" indent="0" algn="ctr">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marL="0" indent="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marL="0" indent="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marL="0" indent="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marL="0" indent="0" algn="r">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marL="0" indent="0">
              <a:buNone/>
            </a:pPr>
            <a:r>
              <a:rPr lang="en-US" sz="1200" b="1" kern="0" spc="10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marL="0" indent="0">
              <a:buNone/>
            </a:pPr>
            <a:r>
              <a:rPr lang="en-US" sz="1300" b="1" dirty="0">
                <a:solidFill>
                  <a:srgbClr val="1F4E9A"/>
                </a:solidFill>
                <a:latin typeface="Calibri" pitchFamily="34" charset="0"/>
                <a:ea typeface="Calibri" pitchFamily="34" charset="-122"/>
                <a:cs typeface="Calibri" pitchFamily="34" charset="-120"/>
              </a:rPr>
              <a:t>AAS</a:t>
            </a: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marL="0" indent="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marL="0" indent="0">
              <a:buNone/>
            </a:pPr>
            <a:r>
              <a:rPr lang="en-US" sz="1300" b="1" dirty="0">
                <a:solidFill>
                  <a:srgbClr val="1F4E9A"/>
                </a:solidFill>
                <a:latin typeface="Calibri" pitchFamily="34" charset="0"/>
                <a:ea typeface="Calibri" pitchFamily="34" charset="-122"/>
                <a:cs typeface="Calibri" pitchFamily="34" charset="-120"/>
              </a:rPr>
              <a:t>CRS</a:t>
            </a: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marL="0" indent="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marL="0" indent="0">
              <a:buNone/>
            </a:pPr>
            <a:r>
              <a:rPr lang="en-US" sz="1300" b="1" dirty="0">
                <a:solidFill>
                  <a:srgbClr val="1F4E9A"/>
                </a:solidFill>
                <a:latin typeface="Calibri" pitchFamily="34" charset="0"/>
                <a:ea typeface="Calibri" pitchFamily="34" charset="-122"/>
                <a:cs typeface="Calibri" pitchFamily="34" charset="-120"/>
              </a:rPr>
              <a:t>PPR</a:t>
            </a: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marL="0" indent="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marL="0" indent="0">
              <a:buNone/>
            </a:pPr>
            <a:r>
              <a:rPr lang="en-US" sz="1300" b="1" dirty="0">
                <a:solidFill>
                  <a:srgbClr val="1F4E9A"/>
                </a:solidFill>
                <a:latin typeface="Calibri" pitchFamily="34" charset="0"/>
                <a:ea typeface="Calibri" pitchFamily="34" charset="-122"/>
                <a:cs typeface="Calibri" pitchFamily="34" charset="-120"/>
              </a:rPr>
              <a:t>AD</a:t>
            </a: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marL="0" indent="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marL="0" indent="0">
              <a:buNone/>
            </a:pPr>
            <a:r>
              <a:rPr lang="en-US" sz="1000" b="1" dirty="0">
                <a:solidFill>
                  <a:srgbClr val="F5A623"/>
                </a:solidFill>
                <a:latin typeface="Calibri" pitchFamily="34" charset="0"/>
                <a:ea typeface="Calibri" pitchFamily="34" charset="-122"/>
                <a:cs typeface="Calibri" pitchFamily="34" charset="-120"/>
              </a:rPr>
              <a:t>Green labels = safe for Method 1. </a:t>
            </a: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51"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99"/>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marL="0" indent="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3606</Words>
  <Application>Microsoft Office PowerPoint</Application>
  <PresentationFormat>Widescreen</PresentationFormat>
  <Paragraphs>353</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Executive Summary</vt:lpstr>
      <vt:lpstr>PoC Scope at a Glance: 12 Nodes · 3 Segments · 2 Competitors</vt:lpstr>
      <vt:lpstr>Demo</vt:lpstr>
      <vt:lpstr>The PoC Engine on Staples Data</vt:lpstr>
      <vt:lpstr>Growth Paths for the Marketplace</vt:lpstr>
      <vt:lpstr>Solution Architecture: From Listings to Safe Recommendations</vt:lpstr>
      <vt:lpstr>Method 1 (Vector View): Framework</vt:lpstr>
      <vt:lpstr>PowerPoint Presentation</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DVN Sai Sandeep</cp:lastModifiedBy>
  <cp:revision>2</cp:revision>
  <dcterms:created xsi:type="dcterms:W3CDTF">2026-10-06T11:41:35Z</dcterms:created>
  <dcterms:modified xsi:type="dcterms:W3CDTF">2026-10-06T11:49:49Z</dcterms:modified>
</cp:coreProperties>
</file>