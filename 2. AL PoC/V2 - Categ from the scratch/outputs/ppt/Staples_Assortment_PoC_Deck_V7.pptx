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d07b4f0-5e9d-fb25-0cf4-d59350945b68}">
          <p14:sldIdLst>
            <p14:sldId id="256"/>
          </p14:sldIdLst>
        </p14:section>
        <p14:section name="Summary" id="{e9dc01ce-be71-a9b0-9db2-5ff30946cb94}">
          <p14:sldIdLst>
            <p14:sldId id="257"/>
            <p14:sldId id="258"/>
          </p14:sldIdLst>
        </p14:section>
        <p14:section name="Demo" id="{d3510958-0f58-4e52-e131-cd8b7a16ab5c}">
          <p14:sldIdLst>
            <p14:sldId id="259"/>
          </p14:sldIdLst>
        </p14:section>
        <p14:section name="Next steps" id="{04e2f417-c279-dd20-a79a-b2815c38c628}">
          <p14:sldIdLst>
            <p14:sldId id="260"/>
            <p14:sldId id="261"/>
          </p14:sldIdLst>
        </p14:section>
        <p14:section name="Appendix" id="{e3362c80-e6a7-c7af-1bd6-26120da1d418}">
          <p14:sldIdLst>
            <p14:sldId id="262"/>
            <p14:sldId id="263"/>
          </p14:sldIdLst>
        </p14:section>
        <p14:section name="Close" id="{58113be7-1c74-b2be-3d69-9256660d036a}">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897 archetypes compared → 73 pass the safety gates (21 Strong, 20 Vector-led, 31 Gap-led, 1 Conditional) → 195 example products, each shown beside the nearest Staples item → 13 brands already selling on Staples (at-A-Glance, BAGSMART, Bentgo, Blue Sky, CamelBak, Fringe, High Sierra, House of Doolittle, Mead, OttLite,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wooden K-Cup pod drawers 0 of 50 coffee organisers (Strong: both methods; Staples sells 583 single-serve coffee items and 139 coffee makers); adult stainless bento 1 of 318 lunch bags (Strong); journals 0 of 805 planners (Gap-led); barrel chairs 0 of 116 accent chairs (Gap-led; the literal "White Chair").
Backup picks if asked: folding screens under $150 (0 of 99 partitions vs 20% of Wayfair's; Strong), statement wall clocks (Staples' clocks 60% plastic vs 5% at Wayfair; Strong),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69 further archetypes, each with example products, are in the demo.
Next steps: the five steps of slide 5 (same labels and headings). First moves if asked: 1 Prioritise: Link sales &amp; search to the top picks in 2–3 pilot nodes; 2 Protect: Calibrate gates with merchants (60 side-by-side pairs); 3 Expand: Agree the next nodes &amp; benchmark competitors;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If asked about order: deepen the 12 nodes first, then broaden.
1 Prioritise: join sales, traffic and search data to each archetype; profile buyers (B2B vs B2C, RFM, basket mix); re-rank each node's add-list by expected GMV and commission per segment (Hero / Probable / Non-Hero).
2 Protect: today's cannibalisation checks use supply only (how close a competitor product sits to Staples products). With Staples data we tune every safety-gate threshold with merchants (cannibalisation risk bands, price-position limits, fit-with-Staples cut-offs, picks per node; the merchant calibration session on slide 2 is the first move) and replace the supply proxy with real 1P sales overlap and substitution seen in baskets, plus price and margin floors per node.
3 Expand: once calibrated, point the engine at any Staples category and any competitor that represents the audience Staples wants (e.g. IKEA for small-space home offices, Target for students and Back-to-School, Etsy for gifting). A new competitor is one adapter entry and a new node one config file; no code change.
4 Curate: the same attribute and archetype engine scores every seller submission for fit, 1P overlap and price, feeding an approve / review / reject queue that learns from curator decisions (first move: vet the top picks, starting with the brands already on Staples).
5 Monitor: scheduled re-crawls flag new and closing gaps; pilot listings are tracked for GMV, attach rate and commission against the forecast, and results feed back into prioritisation.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the catalog. Each combines external signals with Staples data.
- Social media &amp; trend listening (social media analytics + trend listening): mentions, hashtags and saves per archetype on TikTok, Instagram, Pinterest and Reddit plus Google Trends, scored for growth and sentiment; rising styles feed the Explore nodes.
- SEO &amp; search-intent gaps: on-site searches (zero-result, high-exit) and external SEO keywords where competitors rank and Staples does not, mapped to archetypes; feeds seller recruiting and product pages.
- Demand forecasting: per node and archetype from sales history, with Back-to-School seasonality and the trend signals from social listening; sizes GMV and commission before listing.
- Market research &amp; customer surveys (market research + market survey): B2B and B2C customers on unmet needs, style and price; concept tests of the top archetypes; results set the prioritisation weights.
- Basket completion &amp; Back-to-School kits: market-basket analysis finds missing complements; target 1–2 attach items per order (the brief's basket goal).
- New-category whitespace: the PoC already set aside 8,399 competitor product families that fit none of the 12 nodes (e.g. wall calendars, thermocoolers, reusable bags, briefcases, many of which Staples shelves elsewhere); running the engine against the whole Staples tree, plus the brief's adjacent verticals such as facility supplies, finds categories with no Staples home.
Further options if asked: B2B account cross-sell, seller recruitment scoring, listing content enrichment (our attribute extractor auto-tags seller listings for filters and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 5 (the PoC engine on Staples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amazon.com/dp/B0DBH21SRN"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BJ34MZ1J" TargetMode="External"/><Relationship Id="rId8" Type="http://schemas.openxmlformats.org/officeDocument/2006/relationships/hyperlink" Target="https://www.wayfair.com/furniture/pdp/ivy-bronx-vladilen-3189-wide-boucle-upholstered-swivel-accent-armchair-set-of-2-w119672382.html?piid=86464876"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897</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73</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21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Guided &amp; daily journals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Planner shoppers already come to Staples (805 planners); a journal is the natural add-on</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805</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17%</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The Gratitude Journal 2026: Daily Gratitude Practice to Inspire Thankfulness, Mindfulness, Positivity, Happiness, Upgraded with Pen Holder, Inner Pocket &amp; Elastic Closure Band (Beige)" history="1" highlightClick="0" endSnd="0">
                  <a:extLst>
                    <a:ext uri="{A12FA001-AC4F-418D-AE19-62706E023703}">
                      <ahyp:hlinkClr xmlns:ahyp="http://schemas.microsoft.com/office/drawing/2018/hyperlinkcolor" val="tx"/>
                    </a:ext>
                  </a:extLst>
                </a:hlinkClick>
              </a:rPr>
              <a:t>The Gratitude Journal 2026… · $9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1.89&quot; Boucle Swivel Barrel Chair, 360° Upholstered Accent Chair with Pillow for Bedroom &amp; Apartment(Set Of 2)" history="1" highlightClick="0" endSnd="0">
                  <a:extLst>
                    <a:ext uri="{A12FA001-AC4F-418D-AE19-62706E023703}">
                      <ahyp:hlinkClr xmlns:ahyp="http://schemas.microsoft.com/office/drawing/2018/hyperlinkcolor" val="tx"/>
                    </a:ext>
                  </a:extLst>
                </a:hlinkClick>
              </a:rPr>
              <a:t>31.89" Boucle Swivel Barrel… · $520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Demand &amp; segment prioritisation</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Cannibalisation &amp; threshold tuning</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Any node, competitor or audience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seller-listing vetting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thresholds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Demand &amp; segment prioritisation</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will sell,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Link sales, traffic &amp; search to each archetype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Profile buyers: B2B vs B2C, RFM, basket mix</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Re-rank add-lists by expected GMV &amp; commission</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Revenue-ranked add-list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Cannibalisation &amp; threshold tuning</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safety-gate thresholds with merchants: cannibalisation, price, fit, picks per node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in revenue terms</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Any node, competitor or audience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Pick the category and the competitor to benchmark</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e.g. IKEA for small-space home offices, Target for Back-to-School, Etsy for gifting</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From 12 nodes to every category: config only, no new code</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new 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The engine aimed at the audience Staples wants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seller-listing vetting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Should this listing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Check fit, 1P overlap &amp; price automatically</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beyond manual review</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Monthly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listed picks' GMV, attach &amp; commission</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Compare with forecast;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SEO &amp; search-intent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zero-result searches &amp; keywords rivals win</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On-site search logs · SEO keywords</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media &amp; trend listening</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on TikTok, Pinterest, Reddit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Google Trends; score growth &amp; sentiment</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Flag rising styles for Explore nodes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Spot the next "White Chair" early</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catalog</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New-category whitespace</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opening?</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Start from the 8.4K competitor products outside the 12 nodes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adjacent verticals, e.g. facility supplies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with forecasting &amp; research; open the best</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PoC backlog + sales &amp; search</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Evidence-backed new categories</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completion &amp; Back-to-School kits</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Find missing complements &amp; seasonal kits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2026-10-06T18:00:37Z</dcterms:created>
  <dcterms:modified xsi:type="dcterms:W3CDTF">2026-10-06T18:00:37Z</dcterms:modified>
</cp:coreProperties>
</file>