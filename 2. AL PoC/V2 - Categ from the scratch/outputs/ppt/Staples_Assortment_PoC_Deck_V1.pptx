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387987f-d2c0-3db8-5fec-ae8a6379cb72}">
          <p14:sldIdLst>
            <p14:sldId id="256"/>
          </p14:sldIdLst>
        </p14:section>
        <p14:section name="Context" id="{6c893d98-97b4-2b52-4836-f04ddc1e9439}">
          <p14:sldIdLst>
            <p14:sldId id="257"/>
            <p14:sldId id="258"/>
          </p14:sldIdLst>
        </p14:section>
        <p14:section name="Findings" id="{f1b7df44-0f4e-21dc-846e-3645f737bf06}">
          <p14:sldIdLst>
            <p14:sldId id="259"/>
            <p14:sldId id="260"/>
            <p14:sldId id="261"/>
          </p14:sldIdLst>
        </p14:section>
        <p14:section name="Recommendations" id="{888e01fe-dcc9-f4da-9610-fc87772499dc}">
          <p14:sldIdLst>
            <p14:sldId id="262"/>
          </p14:sldIdLst>
        </p14:section>
        <p14:section name="Next steps" id="{a2ed34c1-0d8c-d460-588a-d26438cbe0d5}">
          <p14:sldIdLst>
            <p14:sldId id="263"/>
            <p14:sldId id="264"/>
          </p14:sldIdLst>
        </p14:section>
        <p14:section name="Close" id="{d53c1b16-b4db-6c02-ddcd-b23c83c715a0}">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9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problem: Staples Marketplace wants a curated catalogue for Q1 2027: core-adjacent "White Chair" extensions that compete with Wayfair and Amazon without diluting core B2B or cannibalising 1P sales, built on external data only.
Our approach: match products across retailers at product-family level, describe every product with the same 3-tier attribute set (function, look, lifestyle), group them into archetypes (combinations of 4–6 attributes), and score each archetype with two independent methods, each with its own cannibalisation gate.
Value: 99 recommended archetypes across 12 nodes, each with example SKUs shown beside the nearest Staples product, plus a seller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12 Staples nodes were analysed; we show the top 3 per segment. Each node is compared with its Primary 1 competitor only: Wayfair for furniture and décor, Amazon for supplies, bags and kitchen.
Disclaimer: competitor files are convenience samples of scraped listing pages (Amazon 6,577 and Wayfair 9,935 product families mapped to the 12 nodes); Staples is close to a census. Every comparison is a share of each retailer's range, with a credibility check, never a raw count. No internal sales, traffic or margin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(all 12 nodes): 3416 Staples and 16512 competitor product families; 897 archetypes built; 99 recommended (23 Strong, 30 Vector-led, 45 Gap-led, 1 Conditional). 71 of the 99 recommended archetypes have zero Staples families today.
Strong = both methods recommend it and both cannibalisation checks pass. Vector-led = Method 1 (product-similarity whitespace, fit with Staples, visible difference). Gap-led = Method 2 (credible attribute share gap with few cheaper Staples twins); Method 2 has no fit-with-Staples check, so these need a merchant's eye.
Design-forward share = share of products with a text-based design-forward index of 0.6 or more (provisional until image-based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each statement is a share of that retailer's product families in the same node; the number in brackets is the other retailer's share. Bold numbers are the side the column is about.
What Pat will recognise: Staples is a workplace assortment (corporate desks, reception seating, tackable panels, tech-enabled lamps). What may be new: how sharply the competitors split, Wayfair towards the home (living-room chairs, shaded décor lamps, folding screens, compact desks under $200) and Amazon towards the person and the activity (hiking and travel packs, gender-targeted products, guided journals, wood-tone kitchen storage).
Caveat: Amazon listings carry only a title and a short subtitle, so 'feature not mentioned' is common; feature-level gaps on Amazon nodes are read with care. Design-forward scores are text-based and provisional.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verified signal per node; the two big numbers are the share of each retailer's range with that attribute or price band.
Checks behind the 'zero' claims: Staples catalogue searched on the extracted attributes and on product titles: 0 barrel chairs (of 116), 0 pendulum clocks (of 174), 0 guided journals (of 805), 0 folding screens under $150 (of 99), 0 wood/bamboo pod drawers (of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two picks were chosen: walk each node's final ranking, skip near-duplicates (the same product idea with only a modifier added) and skip any pick whose 'Staples lacks it' claim fails a check of the Staples catalogue (attributes and titles). Each example is the recommended SKU priced closest to the archetype's competitor median unless another example matches the idea better; it is safe under the method(s) that recommended it.
Planners: #1 Minimal multi-year monthly planner [Strong, deepen] (archetype: Plain-cover monthly planner; Type: planner · Layout: monthly · Design: plain · Audience: general); example 2027-2029 Monthly Planner - 3 Year Calendar 2027-2028-2029 Monthly Pla $17.49; nearest Staples item: 2027 Blue Sky Enterprise 8" x 10" Calendar Year Monthly Plan | #3 Guided / daily journal [Gap-led, add] (archetype: Plain-cover daily journal/guided planner; Type: journal/guided · Layout: daily · Design: plain · Vibe: plain); example LEATHER VILLAGE Leather Bound Journal Key Lock, Distressed Brown 8x6. $29.99; nearest Staples item: 2027 AT-A-GLANCE Hardcover Diary, 5" x 7.5", Wide-Ruled, Red; skipped: R2 plain-cover weekly planner: same idea as R1 (only the date layout differs)
Backpacks: #1 Hiking / outdoor daypack (unisex) [Gap-led, add] (archetype: Women &amp; men hiking/outdoor backpack; Type: hiking/outdoor · Audience: women &amp; men · Vibe: plain · Outdoor: yes); example 25L Hiking Backpack for Men Women - Waterproof Daypack with Whistle &amp;  $27.16; nearest Staples item: Ergodyne® Chill-Its® GB5050 Hydration Bladder Replacement | #4 Travel / carry-on backpack (40L) [Gap-led, deepen] (archetype: Women &amp; men travel/carry-on backpack; Type: travel/carry-on · Audience: women &amp; men · Vibe: plain · Outdoor: not stated); example EMPSIGN 40L Travel Backpack for Women &amp; Men $39.99; nearest Staples item: Thule Subterra 2 Travel Pack Laptop Backpack, Medium, Vetive; skipped: R2-R3 hiking/outdoor backpacks: same idea as R1
Office Desks: #1 Design-led (luxe) computer desk [Vector-led, deepen] (archetype: Luxe rectangular computer desk; Type: computer · Shape: rectangular · Drawers: not stated · Luxe: yes); example Contemporary Home Office Computer Desk, 61" Height - Brown Laminate Sh $339.99; nearest Staples item: Flash Furniture Cambridge 48"W Single Pedestal Desk, White O | #2 Minimal remote-work desk with storage [Gap-led, add] (archetype: Remote workers sleek/minimal workstation desk; Type: workstation · Drawers: yes · Remote workers: yes · Sleek/minimal: yes); example Home Office Table With Grey Laminate Finish And Black Metal Base, 48"l $349.99; nearest Staples item: HON Mod 48"W Desk Shell, Slate Teak (HLPLDS4830.LSL1)
Accent Chairs: #1 Warm-tone leather / fabric armchair [Strong, deepen] (archetype: Armchair; Colour tone: warm-neutral · Form: armchair · Residential living: not stated · Natural/woven: not stated); example Pettengill Tufted Distressed Genuine Top-Grain Leather Accent Armchair $969.99; nearest Staples item: Flash Furniture Hercules Lacey Leather Accent Chair, Black ( | #3 Light-neutral swivel barrel chair [Gap-led, add] (archetype: Barrel chair; Colour tone: light-neutral · Form: barrel · Swivel: yes · Cozy/plush: not stated); example 360° Swivel Accent Chair, Velvet Upholstered Open-Back Swivel Barrel C $259.99; nearest Staples item: Flash Furniture Plastic/Poly Accent Chair, White (FH132DPPWH; skipped: R2 lounge/club chair: Staples already lists 12 lounge chairs (commercial vinyl / faux leather)
Desk Lamps: #1 Decor-grade shaded table lamp ($150+) [Strong, trade-up] (archetype: Shaded table-style desk lamp; Colour: grey · Form: shaded table-style · USB port: not stated · Residential living: not stated); example Waheed Stainless Steel Desk Lamp $151.80; nearest Staples item: OttLite Direct LED Desk Lamp, 18", Brass (CS01BS9-SHPR); note: Staples already has 55 shaded lamps (mostly under $100), so this is a price/design trade-up | #6 Glass / Tiffany-style statement lamp [Gap-led, add] (archetype: Glass/crystal novelty/sculptural desk lamp; Material: glass/crystal · Form: novelty/sculptural · USB port: not stated · Luxe: not stated · Residential living: not stated); example 18" High Tiffany Turning Leaf Desk Lamp $233.10; nearest Staples item: Mount-It! LED Desk Lamp, 16.54", Silver/White (TS-7009); skipped: R2/R4 residential luxe shaded lamps: same idea as R1; R3/R5 wood-base shaded lamps: Staples already sells 5 (Adesso Elmore, Roman)
Lunch Bags: #1 Stainless-steel commuter bento (adult) [Strong, add] (archetype: Travel/commute bento box; Type: bento box · Insulated: not stated · Leak-proof: not stated · Travel/commute: yes); example Stackable Stainless Steel Bento Box for Adults, 6 Cup with Snack Pod $38.95; nearest Staples item: Bentgo Bowl Plastic Insulated Bento Bowl, 2-Coompartment, Kh | #4 Cordless heated lunch box [Gap-led, deepen] (archetype: Travel/commute electric heated lunch bag / box; Type: electric heated · Dishwasher/microwave safe: not stated · Vibe: plain · Travel/commute: yes); example Cordless Electric Lunch Box, 18000mAh Rechargeable Self-Heating Lunch  $59.99; nearest Staples item: Thermos FUNtainer Food Jar Stainless Steel Insulated Food Ja; skipped: R2-R3 bento box: same idea as R1
Clocks: #1 Statement oversized wall clock [Strong, deepen] (archetype: Statement wall clock; Colour tone: pattern · Type: wall · Silent: not stated · Statement: yes); example Poinsettias Contemporary Fusion - Floral Oversized Wood Wall Clock $96.99; nearest Staples item: La Crosse Technology Red Digital LED Wall Clock with Indoor  | #4 Wood pendulum wall clock [Gap-led, add] (archetype: Wood pendulum clock; Material: wood · Type: pendulum · Statement: not stated · Corporate office: not stated); example Two-Tone Wavy Floral Pendulum Wooden Wall Clocks $309.99; nearest Staples item: La Crosse Clock 12" Dark Sierra Wood Analog Quartz Wall Cloc; skipped: R2-R3 patterned / floral wall clocks: same idea as R1
Partitions: #1 Decorative folding screen (under $150) [Strong, add] (archetype: Folding screen divider; Colour: beige/cream · Type: folding screen · Design: plain · Natural/woven: not stated); example Folding Room Divider Screen 8 Panel 5.6 ' Tall Privacy Screen Freestan $139.99; nearest Staples item: Luxor Freestanding 3-Panel Mobile Magnetic Whiteboard Room D | #4 Natural rattan / woven folding screen [Vector-led, add] (archetype: Natural/woven folding screen divider; Colour: beige/cream · Type: folding screen · Natural/woven: yes · Residential living: not stated); example bali &amp; pari Kiyoko Natural Rattan Room Divider - Handwoven Wicker Tri- $299.99; nearest Staples item: Luxor Freestanding 3-Panel Mobile Magnetic Whiteboard Room D; skipped: R2-R3 folding screen dividers: same idea as R1
Coffee Organizers: #1 Bamboo / wood K-Cup pod drawer [Strong, add] (archetype: Wood/bamboo K-Cup pod drawer coffee organizer; Material: wood/bamboo · Colour: brown/wood · Type: pod drawer · Pods: k-cup); example HTB K Cup Holder Compatible Coffee Pod Storage Drawer, Wood Brown $35.89; nearest Staples item: Keurig® K-Cycle® K-Cup® Pod Recycling &amp; Composting Program B | #4 Bamboo Nespresso pod drawer [Gap-led, add] (archetype: Wood/bamboo Nespresso pod drawer coffee organizer; Material: wood/bamboo · Colour: brown/wood · Type: pod drawer · Pods: nespresso); example Bamboo Coffee Pod Drawer Compatible with Nespresso Vertuo Capsule $42.99; nearest Staples item: Mind Reader 11 Compartment Wood Coffee Organizer, Brown (COM; skipped: R2 metal K-Cup pod drawer: Staples already sells a Keurig metal pod drawer; R3 K-Cup station organizer: priced at 0.36x Staples' nearest item (undercut risk) and Staples carries station organizers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directions. (1) With internal data: customer profiling and demand analysis to target the right segments; the same engine pivoted to vet vendor catalogue submissions (approve / reject at onboarding); cannibalisation and margin weighted by real 1P sales.
(2) Beyond this recommendation: internal search data to find high-demand items with no or weak results (a future PoC); demand forecasting plus social and market research for Non-Hero explore categories to increase deal size; market-basket analysis to find items that complete baskets; more competitors and an image-based design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S0–S2: ingest and clean the three sources (PII from Wayfair reviews removed), merge colour/size variants into product families, map each competitor product to the right Staples node with a page crosswalk plus a nearest-neighbour scope check. S3–S4: read every product's full text with the same extractor on both sides into 3 tiers of attributes; build archetypes as combinations of 4–6 attributes (no price). S5: Method 1 in embedding space (whitespace, fit with Staples, aesthetic difference, cannibalisation risk, price position) gives VOS. S6: Method 2 on attribute shares (share gap, price, colour, material/style, design) gives TG, with its own attribute cannibalisation check (ACR). S7: each method has its own safety gate; the final gate takes the union and tiers it. S8: example SKUs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next steps: calibrate thresholds with merchants (the decision tree and gates use weakly supervised thresholds until then), review the top picks with category managers, start seller outreach with brands that already sell on Staples, and pilot in 2–3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3.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amazon.com/dp/B0H3KZBZK7" TargetMode="External"/><Relationship Id="rId2" Type="http://schemas.openxmlformats.org/officeDocument/2006/relationships/hyperlink" Target="https://www.amazon.com/dp/B0H3KZBZK7" TargetMode="External"/><Relationship Id="rId3" Type="http://schemas.openxmlformats.org/officeDocument/2006/relationships/hyperlink" Target="https://www.amazon.com/dp/B08GJS2RTN" TargetMode="External"/><Relationship Id="rId4" Type="http://schemas.openxmlformats.org/officeDocument/2006/relationships/hyperlink" Target="https://www.amazon.com/dp/B08GJS2RTN" TargetMode="External"/><Relationship Id="rId5" Type="http://schemas.openxmlformats.org/officeDocument/2006/relationships/hyperlink" Target="https://www.amazon.com/dp/B0GF38Q254" TargetMode="External"/><Relationship Id="rId6" Type="http://schemas.openxmlformats.org/officeDocument/2006/relationships/hyperlink" Target="https://www.amazon.com/dp/B0GF38Q254" TargetMode="External"/><Relationship Id="rId7" Type="http://schemas.openxmlformats.org/officeDocument/2006/relationships/hyperlink" Target="https://www.amazon.com/dp/B0GTLKQ4BM" TargetMode="External"/><Relationship Id="rId8" Type="http://schemas.openxmlformats.org/officeDocument/2006/relationships/hyperlink" Target="https://www.amazon.com/dp/B0GTLKQ4BM" TargetMode="External"/><Relationship Id="rId9" Type="http://schemas.openxmlformats.org/officeDocument/2006/relationships/hyperlink" Target="https://www.wayfair.com/shop-product-type/pdp/inbox-zero-contemporary-home-office-computer-desk-61-height-brown-laminate-shelves-61h-leaning-desk-for-office-taupe-laminate-work-satisfaction-increase-w122093285.html" TargetMode="External"/><Relationship Id="rId10" Type="http://schemas.openxmlformats.org/officeDocument/2006/relationships/hyperlink" Target="https://www.wayfair.com/shop-product-type/pdp/inbox-zero-contemporary-home-office-computer-desk-61-height-brown-laminate-shelves-61h-leaning-desk-for-office-taupe-laminate-work-satisfaction-increase-w122093285.html" TargetMode="External"/><Relationship Id="rId11" Type="http://schemas.openxmlformats.org/officeDocument/2006/relationships/hyperlink" Target="https://www.wayfair.com/shop-product-type/pdp/gracie-oaks-home-office-table-with-grey-laminate-finish-and-black-metal-base-48l-workstation-for-office-48l-legs-storage-w121799809.html?piid=1416615713" TargetMode="External"/><Relationship Id="rId12" Type="http://schemas.openxmlformats.org/officeDocument/2006/relationships/hyperlink" Target="https://www.wayfair.com/shop-product-type/pdp/gracie-oaks-home-office-table-with-grey-laminate-finish-and-black-metal-base-48l-workstation-for-office-48l-legs-storage-w121799809.html?piid=1416615713" TargetMode="External"/><Relationship Id="rId13" Type="http://schemas.openxmlformats.org/officeDocument/2006/relationships/hyperlink" Target="https://www.wayfair.com/furniture/pdp/trent-austin-design-pettengill-tufted-distressed-genuine-top-grain-leather-accent-armchair-w009992004.html?piid=276744617" TargetMode="External"/><Relationship Id="rId14" Type="http://schemas.openxmlformats.org/officeDocument/2006/relationships/hyperlink" Target="https://www.wayfair.com/furniture/pdp/trent-austin-design-pettengill-tufted-distressed-genuine-top-grain-leather-accent-armchair-w009992004.html?piid=276744617" TargetMode="External"/><Relationship Id="rId15"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6"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7" Type="http://schemas.openxmlformats.org/officeDocument/2006/relationships/hyperlink" Target="https://www.wayfair.com/lighting/pdp/mercer41-waheed-stainless-steel-desk-lamp-w110461592.html?piid=1427026813" TargetMode="External"/><Relationship Id="rId18" Type="http://schemas.openxmlformats.org/officeDocument/2006/relationships/hyperlink" Target="https://www.wayfair.com/lighting/pdp/mercer41-waheed-stainless-steel-desk-lamp-w110461592.html?piid=1427026813" TargetMode="External"/><Relationship Id="rId19" Type="http://schemas.openxmlformats.org/officeDocument/2006/relationships/hyperlink" Target="https://www.wayfair.com/lighting/pdp/bloomsbury-market-tiffany-18-mahogany-bronze-desk-lamp-npqk5963.html" TargetMode="External"/><Relationship Id="rId20" Type="http://schemas.openxmlformats.org/officeDocument/2006/relationships/hyperlink" Target="https://www.wayfair.com/lighting/pdp/bloomsbury-market-tiffany-18-mahogany-bronze-desk-lamp-npqk5963.html" TargetMode="External"/><Relationship Id="rId21" Type="http://schemas.openxmlformats.org/officeDocument/2006/relationships/hyperlink" Target="https://www.amazon.com/dp/B0716B2ZFK" TargetMode="External"/><Relationship Id="rId22" Type="http://schemas.openxmlformats.org/officeDocument/2006/relationships/hyperlink" Target="https://www.amazon.com/dp/B0716B2ZFK" TargetMode="External"/><Relationship Id="rId23" Type="http://schemas.openxmlformats.org/officeDocument/2006/relationships/hyperlink" Target="https://www.amazon.com/dp/B0H2QG3YFG" TargetMode="External"/><Relationship Id="rId24" Type="http://schemas.openxmlformats.org/officeDocument/2006/relationships/hyperlink" Target="https://www.amazon.com/dp/B0H2QG3YFG" TargetMode="External"/><Relationship Id="rId25" Type="http://schemas.openxmlformats.org/officeDocument/2006/relationships/hyperlink" Target="https://www.wayfair.com/decor-pillows/pdp/east-urban-home-poinsettias-contemporary-fusion-floral-oversized-wood-wall-clock-w110228098.html?piid=1265712092" TargetMode="External"/><Relationship Id="rId26" Type="http://schemas.openxmlformats.org/officeDocument/2006/relationships/hyperlink" Target="https://www.wayfair.com/decor-pillows/pdp/east-urban-home-poinsettias-contemporary-fusion-floral-oversized-wood-wall-clock-w110228098.html?piid=1265712092" TargetMode="External"/><Relationship Id="rId27" Type="http://schemas.openxmlformats.org/officeDocument/2006/relationships/hyperlink" Target="https://www.wayfair.com/decor-pillows/pdp/dakota-fields-two-tone-wavy-floral-pendulum-wooden-wall-clocks-w123533345.html?piid=776711224" TargetMode="External"/><Relationship Id="rId28" Type="http://schemas.openxmlformats.org/officeDocument/2006/relationships/hyperlink" Target="https://www.wayfair.com/decor-pillows/pdp/dakota-fields-two-tone-wavy-floral-pendulum-wooden-wall-clocks-w123533345.html?piid=776711224" TargetMode="External"/><Relationship Id="rId29" Type="http://schemas.openxmlformats.org/officeDocument/2006/relationships/hyperlink" Target="https://www.wayfair.com/furniture/pdp/highland-dunes-folding-room-divider-screen-8-panel-56-tall-privacy-screen-freestanding-room-partition-beige-w123581307.html" TargetMode="External"/><Relationship Id="rId30" Type="http://schemas.openxmlformats.org/officeDocument/2006/relationships/hyperlink" Target="https://www.wayfair.com/furniture/pdp/highland-dunes-folding-room-divider-screen-8-panel-56-tall-privacy-screen-freestanding-room-partition-beige-w123581307.html" TargetMode="External"/><Relationship Id="rId31" Type="http://schemas.openxmlformats.org/officeDocument/2006/relationships/hyperlink" Target="https://www.wayfair.com/furniture/pdp/wholesale-interiors-bali-pari-kiyoko-natural-rattan-room-divider-handwoven-wicker-tri-fold-decorative-privacy-screen-with-woven-leaf-motif-w121919805.html" TargetMode="External"/><Relationship Id="rId32" Type="http://schemas.openxmlformats.org/officeDocument/2006/relationships/hyperlink" Target="https://www.wayfair.com/furniture/pdp/wholesale-interiors-bali-pari-kiyoko-natural-rattan-room-divider-handwoven-wicker-tri-fold-decorative-privacy-screen-with-woven-leaf-motif-w121919805.html" TargetMode="External"/><Relationship Id="rId33" Type="http://schemas.openxmlformats.org/officeDocument/2006/relationships/hyperlink" Target="https://www.amazon.com/dp/B0DBH21SRN" TargetMode="External"/><Relationship Id="rId34" Type="http://schemas.openxmlformats.org/officeDocument/2006/relationships/hyperlink" Target="https://www.amazon.com/dp/B0DBH21SRN" TargetMode="External"/><Relationship Id="rId35" Type="http://schemas.openxmlformats.org/officeDocument/2006/relationships/hyperlink" Target="https://www.amazon.com/dp/B0H74HQT7S" TargetMode="External"/><Relationship Id="rId36" Type="http://schemas.openxmlformats.org/officeDocument/2006/relationships/hyperlink" Target="https://www.amazon.com/dp/B0H74HQT7S" TargetMode="External"/><Relationship Id="rId37" Type="http://schemas.openxmlformats.org/officeDocument/2006/relationships/slideLayout" Target="../slideLayouts/slideLayout2.xml"/><Relationship Id="rId3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2.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325880"/>
            <a:ext cx="6675120" cy="320040"/>
          </a:xfrm>
          <a:prstGeom prst="rect">
            <a:avLst/>
          </a:prstGeom>
          <a:noFill/>
          <a:ln/>
        </p:spPr>
        <p:txBody>
          <a:bodyPr wrap="square" lIns="0" tIns="0" rIns="0" bIns="0" rtlCol="0" anchor="t"/>
          <a:lstStyle/>
          <a:p>
            <a:pPr indent="0" marL="0">
              <a:buNone/>
            </a:pPr>
            <a:r>
              <a:rPr lang="en-US" sz="1400" b="1" spc="100" kern="0" dirty="0">
                <a:solidFill>
                  <a:srgbClr val="F5A623"/>
                </a:solidFill>
                <a:latin typeface="Calibri" pitchFamily="34" charset="0"/>
                <a:ea typeface="Calibri" pitchFamily="34" charset="-122"/>
                <a:cs typeface="Calibri" pitchFamily="34" charset="-120"/>
              </a:rPr>
              <a:t>PROOF OF CONCEPT  ·  Q1 2027 MARKETPLACE PLANNING</a:t>
            </a:r>
            <a:endParaRPr lang="en-US" sz="1400" dirty="0"/>
          </a:p>
        </p:txBody>
      </p:sp>
      <p:sp>
        <p:nvSpPr>
          <p:cNvPr id="3" name="Text 1"/>
          <p:cNvSpPr txBox="1"/>
          <p:nvPr/>
        </p:nvSpPr>
        <p:spPr>
          <a:xfrm>
            <a:off x="640080" y="1737360"/>
            <a:ext cx="6675120" cy="86868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4" name="Text 2"/>
          <p:cNvSpPr txBox="1"/>
          <p:nvPr/>
        </p:nvSpPr>
        <p:spPr>
          <a:xfrm>
            <a:off x="640080" y="260604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3429000"/>
            <a:ext cx="6309360" cy="868680"/>
          </a:xfrm>
          <a:prstGeom prst="rect">
            <a:avLst/>
          </a:prstGeom>
          <a:noFill/>
          <a:ln/>
        </p:spPr>
        <p:txBody>
          <a:bodyPr wrap="square" lIns="0" tIns="0" rIns="0" bIns="0" rtlCol="0" anchor="t"/>
          <a:lstStyle/>
          <a:p>
            <a:pPr indent="0" marL="0">
              <a:buNone/>
            </a:pPr>
            <a:r>
              <a:rPr lang="en-US" sz="1600" i="1" dirty="0">
                <a:solidFill>
                  <a:srgbClr val="E5ECF8"/>
                </a:solidFill>
                <a:latin typeface="Calibri" pitchFamily="34" charset="0"/>
                <a:ea typeface="Calibri" pitchFamily="34" charset="-122"/>
                <a:cs typeface="Calibri" pitchFamily="34" charset="-120"/>
              </a:rPr>
              <a:t>Which competitor products can Staples add through its marketplace, without cannibalising the assortment it already sells?</a:t>
            </a:r>
            <a:endParaRPr lang="en-US" sz="1600" dirty="0"/>
          </a:p>
        </p:txBody>
      </p:sp>
      <p:sp>
        <p:nvSpPr>
          <p:cNvPr id="6" name="Text 4"/>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7" name="Text 5"/>
          <p:cNvSpPr txBox="1"/>
          <p:nvPr/>
        </p:nvSpPr>
        <p:spPr>
          <a:xfrm>
            <a:off x="7635240" y="105156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8" name="Shape 6"/>
          <p:cNvSpPr/>
          <p:nvPr/>
        </p:nvSpPr>
        <p:spPr>
          <a:xfrm>
            <a:off x="7635240" y="1371600"/>
            <a:ext cx="1188720" cy="1280160"/>
          </a:xfrm>
          <a:prstGeom prst="roundRect">
            <a:avLst>
              <a:gd name="adj" fmla="val 9231"/>
            </a:avLst>
          </a:prstGeom>
          <a:solidFill>
            <a:srgbClr val="1C3A7A"/>
          </a:solidFill>
          <a:ln w="12700">
            <a:solidFill>
              <a:srgbClr val="1C3A7A"/>
            </a:solidFill>
            <a:prstDash val="solid"/>
          </a:ln>
        </p:spPr>
      </p:sp>
      <p:pic>
        <p:nvPicPr>
          <p:cNvPr id="9" name="Image 0" descr="preencoded.png">    </p:cNvPr>
          <p:cNvPicPr>
            <a:picLocks noChangeAspect="1"/>
          </p:cNvPicPr>
          <p:nvPr/>
        </p:nvPicPr>
        <p:blipFill>
          <a:blip r:embed="rId1"/>
          <a:stretch>
            <a:fillRect/>
          </a:stretch>
        </p:blipFill>
        <p:spPr>
          <a:xfrm>
            <a:off x="7973568" y="1536192"/>
            <a:ext cx="512064" cy="512064"/>
          </a:xfrm>
          <a:prstGeom prst="rect">
            <a:avLst/>
          </a:prstGeom>
        </p:spPr>
      </p:pic>
      <p:sp>
        <p:nvSpPr>
          <p:cNvPr id="10" name="Text 7"/>
          <p:cNvSpPr txBox="1"/>
          <p:nvPr/>
        </p:nvSpPr>
        <p:spPr>
          <a:xfrm>
            <a:off x="7680960" y="215798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1" name="Shape 8"/>
          <p:cNvSpPr/>
          <p:nvPr/>
        </p:nvSpPr>
        <p:spPr>
          <a:xfrm>
            <a:off x="7635240" y="2788920"/>
            <a:ext cx="1188720" cy="1280160"/>
          </a:xfrm>
          <a:prstGeom prst="roundRect">
            <a:avLst>
              <a:gd name="adj" fmla="val 9231"/>
            </a:avLst>
          </a:prstGeom>
          <a:solidFill>
            <a:srgbClr val="1C3A7A"/>
          </a:solidFill>
          <a:ln w="12700">
            <a:solidFill>
              <a:srgbClr val="1C3A7A"/>
            </a:solidFill>
            <a:prstDash val="solid"/>
          </a:ln>
        </p:spPr>
      </p:sp>
      <p:pic>
        <p:nvPicPr>
          <p:cNvPr id="12" name="Image 1" descr="preencoded.png">    </p:cNvPr>
          <p:cNvPicPr>
            <a:picLocks noChangeAspect="1"/>
          </p:cNvPicPr>
          <p:nvPr/>
        </p:nvPicPr>
        <p:blipFill>
          <a:blip r:embed="rId2"/>
          <a:stretch>
            <a:fillRect/>
          </a:stretch>
        </p:blipFill>
        <p:spPr>
          <a:xfrm>
            <a:off x="7973568" y="2953512"/>
            <a:ext cx="512064" cy="512064"/>
          </a:xfrm>
          <a:prstGeom prst="rect">
            <a:avLst/>
          </a:prstGeom>
        </p:spPr>
      </p:pic>
      <p:sp>
        <p:nvSpPr>
          <p:cNvPr id="13" name="Text 9"/>
          <p:cNvSpPr txBox="1"/>
          <p:nvPr/>
        </p:nvSpPr>
        <p:spPr>
          <a:xfrm>
            <a:off x="7680960" y="357530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14" name="Shape 10"/>
          <p:cNvSpPr/>
          <p:nvPr/>
        </p:nvSpPr>
        <p:spPr>
          <a:xfrm>
            <a:off x="7635240" y="4206240"/>
            <a:ext cx="1188720" cy="1280160"/>
          </a:xfrm>
          <a:prstGeom prst="roundRect">
            <a:avLst>
              <a:gd name="adj" fmla="val 9231"/>
            </a:avLst>
          </a:prstGeom>
          <a:solidFill>
            <a:srgbClr val="1C3A7A"/>
          </a:solidFill>
          <a:ln w="12700">
            <a:solidFill>
              <a:srgbClr val="1C3A7A"/>
            </a:solidFill>
            <a:prstDash val="solid"/>
          </a:ln>
        </p:spPr>
      </p:sp>
      <p:pic>
        <p:nvPicPr>
          <p:cNvPr id="15" name="Image 2" descr="preencoded.png">    </p:cNvPr>
          <p:cNvPicPr>
            <a:picLocks noChangeAspect="1"/>
          </p:cNvPicPr>
          <p:nvPr/>
        </p:nvPicPr>
        <p:blipFill>
          <a:blip r:embed="rId3"/>
          <a:stretch>
            <a:fillRect/>
          </a:stretch>
        </p:blipFill>
        <p:spPr>
          <a:xfrm>
            <a:off x="7973568" y="4370832"/>
            <a:ext cx="512064" cy="512064"/>
          </a:xfrm>
          <a:prstGeom prst="rect">
            <a:avLst/>
          </a:prstGeom>
        </p:spPr>
      </p:pic>
      <p:sp>
        <p:nvSpPr>
          <p:cNvPr id="16" name="Text 11"/>
          <p:cNvSpPr txBox="1"/>
          <p:nvPr/>
        </p:nvSpPr>
        <p:spPr>
          <a:xfrm>
            <a:off x="7680960" y="499262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17" name="Text 12"/>
          <p:cNvSpPr txBox="1"/>
          <p:nvPr/>
        </p:nvSpPr>
        <p:spPr>
          <a:xfrm>
            <a:off x="8961120" y="105156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18" name="Shape 13"/>
          <p:cNvSpPr/>
          <p:nvPr/>
        </p:nvSpPr>
        <p:spPr>
          <a:xfrm>
            <a:off x="8961120" y="1371600"/>
            <a:ext cx="1188720" cy="1280160"/>
          </a:xfrm>
          <a:prstGeom prst="roundRect">
            <a:avLst>
              <a:gd name="adj" fmla="val 9231"/>
            </a:avLst>
          </a:prstGeom>
          <a:solidFill>
            <a:srgbClr val="24498F"/>
          </a:solidFill>
          <a:ln w="12700">
            <a:solidFill>
              <a:srgbClr val="24498F"/>
            </a:solidFill>
            <a:prstDash val="solid"/>
          </a:ln>
        </p:spPr>
      </p:sp>
      <p:pic>
        <p:nvPicPr>
          <p:cNvPr id="19" name="Image 3" descr="preencoded.png">    </p:cNvPr>
          <p:cNvPicPr>
            <a:picLocks noChangeAspect="1"/>
          </p:cNvPicPr>
          <p:nvPr/>
        </p:nvPicPr>
        <p:blipFill>
          <a:blip r:embed="rId4"/>
          <a:stretch>
            <a:fillRect/>
          </a:stretch>
        </p:blipFill>
        <p:spPr>
          <a:xfrm>
            <a:off x="9299448" y="1536192"/>
            <a:ext cx="512064" cy="512064"/>
          </a:xfrm>
          <a:prstGeom prst="rect">
            <a:avLst/>
          </a:prstGeom>
        </p:spPr>
      </p:pic>
      <p:sp>
        <p:nvSpPr>
          <p:cNvPr id="20" name="Text 14"/>
          <p:cNvSpPr txBox="1"/>
          <p:nvPr/>
        </p:nvSpPr>
        <p:spPr>
          <a:xfrm>
            <a:off x="9006840" y="215798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21" name="Shape 15"/>
          <p:cNvSpPr/>
          <p:nvPr/>
        </p:nvSpPr>
        <p:spPr>
          <a:xfrm>
            <a:off x="8961120" y="2788920"/>
            <a:ext cx="1188720" cy="1280160"/>
          </a:xfrm>
          <a:prstGeom prst="roundRect">
            <a:avLst>
              <a:gd name="adj" fmla="val 9231"/>
            </a:avLst>
          </a:prstGeom>
          <a:solidFill>
            <a:srgbClr val="24498F"/>
          </a:solidFill>
          <a:ln w="12700">
            <a:solidFill>
              <a:srgbClr val="24498F"/>
            </a:solidFill>
            <a:prstDash val="solid"/>
          </a:ln>
        </p:spPr>
      </p:sp>
      <p:pic>
        <p:nvPicPr>
          <p:cNvPr id="22" name="Image 4" descr="preencoded.png">    </p:cNvPr>
          <p:cNvPicPr>
            <a:picLocks noChangeAspect="1"/>
          </p:cNvPicPr>
          <p:nvPr/>
        </p:nvPicPr>
        <p:blipFill>
          <a:blip r:embed="rId5"/>
          <a:stretch>
            <a:fillRect/>
          </a:stretch>
        </p:blipFill>
        <p:spPr>
          <a:xfrm>
            <a:off x="9299448" y="2953512"/>
            <a:ext cx="512064" cy="512064"/>
          </a:xfrm>
          <a:prstGeom prst="rect">
            <a:avLst/>
          </a:prstGeom>
        </p:spPr>
      </p:pic>
      <p:sp>
        <p:nvSpPr>
          <p:cNvPr id="23" name="Text 16"/>
          <p:cNvSpPr txBox="1"/>
          <p:nvPr/>
        </p:nvSpPr>
        <p:spPr>
          <a:xfrm>
            <a:off x="9006840" y="357530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24" name="Shape 17"/>
          <p:cNvSpPr/>
          <p:nvPr/>
        </p:nvSpPr>
        <p:spPr>
          <a:xfrm>
            <a:off x="8961120" y="4206240"/>
            <a:ext cx="1188720" cy="1280160"/>
          </a:xfrm>
          <a:prstGeom prst="roundRect">
            <a:avLst>
              <a:gd name="adj" fmla="val 9231"/>
            </a:avLst>
          </a:prstGeom>
          <a:solidFill>
            <a:srgbClr val="24498F"/>
          </a:solidFill>
          <a:ln w="12700">
            <a:solidFill>
              <a:srgbClr val="24498F"/>
            </a:solidFill>
            <a:prstDash val="solid"/>
          </a:ln>
        </p:spPr>
      </p:sp>
      <p:pic>
        <p:nvPicPr>
          <p:cNvPr id="25" name="Image 5" descr="preencoded.png">    </p:cNvPr>
          <p:cNvPicPr>
            <a:picLocks noChangeAspect="1"/>
          </p:cNvPicPr>
          <p:nvPr/>
        </p:nvPicPr>
        <p:blipFill>
          <a:blip r:embed="rId6"/>
          <a:stretch>
            <a:fillRect/>
          </a:stretch>
        </p:blipFill>
        <p:spPr>
          <a:xfrm>
            <a:off x="9299448" y="4370832"/>
            <a:ext cx="512064" cy="512064"/>
          </a:xfrm>
          <a:prstGeom prst="rect">
            <a:avLst/>
          </a:prstGeom>
        </p:spPr>
      </p:pic>
      <p:sp>
        <p:nvSpPr>
          <p:cNvPr id="26" name="Text 18"/>
          <p:cNvSpPr txBox="1"/>
          <p:nvPr/>
        </p:nvSpPr>
        <p:spPr>
          <a:xfrm>
            <a:off x="9006840" y="499262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27" name="Text 19"/>
          <p:cNvSpPr txBox="1"/>
          <p:nvPr/>
        </p:nvSpPr>
        <p:spPr>
          <a:xfrm>
            <a:off x="10287000" y="105156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28" name="Shape 20"/>
          <p:cNvSpPr/>
          <p:nvPr/>
        </p:nvSpPr>
        <p:spPr>
          <a:xfrm>
            <a:off x="10287000" y="1371600"/>
            <a:ext cx="1188720" cy="1280160"/>
          </a:xfrm>
          <a:prstGeom prst="roundRect">
            <a:avLst>
              <a:gd name="adj" fmla="val 9231"/>
            </a:avLst>
          </a:prstGeom>
          <a:solidFill>
            <a:srgbClr val="2D5AA6"/>
          </a:solidFill>
          <a:ln w="12700">
            <a:solidFill>
              <a:srgbClr val="2D5AA6"/>
            </a:solidFill>
            <a:prstDash val="solid"/>
          </a:ln>
        </p:spPr>
      </p:sp>
      <p:pic>
        <p:nvPicPr>
          <p:cNvPr id="29" name="Image 6" descr="preencoded.png">    </p:cNvPr>
          <p:cNvPicPr>
            <a:picLocks noChangeAspect="1"/>
          </p:cNvPicPr>
          <p:nvPr/>
        </p:nvPicPr>
        <p:blipFill>
          <a:blip r:embed="rId7"/>
          <a:stretch>
            <a:fillRect/>
          </a:stretch>
        </p:blipFill>
        <p:spPr>
          <a:xfrm>
            <a:off x="10625328" y="1536192"/>
            <a:ext cx="512064" cy="512064"/>
          </a:xfrm>
          <a:prstGeom prst="rect">
            <a:avLst/>
          </a:prstGeom>
        </p:spPr>
      </p:pic>
      <p:sp>
        <p:nvSpPr>
          <p:cNvPr id="30" name="Text 21"/>
          <p:cNvSpPr txBox="1"/>
          <p:nvPr/>
        </p:nvSpPr>
        <p:spPr>
          <a:xfrm>
            <a:off x="10332720" y="215798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31" name="Shape 22"/>
          <p:cNvSpPr/>
          <p:nvPr/>
        </p:nvSpPr>
        <p:spPr>
          <a:xfrm>
            <a:off x="10287000" y="2788920"/>
            <a:ext cx="1188720" cy="1280160"/>
          </a:xfrm>
          <a:prstGeom prst="roundRect">
            <a:avLst>
              <a:gd name="adj" fmla="val 9231"/>
            </a:avLst>
          </a:prstGeom>
          <a:solidFill>
            <a:srgbClr val="2D5AA6"/>
          </a:solidFill>
          <a:ln w="12700">
            <a:solidFill>
              <a:srgbClr val="2D5AA6"/>
            </a:solidFill>
            <a:prstDash val="solid"/>
          </a:ln>
        </p:spPr>
      </p:sp>
      <p:pic>
        <p:nvPicPr>
          <p:cNvPr id="32" name="Image 7" descr="preencoded.png">    </p:cNvPr>
          <p:cNvPicPr>
            <a:picLocks noChangeAspect="1"/>
          </p:cNvPicPr>
          <p:nvPr/>
        </p:nvPicPr>
        <p:blipFill>
          <a:blip r:embed="rId8"/>
          <a:stretch>
            <a:fillRect/>
          </a:stretch>
        </p:blipFill>
        <p:spPr>
          <a:xfrm>
            <a:off x="10625328" y="2953512"/>
            <a:ext cx="512064" cy="512064"/>
          </a:xfrm>
          <a:prstGeom prst="rect">
            <a:avLst/>
          </a:prstGeom>
        </p:spPr>
      </p:pic>
      <p:sp>
        <p:nvSpPr>
          <p:cNvPr id="33" name="Text 23"/>
          <p:cNvSpPr txBox="1"/>
          <p:nvPr/>
        </p:nvSpPr>
        <p:spPr>
          <a:xfrm>
            <a:off x="10332720" y="357530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
        <p:nvSpPr>
          <p:cNvPr id="34" name="Shape 24"/>
          <p:cNvSpPr/>
          <p:nvPr/>
        </p:nvSpPr>
        <p:spPr>
          <a:xfrm>
            <a:off x="10287000" y="4206240"/>
            <a:ext cx="1188720" cy="1280160"/>
          </a:xfrm>
          <a:prstGeom prst="roundRect">
            <a:avLst>
              <a:gd name="adj" fmla="val 9231"/>
            </a:avLst>
          </a:prstGeom>
          <a:solidFill>
            <a:srgbClr val="2D5AA6"/>
          </a:solidFill>
          <a:ln w="12700">
            <a:solidFill>
              <a:srgbClr val="2D5AA6"/>
            </a:solidFill>
            <a:prstDash val="solid"/>
          </a:ln>
        </p:spPr>
      </p:sp>
      <p:pic>
        <p:nvPicPr>
          <p:cNvPr id="35" name="Image 8" descr="preencoded.png">    </p:cNvPr>
          <p:cNvPicPr>
            <a:picLocks noChangeAspect="1"/>
          </p:cNvPicPr>
          <p:nvPr/>
        </p:nvPicPr>
        <p:blipFill>
          <a:blip r:embed="rId9"/>
          <a:stretch>
            <a:fillRect/>
          </a:stretch>
        </p:blipFill>
        <p:spPr>
          <a:xfrm>
            <a:off x="10625328" y="4370832"/>
            <a:ext cx="512064" cy="512064"/>
          </a:xfrm>
          <a:prstGeom prst="rect">
            <a:avLst/>
          </a:prstGeom>
        </p:spPr>
      </p:pic>
      <p:sp>
        <p:nvSpPr>
          <p:cNvPr id="36" name="Text 25"/>
          <p:cNvSpPr txBox="1"/>
          <p:nvPr/>
        </p:nvSpPr>
        <p:spPr>
          <a:xfrm>
            <a:off x="10332720" y="4992624"/>
            <a:ext cx="109728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Business Problem &amp; Our Approach</a:t>
            </a:r>
            <a:endParaRPr lang="en-US" sz="2800" dirty="0"/>
          </a:p>
        </p:txBody>
      </p:sp>
      <p:sp>
        <p:nvSpPr>
          <p:cNvPr id="3" name="Shape 1"/>
          <p:cNvSpPr/>
          <p:nvPr/>
        </p:nvSpPr>
        <p:spPr>
          <a:xfrm>
            <a:off x="411480" y="1188720"/>
            <a:ext cx="2377440" cy="548640"/>
          </a:xfrm>
          <a:prstGeom prst="roundRect">
            <a:avLst>
              <a:gd name="adj" fmla="val 16667"/>
            </a:avLst>
          </a:prstGeom>
          <a:solidFill>
            <a:srgbClr val="B9CEF2"/>
          </a:solidFill>
          <a:ln w="12700">
            <a:solidFill>
              <a:srgbClr val="B9CEF2"/>
            </a:solidFill>
            <a:prstDash val="solid"/>
          </a:ln>
        </p:spPr>
      </p:sp>
      <p:sp>
        <p:nvSpPr>
          <p:cNvPr id="4" name="Text 2"/>
          <p:cNvSpPr txBox="1"/>
          <p:nvPr/>
        </p:nvSpPr>
        <p:spPr>
          <a:xfrm>
            <a:off x="411480" y="1188720"/>
            <a:ext cx="2377440" cy="548640"/>
          </a:xfrm>
          <a:prstGeom prst="rect">
            <a:avLst/>
          </a:prstGeom>
          <a:noFill/>
          <a:ln/>
        </p:spPr>
        <p:txBody>
          <a:bodyPr wrap="square" lIns="0" tIns="0" rIns="0" bIns="0" rtlCol="0" anchor="ctr"/>
          <a:lstStyle/>
          <a:p>
            <a:pPr algn="ctr" indent="0" marL="0">
              <a:buNone/>
            </a:pPr>
            <a:r>
              <a:rPr lang="en-US" sz="1600" b="1" dirty="0">
                <a:solidFill>
                  <a:srgbClr val="13285B"/>
                </a:solidFill>
                <a:latin typeface="Calibri" pitchFamily="34" charset="0"/>
                <a:ea typeface="Calibri" pitchFamily="34" charset="-122"/>
                <a:cs typeface="Calibri" pitchFamily="34" charset="-120"/>
              </a:rPr>
              <a:t>Business Problem</a:t>
            </a:r>
            <a:endParaRPr lang="en-US" sz="1600" dirty="0"/>
          </a:p>
        </p:txBody>
      </p:sp>
      <p:sp>
        <p:nvSpPr>
          <p:cNvPr id="5" name="Shape 3"/>
          <p:cNvSpPr/>
          <p:nvPr/>
        </p:nvSpPr>
        <p:spPr>
          <a:xfrm>
            <a:off x="1143000" y="1874520"/>
            <a:ext cx="914400" cy="914400"/>
          </a:xfrm>
          <a:prstGeom prst="ellipse">
            <a:avLst/>
          </a:prstGeom>
          <a:solidFill>
            <a:srgbClr val="EEF3FB"/>
          </a:solidFill>
          <a:ln w="25400">
            <a:solidFill>
              <a:srgbClr val="8FB0E8"/>
            </a:solidFill>
            <a:prstDash val="solid"/>
          </a:ln>
        </p:spPr>
      </p:sp>
      <p:pic>
        <p:nvPicPr>
          <p:cNvPr id="6" name="Image 0" descr="preencoded.png">    </p:cNvPr>
          <p:cNvPicPr>
            <a:picLocks noChangeAspect="1"/>
          </p:cNvPicPr>
          <p:nvPr/>
        </p:nvPicPr>
        <p:blipFill>
          <a:blip r:embed="rId1"/>
          <a:stretch>
            <a:fillRect/>
          </a:stretch>
        </p:blipFill>
        <p:spPr>
          <a:xfrm>
            <a:off x="1371600" y="2103120"/>
            <a:ext cx="457200" cy="457200"/>
          </a:xfrm>
          <a:prstGeom prst="rect">
            <a:avLst/>
          </a:prstGeom>
        </p:spPr>
      </p:pic>
      <p:sp>
        <p:nvSpPr>
          <p:cNvPr id="7" name="Shape 4"/>
          <p:cNvSpPr/>
          <p:nvPr/>
        </p:nvSpPr>
        <p:spPr>
          <a:xfrm>
            <a:off x="411480" y="2926080"/>
            <a:ext cx="2377440" cy="960120"/>
          </a:xfrm>
          <a:prstGeom prst="roundRect">
            <a:avLst>
              <a:gd name="adj" fmla="val 11429"/>
            </a:avLst>
          </a:prstGeom>
          <a:solidFill>
            <a:srgbClr val="DCE7F8"/>
          </a:solidFill>
          <a:ln w="12700">
            <a:solidFill>
              <a:srgbClr val="DCE7F8"/>
            </a:solidFill>
            <a:prstDash val="solid"/>
          </a:ln>
        </p:spPr>
      </p:sp>
      <p:sp>
        <p:nvSpPr>
          <p:cNvPr id="8" name="Text 5"/>
          <p:cNvSpPr txBox="1"/>
          <p:nvPr/>
        </p:nvSpPr>
        <p:spPr>
          <a:xfrm>
            <a:off x="548640" y="2926080"/>
            <a:ext cx="2103120" cy="960120"/>
          </a:xfrm>
          <a:prstGeom prst="rect">
            <a:avLst/>
          </a:prstGeom>
          <a:noFill/>
          <a:ln/>
        </p:spPr>
        <p:txBody>
          <a:bodyPr wrap="square" lIns="0" tIns="0" rIns="0" bIns="0" rtlCol="0" anchor="ctr"/>
          <a:lstStyle/>
          <a:p>
            <a:pPr algn="ctr" indent="0" marL="0">
              <a:buNone/>
            </a:pPr>
            <a:r>
              <a:rPr lang="en-US" sz="1200" dirty="0">
                <a:solidFill>
                  <a:srgbClr val="13285B"/>
                </a:solidFill>
                <a:latin typeface="Calibri" pitchFamily="34" charset="0"/>
                <a:ea typeface="Calibri" pitchFamily="34" charset="-122"/>
                <a:cs typeface="Calibri" pitchFamily="34" charset="-120"/>
              </a:rPr>
              <a:t>Grow a </a:t>
            </a:r>
            <a:pPr algn="ctr" indent="0" marL="0">
              <a:buNone/>
            </a:pPr>
            <a:r>
              <a:rPr lang="en-US" sz="1200" b="1" dirty="0">
                <a:solidFill>
                  <a:srgbClr val="13285B"/>
                </a:solidFill>
                <a:latin typeface="Calibri" pitchFamily="34" charset="0"/>
                <a:ea typeface="Calibri" pitchFamily="34" charset="-122"/>
                <a:cs typeface="Calibri" pitchFamily="34" charset="-120"/>
              </a:rPr>
              <a:t>curated</a:t>
            </a:r>
            <a:pPr algn="ctr" indent="0" marL="0">
              <a:buNone/>
            </a:pPr>
            <a:r>
              <a:rPr lang="en-US" sz="1200" dirty="0">
                <a:solidFill>
                  <a:srgbClr val="13285B"/>
                </a:solidFill>
                <a:latin typeface="Calibri" pitchFamily="34" charset="0"/>
                <a:ea typeface="Calibri" pitchFamily="34" charset="-122"/>
                <a:cs typeface="Calibri" pitchFamily="34" charset="-120"/>
              </a:rPr>
              <a:t> marketplace that extends Staples' core, not a full-category dump</a:t>
            </a:r>
            <a:endParaRPr lang="en-US" sz="1200" dirty="0"/>
          </a:p>
        </p:txBody>
      </p:sp>
      <p:sp>
        <p:nvSpPr>
          <p:cNvPr id="9" name="Shape 6"/>
          <p:cNvSpPr/>
          <p:nvPr/>
        </p:nvSpPr>
        <p:spPr>
          <a:xfrm>
            <a:off x="411480" y="4023360"/>
            <a:ext cx="2377440" cy="960120"/>
          </a:xfrm>
          <a:prstGeom prst="roundRect">
            <a:avLst>
              <a:gd name="adj" fmla="val 11429"/>
            </a:avLst>
          </a:prstGeom>
          <a:solidFill>
            <a:srgbClr val="DCE7F8"/>
          </a:solidFill>
          <a:ln w="12700">
            <a:solidFill>
              <a:srgbClr val="DCE7F8"/>
            </a:solidFill>
            <a:prstDash val="solid"/>
          </a:ln>
        </p:spPr>
      </p:sp>
      <p:sp>
        <p:nvSpPr>
          <p:cNvPr id="10" name="Text 7"/>
          <p:cNvSpPr txBox="1"/>
          <p:nvPr/>
        </p:nvSpPr>
        <p:spPr>
          <a:xfrm>
            <a:off x="548640" y="4023360"/>
            <a:ext cx="2103120" cy="960120"/>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Protect 1P:</a:t>
            </a:r>
            <a:pPr algn="ctr" indent="0" marL="0">
              <a:buNone/>
            </a:pPr>
            <a:r>
              <a:rPr lang="en-US" sz="1200" dirty="0">
                <a:solidFill>
                  <a:srgbClr val="13285B"/>
                </a:solidFill>
                <a:latin typeface="Calibri" pitchFamily="34" charset="0"/>
                <a:ea typeface="Calibri" pitchFamily="34" charset="-122"/>
                <a:cs typeface="Calibri" pitchFamily="34" charset="-120"/>
              </a:rPr>
              <a:t> add only true whitespace that will not cannibalise what Staples already sells</a:t>
            </a:r>
            <a:endParaRPr lang="en-US" sz="1200" dirty="0"/>
          </a:p>
        </p:txBody>
      </p:sp>
      <p:sp>
        <p:nvSpPr>
          <p:cNvPr id="11" name="Shape 8"/>
          <p:cNvSpPr/>
          <p:nvPr/>
        </p:nvSpPr>
        <p:spPr>
          <a:xfrm>
            <a:off x="411480" y="5120640"/>
            <a:ext cx="2377440" cy="960120"/>
          </a:xfrm>
          <a:prstGeom prst="roundRect">
            <a:avLst>
              <a:gd name="adj" fmla="val 11429"/>
            </a:avLst>
          </a:prstGeom>
          <a:solidFill>
            <a:srgbClr val="DCE7F8"/>
          </a:solidFill>
          <a:ln w="12700">
            <a:solidFill>
              <a:srgbClr val="DCE7F8"/>
            </a:solidFill>
            <a:prstDash val="solid"/>
          </a:ln>
        </p:spPr>
      </p:sp>
      <p:sp>
        <p:nvSpPr>
          <p:cNvPr id="12" name="Text 9"/>
          <p:cNvSpPr txBox="1"/>
          <p:nvPr/>
        </p:nvSpPr>
        <p:spPr>
          <a:xfrm>
            <a:off x="548640" y="5120640"/>
            <a:ext cx="2103120" cy="960120"/>
          </a:xfrm>
          <a:prstGeom prst="rect">
            <a:avLst/>
          </a:prstGeom>
          <a:noFill/>
          <a:ln/>
        </p:spPr>
        <p:txBody>
          <a:bodyPr wrap="square" lIns="0" tIns="0" rIns="0" bIns="0" rtlCol="0" anchor="ctr"/>
          <a:lstStyle/>
          <a:p>
            <a:pPr algn="ctr" indent="0" marL="0">
              <a:buNone/>
            </a:pPr>
            <a:r>
              <a:rPr lang="en-US" sz="1200" dirty="0">
                <a:solidFill>
                  <a:srgbClr val="13285B"/>
                </a:solidFill>
                <a:latin typeface="Calibri" pitchFamily="34" charset="0"/>
                <a:ea typeface="Calibri" pitchFamily="34" charset="-122"/>
                <a:cs typeface="Calibri" pitchFamily="34" charset="-120"/>
              </a:rPr>
              <a:t>Decide with </a:t>
            </a:r>
            <a:pPr algn="ctr" indent="0" marL="0">
              <a:buNone/>
            </a:pPr>
            <a:r>
              <a:rPr lang="en-US" sz="1200" b="1" dirty="0">
                <a:solidFill>
                  <a:srgbClr val="13285B"/>
                </a:solidFill>
                <a:latin typeface="Calibri" pitchFamily="34" charset="0"/>
                <a:ea typeface="Calibri" pitchFamily="34" charset="-122"/>
                <a:cs typeface="Calibri" pitchFamily="34" charset="-120"/>
              </a:rPr>
              <a:t>external data only:</a:t>
            </a:r>
            <a:pPr algn="ctr" indent="0" marL="0">
              <a:buNone/>
            </a:pPr>
            <a:r>
              <a:rPr lang="en-US" sz="1200" dirty="0">
                <a:solidFill>
                  <a:srgbClr val="13285B"/>
                </a:solidFill>
                <a:latin typeface="Calibri" pitchFamily="34" charset="0"/>
                <a:ea typeface="Calibri" pitchFamily="34" charset="-122"/>
                <a:cs typeface="Calibri" pitchFamily="34" charset="-120"/>
              </a:rPr>
              <a:t> Staples.com, Amazon and Wayfair listings</a:t>
            </a:r>
            <a:endParaRPr lang="en-US" sz="1200" dirty="0"/>
          </a:p>
        </p:txBody>
      </p:sp>
      <p:sp>
        <p:nvSpPr>
          <p:cNvPr id="13" name="Shape 10"/>
          <p:cNvSpPr/>
          <p:nvPr/>
        </p:nvSpPr>
        <p:spPr>
          <a:xfrm>
            <a:off x="3017520" y="1188720"/>
            <a:ext cx="6153912" cy="548640"/>
          </a:xfrm>
          <a:prstGeom prst="roundRect">
            <a:avLst>
              <a:gd name="adj" fmla="val 16667"/>
            </a:avLst>
          </a:prstGeom>
          <a:solidFill>
            <a:srgbClr val="B9CEF2"/>
          </a:solidFill>
          <a:ln w="12700">
            <a:solidFill>
              <a:srgbClr val="B9CEF2"/>
            </a:solidFill>
            <a:prstDash val="solid"/>
          </a:ln>
        </p:spPr>
      </p:sp>
      <p:sp>
        <p:nvSpPr>
          <p:cNvPr id="14" name="Text 11"/>
          <p:cNvSpPr txBox="1"/>
          <p:nvPr/>
        </p:nvSpPr>
        <p:spPr>
          <a:xfrm>
            <a:off x="3017520" y="1188720"/>
            <a:ext cx="6153912" cy="548640"/>
          </a:xfrm>
          <a:prstGeom prst="rect">
            <a:avLst/>
          </a:prstGeom>
          <a:noFill/>
          <a:ln/>
        </p:spPr>
        <p:txBody>
          <a:bodyPr wrap="square" lIns="0" tIns="0" rIns="0" bIns="0" rtlCol="0" anchor="ctr"/>
          <a:lstStyle/>
          <a:p>
            <a:pPr algn="ctr" indent="0" marL="0">
              <a:buNone/>
            </a:pPr>
            <a:r>
              <a:rPr lang="en-US" sz="1600" b="1" dirty="0">
                <a:solidFill>
                  <a:srgbClr val="13285B"/>
                </a:solidFill>
                <a:latin typeface="Calibri" pitchFamily="34" charset="0"/>
                <a:ea typeface="Calibri" pitchFamily="34" charset="-122"/>
                <a:cs typeface="Calibri" pitchFamily="34" charset="-120"/>
              </a:rPr>
              <a:t>Solving What Matters: Gaps, Safety &amp; Sourcing</a:t>
            </a:r>
            <a:endParaRPr lang="en-US" sz="1600" dirty="0"/>
          </a:p>
        </p:txBody>
      </p:sp>
      <p:sp>
        <p:nvSpPr>
          <p:cNvPr id="15" name="Shape 12"/>
          <p:cNvSpPr/>
          <p:nvPr/>
        </p:nvSpPr>
        <p:spPr>
          <a:xfrm>
            <a:off x="3063240" y="1965960"/>
            <a:ext cx="566928" cy="566928"/>
          </a:xfrm>
          <a:prstGeom prst="ellipse">
            <a:avLst/>
          </a:prstGeom>
          <a:solidFill>
            <a:srgbClr val="1F4E9A"/>
          </a:solidFill>
          <a:ln w="12700">
            <a:solidFill>
              <a:srgbClr val="1F4E9A"/>
            </a:solidFill>
            <a:prstDash val="solid"/>
          </a:ln>
        </p:spPr>
      </p:sp>
      <p:pic>
        <p:nvPicPr>
          <p:cNvPr id="16" name="Image 1" descr="preencoded.png">    </p:cNvPr>
          <p:cNvPicPr>
            <a:picLocks noChangeAspect="1"/>
          </p:cNvPicPr>
          <p:nvPr/>
        </p:nvPicPr>
        <p:blipFill>
          <a:blip r:embed="rId2"/>
          <a:stretch>
            <a:fillRect/>
          </a:stretch>
        </p:blipFill>
        <p:spPr>
          <a:xfrm>
            <a:off x="3187964" y="2090684"/>
            <a:ext cx="317480" cy="317480"/>
          </a:xfrm>
          <a:prstGeom prst="rect">
            <a:avLst/>
          </a:prstGeom>
        </p:spPr>
      </p:pic>
      <p:sp>
        <p:nvSpPr>
          <p:cNvPr id="17" name="Text 13"/>
          <p:cNvSpPr txBox="1"/>
          <p:nvPr/>
        </p:nvSpPr>
        <p:spPr>
          <a:xfrm>
            <a:off x="2971800" y="2569464"/>
            <a:ext cx="749808" cy="274320"/>
          </a:xfrm>
          <a:prstGeom prst="rect">
            <a:avLst/>
          </a:prstGeom>
          <a:noFill/>
          <a:ln/>
        </p:spPr>
        <p:txBody>
          <a:bodyPr wrap="square" lIns="0" tIns="0" rIns="0" bIns="0" rtlCol="0" anchor="t"/>
          <a:lstStyle/>
          <a:p>
            <a:pPr algn="ctr" indent="0" marL="0">
              <a:buNone/>
            </a:pPr>
            <a:r>
              <a:rPr lang="en-US" sz="1200" b="1" dirty="0">
                <a:solidFill>
                  <a:srgbClr val="13285B"/>
                </a:solidFill>
                <a:latin typeface="Calibri" pitchFamily="34" charset="0"/>
                <a:ea typeface="Calibri" pitchFamily="34" charset="-122"/>
                <a:cs typeface="Calibri" pitchFamily="34" charset="-120"/>
              </a:rPr>
              <a:t>Who?</a:t>
            </a:r>
            <a:endParaRPr lang="en-US" sz="1200" dirty="0"/>
          </a:p>
        </p:txBody>
      </p:sp>
      <p:sp>
        <p:nvSpPr>
          <p:cNvPr id="18" name="Text 14"/>
          <p:cNvSpPr txBox="1"/>
          <p:nvPr/>
        </p:nvSpPr>
        <p:spPr>
          <a:xfrm>
            <a:off x="3794760" y="1920240"/>
            <a:ext cx="2208276" cy="292608"/>
          </a:xfrm>
          <a:prstGeom prst="rect">
            <a:avLst/>
          </a:prstGeom>
          <a:noFill/>
          <a:ln/>
        </p:spPr>
        <p:txBody>
          <a:bodyPr wrap="square" lIns="0" tIns="0" rIns="0" bIns="0" rtlCol="0" anchor="t"/>
          <a:lstStyle/>
          <a:p>
            <a:pPr indent="0" marL="0">
              <a:buNone/>
            </a:pPr>
            <a:r>
              <a:rPr lang="en-US" sz="1400" b="1" dirty="0">
                <a:solidFill>
                  <a:srgbClr val="1F4E9A"/>
                </a:solidFill>
                <a:latin typeface="Calibri" pitchFamily="34" charset="0"/>
                <a:ea typeface="Calibri" pitchFamily="34" charset="-122"/>
                <a:cs typeface="Calibri" pitchFamily="34" charset="-120"/>
              </a:rPr>
              <a:t>Stakeholders</a:t>
            </a:r>
            <a:endParaRPr lang="en-US" sz="1400" dirty="0"/>
          </a:p>
        </p:txBody>
      </p:sp>
      <p:sp>
        <p:nvSpPr>
          <p:cNvPr id="19" name="Text 15"/>
          <p:cNvSpPr txBox="1"/>
          <p:nvPr/>
        </p:nvSpPr>
        <p:spPr>
          <a:xfrm>
            <a:off x="3794760" y="2258568"/>
            <a:ext cx="2208276" cy="13258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Head of Staples Marketplace</a:t>
            </a:r>
            <a:endParaRPr lang="en-US" sz="1150" dirty="0"/>
          </a:p>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Category &amp; merchandising teams</a:t>
            </a:r>
            <a:endParaRPr lang="en-US" sz="1150" dirty="0"/>
          </a:p>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Marketplace seller recruitment</a:t>
            </a:r>
            <a:endParaRPr lang="en-US" sz="1150" dirty="0"/>
          </a:p>
        </p:txBody>
      </p:sp>
      <p:sp>
        <p:nvSpPr>
          <p:cNvPr id="20" name="Shape 16"/>
          <p:cNvSpPr/>
          <p:nvPr/>
        </p:nvSpPr>
        <p:spPr>
          <a:xfrm>
            <a:off x="6185916" y="1965960"/>
            <a:ext cx="566928" cy="566928"/>
          </a:xfrm>
          <a:prstGeom prst="ellipse">
            <a:avLst/>
          </a:prstGeom>
          <a:solidFill>
            <a:srgbClr val="1F4E9A"/>
          </a:solidFill>
          <a:ln w="12700">
            <a:solidFill>
              <a:srgbClr val="1F4E9A"/>
            </a:solidFill>
            <a:prstDash val="solid"/>
          </a:ln>
        </p:spPr>
      </p:sp>
      <p:pic>
        <p:nvPicPr>
          <p:cNvPr id="21" name="Image 2" descr="preencoded.png">    </p:cNvPr>
          <p:cNvPicPr>
            <a:picLocks noChangeAspect="1"/>
          </p:cNvPicPr>
          <p:nvPr/>
        </p:nvPicPr>
        <p:blipFill>
          <a:blip r:embed="rId3"/>
          <a:stretch>
            <a:fillRect/>
          </a:stretch>
        </p:blipFill>
        <p:spPr>
          <a:xfrm>
            <a:off x="6310640" y="2090684"/>
            <a:ext cx="317480" cy="317480"/>
          </a:xfrm>
          <a:prstGeom prst="rect">
            <a:avLst/>
          </a:prstGeom>
        </p:spPr>
      </p:pic>
      <p:sp>
        <p:nvSpPr>
          <p:cNvPr id="22" name="Text 17"/>
          <p:cNvSpPr txBox="1"/>
          <p:nvPr/>
        </p:nvSpPr>
        <p:spPr>
          <a:xfrm>
            <a:off x="6094476" y="2569464"/>
            <a:ext cx="749808" cy="274320"/>
          </a:xfrm>
          <a:prstGeom prst="rect">
            <a:avLst/>
          </a:prstGeom>
          <a:noFill/>
          <a:ln/>
        </p:spPr>
        <p:txBody>
          <a:bodyPr wrap="square" lIns="0" tIns="0" rIns="0" bIns="0" rtlCol="0" anchor="t"/>
          <a:lstStyle/>
          <a:p>
            <a:pPr algn="ctr" indent="0" marL="0">
              <a:buNone/>
            </a:pPr>
            <a:r>
              <a:rPr lang="en-US" sz="1200" b="1" dirty="0">
                <a:solidFill>
                  <a:srgbClr val="13285B"/>
                </a:solidFill>
                <a:latin typeface="Calibri" pitchFamily="34" charset="0"/>
                <a:ea typeface="Calibri" pitchFamily="34" charset="-122"/>
                <a:cs typeface="Calibri" pitchFamily="34" charset="-120"/>
              </a:rPr>
              <a:t>What?</a:t>
            </a:r>
            <a:endParaRPr lang="en-US" sz="1200" dirty="0"/>
          </a:p>
        </p:txBody>
      </p:sp>
      <p:sp>
        <p:nvSpPr>
          <p:cNvPr id="23" name="Text 18"/>
          <p:cNvSpPr txBox="1"/>
          <p:nvPr/>
        </p:nvSpPr>
        <p:spPr>
          <a:xfrm>
            <a:off x="6917436" y="1920240"/>
            <a:ext cx="2208276" cy="292608"/>
          </a:xfrm>
          <a:prstGeom prst="rect">
            <a:avLst/>
          </a:prstGeom>
          <a:noFill/>
          <a:ln/>
        </p:spPr>
        <p:txBody>
          <a:bodyPr wrap="square" lIns="0" tIns="0" rIns="0" bIns="0" rtlCol="0" anchor="t"/>
          <a:lstStyle/>
          <a:p>
            <a:pPr indent="0" marL="0">
              <a:buNone/>
            </a:pPr>
            <a:r>
              <a:rPr lang="en-US" sz="1400" b="1" dirty="0">
                <a:solidFill>
                  <a:srgbClr val="1F4E9A"/>
                </a:solidFill>
                <a:latin typeface="Calibri" pitchFamily="34" charset="0"/>
                <a:ea typeface="Calibri" pitchFamily="34" charset="-122"/>
                <a:cs typeface="Calibri" pitchFamily="34" charset="-120"/>
              </a:rPr>
              <a:t>Archetype gap engine</a:t>
            </a:r>
            <a:endParaRPr lang="en-US" sz="1400" dirty="0"/>
          </a:p>
        </p:txBody>
      </p:sp>
      <p:sp>
        <p:nvSpPr>
          <p:cNvPr id="24" name="Text 19"/>
          <p:cNvSpPr txBox="1"/>
          <p:nvPr/>
        </p:nvSpPr>
        <p:spPr>
          <a:xfrm>
            <a:off x="6917436" y="2258568"/>
            <a:ext cx="2208276" cy="13258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For each Staples node, find the product archetypes the leading competitor carries that Staples lacks</a:t>
            </a:r>
            <a:endParaRPr lang="en-US" sz="1150" dirty="0"/>
          </a:p>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Check every one for cannibalisation and fit</a:t>
            </a:r>
            <a:endParaRPr lang="en-US" sz="1150" dirty="0"/>
          </a:p>
        </p:txBody>
      </p:sp>
      <p:sp>
        <p:nvSpPr>
          <p:cNvPr id="25" name="Shape 20"/>
          <p:cNvSpPr/>
          <p:nvPr/>
        </p:nvSpPr>
        <p:spPr>
          <a:xfrm>
            <a:off x="3063240" y="3794760"/>
            <a:ext cx="566928" cy="566928"/>
          </a:xfrm>
          <a:prstGeom prst="ellipse">
            <a:avLst/>
          </a:prstGeom>
          <a:solidFill>
            <a:srgbClr val="1F4E9A"/>
          </a:solidFill>
          <a:ln w="12700">
            <a:solidFill>
              <a:srgbClr val="1F4E9A"/>
            </a:solidFill>
            <a:prstDash val="solid"/>
          </a:ln>
        </p:spPr>
      </p:sp>
      <p:pic>
        <p:nvPicPr>
          <p:cNvPr id="26" name="Image 3" descr="preencoded.png">    </p:cNvPr>
          <p:cNvPicPr>
            <a:picLocks noChangeAspect="1"/>
          </p:cNvPicPr>
          <p:nvPr/>
        </p:nvPicPr>
        <p:blipFill>
          <a:blip r:embed="rId4"/>
          <a:stretch>
            <a:fillRect/>
          </a:stretch>
        </p:blipFill>
        <p:spPr>
          <a:xfrm>
            <a:off x="3187964" y="3919484"/>
            <a:ext cx="317480" cy="317480"/>
          </a:xfrm>
          <a:prstGeom prst="rect">
            <a:avLst/>
          </a:prstGeom>
        </p:spPr>
      </p:pic>
      <p:sp>
        <p:nvSpPr>
          <p:cNvPr id="27" name="Text 21"/>
          <p:cNvSpPr txBox="1"/>
          <p:nvPr/>
        </p:nvSpPr>
        <p:spPr>
          <a:xfrm>
            <a:off x="2971800" y="4398264"/>
            <a:ext cx="749808" cy="274320"/>
          </a:xfrm>
          <a:prstGeom prst="rect">
            <a:avLst/>
          </a:prstGeom>
          <a:noFill/>
          <a:ln/>
        </p:spPr>
        <p:txBody>
          <a:bodyPr wrap="square" lIns="0" tIns="0" rIns="0" bIns="0" rtlCol="0" anchor="t"/>
          <a:lstStyle/>
          <a:p>
            <a:pPr algn="ctr" indent="0" marL="0">
              <a:buNone/>
            </a:pPr>
            <a:r>
              <a:rPr lang="en-US" sz="1200" b="1" dirty="0">
                <a:solidFill>
                  <a:srgbClr val="13285B"/>
                </a:solidFill>
                <a:latin typeface="Calibri" pitchFamily="34" charset="0"/>
                <a:ea typeface="Calibri" pitchFamily="34" charset="-122"/>
                <a:cs typeface="Calibri" pitchFamily="34" charset="-120"/>
              </a:rPr>
              <a:t>With?</a:t>
            </a:r>
            <a:endParaRPr lang="en-US" sz="1200" dirty="0"/>
          </a:p>
        </p:txBody>
      </p:sp>
      <p:sp>
        <p:nvSpPr>
          <p:cNvPr id="28" name="Text 22"/>
          <p:cNvSpPr txBox="1"/>
          <p:nvPr/>
        </p:nvSpPr>
        <p:spPr>
          <a:xfrm>
            <a:off x="3794760" y="3749040"/>
            <a:ext cx="2208276" cy="292608"/>
          </a:xfrm>
          <a:prstGeom prst="rect">
            <a:avLst/>
          </a:prstGeom>
          <a:noFill/>
          <a:ln/>
        </p:spPr>
        <p:txBody>
          <a:bodyPr wrap="square" lIns="0" tIns="0" rIns="0" bIns="0" rtlCol="0" anchor="t"/>
          <a:lstStyle/>
          <a:p>
            <a:pPr indent="0" marL="0">
              <a:buNone/>
            </a:pPr>
            <a:r>
              <a:rPr lang="en-US" sz="1400" b="1" dirty="0">
                <a:solidFill>
                  <a:srgbClr val="1F4E9A"/>
                </a:solidFill>
                <a:latin typeface="Calibri" pitchFamily="34" charset="0"/>
                <a:ea typeface="Calibri" pitchFamily="34" charset="-122"/>
                <a:cs typeface="Calibri" pitchFamily="34" charset="-120"/>
              </a:rPr>
              <a:t>Engagement</a:t>
            </a:r>
            <a:endParaRPr lang="en-US" sz="1400" dirty="0"/>
          </a:p>
        </p:txBody>
      </p:sp>
      <p:sp>
        <p:nvSpPr>
          <p:cNvPr id="29" name="Text 23"/>
          <p:cNvSpPr txBox="1"/>
          <p:nvPr/>
        </p:nvSpPr>
        <p:spPr>
          <a:xfrm>
            <a:off x="3794760" y="4087368"/>
            <a:ext cx="2208276" cy="13258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12 nodes chosen jointly across Hero, Probable and Non-Hero segments</a:t>
            </a:r>
            <a:endParaRPr lang="en-US" sz="1150" dirty="0"/>
          </a:p>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Merchant calibration of thresholds (next step)</a:t>
            </a:r>
            <a:endParaRPr lang="en-US" sz="1150" dirty="0"/>
          </a:p>
        </p:txBody>
      </p:sp>
      <p:sp>
        <p:nvSpPr>
          <p:cNvPr id="30" name="Shape 24"/>
          <p:cNvSpPr/>
          <p:nvPr/>
        </p:nvSpPr>
        <p:spPr>
          <a:xfrm>
            <a:off x="6185916" y="3794760"/>
            <a:ext cx="566928" cy="566928"/>
          </a:xfrm>
          <a:prstGeom prst="ellipse">
            <a:avLst/>
          </a:prstGeom>
          <a:solidFill>
            <a:srgbClr val="1F4E9A"/>
          </a:solidFill>
          <a:ln w="12700">
            <a:solidFill>
              <a:srgbClr val="1F4E9A"/>
            </a:solidFill>
            <a:prstDash val="solid"/>
          </a:ln>
        </p:spPr>
      </p:sp>
      <p:pic>
        <p:nvPicPr>
          <p:cNvPr id="31" name="Image 4" descr="preencoded.png">    </p:cNvPr>
          <p:cNvPicPr>
            <a:picLocks noChangeAspect="1"/>
          </p:cNvPicPr>
          <p:nvPr/>
        </p:nvPicPr>
        <p:blipFill>
          <a:blip r:embed="rId5"/>
          <a:stretch>
            <a:fillRect/>
          </a:stretch>
        </p:blipFill>
        <p:spPr>
          <a:xfrm>
            <a:off x="6310640" y="3919484"/>
            <a:ext cx="317480" cy="317480"/>
          </a:xfrm>
          <a:prstGeom prst="rect">
            <a:avLst/>
          </a:prstGeom>
        </p:spPr>
      </p:pic>
      <p:sp>
        <p:nvSpPr>
          <p:cNvPr id="32" name="Text 25"/>
          <p:cNvSpPr txBox="1"/>
          <p:nvPr/>
        </p:nvSpPr>
        <p:spPr>
          <a:xfrm>
            <a:off x="6094476" y="4398264"/>
            <a:ext cx="749808" cy="274320"/>
          </a:xfrm>
          <a:prstGeom prst="rect">
            <a:avLst/>
          </a:prstGeom>
          <a:noFill/>
          <a:ln/>
        </p:spPr>
        <p:txBody>
          <a:bodyPr wrap="square" lIns="0" tIns="0" rIns="0" bIns="0" rtlCol="0" anchor="t"/>
          <a:lstStyle/>
          <a:p>
            <a:pPr algn="ctr" indent="0" marL="0">
              <a:buNone/>
            </a:pPr>
            <a:r>
              <a:rPr lang="en-US" sz="1200" b="1" dirty="0">
                <a:solidFill>
                  <a:srgbClr val="13285B"/>
                </a:solidFill>
                <a:latin typeface="Calibri" pitchFamily="34" charset="0"/>
                <a:ea typeface="Calibri" pitchFamily="34" charset="-122"/>
                <a:cs typeface="Calibri" pitchFamily="34" charset="-120"/>
              </a:rPr>
              <a:t>How?</a:t>
            </a:r>
            <a:endParaRPr lang="en-US" sz="1200" dirty="0"/>
          </a:p>
        </p:txBody>
      </p:sp>
      <p:sp>
        <p:nvSpPr>
          <p:cNvPr id="33" name="Text 26"/>
          <p:cNvSpPr txBox="1"/>
          <p:nvPr/>
        </p:nvSpPr>
        <p:spPr>
          <a:xfrm>
            <a:off x="6917436" y="3749040"/>
            <a:ext cx="2208276" cy="292608"/>
          </a:xfrm>
          <a:prstGeom prst="rect">
            <a:avLst/>
          </a:prstGeom>
          <a:noFill/>
          <a:ln/>
        </p:spPr>
        <p:txBody>
          <a:bodyPr wrap="square" lIns="0" tIns="0" rIns="0" bIns="0" rtlCol="0" anchor="t"/>
          <a:lstStyle/>
          <a:p>
            <a:pPr indent="0" marL="0">
              <a:buNone/>
            </a:pPr>
            <a:r>
              <a:rPr lang="en-US" sz="1400" b="1" dirty="0">
                <a:solidFill>
                  <a:srgbClr val="1F4E9A"/>
                </a:solidFill>
                <a:latin typeface="Calibri" pitchFamily="34" charset="0"/>
                <a:ea typeface="Calibri" pitchFamily="34" charset="-122"/>
                <a:cs typeface="Calibri" pitchFamily="34" charset="-120"/>
              </a:rPr>
              <a:t>Key solution components</a:t>
            </a:r>
            <a:endParaRPr lang="en-US" sz="1400" dirty="0"/>
          </a:p>
        </p:txBody>
      </p:sp>
      <p:sp>
        <p:nvSpPr>
          <p:cNvPr id="34" name="Text 27"/>
          <p:cNvSpPr txBox="1"/>
          <p:nvPr/>
        </p:nvSpPr>
        <p:spPr>
          <a:xfrm>
            <a:off x="6917436" y="4087368"/>
            <a:ext cx="2208276" cy="132588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Cross-retailer product-family matching</a:t>
            </a:r>
            <a:endParaRPr lang="en-US" sz="1150" dirty="0"/>
          </a:p>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3-tier attributes: function, look, lifestyle</a:t>
            </a:r>
            <a:endParaRPr lang="en-US" sz="1150" dirty="0"/>
          </a:p>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Archetypes of 4–6 attributes</a:t>
            </a:r>
            <a:endParaRPr lang="en-US" sz="1150" dirty="0"/>
          </a:p>
          <a:p>
            <a:pPr marL="152400" indent="-152400">
              <a:spcAft>
                <a:spcPts val="300"/>
              </a:spcAft>
              <a:buSzPct val="100000"/>
              <a:buChar char="•"/>
            </a:pPr>
            <a:r>
              <a:rPr lang="en-US" sz="1150" dirty="0">
                <a:solidFill>
                  <a:srgbClr val="1F2937"/>
                </a:solidFill>
                <a:latin typeface="Calibri" pitchFamily="34" charset="0"/>
                <a:ea typeface="Calibri" pitchFamily="34" charset="-122"/>
                <a:cs typeface="Calibri" pitchFamily="34" charset="-120"/>
              </a:rPr>
              <a:t>Two scoring methods + safety gates</a:t>
            </a:r>
            <a:endParaRPr lang="en-US" sz="1150" dirty="0"/>
          </a:p>
        </p:txBody>
      </p:sp>
      <p:sp>
        <p:nvSpPr>
          <p:cNvPr id="35" name="Text 28"/>
          <p:cNvSpPr txBox="1"/>
          <p:nvPr/>
        </p:nvSpPr>
        <p:spPr>
          <a:xfrm>
            <a:off x="3017520" y="5559552"/>
            <a:ext cx="6153912" cy="237744"/>
          </a:xfrm>
          <a:prstGeom prst="rect">
            <a:avLst/>
          </a:prstGeom>
          <a:noFill/>
          <a:ln/>
        </p:spPr>
        <p:txBody>
          <a:bodyPr wrap="square" lIns="0" tIns="0" rIns="0" bIns="0" rtlCol="0" anchor="t"/>
          <a:lstStyle/>
          <a:p>
            <a:pPr algn="ctr" indent="0" marL="0">
              <a:buNone/>
            </a:pPr>
            <a:r>
              <a:rPr lang="en-US" sz="1100" b="1" dirty="0">
                <a:solidFill>
                  <a:srgbClr val="5B6475"/>
                </a:solidFill>
                <a:latin typeface="Calibri" pitchFamily="34" charset="0"/>
                <a:ea typeface="Calibri" pitchFamily="34" charset="-122"/>
                <a:cs typeface="Calibri" pitchFamily="34" charset="-120"/>
              </a:rPr>
              <a:t>Solution approach</a:t>
            </a:r>
            <a:endParaRPr lang="en-US" sz="1100" dirty="0"/>
          </a:p>
        </p:txBody>
      </p:sp>
      <p:sp>
        <p:nvSpPr>
          <p:cNvPr id="36" name="Shape 29"/>
          <p:cNvSpPr/>
          <p:nvPr/>
        </p:nvSpPr>
        <p:spPr>
          <a:xfrm>
            <a:off x="3017520" y="5815584"/>
            <a:ext cx="2161032" cy="530352"/>
          </a:xfrm>
          <a:prstGeom prst="homePlate">
            <a:avLst/>
          </a:prstGeom>
          <a:solidFill>
            <a:srgbClr val="2F5DAA"/>
          </a:solidFill>
          <a:ln w="12700">
            <a:solidFill>
              <a:srgbClr val="2F5DAA"/>
            </a:solidFill>
            <a:prstDash val="solid"/>
          </a:ln>
        </p:spPr>
      </p:sp>
      <p:sp>
        <p:nvSpPr>
          <p:cNvPr id="37" name="Text 30"/>
          <p:cNvSpPr txBox="1"/>
          <p:nvPr/>
        </p:nvSpPr>
        <p:spPr>
          <a:xfrm>
            <a:off x="3108960" y="5815584"/>
            <a:ext cx="1795272"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Extract &amp; Map</a:t>
            </a:r>
            <a:endParaRPr lang="en-US" sz="1200" dirty="0"/>
          </a:p>
        </p:txBody>
      </p:sp>
      <p:sp>
        <p:nvSpPr>
          <p:cNvPr id="38" name="Shape 31"/>
          <p:cNvSpPr/>
          <p:nvPr/>
        </p:nvSpPr>
        <p:spPr>
          <a:xfrm>
            <a:off x="5013960" y="5815584"/>
            <a:ext cx="2161032" cy="530352"/>
          </a:xfrm>
          <a:prstGeom prst="chevron">
            <a:avLst/>
          </a:prstGeom>
          <a:solidFill>
            <a:srgbClr val="5A82C8"/>
          </a:solidFill>
          <a:ln w="12700">
            <a:solidFill>
              <a:srgbClr val="5A82C8"/>
            </a:solidFill>
            <a:prstDash val="solid"/>
          </a:ln>
        </p:spPr>
      </p:sp>
      <p:sp>
        <p:nvSpPr>
          <p:cNvPr id="39" name="Text 32"/>
          <p:cNvSpPr txBox="1"/>
          <p:nvPr/>
        </p:nvSpPr>
        <p:spPr>
          <a:xfrm>
            <a:off x="5288280" y="5815584"/>
            <a:ext cx="1703832"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Attribute &amp; Archetype</a:t>
            </a:r>
            <a:endParaRPr lang="en-US" sz="1200" dirty="0"/>
          </a:p>
        </p:txBody>
      </p:sp>
      <p:sp>
        <p:nvSpPr>
          <p:cNvPr id="40" name="Shape 33"/>
          <p:cNvSpPr/>
          <p:nvPr/>
        </p:nvSpPr>
        <p:spPr>
          <a:xfrm>
            <a:off x="7065264" y="5815584"/>
            <a:ext cx="2161032" cy="530352"/>
          </a:xfrm>
          <a:prstGeom prst="chevron">
            <a:avLst/>
          </a:prstGeom>
          <a:solidFill>
            <a:srgbClr val="8FAEE0"/>
          </a:solidFill>
          <a:ln w="12700">
            <a:solidFill>
              <a:srgbClr val="8FAEE0"/>
            </a:solidFill>
            <a:prstDash val="solid"/>
          </a:ln>
        </p:spPr>
      </p:sp>
      <p:sp>
        <p:nvSpPr>
          <p:cNvPr id="41" name="Text 34"/>
          <p:cNvSpPr txBox="1"/>
          <p:nvPr/>
        </p:nvSpPr>
        <p:spPr>
          <a:xfrm>
            <a:off x="7339584" y="5815584"/>
            <a:ext cx="1703832" cy="530352"/>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Score, Gate &amp; Recommend</a:t>
            </a:r>
            <a:endParaRPr lang="en-US" sz="1200" dirty="0"/>
          </a:p>
        </p:txBody>
      </p:sp>
      <p:sp>
        <p:nvSpPr>
          <p:cNvPr id="42" name="Shape 35"/>
          <p:cNvSpPr/>
          <p:nvPr/>
        </p:nvSpPr>
        <p:spPr>
          <a:xfrm>
            <a:off x="9400032" y="1188720"/>
            <a:ext cx="2377440" cy="548640"/>
          </a:xfrm>
          <a:prstGeom prst="roundRect">
            <a:avLst>
              <a:gd name="adj" fmla="val 16667"/>
            </a:avLst>
          </a:prstGeom>
          <a:solidFill>
            <a:srgbClr val="B9CEF2"/>
          </a:solidFill>
          <a:ln w="12700">
            <a:solidFill>
              <a:srgbClr val="B9CEF2"/>
            </a:solidFill>
            <a:prstDash val="solid"/>
          </a:ln>
        </p:spPr>
      </p:sp>
      <p:sp>
        <p:nvSpPr>
          <p:cNvPr id="43" name="Text 36"/>
          <p:cNvSpPr txBox="1"/>
          <p:nvPr/>
        </p:nvSpPr>
        <p:spPr>
          <a:xfrm>
            <a:off x="9400032" y="1188720"/>
            <a:ext cx="2377440" cy="548640"/>
          </a:xfrm>
          <a:prstGeom prst="rect">
            <a:avLst/>
          </a:prstGeom>
          <a:noFill/>
          <a:ln/>
        </p:spPr>
        <p:txBody>
          <a:bodyPr wrap="square" lIns="0" tIns="0" rIns="0" bIns="0" rtlCol="0" anchor="ctr"/>
          <a:lstStyle/>
          <a:p>
            <a:pPr algn="ctr" indent="0" marL="0">
              <a:buNone/>
            </a:pPr>
            <a:r>
              <a:rPr lang="en-US" sz="1600" b="1" dirty="0">
                <a:solidFill>
                  <a:srgbClr val="13285B"/>
                </a:solidFill>
                <a:latin typeface="Calibri" pitchFamily="34" charset="0"/>
                <a:ea typeface="Calibri" pitchFamily="34" charset="-122"/>
                <a:cs typeface="Calibri" pitchFamily="34" charset="-120"/>
              </a:rPr>
              <a:t>Value for Staples</a:t>
            </a:r>
            <a:endParaRPr lang="en-US" sz="1600" dirty="0"/>
          </a:p>
        </p:txBody>
      </p:sp>
      <p:sp>
        <p:nvSpPr>
          <p:cNvPr id="44" name="Shape 37"/>
          <p:cNvSpPr/>
          <p:nvPr/>
        </p:nvSpPr>
        <p:spPr>
          <a:xfrm>
            <a:off x="10131552" y="1874520"/>
            <a:ext cx="914400" cy="914400"/>
          </a:xfrm>
          <a:prstGeom prst="ellipse">
            <a:avLst/>
          </a:prstGeom>
          <a:solidFill>
            <a:srgbClr val="EEF3FB"/>
          </a:solidFill>
          <a:ln w="25400">
            <a:solidFill>
              <a:srgbClr val="8FB0E8"/>
            </a:solidFill>
            <a:prstDash val="solid"/>
          </a:ln>
        </p:spPr>
      </p:sp>
      <p:sp>
        <p:nvSpPr>
          <p:cNvPr id="45" name="Text 38"/>
          <p:cNvSpPr txBox="1"/>
          <p:nvPr/>
        </p:nvSpPr>
        <p:spPr>
          <a:xfrm>
            <a:off x="10131552" y="1947672"/>
            <a:ext cx="914400" cy="502920"/>
          </a:xfrm>
          <a:prstGeom prst="rect">
            <a:avLst/>
          </a:prstGeom>
          <a:noFill/>
          <a:ln/>
        </p:spPr>
        <p:txBody>
          <a:bodyPr wrap="square" lIns="0" tIns="0" rIns="0" bIns="0" rtlCol="0" anchor="ctr"/>
          <a:lstStyle/>
          <a:p>
            <a:pPr algn="ctr" indent="0" marL="0">
              <a:buNone/>
            </a:pPr>
            <a:r>
              <a:rPr lang="en-US" sz="2600" b="1" dirty="0">
                <a:solidFill>
                  <a:srgbClr val="13285B"/>
                </a:solidFill>
                <a:latin typeface="Calibri" pitchFamily="34" charset="0"/>
                <a:ea typeface="Calibri" pitchFamily="34" charset="-122"/>
                <a:cs typeface="Calibri" pitchFamily="34" charset="-120"/>
              </a:rPr>
              <a:t>99</a:t>
            </a:r>
            <a:endParaRPr lang="en-US" sz="2600" dirty="0"/>
          </a:p>
        </p:txBody>
      </p:sp>
      <p:sp>
        <p:nvSpPr>
          <p:cNvPr id="46" name="Text 39"/>
          <p:cNvSpPr txBox="1"/>
          <p:nvPr/>
        </p:nvSpPr>
        <p:spPr>
          <a:xfrm>
            <a:off x="10131552" y="2395728"/>
            <a:ext cx="914400" cy="2286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safe adds</a:t>
            </a:r>
            <a:endParaRPr lang="en-US" sz="950" dirty="0"/>
          </a:p>
        </p:txBody>
      </p:sp>
      <p:sp>
        <p:nvSpPr>
          <p:cNvPr id="47" name="Shape 40"/>
          <p:cNvSpPr/>
          <p:nvPr/>
        </p:nvSpPr>
        <p:spPr>
          <a:xfrm>
            <a:off x="9400032" y="2926080"/>
            <a:ext cx="2377440" cy="960120"/>
          </a:xfrm>
          <a:prstGeom prst="roundRect">
            <a:avLst>
              <a:gd name="adj" fmla="val 11429"/>
            </a:avLst>
          </a:prstGeom>
          <a:solidFill>
            <a:srgbClr val="DCE7F8"/>
          </a:solidFill>
          <a:ln w="12700">
            <a:solidFill>
              <a:srgbClr val="DCE7F8"/>
            </a:solidFill>
            <a:prstDash val="solid"/>
          </a:ln>
        </p:spPr>
      </p:sp>
      <p:sp>
        <p:nvSpPr>
          <p:cNvPr id="48" name="Text 41"/>
          <p:cNvSpPr txBox="1"/>
          <p:nvPr/>
        </p:nvSpPr>
        <p:spPr>
          <a:xfrm>
            <a:off x="9537192" y="2926080"/>
            <a:ext cx="2103120" cy="960120"/>
          </a:xfrm>
          <a:prstGeom prst="rect">
            <a:avLst/>
          </a:prstGeom>
          <a:noFill/>
          <a:ln/>
        </p:spPr>
        <p:txBody>
          <a:bodyPr wrap="square" lIns="0" tIns="0" rIns="0" bIns="0" rtlCol="0" anchor="ctr"/>
          <a:lstStyle/>
          <a:p>
            <a:pPr algn="ctr" indent="0" marL="0">
              <a:buNone/>
            </a:pPr>
            <a:r>
              <a:rPr lang="en-US" sz="1200" dirty="0">
                <a:solidFill>
                  <a:srgbClr val="13285B"/>
                </a:solidFill>
                <a:latin typeface="Calibri" pitchFamily="34" charset="0"/>
                <a:ea typeface="Calibri" pitchFamily="34" charset="-122"/>
                <a:cs typeface="Calibri" pitchFamily="34" charset="-120"/>
              </a:rPr>
              <a:t>A curated add-list per node, with </a:t>
            </a:r>
            <a:pPr algn="ctr" indent="0" marL="0">
              <a:buNone/>
            </a:pPr>
            <a:r>
              <a:rPr lang="en-US" sz="1200" b="1" dirty="0">
                <a:solidFill>
                  <a:srgbClr val="13285B"/>
                </a:solidFill>
                <a:latin typeface="Calibri" pitchFamily="34" charset="0"/>
                <a:ea typeface="Calibri" pitchFamily="34" charset="-122"/>
                <a:cs typeface="Calibri" pitchFamily="34" charset="-120"/>
              </a:rPr>
              <a:t>example SKUs</a:t>
            </a:r>
            <a:pPr algn="ctr" indent="0" marL="0">
              <a:buNone/>
            </a:pPr>
            <a:r>
              <a:rPr lang="en-US" sz="1200" dirty="0">
                <a:solidFill>
                  <a:srgbClr val="13285B"/>
                </a:solidFill>
                <a:latin typeface="Calibri" pitchFamily="34" charset="0"/>
                <a:ea typeface="Calibri" pitchFamily="34" charset="-122"/>
                <a:cs typeface="Calibri" pitchFamily="34" charset="-120"/>
              </a:rPr>
              <a:t> to list</a:t>
            </a:r>
            <a:endParaRPr lang="en-US" sz="1200" dirty="0"/>
          </a:p>
        </p:txBody>
      </p:sp>
      <p:sp>
        <p:nvSpPr>
          <p:cNvPr id="49" name="Shape 42"/>
          <p:cNvSpPr/>
          <p:nvPr/>
        </p:nvSpPr>
        <p:spPr>
          <a:xfrm>
            <a:off x="9400032" y="4023360"/>
            <a:ext cx="2377440" cy="960120"/>
          </a:xfrm>
          <a:prstGeom prst="roundRect">
            <a:avLst>
              <a:gd name="adj" fmla="val 11429"/>
            </a:avLst>
          </a:prstGeom>
          <a:solidFill>
            <a:srgbClr val="DCE7F8"/>
          </a:solidFill>
          <a:ln w="12700">
            <a:solidFill>
              <a:srgbClr val="DCE7F8"/>
            </a:solidFill>
            <a:prstDash val="solid"/>
          </a:ln>
        </p:spPr>
      </p:sp>
      <p:sp>
        <p:nvSpPr>
          <p:cNvPr id="50" name="Text 43"/>
          <p:cNvSpPr txBox="1"/>
          <p:nvPr/>
        </p:nvSpPr>
        <p:spPr>
          <a:xfrm>
            <a:off x="9537192" y="4023360"/>
            <a:ext cx="2103120" cy="960120"/>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1P protected:</a:t>
            </a:r>
            <a:pPr algn="ctr" indent="0" marL="0">
              <a:buNone/>
            </a:pPr>
            <a:r>
              <a:rPr lang="en-US" sz="1200" dirty="0">
                <a:solidFill>
                  <a:srgbClr val="13285B"/>
                </a:solidFill>
                <a:latin typeface="Calibri" pitchFamily="34" charset="0"/>
                <a:ea typeface="Calibri" pitchFamily="34" charset="-122"/>
                <a:cs typeface="Calibri" pitchFamily="34" charset="-120"/>
              </a:rPr>
              <a:t> every pick passes a cannibalisation gate</a:t>
            </a:r>
            <a:endParaRPr lang="en-US" sz="1200" dirty="0"/>
          </a:p>
        </p:txBody>
      </p:sp>
      <p:sp>
        <p:nvSpPr>
          <p:cNvPr id="51" name="Shape 44"/>
          <p:cNvSpPr/>
          <p:nvPr/>
        </p:nvSpPr>
        <p:spPr>
          <a:xfrm>
            <a:off x="9400032" y="5120640"/>
            <a:ext cx="2377440" cy="960120"/>
          </a:xfrm>
          <a:prstGeom prst="roundRect">
            <a:avLst>
              <a:gd name="adj" fmla="val 11429"/>
            </a:avLst>
          </a:prstGeom>
          <a:solidFill>
            <a:srgbClr val="DCE7F8"/>
          </a:solidFill>
          <a:ln w="12700">
            <a:solidFill>
              <a:srgbClr val="DCE7F8"/>
            </a:solidFill>
            <a:prstDash val="solid"/>
          </a:ln>
        </p:spPr>
      </p:sp>
      <p:sp>
        <p:nvSpPr>
          <p:cNvPr id="52" name="Text 45"/>
          <p:cNvSpPr txBox="1"/>
          <p:nvPr/>
        </p:nvSpPr>
        <p:spPr>
          <a:xfrm>
            <a:off x="9537192" y="5120640"/>
            <a:ext cx="2103120" cy="960120"/>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11 brands</a:t>
            </a:r>
            <a:pPr algn="ctr" indent="0" marL="0">
              <a:buNone/>
            </a:pPr>
            <a:r>
              <a:rPr lang="en-US" sz="1200" dirty="0">
                <a:solidFill>
                  <a:srgbClr val="13285B"/>
                </a:solidFill>
                <a:latin typeface="Calibri" pitchFamily="34" charset="0"/>
                <a:ea typeface="Calibri" pitchFamily="34" charset="-122"/>
                <a:cs typeface="Calibri" pitchFamily="34" charset="-120"/>
              </a:rPr>
              <a:t> already on Staples: quick-win seller leads</a:t>
            </a:r>
            <a:endParaRPr lang="en-US" sz="12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Current Scope (PoC): 9 Focus Nodes Across 3 Segments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7406640" cy="914400"/>
        </p:xfrm>
        <a:graphic>
          <a:graphicData uri="http://schemas.openxmlformats.org/drawingml/2006/table">
            <a:tbl>
              <a:tblPr/>
              <a:tblGrid>
                <a:gridCol w="1737360"/>
                <a:gridCol w="4114800"/>
                <a:gridCol w="155448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484632">
                <a:tc rowSpan="3">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Office Supplies &gt; Calendars &amp; Planners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45500"/>
                          </a:solidFill>
                          <a:latin typeface="Calibri" pitchFamily="34" charset="0"/>
                          <a:ea typeface="Calibri" pitchFamily="34" charset="-122"/>
                          <a:cs typeface="Calibri" pitchFamily="34" charset="-120"/>
                        </a:rPr>
                        <a:t>Amazon</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484632">
                <a:tc vMerge="1">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Bags, Backpacks &amp; Luggage &gt; Backpacks &amp; Laptop Bags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50" b="1" dirty="0">
                          <a:solidFill>
                            <a:srgbClr val="C45500"/>
                          </a:solidFill>
                          <a:latin typeface="Calibri" pitchFamily="34" charset="0"/>
                          <a:ea typeface="Calibri" pitchFamily="34" charset="-122"/>
                          <a:cs typeface="Calibri" pitchFamily="34" charset="-120"/>
                        </a:rPr>
                        <a:t>Amazon</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484632">
                <a:tc vMerge="1">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Furniture &gt;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7F187F"/>
                          </a:solidFill>
                          <a:latin typeface="Calibri" pitchFamily="34" charset="0"/>
                          <a:ea typeface="Calibri" pitchFamily="34" charset="-122"/>
                          <a:cs typeface="Calibri" pitchFamily="34" charset="-120"/>
                        </a:rPr>
                        <a:t>Wayfair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484632">
                <a:tc rowSpan="3">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Furniture &gt; Chairs &amp; Seating</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7F187F"/>
                          </a:solidFill>
                          <a:latin typeface="Calibri" pitchFamily="34" charset="0"/>
                          <a:ea typeface="Calibri" pitchFamily="34" charset="-122"/>
                          <a:cs typeface="Calibri" pitchFamily="34" charset="-120"/>
                        </a:rPr>
                        <a:t>Wayfair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484632">
                <a:tc vMerge="1">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Furniture &gt; Lamps &amp; Lighting</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50" b="1" dirty="0">
                          <a:solidFill>
                            <a:srgbClr val="7F187F"/>
                          </a:solidFill>
                          <a:latin typeface="Calibri" pitchFamily="34" charset="0"/>
                          <a:ea typeface="Calibri" pitchFamily="34" charset="-122"/>
                          <a:cs typeface="Calibri" pitchFamily="34" charset="-120"/>
                        </a:rPr>
                        <a:t>Wayfair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484632">
                <a:tc vMerge="1">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Bags, Backpacks &amp; Luggage &gt; Totes &amp; Handbags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45500"/>
                          </a:solidFill>
                          <a:latin typeface="Calibri" pitchFamily="34" charset="0"/>
                          <a:ea typeface="Calibri" pitchFamily="34" charset="-122"/>
                          <a:cs typeface="Calibri" pitchFamily="34" charset="-120"/>
                        </a:rPr>
                        <a:t>Amazon</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484632">
                <a:tc rowSpan="3">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Furniture &gt; Decor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7F187F"/>
                          </a:solidFill>
                          <a:latin typeface="Calibri" pitchFamily="34" charset="0"/>
                          <a:ea typeface="Calibri" pitchFamily="34" charset="-122"/>
                          <a:cs typeface="Calibri" pitchFamily="34" charset="-120"/>
                        </a:rPr>
                        <a:t>Wayfair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484632">
                <a:tc vMerge="1">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Furniture &gt; Cubicle &amp; Panel Systems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50" b="1" dirty="0">
                          <a:solidFill>
                            <a:srgbClr val="7F187F"/>
                          </a:solidFill>
                          <a:latin typeface="Calibri" pitchFamily="34" charset="0"/>
                          <a:ea typeface="Calibri" pitchFamily="34" charset="-122"/>
                          <a:cs typeface="Calibri" pitchFamily="34" charset="-120"/>
                        </a:rPr>
                        <a:t>Wayfair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484632">
                <a:tc vMerge="1">
                  <a:tcPr/>
                </a:tc>
                <a:tc>
                  <a:txBody>
                    <a:bodyPr/>
                    <a:lstStyle/>
                    <a:p>
                      <a:pPr indent="0" marL="0">
                        <a:buNone/>
                      </a:pPr>
                      <a:r>
                        <a:rPr lang="en-US" sz="125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p>
                      <a:pPr indent="0" marL="0">
                        <a:buNone/>
                      </a:pPr>
                      <a:r>
                        <a:rPr lang="en-US" sz="100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45500"/>
                          </a:solidFill>
                          <a:latin typeface="Calibri" pitchFamily="34" charset="0"/>
                          <a:ea typeface="Calibri" pitchFamily="34" charset="-122"/>
                          <a:cs typeface="Calibri" pitchFamily="34" charset="-120"/>
                        </a:rPr>
                        <a:t>Amazon</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bl>
          </a:graphicData>
        </a:graphic>
      </p:graphicFrame>
      <p:sp>
        <p:nvSpPr>
          <p:cNvPr id="4" name="Shape 1"/>
          <p:cNvSpPr/>
          <p:nvPr/>
        </p:nvSpPr>
        <p:spPr>
          <a:xfrm>
            <a:off x="8046720" y="1188720"/>
            <a:ext cx="3730752" cy="2057400"/>
          </a:xfrm>
          <a:prstGeom prst="roundRect">
            <a:avLst>
              <a:gd name="adj" fmla="val 4444"/>
            </a:avLst>
          </a:prstGeom>
          <a:solidFill>
            <a:srgbClr val="EEF3FB"/>
          </a:solidFill>
          <a:ln w="12700">
            <a:solidFill>
              <a:srgbClr val="EEF3FB"/>
            </a:solidFill>
            <a:prstDash val="solid"/>
          </a:ln>
        </p:spPr>
      </p:sp>
      <p:sp>
        <p:nvSpPr>
          <p:cNvPr id="5" name="Text 2"/>
          <p:cNvSpPr txBox="1"/>
          <p:nvPr/>
        </p:nvSpPr>
        <p:spPr>
          <a:xfrm>
            <a:off x="8211312" y="1261872"/>
            <a:ext cx="3456432" cy="292608"/>
          </a:xfrm>
          <a:prstGeom prst="rect">
            <a:avLst/>
          </a:prstGeom>
          <a:noFill/>
          <a:ln/>
        </p:spPr>
        <p:txBody>
          <a:bodyPr wrap="square" lIns="0" tIns="0" rIns="0" bIns="0" rtlCol="0" anchor="t"/>
          <a:lstStyle/>
          <a:p>
            <a:pPr indent="0" marL="0">
              <a:buNone/>
            </a:pPr>
            <a:r>
              <a:rPr lang="en-US" sz="1400" b="1" dirty="0">
                <a:solidFill>
                  <a:srgbClr val="1F4E9A"/>
                </a:solidFill>
                <a:latin typeface="Calibri" pitchFamily="34" charset="0"/>
                <a:ea typeface="Calibri" pitchFamily="34" charset="-122"/>
                <a:cs typeface="Calibri" pitchFamily="34" charset="-120"/>
              </a:rPr>
              <a:t>Why these segments?</a:t>
            </a:r>
            <a:endParaRPr lang="en-US" sz="1400" dirty="0"/>
          </a:p>
        </p:txBody>
      </p:sp>
      <p:sp>
        <p:nvSpPr>
          <p:cNvPr id="6" name="Text 3"/>
          <p:cNvSpPr txBox="1"/>
          <p:nvPr/>
        </p:nvSpPr>
        <p:spPr>
          <a:xfrm>
            <a:off x="8211312" y="1572768"/>
            <a:ext cx="3429000" cy="1627632"/>
          </a:xfrm>
          <a:prstGeom prst="rect">
            <a:avLst/>
          </a:prstGeom>
          <a:noFill/>
          <a:ln/>
        </p:spPr>
        <p:txBody>
          <a:bodyPr wrap="square" lIns="0" tIns="0" rIns="0" bIns="0" rtlCol="0" anchor="t"/>
          <a:lstStyle/>
          <a:p>
            <a:pPr indent="0" marL="0">
              <a:spcAft>
                <a:spcPts val="400"/>
              </a:spcAft>
              <a:buNone/>
            </a:pPr>
            <a:r>
              <a:rPr lang="en-US" sz="1150" b="1" dirty="0">
                <a:solidFill>
                  <a:srgbClr val="13285B"/>
                </a:solidFill>
                <a:latin typeface="Calibri" pitchFamily="34" charset="0"/>
                <a:ea typeface="Calibri" pitchFamily="34" charset="-122"/>
                <a:cs typeface="Calibri" pitchFamily="34" charset="-120"/>
              </a:rPr>
              <a:t>Hero · EXTEND:</a:t>
            </a:r>
            <a:pPr indent="0" marL="0">
              <a:spcAft>
                <a:spcPts val="400"/>
              </a:spcAft>
              <a:buNone/>
            </a:pPr>
            <a:r>
              <a:rPr lang="en-US" sz="1150" dirty="0">
                <a:solidFill>
                  <a:srgbClr val="1F2937"/>
                </a:solidFill>
                <a:latin typeface="Calibri" pitchFamily="34" charset="0"/>
                <a:ea typeface="Calibri" pitchFamily="34" charset="-122"/>
                <a:cs typeface="Calibri" pitchFamily="34" charset="-120"/>
              </a:rPr>
              <a:t> Staples' core categories; extend them with design-led variants</a:t>
            </a:r>
            <a:endParaRPr lang="en-US" sz="1200" dirty="0"/>
          </a:p>
          <a:p>
            <a:pPr indent="0" marL="0">
              <a:spcAft>
                <a:spcPts val="400"/>
              </a:spcAft>
              <a:buNone/>
            </a:pPr>
            <a:r>
              <a:rPr lang="en-US" sz="1150" b="1" dirty="0">
                <a:solidFill>
                  <a:srgbClr val="13285B"/>
                </a:solidFill>
                <a:latin typeface="Calibri" pitchFamily="34" charset="0"/>
                <a:ea typeface="Calibri" pitchFamily="34" charset="-122"/>
                <a:cs typeface="Calibri" pitchFamily="34" charset="-120"/>
              </a:rPr>
              <a:t>Probable Hero · BUILD:</a:t>
            </a:r>
            <a:pPr indent="0" marL="0">
              <a:spcAft>
                <a:spcPts val="400"/>
              </a:spcAft>
              <a:buNone/>
            </a:pPr>
            <a:r>
              <a:rPr lang="en-US" sz="1150" dirty="0">
                <a:solidFill>
                  <a:srgbClr val="1F2937"/>
                </a:solidFill>
                <a:latin typeface="Calibri" pitchFamily="34" charset="0"/>
                <a:ea typeface="Calibri" pitchFamily="34" charset="-122"/>
                <a:cs typeface="Calibri" pitchFamily="34" charset="-120"/>
              </a:rPr>
              <a:t> adjacent lifestyle categories with a Staples base to build on</a:t>
            </a:r>
            <a:endParaRPr lang="en-US" sz="1200" dirty="0"/>
          </a:p>
          <a:p>
            <a:pPr indent="0" marL="0">
              <a:spcAft>
                <a:spcPts val="400"/>
              </a:spcAft>
              <a:buNone/>
            </a:pPr>
            <a:r>
              <a:rPr lang="en-US" sz="1150" b="1" dirty="0">
                <a:solidFill>
                  <a:srgbClr val="13285B"/>
                </a:solidFill>
                <a:latin typeface="Calibri" pitchFamily="34" charset="0"/>
                <a:ea typeface="Calibri" pitchFamily="34" charset="-122"/>
                <a:cs typeface="Calibri" pitchFamily="34" charset="-120"/>
              </a:rPr>
              <a:t>Non-Hero · EXPLORE:</a:t>
            </a:r>
            <a:pPr indent="0" marL="0">
              <a:spcAft>
                <a:spcPts val="400"/>
              </a:spcAft>
              <a:buNone/>
            </a:pPr>
            <a:r>
              <a:rPr lang="en-US" sz="1150" dirty="0">
                <a:solidFill>
                  <a:srgbClr val="1F2937"/>
                </a:solidFill>
                <a:latin typeface="Calibri" pitchFamily="34" charset="0"/>
                <a:ea typeface="Calibri" pitchFamily="34" charset="-122"/>
                <a:cs typeface="Calibri" pitchFamily="34" charset="-120"/>
              </a:rPr>
              <a:t> peripheral and décor categories; test demand at near-zero 1P risk</a:t>
            </a:r>
            <a:endParaRPr lang="en-US" sz="1200" dirty="0"/>
          </a:p>
          <a:p>
            <a:pPr indent="0" marL="0">
              <a:spcAft>
                <a:spcPts val="400"/>
              </a:spcAft>
              <a:buNone/>
            </a:pPr>
            <a:r>
              <a:rPr lang="en-US" sz="1050" i="1" dirty="0">
                <a:solidFill>
                  <a:srgbClr val="5B6475"/>
                </a:solidFill>
                <a:latin typeface="Calibri" pitchFamily="34" charset="0"/>
                <a:ea typeface="Calibri" pitchFamily="34" charset="-122"/>
                <a:cs typeface="Calibri" pitchFamily="34" charset="-120"/>
              </a:rPr>
              <a:t>Shown: the top 3 of 4 nodes per segment, chosen for the clearest gaps and strongest results</a:t>
            </a:r>
            <a:endParaRPr lang="en-US" sz="1200" dirty="0"/>
          </a:p>
        </p:txBody>
      </p:sp>
      <p:sp>
        <p:nvSpPr>
          <p:cNvPr id="7" name="Shape 4"/>
          <p:cNvSpPr/>
          <p:nvPr/>
        </p:nvSpPr>
        <p:spPr>
          <a:xfrm>
            <a:off x="8046720" y="3364992"/>
            <a:ext cx="3730752" cy="1371600"/>
          </a:xfrm>
          <a:prstGeom prst="roundRect">
            <a:avLst>
              <a:gd name="adj" fmla="val 6667"/>
            </a:avLst>
          </a:prstGeom>
          <a:solidFill>
            <a:srgbClr val="EEF3FB"/>
          </a:solidFill>
          <a:ln w="12700">
            <a:solidFill>
              <a:srgbClr val="EEF3FB"/>
            </a:solidFill>
            <a:prstDash val="solid"/>
          </a:ln>
        </p:spPr>
      </p:sp>
      <p:sp>
        <p:nvSpPr>
          <p:cNvPr id="8" name="Text 5"/>
          <p:cNvSpPr txBox="1"/>
          <p:nvPr/>
        </p:nvSpPr>
        <p:spPr>
          <a:xfrm>
            <a:off x="8211312" y="3438144"/>
            <a:ext cx="3456432" cy="292608"/>
          </a:xfrm>
          <a:prstGeom prst="rect">
            <a:avLst/>
          </a:prstGeom>
          <a:noFill/>
          <a:ln/>
        </p:spPr>
        <p:txBody>
          <a:bodyPr wrap="square" lIns="0" tIns="0" rIns="0" bIns="0" rtlCol="0" anchor="t"/>
          <a:lstStyle/>
          <a:p>
            <a:pPr indent="0" marL="0">
              <a:buNone/>
            </a:pPr>
            <a:r>
              <a:rPr lang="en-US" sz="1400" b="1" dirty="0">
                <a:solidFill>
                  <a:srgbClr val="1F4E9A"/>
                </a:solidFill>
                <a:latin typeface="Calibri" pitchFamily="34" charset="0"/>
                <a:ea typeface="Calibri" pitchFamily="34" charset="-122"/>
                <a:cs typeface="Calibri" pitchFamily="34" charset="-120"/>
              </a:rPr>
              <a:t>Why these competitors?</a:t>
            </a:r>
            <a:endParaRPr lang="en-US" sz="1400" dirty="0"/>
          </a:p>
        </p:txBody>
      </p:sp>
      <p:sp>
        <p:nvSpPr>
          <p:cNvPr id="9" name="Text 6"/>
          <p:cNvSpPr txBox="1"/>
          <p:nvPr/>
        </p:nvSpPr>
        <p:spPr>
          <a:xfrm>
            <a:off x="8211312" y="3767328"/>
            <a:ext cx="3429000" cy="914400"/>
          </a:xfrm>
          <a:prstGeom prst="rect">
            <a:avLst/>
          </a:prstGeom>
          <a:noFill/>
          <a:ln/>
        </p:spPr>
        <p:txBody>
          <a:bodyPr wrap="square" lIns="0" tIns="0" rIns="0" bIns="0" rtlCol="0" anchor="t"/>
          <a:lstStyle/>
          <a:p>
            <a:pPr indent="0" marL="0">
              <a:spcAft>
                <a:spcPts val="400"/>
              </a:spcAft>
              <a:buNone/>
            </a:pPr>
            <a:r>
              <a:rPr lang="en-US" sz="1150" b="1" dirty="0">
                <a:solidFill>
                  <a:srgbClr val="7F187F"/>
                </a:solidFill>
                <a:latin typeface="Calibri" pitchFamily="34" charset="0"/>
                <a:ea typeface="Calibri" pitchFamily="34" charset="-122"/>
                <a:cs typeface="Calibri" pitchFamily="34" charset="-120"/>
              </a:rPr>
              <a:t>Wayfair</a:t>
            </a:r>
            <a:pPr indent="0" marL="0">
              <a:spcAft>
                <a:spcPts val="400"/>
              </a:spcAft>
              <a:buNone/>
            </a:pPr>
            <a:r>
              <a:rPr lang="en-US" sz="1150" dirty="0">
                <a:solidFill>
                  <a:srgbClr val="1F2937"/>
                </a:solidFill>
                <a:latin typeface="Calibri" pitchFamily="34" charset="0"/>
                <a:ea typeface="Calibri" pitchFamily="34" charset="-122"/>
                <a:cs typeface="Calibri" pitchFamily="34" charset="-120"/>
              </a:rPr>
              <a:t> for furniture &amp; décor (5 nodes): the home and design benchmark (the "White Chair" competitor)</a:t>
            </a:r>
            <a:endParaRPr lang="en-US" sz="1150" dirty="0"/>
          </a:p>
          <a:p>
            <a:pPr indent="0" marL="0">
              <a:spcAft>
                <a:spcPts val="400"/>
              </a:spcAft>
              <a:buNone/>
            </a:pPr>
            <a:r>
              <a:rPr lang="en-US" sz="1150" b="1" dirty="0">
                <a:solidFill>
                  <a:srgbClr val="C45500"/>
                </a:solidFill>
                <a:latin typeface="Calibri" pitchFamily="34" charset="0"/>
                <a:ea typeface="Calibri" pitchFamily="34" charset="-122"/>
                <a:cs typeface="Calibri" pitchFamily="34" charset="-120"/>
              </a:rPr>
              <a:t>Amazon</a:t>
            </a:r>
            <a:pPr indent="0" marL="0">
              <a:spcAft>
                <a:spcPts val="400"/>
              </a:spcAft>
              <a:buNone/>
            </a:pPr>
            <a:r>
              <a:rPr lang="en-US" sz="1150" dirty="0">
                <a:solidFill>
                  <a:srgbClr val="1F2937"/>
                </a:solidFill>
                <a:latin typeface="Calibri" pitchFamily="34" charset="0"/>
                <a:ea typeface="Calibri" pitchFamily="34" charset="-122"/>
                <a:cs typeface="Calibri" pitchFamily="34" charset="-120"/>
              </a:rPr>
              <a:t> for supplies, bags &amp; kitchen (4 nodes): the breadth and everyday-price benchmark</a:t>
            </a:r>
            <a:endParaRPr lang="en-US" sz="1150" dirty="0"/>
          </a:p>
        </p:txBody>
      </p:sp>
      <p:sp>
        <p:nvSpPr>
          <p:cNvPr id="10" name="Shape 7"/>
          <p:cNvSpPr/>
          <p:nvPr/>
        </p:nvSpPr>
        <p:spPr>
          <a:xfrm>
            <a:off x="8046720" y="4846320"/>
            <a:ext cx="3730752" cy="1371600"/>
          </a:xfrm>
          <a:prstGeom prst="roundRect">
            <a:avLst>
              <a:gd name="adj" fmla="val 6667"/>
            </a:avLst>
          </a:prstGeom>
          <a:solidFill>
            <a:srgbClr val="FFF4E0"/>
          </a:solidFill>
          <a:ln w="12700">
            <a:solidFill>
              <a:srgbClr val="F5A623"/>
            </a:solidFill>
            <a:prstDash val="solid"/>
          </a:ln>
        </p:spPr>
      </p:sp>
      <p:pic>
        <p:nvPicPr>
          <p:cNvPr id="11" name="Image 0" descr="preencoded.png">    </p:cNvPr>
          <p:cNvPicPr>
            <a:picLocks noChangeAspect="1"/>
          </p:cNvPicPr>
          <p:nvPr/>
        </p:nvPicPr>
        <p:blipFill>
          <a:blip r:embed="rId1"/>
          <a:stretch>
            <a:fillRect/>
          </a:stretch>
        </p:blipFill>
        <p:spPr>
          <a:xfrm>
            <a:off x="8211312" y="4956048"/>
            <a:ext cx="237744" cy="237744"/>
          </a:xfrm>
          <a:prstGeom prst="rect">
            <a:avLst/>
          </a:prstGeom>
        </p:spPr>
      </p:pic>
      <p:sp>
        <p:nvSpPr>
          <p:cNvPr id="12" name="Text 8"/>
          <p:cNvSpPr txBox="1"/>
          <p:nvPr/>
        </p:nvSpPr>
        <p:spPr>
          <a:xfrm>
            <a:off x="8522208" y="4937760"/>
            <a:ext cx="2743200" cy="274320"/>
          </a:xfrm>
          <a:prstGeom prst="rect">
            <a:avLst/>
          </a:prstGeom>
          <a:noFill/>
          <a:ln/>
        </p:spPr>
        <p:txBody>
          <a:bodyPr wrap="square" lIns="0" tIns="0" rIns="0" bIns="0" rtlCol="0" anchor="t"/>
          <a:lstStyle/>
          <a:p>
            <a:pPr indent="0" marL="0">
              <a:buNone/>
            </a:pPr>
            <a:r>
              <a:rPr lang="en-US" sz="1250" b="1" dirty="0">
                <a:solidFill>
                  <a:srgbClr val="8A5A00"/>
                </a:solidFill>
                <a:latin typeface="Calibri" pitchFamily="34" charset="0"/>
                <a:ea typeface="Calibri" pitchFamily="34" charset="-122"/>
                <a:cs typeface="Calibri" pitchFamily="34" charset="-120"/>
              </a:rPr>
              <a:t>Data disclaimer</a:t>
            </a:r>
            <a:endParaRPr lang="en-US" sz="1250" dirty="0"/>
          </a:p>
        </p:txBody>
      </p:sp>
      <p:sp>
        <p:nvSpPr>
          <p:cNvPr id="13" name="Text 9"/>
          <p:cNvSpPr txBox="1"/>
          <p:nvPr/>
        </p:nvSpPr>
        <p:spPr>
          <a:xfrm>
            <a:off x="8211312" y="5230368"/>
            <a:ext cx="3429000" cy="93268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Competitor data are scraped samples (16,072 competitor vs 2,778 Staples product families in these 9 nodes), not full catalogues. Staples is near-complete, so we compare shares of range, never raw counts. No sales, demand or margin data are used.</a:t>
            </a:r>
            <a:endParaRPr lang="en-US" sz="1050" dirty="0"/>
          </a:p>
        </p:txBody>
      </p:sp>
      <p:sp>
        <p:nvSpPr>
          <p:cNvPr id="14" name="Text 10"/>
          <p:cNvSpPr txBox="1"/>
          <p:nvPr/>
        </p:nvSpPr>
        <p:spPr>
          <a:xfrm>
            <a:off x="411480" y="5943600"/>
            <a:ext cx="7406640" cy="274320"/>
          </a:xfrm>
          <a:prstGeom prst="rect">
            <a:avLst/>
          </a:prstGeom>
          <a:noFill/>
          <a:ln/>
        </p:spPr>
        <p:txBody>
          <a:bodyPr wrap="square" lIns="0" tIns="0" rIns="0" bIns="0" rtlCol="0" anchor="t"/>
          <a:lstStyle/>
          <a:p>
            <a:pPr indent="0" marL="0">
              <a:buNone/>
            </a:pPr>
            <a:r>
              <a:rPr lang="en-US" sz="1000" i="1" dirty="0">
                <a:solidFill>
                  <a:srgbClr val="5B6475"/>
                </a:solidFill>
                <a:latin typeface="Calibri" pitchFamily="34" charset="0"/>
                <a:ea typeface="Calibri" pitchFamily="34" charset="-122"/>
                <a:cs typeface="Calibri" pitchFamily="34" charset="-120"/>
              </a:rPr>
              <a:t>The engine ran on all 12 nodes (also Desk Organizers, Water Bottles, Desk Pads); full results are in the HTML report.</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188720"/>
            <a:ext cx="2715768" cy="1371600"/>
          </a:xfrm>
          <a:prstGeom prst="roundRect">
            <a:avLst>
              <a:gd name="adj" fmla="val 8000"/>
            </a:avLst>
          </a:prstGeom>
          <a:solidFill>
            <a:srgbClr val="EEF3FB"/>
          </a:solidFill>
          <a:ln w="12700">
            <a:solidFill>
              <a:srgbClr val="EEF3FB"/>
            </a:solidFill>
            <a:prstDash val="solid"/>
          </a:ln>
        </p:spPr>
      </p:sp>
      <p:sp>
        <p:nvSpPr>
          <p:cNvPr id="4" name="Text 2"/>
          <p:cNvSpPr txBox="1"/>
          <p:nvPr/>
        </p:nvSpPr>
        <p:spPr>
          <a:xfrm>
            <a:off x="502920" y="1261872"/>
            <a:ext cx="2532888" cy="658368"/>
          </a:xfrm>
          <a:prstGeom prst="rect">
            <a:avLst/>
          </a:prstGeom>
          <a:noFill/>
          <a:ln/>
        </p:spPr>
        <p:txBody>
          <a:bodyPr wrap="square" lIns="0" tIns="0" rIns="0" bIns="0" rtlCol="0" anchor="ctr"/>
          <a:lstStyle/>
          <a:p>
            <a:pPr algn="ctr" indent="0" marL="0">
              <a:buNone/>
            </a:pPr>
            <a:r>
              <a:rPr lang="en-US" sz="3600" b="1" dirty="0">
                <a:solidFill>
                  <a:srgbClr val="1F4E9A"/>
                </a:solidFill>
                <a:latin typeface="Calibri" pitchFamily="34" charset="0"/>
                <a:ea typeface="Calibri" pitchFamily="34" charset="-122"/>
                <a:cs typeface="Calibri" pitchFamily="34" charset="-120"/>
              </a:rPr>
              <a:t>12</a:t>
            </a:r>
            <a:endParaRPr lang="en-US" sz="3600" dirty="0"/>
          </a:p>
        </p:txBody>
      </p:sp>
      <p:sp>
        <p:nvSpPr>
          <p:cNvPr id="5" name="Text 3"/>
          <p:cNvSpPr txBox="1"/>
          <p:nvPr/>
        </p:nvSpPr>
        <p:spPr>
          <a:xfrm>
            <a:off x="594360" y="1920240"/>
            <a:ext cx="2350008" cy="54864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Staples nodes analysed end to end (9 shown today)</a:t>
            </a:r>
            <a:endParaRPr lang="en-US" sz="1150" dirty="0"/>
          </a:p>
        </p:txBody>
      </p:sp>
      <p:sp>
        <p:nvSpPr>
          <p:cNvPr id="6" name="Shape 4"/>
          <p:cNvSpPr/>
          <p:nvPr/>
        </p:nvSpPr>
        <p:spPr>
          <a:xfrm>
            <a:off x="3282696" y="1188720"/>
            <a:ext cx="2715768" cy="1371600"/>
          </a:xfrm>
          <a:prstGeom prst="roundRect">
            <a:avLst>
              <a:gd name="adj" fmla="val 8000"/>
            </a:avLst>
          </a:prstGeom>
          <a:solidFill>
            <a:srgbClr val="EEF3FB"/>
          </a:solidFill>
          <a:ln w="12700">
            <a:solidFill>
              <a:srgbClr val="EEF3FB"/>
            </a:solidFill>
            <a:prstDash val="solid"/>
          </a:ln>
        </p:spPr>
      </p:sp>
      <p:sp>
        <p:nvSpPr>
          <p:cNvPr id="7" name="Text 5"/>
          <p:cNvSpPr txBox="1"/>
          <p:nvPr/>
        </p:nvSpPr>
        <p:spPr>
          <a:xfrm>
            <a:off x="3374136" y="1261872"/>
            <a:ext cx="2532888" cy="658368"/>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3.4K | 16.5K</a:t>
            </a:r>
            <a:endParaRPr lang="en-US" sz="2800" dirty="0"/>
          </a:p>
        </p:txBody>
      </p:sp>
      <p:sp>
        <p:nvSpPr>
          <p:cNvPr id="8" name="Text 6"/>
          <p:cNvSpPr txBox="1"/>
          <p:nvPr/>
        </p:nvSpPr>
        <p:spPr>
          <a:xfrm>
            <a:off x="3465576" y="1920240"/>
            <a:ext cx="2350008" cy="54864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Staples vs competitor product families compared</a:t>
            </a:r>
            <a:endParaRPr lang="en-US" sz="1150" dirty="0"/>
          </a:p>
        </p:txBody>
      </p:sp>
      <p:sp>
        <p:nvSpPr>
          <p:cNvPr id="9" name="Shape 7"/>
          <p:cNvSpPr/>
          <p:nvPr/>
        </p:nvSpPr>
        <p:spPr>
          <a:xfrm>
            <a:off x="6153912" y="1188720"/>
            <a:ext cx="2715768" cy="1371600"/>
          </a:xfrm>
          <a:prstGeom prst="roundRect">
            <a:avLst>
              <a:gd name="adj" fmla="val 8000"/>
            </a:avLst>
          </a:prstGeom>
          <a:solidFill>
            <a:srgbClr val="EEF3FB"/>
          </a:solidFill>
          <a:ln w="12700">
            <a:solidFill>
              <a:srgbClr val="EEF3FB"/>
            </a:solidFill>
            <a:prstDash val="solid"/>
          </a:ln>
        </p:spPr>
      </p:sp>
      <p:sp>
        <p:nvSpPr>
          <p:cNvPr id="10" name="Text 8"/>
          <p:cNvSpPr txBox="1"/>
          <p:nvPr/>
        </p:nvSpPr>
        <p:spPr>
          <a:xfrm>
            <a:off x="6245352" y="1261872"/>
            <a:ext cx="2532888" cy="658368"/>
          </a:xfrm>
          <a:prstGeom prst="rect">
            <a:avLst/>
          </a:prstGeom>
          <a:noFill/>
          <a:ln/>
        </p:spPr>
        <p:txBody>
          <a:bodyPr wrap="square" lIns="0" tIns="0" rIns="0" bIns="0" rtlCol="0" anchor="ctr"/>
          <a:lstStyle/>
          <a:p>
            <a:pPr algn="ctr" indent="0" marL="0">
              <a:buNone/>
            </a:pPr>
            <a:r>
              <a:rPr lang="en-US" sz="3600" b="1" dirty="0">
                <a:solidFill>
                  <a:srgbClr val="1F4E9A"/>
                </a:solidFill>
                <a:latin typeface="Calibri" pitchFamily="34" charset="0"/>
                <a:ea typeface="Calibri" pitchFamily="34" charset="-122"/>
                <a:cs typeface="Calibri" pitchFamily="34" charset="-120"/>
              </a:rPr>
              <a:t>99</a:t>
            </a:r>
            <a:endParaRPr lang="en-US" sz="3600" dirty="0"/>
          </a:p>
        </p:txBody>
      </p:sp>
      <p:sp>
        <p:nvSpPr>
          <p:cNvPr id="11" name="Text 9"/>
          <p:cNvSpPr txBox="1"/>
          <p:nvPr/>
        </p:nvSpPr>
        <p:spPr>
          <a:xfrm>
            <a:off x="6336792" y="1920240"/>
            <a:ext cx="2350008" cy="54864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archetypes recommended; 23 confirmed by both methods</a:t>
            </a:r>
            <a:endParaRPr lang="en-US" sz="1150" dirty="0"/>
          </a:p>
        </p:txBody>
      </p:sp>
      <p:sp>
        <p:nvSpPr>
          <p:cNvPr id="12" name="Shape 10"/>
          <p:cNvSpPr/>
          <p:nvPr/>
        </p:nvSpPr>
        <p:spPr>
          <a:xfrm>
            <a:off x="9025128" y="1188720"/>
            <a:ext cx="2715768" cy="1371600"/>
          </a:xfrm>
          <a:prstGeom prst="roundRect">
            <a:avLst>
              <a:gd name="adj" fmla="val 8000"/>
            </a:avLst>
          </a:prstGeom>
          <a:solidFill>
            <a:srgbClr val="EEF3FB"/>
          </a:solidFill>
          <a:ln w="12700">
            <a:solidFill>
              <a:srgbClr val="EEF3FB"/>
            </a:solidFill>
            <a:prstDash val="solid"/>
          </a:ln>
        </p:spPr>
      </p:sp>
      <p:sp>
        <p:nvSpPr>
          <p:cNvPr id="13" name="Text 11"/>
          <p:cNvSpPr txBox="1"/>
          <p:nvPr/>
        </p:nvSpPr>
        <p:spPr>
          <a:xfrm>
            <a:off x="9116568" y="1261872"/>
            <a:ext cx="2532888" cy="658368"/>
          </a:xfrm>
          <a:prstGeom prst="rect">
            <a:avLst/>
          </a:prstGeom>
          <a:noFill/>
          <a:ln/>
        </p:spPr>
        <p:txBody>
          <a:bodyPr wrap="square" lIns="0" tIns="0" rIns="0" bIns="0" rtlCol="0" anchor="ctr"/>
          <a:lstStyle/>
          <a:p>
            <a:pPr algn="ctr" indent="0" marL="0">
              <a:buNone/>
            </a:pPr>
            <a:r>
              <a:rPr lang="en-US" sz="3600" b="1" dirty="0">
                <a:solidFill>
                  <a:srgbClr val="1F4E9A"/>
                </a:solidFill>
                <a:latin typeface="Calibri" pitchFamily="34" charset="0"/>
                <a:ea typeface="Calibri" pitchFamily="34" charset="-122"/>
                <a:cs typeface="Calibri" pitchFamily="34" charset="-120"/>
              </a:rPr>
              <a:t>72%</a:t>
            </a:r>
            <a:endParaRPr lang="en-US" sz="3600" dirty="0"/>
          </a:p>
        </p:txBody>
      </p:sp>
      <p:sp>
        <p:nvSpPr>
          <p:cNvPr id="14" name="Text 12"/>
          <p:cNvSpPr txBox="1"/>
          <p:nvPr/>
        </p:nvSpPr>
        <p:spPr>
          <a:xfrm>
            <a:off x="9208008" y="1920240"/>
            <a:ext cx="2350008" cy="54864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of recommendations are archetypes Staples carries none of today</a:t>
            </a:r>
            <a:endParaRPr lang="en-US" sz="1150" dirty="0"/>
          </a:p>
        </p:txBody>
      </p:sp>
      <p:sp>
        <p:nvSpPr>
          <p:cNvPr id="15" name="Shape 13"/>
          <p:cNvSpPr/>
          <p:nvPr/>
        </p:nvSpPr>
        <p:spPr>
          <a:xfrm>
            <a:off x="411480" y="2724912"/>
            <a:ext cx="1261872" cy="310896"/>
          </a:xfrm>
          <a:prstGeom prst="roundRect">
            <a:avLst>
              <a:gd name="adj" fmla="val 50000"/>
            </a:avLst>
          </a:prstGeom>
          <a:solidFill>
            <a:srgbClr val="1E8E5A"/>
          </a:solidFill>
          <a:ln w="12700">
            <a:solidFill>
              <a:srgbClr val="1E8E5A"/>
            </a:solidFill>
            <a:prstDash val="solid"/>
          </a:ln>
        </p:spPr>
      </p:sp>
      <p:sp>
        <p:nvSpPr>
          <p:cNvPr id="16" name="Text 14"/>
          <p:cNvSpPr txBox="1"/>
          <p:nvPr/>
        </p:nvSpPr>
        <p:spPr>
          <a:xfrm>
            <a:off x="411480" y="2724912"/>
            <a:ext cx="12618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23  Strong</a:t>
            </a:r>
            <a:endParaRPr lang="en-US" sz="1100" dirty="0"/>
          </a:p>
        </p:txBody>
      </p:sp>
      <p:sp>
        <p:nvSpPr>
          <p:cNvPr id="17" name="Text 15"/>
          <p:cNvSpPr txBox="1"/>
          <p:nvPr/>
        </p:nvSpPr>
        <p:spPr>
          <a:xfrm>
            <a:off x="1746504" y="2724912"/>
            <a:ext cx="1472184" cy="310896"/>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both methods agree</a:t>
            </a:r>
            <a:endParaRPr lang="en-US" sz="1100" dirty="0"/>
          </a:p>
        </p:txBody>
      </p:sp>
      <p:sp>
        <p:nvSpPr>
          <p:cNvPr id="18" name="Shape 16"/>
          <p:cNvSpPr/>
          <p:nvPr/>
        </p:nvSpPr>
        <p:spPr>
          <a:xfrm>
            <a:off x="3255264" y="2724912"/>
            <a:ext cx="1261872" cy="310896"/>
          </a:xfrm>
          <a:prstGeom prst="roundRect">
            <a:avLst>
              <a:gd name="adj" fmla="val 50000"/>
            </a:avLst>
          </a:prstGeom>
          <a:solidFill>
            <a:srgbClr val="2F6FD0"/>
          </a:solidFill>
          <a:ln w="12700">
            <a:solidFill>
              <a:srgbClr val="2F6FD0"/>
            </a:solidFill>
            <a:prstDash val="solid"/>
          </a:ln>
        </p:spPr>
      </p:sp>
      <p:sp>
        <p:nvSpPr>
          <p:cNvPr id="19" name="Text 17"/>
          <p:cNvSpPr txBox="1"/>
          <p:nvPr/>
        </p:nvSpPr>
        <p:spPr>
          <a:xfrm>
            <a:off x="3255264" y="2724912"/>
            <a:ext cx="12618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30  Vector-led</a:t>
            </a:r>
            <a:endParaRPr lang="en-US" sz="1100" dirty="0"/>
          </a:p>
        </p:txBody>
      </p:sp>
      <p:sp>
        <p:nvSpPr>
          <p:cNvPr id="20" name="Text 18"/>
          <p:cNvSpPr txBox="1"/>
          <p:nvPr/>
        </p:nvSpPr>
        <p:spPr>
          <a:xfrm>
            <a:off x="4590288" y="2724912"/>
            <a:ext cx="1472184" cy="310896"/>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Method 1 whitespace</a:t>
            </a:r>
            <a:endParaRPr lang="en-US" sz="1100" dirty="0"/>
          </a:p>
        </p:txBody>
      </p:sp>
      <p:sp>
        <p:nvSpPr>
          <p:cNvPr id="21" name="Shape 19"/>
          <p:cNvSpPr/>
          <p:nvPr/>
        </p:nvSpPr>
        <p:spPr>
          <a:xfrm>
            <a:off x="6099048" y="2724912"/>
            <a:ext cx="1261872" cy="310896"/>
          </a:xfrm>
          <a:prstGeom prst="roundRect">
            <a:avLst>
              <a:gd name="adj" fmla="val 50000"/>
            </a:avLst>
          </a:prstGeom>
          <a:solidFill>
            <a:srgbClr val="B86E00"/>
          </a:solidFill>
          <a:ln w="12700">
            <a:solidFill>
              <a:srgbClr val="B86E00"/>
            </a:solidFill>
            <a:prstDash val="solid"/>
          </a:ln>
        </p:spPr>
      </p:sp>
      <p:sp>
        <p:nvSpPr>
          <p:cNvPr id="22" name="Text 20"/>
          <p:cNvSpPr txBox="1"/>
          <p:nvPr/>
        </p:nvSpPr>
        <p:spPr>
          <a:xfrm>
            <a:off x="6099048" y="2724912"/>
            <a:ext cx="12618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45  Gap-led</a:t>
            </a:r>
            <a:endParaRPr lang="en-US" sz="1100" dirty="0"/>
          </a:p>
        </p:txBody>
      </p:sp>
      <p:sp>
        <p:nvSpPr>
          <p:cNvPr id="23" name="Text 21"/>
          <p:cNvSpPr txBox="1"/>
          <p:nvPr/>
        </p:nvSpPr>
        <p:spPr>
          <a:xfrm>
            <a:off x="7434072" y="2724912"/>
            <a:ext cx="1472184" cy="310896"/>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Method 2 gap; check fit</a:t>
            </a:r>
            <a:endParaRPr lang="en-US" sz="1100" dirty="0"/>
          </a:p>
        </p:txBody>
      </p:sp>
      <p:sp>
        <p:nvSpPr>
          <p:cNvPr id="24" name="Shape 22"/>
          <p:cNvSpPr/>
          <p:nvPr/>
        </p:nvSpPr>
        <p:spPr>
          <a:xfrm>
            <a:off x="8942832" y="2724912"/>
            <a:ext cx="1261872" cy="310896"/>
          </a:xfrm>
          <a:prstGeom prst="roundRect">
            <a:avLst>
              <a:gd name="adj" fmla="val 50000"/>
            </a:avLst>
          </a:prstGeom>
          <a:solidFill>
            <a:srgbClr val="6B7280"/>
          </a:solidFill>
          <a:ln w="12700">
            <a:solidFill>
              <a:srgbClr val="6B7280"/>
            </a:solidFill>
            <a:prstDash val="solid"/>
          </a:ln>
        </p:spPr>
      </p:sp>
      <p:sp>
        <p:nvSpPr>
          <p:cNvPr id="25" name="Text 23"/>
          <p:cNvSpPr txBox="1"/>
          <p:nvPr/>
        </p:nvSpPr>
        <p:spPr>
          <a:xfrm>
            <a:off x="8942832" y="2724912"/>
            <a:ext cx="126187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Conditional</a:t>
            </a:r>
            <a:endParaRPr lang="en-US" sz="1100" dirty="0"/>
          </a:p>
        </p:txBody>
      </p:sp>
      <p:sp>
        <p:nvSpPr>
          <p:cNvPr id="26" name="Text 24"/>
          <p:cNvSpPr txBox="1"/>
          <p:nvPr/>
        </p:nvSpPr>
        <p:spPr>
          <a:xfrm>
            <a:off x="10277856" y="2724912"/>
            <a:ext cx="1463040" cy="310896"/>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node minimum fill</a:t>
            </a:r>
            <a:endParaRPr lang="en-US" sz="1100" dirty="0"/>
          </a:p>
        </p:txBody>
      </p:sp>
      <p:sp>
        <p:nvSpPr>
          <p:cNvPr id="27" name="Shape 25"/>
          <p:cNvSpPr/>
          <p:nvPr/>
        </p:nvSpPr>
        <p:spPr>
          <a:xfrm>
            <a:off x="411480" y="3246120"/>
            <a:ext cx="3703320" cy="2834640"/>
          </a:xfrm>
          <a:prstGeom prst="roundRect">
            <a:avLst>
              <a:gd name="adj" fmla="val 3871"/>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8" name="Shape 26"/>
          <p:cNvSpPr/>
          <p:nvPr/>
        </p:nvSpPr>
        <p:spPr>
          <a:xfrm>
            <a:off x="594360" y="3429000"/>
            <a:ext cx="566928" cy="566928"/>
          </a:xfrm>
          <a:prstGeom prst="ellipse">
            <a:avLst/>
          </a:prstGeom>
          <a:solidFill>
            <a:srgbClr val="1F4E9A"/>
          </a:solidFill>
          <a:ln w="12700">
            <a:solidFill>
              <a:srgbClr val="1F4E9A"/>
            </a:solidFill>
            <a:prstDash val="solid"/>
          </a:ln>
        </p:spPr>
      </p:sp>
      <p:pic>
        <p:nvPicPr>
          <p:cNvPr id="29" name="Image 0" descr="preencoded.png">    </p:cNvPr>
          <p:cNvPicPr>
            <a:picLocks noChangeAspect="1"/>
          </p:cNvPicPr>
          <p:nvPr/>
        </p:nvPicPr>
        <p:blipFill>
          <a:blip r:embed="rId1"/>
          <a:stretch>
            <a:fillRect/>
          </a:stretch>
        </p:blipFill>
        <p:spPr>
          <a:xfrm>
            <a:off x="719084" y="3553724"/>
            <a:ext cx="317480" cy="317480"/>
          </a:xfrm>
          <a:prstGeom prst="rect">
            <a:avLst/>
          </a:prstGeom>
        </p:spPr>
      </p:pic>
      <p:sp>
        <p:nvSpPr>
          <p:cNvPr id="30" name="Text 27"/>
          <p:cNvSpPr txBox="1"/>
          <p:nvPr/>
        </p:nvSpPr>
        <p:spPr>
          <a:xfrm>
            <a:off x="1280160" y="3401568"/>
            <a:ext cx="2697480" cy="640080"/>
          </a:xfrm>
          <a:prstGeom prst="rect">
            <a:avLst/>
          </a:prstGeom>
          <a:noFill/>
          <a:ln/>
        </p:spPr>
        <p:txBody>
          <a:bodyPr wrap="square" lIns="0" tIns="0" rIns="0" bIns="0" rtlCol="0" anchor="ctr"/>
          <a:lstStyle/>
          <a:p>
            <a:pPr indent="0" marL="0">
              <a:buNone/>
            </a:pPr>
            <a:r>
              <a:rPr lang="en-US" sz="1450" b="1" dirty="0">
                <a:solidFill>
                  <a:srgbClr val="13285B"/>
                </a:solidFill>
                <a:latin typeface="Calibri" pitchFamily="34" charset="0"/>
                <a:ea typeface="Calibri" pitchFamily="34" charset="-122"/>
                <a:cs typeface="Calibri" pitchFamily="34" charset="-120"/>
              </a:rPr>
              <a:t>Staples sells to the workplace; competitors sell to the home and the person</a:t>
            </a:r>
            <a:endParaRPr lang="en-US" sz="1450" dirty="0"/>
          </a:p>
        </p:txBody>
      </p:sp>
      <p:sp>
        <p:nvSpPr>
          <p:cNvPr id="31" name="Text 28"/>
          <p:cNvSpPr txBox="1"/>
          <p:nvPr/>
        </p:nvSpPr>
        <p:spPr>
          <a:xfrm>
            <a:off x="612648" y="4160520"/>
            <a:ext cx="3300984" cy="1371600"/>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57%</a:t>
            </a:r>
            <a:pPr indent="0" marL="0">
              <a:buNone/>
            </a:pPr>
            <a:r>
              <a:rPr lang="en-US" sz="1200" dirty="0">
                <a:solidFill>
                  <a:srgbClr val="1F2937"/>
                </a:solidFill>
                <a:latin typeface="Calibri" pitchFamily="34" charset="0"/>
                <a:ea typeface="Calibri" pitchFamily="34" charset="-122"/>
                <a:cs typeface="Calibri" pitchFamily="34" charset="-120"/>
              </a:rPr>
              <a:t> of Staples' accent chairs are reception or lobby seats (Wayfair 1%); </a:t>
            </a:r>
            <a:pPr indent="0" marL="0">
              <a:buNone/>
            </a:pPr>
            <a:r>
              <a:rPr lang="en-US" sz="1200" b="1" dirty="0">
                <a:solidFill>
                  <a:srgbClr val="1F4E9A"/>
                </a:solidFill>
                <a:latin typeface="Calibri" pitchFamily="34" charset="0"/>
                <a:ea typeface="Calibri" pitchFamily="34" charset="-122"/>
                <a:cs typeface="Calibri" pitchFamily="34" charset="-120"/>
              </a:rPr>
              <a:t>38%</a:t>
            </a:r>
            <a:pPr indent="0" marL="0">
              <a:buNone/>
            </a:pPr>
            <a:r>
              <a:rPr lang="en-US" sz="1200" dirty="0">
                <a:solidFill>
                  <a:srgbClr val="1F2937"/>
                </a:solidFill>
                <a:latin typeface="Calibri" pitchFamily="34" charset="0"/>
                <a:ea typeface="Calibri" pitchFamily="34" charset="-122"/>
                <a:cs typeface="Calibri" pitchFamily="34" charset="-120"/>
              </a:rPr>
              <a:t> of Wayfair's are for living rooms (Staples 7%). Amazon's backpacks are </a:t>
            </a:r>
            <a:pPr indent="0" marL="0">
              <a:buNone/>
            </a:pPr>
            <a:r>
              <a:rPr lang="en-US" sz="1200" b="1" dirty="0">
                <a:solidFill>
                  <a:srgbClr val="1F4E9A"/>
                </a:solidFill>
                <a:latin typeface="Calibri" pitchFamily="34" charset="0"/>
                <a:ea typeface="Calibri" pitchFamily="34" charset="-122"/>
                <a:cs typeface="Calibri" pitchFamily="34" charset="-120"/>
              </a:rPr>
              <a:t>40%</a:t>
            </a:r>
            <a:pPr indent="0" marL="0">
              <a:buNone/>
            </a:pPr>
            <a:r>
              <a:rPr lang="en-US" sz="1200" dirty="0">
                <a:solidFill>
                  <a:srgbClr val="1F2937"/>
                </a:solidFill>
                <a:latin typeface="Calibri" pitchFamily="34" charset="0"/>
                <a:ea typeface="Calibri" pitchFamily="34" charset="-122"/>
                <a:cs typeface="Calibri" pitchFamily="34" charset="-120"/>
              </a:rPr>
              <a:t> hiking/outdoor (Staples 1%).</a:t>
            </a:r>
            <a:endParaRPr lang="en-US" sz="1200" dirty="0"/>
          </a:p>
        </p:txBody>
      </p:sp>
      <p:sp>
        <p:nvSpPr>
          <p:cNvPr id="32" name="Text 29"/>
          <p:cNvSpPr txBox="1"/>
          <p:nvPr/>
        </p:nvSpPr>
        <p:spPr>
          <a:xfrm>
            <a:off x="612648" y="5257800"/>
            <a:ext cx="3300984" cy="731520"/>
          </a:xfrm>
          <a:prstGeom prst="rect">
            <a:avLst/>
          </a:prstGeom>
          <a:noFill/>
          <a:ln/>
        </p:spPr>
        <p:txBody>
          <a:bodyPr wrap="square" lIns="0" tIns="0" rIns="0" bIns="0" rtlCol="0" anchor="t"/>
          <a:lstStyle/>
          <a:p>
            <a:pPr indent="0" marL="0">
              <a:buNone/>
            </a:pPr>
            <a:r>
              <a:rPr lang="en-US" sz="1150" b="1" i="1" dirty="0">
                <a:solidFill>
                  <a:srgbClr val="1F4E9A"/>
                </a:solidFill>
                <a:latin typeface="Calibri" pitchFamily="34" charset="0"/>
                <a:ea typeface="Calibri" pitchFamily="34" charset="-122"/>
                <a:cs typeface="Calibri" pitchFamily="34" charset="-120"/>
              </a:rPr>
              <a:t>So what: </a:t>
            </a:r>
            <a:pPr indent="0" marL="0">
              <a:buNone/>
            </a:pPr>
            <a:r>
              <a:rPr lang="en-US" sz="1150" i="1" dirty="0">
                <a:solidFill>
                  <a:srgbClr val="1F4E9A"/>
                </a:solidFill>
                <a:latin typeface="Calibri" pitchFamily="34" charset="0"/>
                <a:ea typeface="Calibri" pitchFamily="34" charset="-122"/>
                <a:cs typeface="Calibri" pitchFamily="34" charset="-120"/>
              </a:rPr>
              <a:t>The marketplace can reach the home and lifestyle customer without touching the B2B core.</a:t>
            </a:r>
            <a:endParaRPr lang="en-US" sz="1150" dirty="0"/>
          </a:p>
        </p:txBody>
      </p:sp>
      <p:sp>
        <p:nvSpPr>
          <p:cNvPr id="33" name="Shape 30"/>
          <p:cNvSpPr/>
          <p:nvPr/>
        </p:nvSpPr>
        <p:spPr>
          <a:xfrm>
            <a:off x="4242816" y="3246120"/>
            <a:ext cx="3703320" cy="2834640"/>
          </a:xfrm>
          <a:prstGeom prst="roundRect">
            <a:avLst>
              <a:gd name="adj" fmla="val 3871"/>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1"/>
          <p:cNvSpPr/>
          <p:nvPr/>
        </p:nvSpPr>
        <p:spPr>
          <a:xfrm>
            <a:off x="4425696" y="3429000"/>
            <a:ext cx="566928" cy="566928"/>
          </a:xfrm>
          <a:prstGeom prst="ellipse">
            <a:avLst/>
          </a:prstGeom>
          <a:solidFill>
            <a:srgbClr val="1F4E9A"/>
          </a:solidFill>
          <a:ln w="12700">
            <a:solidFill>
              <a:srgbClr val="1F4E9A"/>
            </a:solidFill>
            <a:prstDash val="solid"/>
          </a:ln>
        </p:spPr>
      </p:sp>
      <p:pic>
        <p:nvPicPr>
          <p:cNvPr id="35" name="Image 1" descr="preencoded.png">    </p:cNvPr>
          <p:cNvPicPr>
            <a:picLocks noChangeAspect="1"/>
          </p:cNvPicPr>
          <p:nvPr/>
        </p:nvPicPr>
        <p:blipFill>
          <a:blip r:embed="rId2"/>
          <a:stretch>
            <a:fillRect/>
          </a:stretch>
        </p:blipFill>
        <p:spPr>
          <a:xfrm>
            <a:off x="4550420" y="3553724"/>
            <a:ext cx="317480" cy="317480"/>
          </a:xfrm>
          <a:prstGeom prst="rect">
            <a:avLst/>
          </a:prstGeom>
        </p:spPr>
      </p:pic>
      <p:sp>
        <p:nvSpPr>
          <p:cNvPr id="36" name="Text 32"/>
          <p:cNvSpPr txBox="1"/>
          <p:nvPr/>
        </p:nvSpPr>
        <p:spPr>
          <a:xfrm>
            <a:off x="5111496" y="3401568"/>
            <a:ext cx="2697480" cy="640080"/>
          </a:xfrm>
          <a:prstGeom prst="rect">
            <a:avLst/>
          </a:prstGeom>
          <a:noFill/>
          <a:ln/>
        </p:spPr>
        <p:txBody>
          <a:bodyPr wrap="square" lIns="0" tIns="0" rIns="0" bIns="0" rtlCol="0" anchor="ctr"/>
          <a:lstStyle/>
          <a:p>
            <a:pPr indent="0" marL="0">
              <a:buNone/>
            </a:pPr>
            <a:r>
              <a:rPr lang="en-US" sz="1450" b="1" dirty="0">
                <a:solidFill>
                  <a:srgbClr val="13285B"/>
                </a:solidFill>
                <a:latin typeface="Calibri" pitchFamily="34" charset="0"/>
                <a:ea typeface="Calibri" pitchFamily="34" charset="-122"/>
                <a:cs typeface="Calibri" pitchFamily="34" charset="-120"/>
              </a:rPr>
              <a:t>The gap is look, material and price, not function</a:t>
            </a:r>
            <a:endParaRPr lang="en-US" sz="1450" dirty="0"/>
          </a:p>
        </p:txBody>
      </p:sp>
      <p:sp>
        <p:nvSpPr>
          <p:cNvPr id="37" name="Text 33"/>
          <p:cNvSpPr txBox="1"/>
          <p:nvPr/>
        </p:nvSpPr>
        <p:spPr>
          <a:xfrm>
            <a:off x="4443984" y="4160520"/>
            <a:ext cx="3300984"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Design-forward items are </a:t>
            </a:r>
            <a:pPr indent="0" marL="0">
              <a:buNone/>
            </a:pPr>
            <a:r>
              <a:rPr lang="en-US" sz="1200" b="1" dirty="0">
                <a:solidFill>
                  <a:srgbClr val="1F4E9A"/>
                </a:solidFill>
                <a:latin typeface="Calibri" pitchFamily="34" charset="0"/>
                <a:ea typeface="Calibri" pitchFamily="34" charset="-122"/>
                <a:cs typeface="Calibri" pitchFamily="34" charset="-120"/>
              </a:rPr>
              <a:t>16%</a:t>
            </a:r>
            <a:pPr indent="0" marL="0">
              <a:buNone/>
            </a:pPr>
            <a:r>
              <a:rPr lang="en-US" sz="1200" dirty="0">
                <a:solidFill>
                  <a:srgbClr val="1F2937"/>
                </a:solidFill>
                <a:latin typeface="Calibri" pitchFamily="34" charset="0"/>
                <a:ea typeface="Calibri" pitchFamily="34" charset="-122"/>
                <a:cs typeface="Calibri" pitchFamily="34" charset="-120"/>
              </a:rPr>
              <a:t> of Staples' range vs </a:t>
            </a:r>
            <a:pPr indent="0" marL="0">
              <a:buNone/>
            </a:pPr>
            <a:r>
              <a:rPr lang="en-US" sz="1200" b="1" dirty="0">
                <a:solidFill>
                  <a:srgbClr val="1F4E9A"/>
                </a:solidFill>
                <a:latin typeface="Calibri" pitchFamily="34" charset="0"/>
                <a:ea typeface="Calibri" pitchFamily="34" charset="-122"/>
                <a:cs typeface="Calibri" pitchFamily="34" charset="-120"/>
              </a:rPr>
              <a:t>43%</a:t>
            </a:r>
            <a:pPr indent="0" marL="0">
              <a:buNone/>
            </a:pPr>
            <a:r>
              <a:rPr lang="en-US" sz="1200" dirty="0">
                <a:solidFill>
                  <a:srgbClr val="1F2937"/>
                </a:solidFill>
                <a:latin typeface="Calibri" pitchFamily="34" charset="0"/>
                <a:ea typeface="Calibri" pitchFamily="34" charset="-122"/>
                <a:cs typeface="Calibri" pitchFamily="34" charset="-120"/>
              </a:rPr>
              <a:t> at competitors (9-node average). Staples leads on function: </a:t>
            </a:r>
            <a:pPr indent="0" marL="0">
              <a:buNone/>
            </a:pPr>
            <a:r>
              <a:rPr lang="en-US" sz="1200" b="1" dirty="0">
                <a:solidFill>
                  <a:srgbClr val="1F4E9A"/>
                </a:solidFill>
                <a:latin typeface="Calibri" pitchFamily="34" charset="0"/>
                <a:ea typeface="Calibri" pitchFamily="34" charset="-122"/>
                <a:cs typeface="Calibri" pitchFamily="34" charset="-120"/>
              </a:rPr>
              <a:t>83%</a:t>
            </a:r>
            <a:pPr indent="0" marL="0">
              <a:buNone/>
            </a:pPr>
            <a:r>
              <a:rPr lang="en-US" sz="1200" dirty="0">
                <a:solidFill>
                  <a:srgbClr val="1F2937"/>
                </a:solidFill>
                <a:latin typeface="Calibri" pitchFamily="34" charset="0"/>
                <a:ea typeface="Calibri" pitchFamily="34" charset="-122"/>
                <a:cs typeface="Calibri" pitchFamily="34" charset="-120"/>
              </a:rPr>
              <a:t> of its desk lamps have USB (Wayfair 18%).</a:t>
            </a:r>
            <a:endParaRPr lang="en-US" sz="1200" dirty="0"/>
          </a:p>
        </p:txBody>
      </p:sp>
      <p:sp>
        <p:nvSpPr>
          <p:cNvPr id="38" name="Text 34"/>
          <p:cNvSpPr txBox="1"/>
          <p:nvPr/>
        </p:nvSpPr>
        <p:spPr>
          <a:xfrm>
            <a:off x="4443984" y="5257800"/>
            <a:ext cx="3300984" cy="731520"/>
          </a:xfrm>
          <a:prstGeom prst="rect">
            <a:avLst/>
          </a:prstGeom>
          <a:noFill/>
          <a:ln/>
        </p:spPr>
        <p:txBody>
          <a:bodyPr wrap="square" lIns="0" tIns="0" rIns="0" bIns="0" rtlCol="0" anchor="t"/>
          <a:lstStyle/>
          <a:p>
            <a:pPr indent="0" marL="0">
              <a:buNone/>
            </a:pPr>
            <a:r>
              <a:rPr lang="en-US" sz="1150" b="1" i="1" dirty="0">
                <a:solidFill>
                  <a:srgbClr val="1F4E9A"/>
                </a:solidFill>
                <a:latin typeface="Calibri" pitchFamily="34" charset="0"/>
                <a:ea typeface="Calibri" pitchFamily="34" charset="-122"/>
                <a:cs typeface="Calibri" pitchFamily="34" charset="-120"/>
              </a:rPr>
              <a:t>So what: </a:t>
            </a:r>
            <a:pPr indent="0" marL="0">
              <a:buNone/>
            </a:pPr>
            <a:r>
              <a:rPr lang="en-US" sz="1150" i="1" dirty="0">
                <a:solidFill>
                  <a:srgbClr val="1F4E9A"/>
                </a:solidFill>
                <a:latin typeface="Calibri" pitchFamily="34" charset="0"/>
                <a:ea typeface="Calibri" pitchFamily="34" charset="-122"/>
                <a:cs typeface="Calibri" pitchFamily="34" charset="-120"/>
              </a:rPr>
              <a:t>Add style and material variants of what Staples already sells (the "White Chair" play), not new functions.</a:t>
            </a:r>
            <a:endParaRPr lang="en-US" sz="1150" dirty="0"/>
          </a:p>
        </p:txBody>
      </p:sp>
      <p:sp>
        <p:nvSpPr>
          <p:cNvPr id="39" name="Shape 35"/>
          <p:cNvSpPr/>
          <p:nvPr/>
        </p:nvSpPr>
        <p:spPr>
          <a:xfrm>
            <a:off x="8074152" y="3246120"/>
            <a:ext cx="3703320" cy="2834640"/>
          </a:xfrm>
          <a:prstGeom prst="roundRect">
            <a:avLst>
              <a:gd name="adj" fmla="val 3871"/>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0" name="Shape 36"/>
          <p:cNvSpPr/>
          <p:nvPr/>
        </p:nvSpPr>
        <p:spPr>
          <a:xfrm>
            <a:off x="8257032" y="3429000"/>
            <a:ext cx="566928" cy="566928"/>
          </a:xfrm>
          <a:prstGeom prst="ellipse">
            <a:avLst/>
          </a:prstGeom>
          <a:solidFill>
            <a:srgbClr val="1F4E9A"/>
          </a:solidFill>
          <a:ln w="12700">
            <a:solidFill>
              <a:srgbClr val="1F4E9A"/>
            </a:solidFill>
            <a:prstDash val="solid"/>
          </a:ln>
        </p:spPr>
      </p:sp>
      <p:pic>
        <p:nvPicPr>
          <p:cNvPr id="41" name="Image 2" descr="preencoded.png">    </p:cNvPr>
          <p:cNvPicPr>
            <a:picLocks noChangeAspect="1"/>
          </p:cNvPicPr>
          <p:nvPr/>
        </p:nvPicPr>
        <p:blipFill>
          <a:blip r:embed="rId3"/>
          <a:stretch>
            <a:fillRect/>
          </a:stretch>
        </p:blipFill>
        <p:spPr>
          <a:xfrm>
            <a:off x="8381756" y="3553724"/>
            <a:ext cx="317480" cy="317480"/>
          </a:xfrm>
          <a:prstGeom prst="rect">
            <a:avLst/>
          </a:prstGeom>
        </p:spPr>
      </p:pic>
      <p:sp>
        <p:nvSpPr>
          <p:cNvPr id="42" name="Text 37"/>
          <p:cNvSpPr txBox="1"/>
          <p:nvPr/>
        </p:nvSpPr>
        <p:spPr>
          <a:xfrm>
            <a:off x="8942832" y="3401568"/>
            <a:ext cx="2697480" cy="640080"/>
          </a:xfrm>
          <a:prstGeom prst="rect">
            <a:avLst/>
          </a:prstGeom>
          <a:noFill/>
          <a:ln/>
        </p:spPr>
        <p:txBody>
          <a:bodyPr wrap="square" lIns="0" tIns="0" rIns="0" bIns="0" rtlCol="0" anchor="ctr"/>
          <a:lstStyle/>
          <a:p>
            <a:pPr indent="0" marL="0">
              <a:buNone/>
            </a:pPr>
            <a:r>
              <a:rPr lang="en-US" sz="1450" b="1" dirty="0">
                <a:solidFill>
                  <a:srgbClr val="13285B"/>
                </a:solidFill>
                <a:latin typeface="Calibri" pitchFamily="34" charset="0"/>
                <a:ea typeface="Calibri" pitchFamily="34" charset="-122"/>
                <a:cs typeface="Calibri" pitchFamily="34" charset="-120"/>
              </a:rPr>
              <a:t>Most picks can be sourced quickly</a:t>
            </a:r>
            <a:endParaRPr lang="en-US" sz="1450" dirty="0"/>
          </a:p>
        </p:txBody>
      </p:sp>
      <p:sp>
        <p:nvSpPr>
          <p:cNvPr id="43" name="Text 38"/>
          <p:cNvSpPr txBox="1"/>
          <p:nvPr/>
        </p:nvSpPr>
        <p:spPr>
          <a:xfrm>
            <a:off x="8275320" y="4160520"/>
            <a:ext cx="3300984" cy="1371600"/>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11</a:t>
            </a:r>
            <a:pPr indent="0" marL="0">
              <a:buNone/>
            </a:pPr>
            <a:r>
              <a:rPr lang="en-US" sz="1200" dirty="0">
                <a:solidFill>
                  <a:srgbClr val="1F2937"/>
                </a:solidFill>
                <a:latin typeface="Calibri" pitchFamily="34" charset="0"/>
                <a:ea typeface="Calibri" pitchFamily="34" charset="-122"/>
                <a:cs typeface="Calibri" pitchFamily="34" charset="-120"/>
              </a:rPr>
              <a:t> brands behind the recommended products already sell on Staples (AT-A-GLANCE, Bentgo, Targus, OttLite…). </a:t>
            </a:r>
            <a:pPr indent="0" marL="0">
              <a:buNone/>
            </a:pPr>
            <a:r>
              <a:rPr lang="en-US" sz="1200" b="1" dirty="0">
                <a:solidFill>
                  <a:srgbClr val="1F4E9A"/>
                </a:solidFill>
                <a:latin typeface="Calibri" pitchFamily="34" charset="0"/>
                <a:ea typeface="Calibri" pitchFamily="34" charset="-122"/>
                <a:cs typeface="Calibri" pitchFamily="34" charset="-120"/>
              </a:rPr>
              <a:t>71%</a:t>
            </a:r>
            <a:pPr indent="0" marL="0">
              <a:buNone/>
            </a:pPr>
            <a:r>
              <a:rPr lang="en-US" sz="1200" dirty="0">
                <a:solidFill>
                  <a:srgbClr val="1F2937"/>
                </a:solidFill>
                <a:latin typeface="Calibri" pitchFamily="34" charset="0"/>
                <a:ea typeface="Calibri" pitchFamily="34" charset="-122"/>
                <a:cs typeface="Calibri" pitchFamily="34" charset="-120"/>
              </a:rPr>
              <a:t> of Wayfair brands in the picks are Wayfair's own labels.</a:t>
            </a:r>
            <a:endParaRPr lang="en-US" sz="1200" dirty="0"/>
          </a:p>
        </p:txBody>
      </p:sp>
      <p:sp>
        <p:nvSpPr>
          <p:cNvPr id="44" name="Text 39"/>
          <p:cNvSpPr txBox="1"/>
          <p:nvPr/>
        </p:nvSpPr>
        <p:spPr>
          <a:xfrm>
            <a:off x="8275320" y="5257800"/>
            <a:ext cx="3300984" cy="731520"/>
          </a:xfrm>
          <a:prstGeom prst="rect">
            <a:avLst/>
          </a:prstGeom>
          <a:noFill/>
          <a:ln/>
        </p:spPr>
        <p:txBody>
          <a:bodyPr wrap="square" lIns="0" tIns="0" rIns="0" bIns="0" rtlCol="0" anchor="t"/>
          <a:lstStyle/>
          <a:p>
            <a:pPr indent="0" marL="0">
              <a:buNone/>
            </a:pPr>
            <a:r>
              <a:rPr lang="en-US" sz="1150" b="1" i="1" dirty="0">
                <a:solidFill>
                  <a:srgbClr val="1F4E9A"/>
                </a:solidFill>
                <a:latin typeface="Calibri" pitchFamily="34" charset="0"/>
                <a:ea typeface="Calibri" pitchFamily="34" charset="-122"/>
                <a:cs typeface="Calibri" pitchFamily="34" charset="-120"/>
              </a:rPr>
              <a:t>So what: </a:t>
            </a:r>
            <a:pPr indent="0" marL="0">
              <a:buNone/>
            </a:pPr>
            <a:r>
              <a:rPr lang="en-US" sz="1150" i="1" dirty="0">
                <a:solidFill>
                  <a:srgbClr val="1F4E9A"/>
                </a:solidFill>
                <a:latin typeface="Calibri" pitchFamily="34" charset="0"/>
                <a:ea typeface="Calibri" pitchFamily="34" charset="-122"/>
                <a:cs typeface="Calibri" pitchFamily="34" charset="-120"/>
              </a:rPr>
              <a:t>Start with existing suppliers for quick wins; recruit makers to supply the house-label archetypes.</a:t>
            </a:r>
            <a:endParaRPr lang="en-US" sz="11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Insights: How Staples, Wayfair and Amazon Assortments Differ</a:t>
            </a:r>
            <a:endParaRPr lang="en-US" sz="2800" dirty="0"/>
          </a:p>
        </p:txBody>
      </p:sp>
      <p:sp>
        <p:nvSpPr>
          <p:cNvPr id="3" name="Shape 1"/>
          <p:cNvSpPr/>
          <p:nvPr/>
        </p:nvSpPr>
        <p:spPr>
          <a:xfrm>
            <a:off x="2066544" y="1115568"/>
            <a:ext cx="3200400" cy="420624"/>
          </a:xfrm>
          <a:prstGeom prst="roundRect">
            <a:avLst>
              <a:gd name="adj" fmla="val 13043"/>
            </a:avLst>
          </a:prstGeom>
          <a:solidFill>
            <a:srgbClr val="CC0000"/>
          </a:solidFill>
          <a:ln w="12700">
            <a:solidFill>
              <a:srgbClr val="CC0000"/>
            </a:solidFill>
            <a:prstDash val="solid"/>
          </a:ln>
        </p:spPr>
      </p:sp>
      <p:sp>
        <p:nvSpPr>
          <p:cNvPr id="4" name="Text 2"/>
          <p:cNvSpPr txBox="1"/>
          <p:nvPr/>
        </p:nvSpPr>
        <p:spPr>
          <a:xfrm>
            <a:off x="2066544" y="1115568"/>
            <a:ext cx="32004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STAPLES</a:t>
            </a:r>
            <a:pPr algn="ctr" indent="0" marL="0">
              <a:buNone/>
            </a:pPr>
            <a:r>
              <a:rPr lang="en-US" sz="1100" dirty="0">
                <a:solidFill>
                  <a:srgbClr val="FFFFFF"/>
                </a:solidFill>
                <a:latin typeface="Calibri" pitchFamily="34" charset="0"/>
                <a:ea typeface="Calibri" pitchFamily="34" charset="-122"/>
                <a:cs typeface="Calibri" pitchFamily="34" charset="-120"/>
              </a:rPr>
              <a:t>  built for the workplace</a:t>
            </a:r>
            <a:endParaRPr lang="en-US" sz="1400" dirty="0"/>
          </a:p>
        </p:txBody>
      </p:sp>
      <p:sp>
        <p:nvSpPr>
          <p:cNvPr id="5" name="Shape 3"/>
          <p:cNvSpPr/>
          <p:nvPr/>
        </p:nvSpPr>
        <p:spPr>
          <a:xfrm>
            <a:off x="5321808" y="1115568"/>
            <a:ext cx="3200400" cy="420624"/>
          </a:xfrm>
          <a:prstGeom prst="roundRect">
            <a:avLst>
              <a:gd name="adj" fmla="val 13043"/>
            </a:avLst>
          </a:prstGeom>
          <a:solidFill>
            <a:srgbClr val="7F187F"/>
          </a:solidFill>
          <a:ln w="12700">
            <a:solidFill>
              <a:srgbClr val="7F187F"/>
            </a:solidFill>
            <a:prstDash val="solid"/>
          </a:ln>
        </p:spPr>
      </p:sp>
      <p:sp>
        <p:nvSpPr>
          <p:cNvPr id="6" name="Text 4"/>
          <p:cNvSpPr txBox="1"/>
          <p:nvPr/>
        </p:nvSpPr>
        <p:spPr>
          <a:xfrm>
            <a:off x="5321808" y="1115568"/>
            <a:ext cx="320040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WAYFAIR</a:t>
            </a:r>
            <a:pPr algn="ctr" indent="0" marL="0">
              <a:buNone/>
            </a:pPr>
            <a:r>
              <a:rPr lang="en-US" sz="1100" dirty="0">
                <a:solidFill>
                  <a:srgbClr val="FFFFFF"/>
                </a:solidFill>
                <a:latin typeface="Calibri" pitchFamily="34" charset="0"/>
                <a:ea typeface="Calibri" pitchFamily="34" charset="-122"/>
                <a:cs typeface="Calibri" pitchFamily="34" charset="-120"/>
              </a:rPr>
              <a:t>  built for the home · 5 nodes</a:t>
            </a:r>
            <a:endParaRPr lang="en-US" sz="1400" dirty="0"/>
          </a:p>
        </p:txBody>
      </p:sp>
      <p:sp>
        <p:nvSpPr>
          <p:cNvPr id="7" name="Shape 5"/>
          <p:cNvSpPr/>
          <p:nvPr/>
        </p:nvSpPr>
        <p:spPr>
          <a:xfrm>
            <a:off x="8577072" y="1115568"/>
            <a:ext cx="3200400" cy="420624"/>
          </a:xfrm>
          <a:prstGeom prst="roundRect">
            <a:avLst>
              <a:gd name="adj" fmla="val 13043"/>
            </a:avLst>
          </a:prstGeom>
          <a:solidFill>
            <a:srgbClr val="FF9900"/>
          </a:solidFill>
          <a:ln w="12700">
            <a:solidFill>
              <a:srgbClr val="FF9900"/>
            </a:solidFill>
            <a:prstDash val="solid"/>
          </a:ln>
        </p:spPr>
      </p:sp>
      <p:sp>
        <p:nvSpPr>
          <p:cNvPr id="8" name="Text 6"/>
          <p:cNvSpPr txBox="1"/>
          <p:nvPr/>
        </p:nvSpPr>
        <p:spPr>
          <a:xfrm>
            <a:off x="8577072" y="1115568"/>
            <a:ext cx="3200400" cy="420624"/>
          </a:xfrm>
          <a:prstGeom prst="rect">
            <a:avLst/>
          </a:prstGeom>
          <a:noFill/>
          <a:ln/>
        </p:spPr>
        <p:txBody>
          <a:bodyPr wrap="square" lIns="0" tIns="0" rIns="0" bIns="0" rtlCol="0" anchor="ctr"/>
          <a:lstStyle/>
          <a:p>
            <a:pPr algn="ctr" indent="0" marL="0">
              <a:buNone/>
            </a:pPr>
            <a:r>
              <a:rPr lang="en-US" sz="1400" b="1" dirty="0">
                <a:solidFill>
                  <a:srgbClr val="232F3E"/>
                </a:solidFill>
                <a:latin typeface="Calibri" pitchFamily="34" charset="0"/>
                <a:ea typeface="Calibri" pitchFamily="34" charset="-122"/>
                <a:cs typeface="Calibri" pitchFamily="34" charset="-120"/>
              </a:rPr>
              <a:t>AMAZON</a:t>
            </a:r>
            <a:pPr algn="ctr" indent="0" marL="0">
              <a:buNone/>
            </a:pPr>
            <a:r>
              <a:rPr lang="en-US" sz="1100" dirty="0">
                <a:solidFill>
                  <a:srgbClr val="232F3E"/>
                </a:solidFill>
                <a:latin typeface="Calibri" pitchFamily="34" charset="0"/>
                <a:ea typeface="Calibri" pitchFamily="34" charset="-122"/>
                <a:cs typeface="Calibri" pitchFamily="34" charset="-120"/>
              </a:rPr>
              <a:t>  built for the person · 4 nodes</a:t>
            </a:r>
            <a:endParaRPr lang="en-US" sz="1400" dirty="0"/>
          </a:p>
        </p:txBody>
      </p:sp>
      <p:sp>
        <p:nvSpPr>
          <p:cNvPr id="9" name="Shape 7"/>
          <p:cNvSpPr/>
          <p:nvPr/>
        </p:nvSpPr>
        <p:spPr>
          <a:xfrm>
            <a:off x="411480" y="1591056"/>
            <a:ext cx="1600200" cy="722376"/>
          </a:xfrm>
          <a:prstGeom prst="roundRect">
            <a:avLst>
              <a:gd name="adj" fmla="val 7595"/>
            </a:avLst>
          </a:prstGeom>
          <a:solidFill>
            <a:srgbClr val="1F4E9A"/>
          </a:solidFill>
          <a:ln w="12700">
            <a:solidFill>
              <a:srgbClr val="1F4E9A"/>
            </a:solidFill>
            <a:prstDash val="solid"/>
          </a:ln>
        </p:spPr>
      </p:sp>
      <p:sp>
        <p:nvSpPr>
          <p:cNvPr id="10" name="Text 8"/>
          <p:cNvSpPr txBox="1"/>
          <p:nvPr/>
        </p:nvSpPr>
        <p:spPr>
          <a:xfrm>
            <a:off x="521208" y="1591056"/>
            <a:ext cx="1417320" cy="72237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Core customer</a:t>
            </a:r>
            <a:endParaRPr lang="en-US" sz="1250" dirty="0"/>
          </a:p>
        </p:txBody>
      </p:sp>
      <p:sp>
        <p:nvSpPr>
          <p:cNvPr id="11" name="Shape 9"/>
          <p:cNvSpPr/>
          <p:nvPr/>
        </p:nvSpPr>
        <p:spPr>
          <a:xfrm>
            <a:off x="2066544" y="1591056"/>
            <a:ext cx="3200400" cy="722376"/>
          </a:xfrm>
          <a:prstGeom prst="roundRect">
            <a:avLst>
              <a:gd name="adj" fmla="val 7595"/>
            </a:avLst>
          </a:prstGeom>
          <a:solidFill>
            <a:srgbClr val="EEF3FB"/>
          </a:solidFill>
          <a:ln w="6350">
            <a:solidFill>
              <a:srgbClr val="C9D3E3"/>
            </a:solidFill>
            <a:prstDash val="solid"/>
          </a:ln>
        </p:spPr>
      </p:sp>
      <p:sp>
        <p:nvSpPr>
          <p:cNvPr id="12" name="Text 10"/>
          <p:cNvSpPr txBox="1"/>
          <p:nvPr/>
        </p:nvSpPr>
        <p:spPr>
          <a:xfrm>
            <a:off x="2157984" y="1627632"/>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The workplace: </a:t>
            </a:r>
            <a:pPr indent="0" marL="0">
              <a:buNone/>
            </a:pPr>
            <a:r>
              <a:rPr lang="en-US" sz="1050" b="1" dirty="0">
                <a:solidFill>
                  <a:srgbClr val="CC0000"/>
                </a:solidFill>
                <a:latin typeface="Calibri" pitchFamily="34" charset="0"/>
                <a:ea typeface="Calibri" pitchFamily="34" charset="-122"/>
                <a:cs typeface="Calibri" pitchFamily="34" charset="-120"/>
              </a:rPr>
              <a:t>81%</a:t>
            </a:r>
            <a:pPr indent="0" marL="0">
              <a:buNone/>
            </a:pPr>
            <a:r>
              <a:rPr lang="en-US" sz="1050" dirty="0">
                <a:solidFill>
                  <a:srgbClr val="1F2937"/>
                </a:solidFill>
                <a:latin typeface="Calibri" pitchFamily="34" charset="0"/>
                <a:ea typeface="Calibri" pitchFamily="34" charset="-122"/>
                <a:cs typeface="Calibri" pitchFamily="34" charset="-120"/>
              </a:rPr>
              <a:t> of desks for corporate offices; </a:t>
            </a:r>
            <a:pPr indent="0" marL="0">
              <a:buNone/>
            </a:pPr>
            <a:r>
              <a:rPr lang="en-US" sz="1050" b="1" dirty="0">
                <a:solidFill>
                  <a:srgbClr val="CC0000"/>
                </a:solidFill>
                <a:latin typeface="Calibri" pitchFamily="34" charset="0"/>
                <a:ea typeface="Calibri" pitchFamily="34" charset="-122"/>
                <a:cs typeface="Calibri" pitchFamily="34" charset="-120"/>
              </a:rPr>
              <a:t>57%</a:t>
            </a:r>
            <a:pPr indent="0" marL="0">
              <a:buNone/>
            </a:pPr>
            <a:r>
              <a:rPr lang="en-US" sz="1050" dirty="0">
                <a:solidFill>
                  <a:srgbClr val="1F2937"/>
                </a:solidFill>
                <a:latin typeface="Calibri" pitchFamily="34" charset="0"/>
                <a:ea typeface="Calibri" pitchFamily="34" charset="-122"/>
                <a:cs typeface="Calibri" pitchFamily="34" charset="-120"/>
              </a:rPr>
              <a:t> of accent chairs for reception/lobby; </a:t>
            </a:r>
            <a:pPr indent="0" marL="0">
              <a:buNone/>
            </a:pPr>
            <a:r>
              <a:rPr lang="en-US" sz="1050" b="1" dirty="0">
                <a:solidFill>
                  <a:srgbClr val="CC0000"/>
                </a:solidFill>
                <a:latin typeface="Calibri" pitchFamily="34" charset="0"/>
                <a:ea typeface="Calibri" pitchFamily="34" charset="-122"/>
                <a:cs typeface="Calibri" pitchFamily="34" charset="-120"/>
              </a:rPr>
              <a:t>79%</a:t>
            </a:r>
            <a:pPr indent="0" marL="0">
              <a:buNone/>
            </a:pPr>
            <a:r>
              <a:rPr lang="en-US" sz="1050" dirty="0">
                <a:solidFill>
                  <a:srgbClr val="1F2937"/>
                </a:solidFill>
                <a:latin typeface="Calibri" pitchFamily="34" charset="0"/>
                <a:ea typeface="Calibri" pitchFamily="34" charset="-122"/>
                <a:cs typeface="Calibri" pitchFamily="34" charset="-120"/>
              </a:rPr>
              <a:t> commercial-grade</a:t>
            </a:r>
            <a:endParaRPr lang="en-US" sz="1200" dirty="0"/>
          </a:p>
        </p:txBody>
      </p:sp>
      <p:sp>
        <p:nvSpPr>
          <p:cNvPr id="13" name="Shape 11"/>
          <p:cNvSpPr/>
          <p:nvPr/>
        </p:nvSpPr>
        <p:spPr>
          <a:xfrm>
            <a:off x="5321808" y="1591056"/>
            <a:ext cx="3200400" cy="722376"/>
          </a:xfrm>
          <a:prstGeom prst="roundRect">
            <a:avLst>
              <a:gd name="adj" fmla="val 7595"/>
            </a:avLst>
          </a:prstGeom>
          <a:solidFill>
            <a:srgbClr val="EEF3FB"/>
          </a:solidFill>
          <a:ln w="6350">
            <a:solidFill>
              <a:srgbClr val="C9D3E3"/>
            </a:solidFill>
            <a:prstDash val="solid"/>
          </a:ln>
        </p:spPr>
      </p:sp>
      <p:sp>
        <p:nvSpPr>
          <p:cNvPr id="14" name="Text 12"/>
          <p:cNvSpPr txBox="1"/>
          <p:nvPr/>
        </p:nvSpPr>
        <p:spPr>
          <a:xfrm>
            <a:off x="5413248" y="1627632"/>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The home: living-room accent chairs </a:t>
            </a:r>
            <a:pPr indent="0" marL="0">
              <a:buNone/>
            </a:pPr>
            <a:r>
              <a:rPr lang="en-US" sz="1050" b="1" dirty="0">
                <a:solidFill>
                  <a:srgbClr val="7F187F"/>
                </a:solidFill>
                <a:latin typeface="Calibri" pitchFamily="34" charset="0"/>
                <a:ea typeface="Calibri" pitchFamily="34" charset="-122"/>
                <a:cs typeface="Calibri" pitchFamily="34" charset="-120"/>
              </a:rPr>
              <a:t>38%</a:t>
            </a:r>
            <a:pPr indent="0" marL="0">
              <a:buNone/>
            </a:pPr>
            <a:r>
              <a:rPr lang="en-US" sz="1050" dirty="0">
                <a:solidFill>
                  <a:srgbClr val="1F2937"/>
                </a:solidFill>
                <a:latin typeface="Calibri" pitchFamily="34" charset="0"/>
                <a:ea typeface="Calibri" pitchFamily="34" charset="-122"/>
                <a:cs typeface="Calibri" pitchFamily="34" charset="-120"/>
              </a:rPr>
              <a:t> (7%), desk lamps </a:t>
            </a:r>
            <a:pPr indent="0" marL="0">
              <a:buNone/>
            </a:pPr>
            <a:r>
              <a:rPr lang="en-US" sz="1050" b="1" dirty="0">
                <a:solidFill>
                  <a:srgbClr val="7F187F"/>
                </a:solidFill>
                <a:latin typeface="Calibri" pitchFamily="34" charset="0"/>
                <a:ea typeface="Calibri" pitchFamily="34" charset="-122"/>
                <a:cs typeface="Calibri" pitchFamily="34" charset="-120"/>
              </a:rPr>
              <a:t>42%</a:t>
            </a:r>
            <a:pPr indent="0" marL="0">
              <a:buNone/>
            </a:pPr>
            <a:r>
              <a:rPr lang="en-US" sz="1050" dirty="0">
                <a:solidFill>
                  <a:srgbClr val="1F2937"/>
                </a:solidFill>
                <a:latin typeface="Calibri" pitchFamily="34" charset="0"/>
                <a:ea typeface="Calibri" pitchFamily="34" charset="-122"/>
                <a:cs typeface="Calibri" pitchFamily="34" charset="-120"/>
              </a:rPr>
              <a:t> (12%); home-office desks </a:t>
            </a:r>
            <a:pPr indent="0" marL="0">
              <a:buNone/>
            </a:pPr>
            <a:r>
              <a:rPr lang="en-US" sz="1050" b="1" dirty="0">
                <a:solidFill>
                  <a:srgbClr val="7F187F"/>
                </a:solidFill>
                <a:latin typeface="Calibri" pitchFamily="34" charset="0"/>
                <a:ea typeface="Calibri" pitchFamily="34" charset="-122"/>
                <a:cs typeface="Calibri" pitchFamily="34" charset="-120"/>
              </a:rPr>
              <a:t>52%</a:t>
            </a:r>
            <a:pPr indent="0" marL="0">
              <a:buNone/>
            </a:pPr>
            <a:r>
              <a:rPr lang="en-US" sz="1050" dirty="0">
                <a:solidFill>
                  <a:srgbClr val="1F2937"/>
                </a:solidFill>
                <a:latin typeface="Calibri" pitchFamily="34" charset="0"/>
                <a:ea typeface="Calibri" pitchFamily="34" charset="-122"/>
                <a:cs typeface="Calibri" pitchFamily="34" charset="-120"/>
              </a:rPr>
              <a:t> (19%)</a:t>
            </a:r>
            <a:endParaRPr lang="en-US" sz="1200" dirty="0"/>
          </a:p>
        </p:txBody>
      </p:sp>
      <p:sp>
        <p:nvSpPr>
          <p:cNvPr id="15" name="Shape 13"/>
          <p:cNvSpPr/>
          <p:nvPr/>
        </p:nvSpPr>
        <p:spPr>
          <a:xfrm>
            <a:off x="8577072" y="1591056"/>
            <a:ext cx="3200400" cy="722376"/>
          </a:xfrm>
          <a:prstGeom prst="roundRect">
            <a:avLst>
              <a:gd name="adj" fmla="val 7595"/>
            </a:avLst>
          </a:prstGeom>
          <a:solidFill>
            <a:srgbClr val="EEF3FB"/>
          </a:solidFill>
          <a:ln w="6350">
            <a:solidFill>
              <a:srgbClr val="C9D3E3"/>
            </a:solidFill>
            <a:prstDash val="solid"/>
          </a:ln>
        </p:spPr>
      </p:sp>
      <p:sp>
        <p:nvSpPr>
          <p:cNvPr id="16" name="Text 14"/>
          <p:cNvSpPr txBox="1"/>
          <p:nvPr/>
        </p:nvSpPr>
        <p:spPr>
          <a:xfrm>
            <a:off x="8668512" y="1627632"/>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The person &amp; activity: hiking/outdoor backpacks </a:t>
            </a:r>
            <a:pPr indent="0" marL="0">
              <a:buNone/>
            </a:pPr>
            <a:r>
              <a:rPr lang="en-US" sz="1050" b="1" dirty="0">
                <a:solidFill>
                  <a:srgbClr val="C45500"/>
                </a:solidFill>
                <a:latin typeface="Calibri" pitchFamily="34" charset="0"/>
                <a:ea typeface="Calibri" pitchFamily="34" charset="-122"/>
                <a:cs typeface="Calibri" pitchFamily="34" charset="-120"/>
              </a:rPr>
              <a:t>40%</a:t>
            </a:r>
            <a:pPr indent="0" marL="0">
              <a:buNone/>
            </a:pPr>
            <a:r>
              <a:rPr lang="en-US" sz="1050" dirty="0">
                <a:solidFill>
                  <a:srgbClr val="1F2937"/>
                </a:solidFill>
                <a:latin typeface="Calibri" pitchFamily="34" charset="0"/>
                <a:ea typeface="Calibri" pitchFamily="34" charset="-122"/>
                <a:cs typeface="Calibri" pitchFamily="34" charset="-120"/>
              </a:rPr>
              <a:t> (1%); packs for men / women </a:t>
            </a:r>
            <a:pPr indent="0" marL="0">
              <a:buNone/>
            </a:pPr>
            <a:r>
              <a:rPr lang="en-US" sz="1050" b="1" dirty="0">
                <a:solidFill>
                  <a:srgbClr val="C45500"/>
                </a:solidFill>
                <a:latin typeface="Calibri" pitchFamily="34" charset="0"/>
                <a:ea typeface="Calibri" pitchFamily="34" charset="-122"/>
                <a:cs typeface="Calibri" pitchFamily="34" charset="-120"/>
              </a:rPr>
              <a:t>33% / 36%</a:t>
            </a:r>
            <a:pPr indent="0" marL="0">
              <a:buNone/>
            </a:pPr>
            <a:r>
              <a:rPr lang="en-US" sz="1050" dirty="0">
                <a:solidFill>
                  <a:srgbClr val="1F2937"/>
                </a:solidFill>
                <a:latin typeface="Calibri" pitchFamily="34" charset="0"/>
                <a:ea typeface="Calibri" pitchFamily="34" charset="-122"/>
                <a:cs typeface="Calibri" pitchFamily="34" charset="-120"/>
              </a:rPr>
              <a:t> (2% / 9%); women's lunch bags </a:t>
            </a:r>
            <a:pPr indent="0" marL="0">
              <a:buNone/>
            </a:pPr>
            <a:r>
              <a:rPr lang="en-US" sz="1050" b="1" dirty="0">
                <a:solidFill>
                  <a:srgbClr val="C45500"/>
                </a:solidFill>
                <a:latin typeface="Calibri" pitchFamily="34" charset="0"/>
                <a:ea typeface="Calibri" pitchFamily="34" charset="-122"/>
                <a:cs typeface="Calibri" pitchFamily="34" charset="-120"/>
              </a:rPr>
              <a:t>23%</a:t>
            </a:r>
            <a:pPr indent="0" marL="0">
              <a:buNone/>
            </a:pPr>
            <a:r>
              <a:rPr lang="en-US" sz="1050" dirty="0">
                <a:solidFill>
                  <a:srgbClr val="1F2937"/>
                </a:solidFill>
                <a:latin typeface="Calibri" pitchFamily="34" charset="0"/>
                <a:ea typeface="Calibri" pitchFamily="34" charset="-122"/>
                <a:cs typeface="Calibri" pitchFamily="34" charset="-120"/>
              </a:rPr>
              <a:t> (4%)</a:t>
            </a:r>
            <a:endParaRPr lang="en-US" sz="1200" dirty="0"/>
          </a:p>
        </p:txBody>
      </p:sp>
      <p:sp>
        <p:nvSpPr>
          <p:cNvPr id="17" name="Shape 15"/>
          <p:cNvSpPr/>
          <p:nvPr/>
        </p:nvSpPr>
        <p:spPr>
          <a:xfrm>
            <a:off x="411480" y="2350008"/>
            <a:ext cx="1600200" cy="722376"/>
          </a:xfrm>
          <a:prstGeom prst="roundRect">
            <a:avLst>
              <a:gd name="adj" fmla="val 7595"/>
            </a:avLst>
          </a:prstGeom>
          <a:solidFill>
            <a:srgbClr val="1F4E9A"/>
          </a:solidFill>
          <a:ln w="12700">
            <a:solidFill>
              <a:srgbClr val="1F4E9A"/>
            </a:solidFill>
            <a:prstDash val="solid"/>
          </a:ln>
        </p:spPr>
      </p:sp>
      <p:sp>
        <p:nvSpPr>
          <p:cNvPr id="18" name="Text 16"/>
          <p:cNvSpPr txBox="1"/>
          <p:nvPr/>
        </p:nvSpPr>
        <p:spPr>
          <a:xfrm>
            <a:off x="521208" y="2350008"/>
            <a:ext cx="1417320" cy="72237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Design &amp; look</a:t>
            </a:r>
            <a:endParaRPr lang="en-US" sz="1250" dirty="0"/>
          </a:p>
        </p:txBody>
      </p:sp>
      <p:sp>
        <p:nvSpPr>
          <p:cNvPr id="19" name="Shape 17"/>
          <p:cNvSpPr/>
          <p:nvPr/>
        </p:nvSpPr>
        <p:spPr>
          <a:xfrm>
            <a:off x="2066544" y="2350008"/>
            <a:ext cx="3200400" cy="722376"/>
          </a:xfrm>
          <a:prstGeom prst="roundRect">
            <a:avLst>
              <a:gd name="adj" fmla="val 7595"/>
            </a:avLst>
          </a:prstGeom>
          <a:solidFill>
            <a:srgbClr val="FFFFFF"/>
          </a:solidFill>
          <a:ln w="6350">
            <a:solidFill>
              <a:srgbClr val="C9D3E3"/>
            </a:solidFill>
            <a:prstDash val="solid"/>
          </a:ln>
        </p:spPr>
      </p:sp>
      <p:sp>
        <p:nvSpPr>
          <p:cNvPr id="20" name="Text 18"/>
          <p:cNvSpPr txBox="1"/>
          <p:nvPr/>
        </p:nvSpPr>
        <p:spPr>
          <a:xfrm>
            <a:off x="2157984" y="2386584"/>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Dark &amp; utilitarian: black accent chairs </a:t>
            </a:r>
            <a:pPr indent="0" marL="0">
              <a:buNone/>
            </a:pPr>
            <a:r>
              <a:rPr lang="en-US" sz="1050" b="1" dirty="0">
                <a:solidFill>
                  <a:srgbClr val="CC0000"/>
                </a:solidFill>
                <a:latin typeface="Calibri" pitchFamily="34" charset="0"/>
                <a:ea typeface="Calibri" pitchFamily="34" charset="-122"/>
                <a:cs typeface="Calibri" pitchFamily="34" charset="-120"/>
              </a:rPr>
              <a:t>48%</a:t>
            </a:r>
            <a:pPr indent="0" marL="0">
              <a:buNone/>
            </a:pPr>
            <a:r>
              <a:rPr lang="en-US" sz="1050" dirty="0">
                <a:solidFill>
                  <a:srgbClr val="1F2937"/>
                </a:solidFill>
                <a:latin typeface="Calibri" pitchFamily="34" charset="0"/>
                <a:ea typeface="Calibri" pitchFamily="34" charset="-122"/>
                <a:cs typeface="Calibri" pitchFamily="34" charset="-120"/>
              </a:rPr>
              <a:t> (8%); black coffee organizers </a:t>
            </a:r>
            <a:pPr indent="0" marL="0">
              <a:buNone/>
            </a:pPr>
            <a:r>
              <a:rPr lang="en-US" sz="1050" b="1" dirty="0">
                <a:solidFill>
                  <a:srgbClr val="CC0000"/>
                </a:solidFill>
                <a:latin typeface="Calibri" pitchFamily="34" charset="0"/>
                <a:ea typeface="Calibri" pitchFamily="34" charset="-122"/>
                <a:cs typeface="Calibri" pitchFamily="34" charset="-120"/>
              </a:rPr>
              <a:t>84%</a:t>
            </a:r>
            <a:pPr indent="0" marL="0">
              <a:buNone/>
            </a:pPr>
            <a:r>
              <a:rPr lang="en-US" sz="1050" dirty="0">
                <a:solidFill>
                  <a:srgbClr val="1F2937"/>
                </a:solidFill>
                <a:latin typeface="Calibri" pitchFamily="34" charset="0"/>
                <a:ea typeface="Calibri" pitchFamily="34" charset="-122"/>
                <a:cs typeface="Calibri" pitchFamily="34" charset="-120"/>
              </a:rPr>
              <a:t> (14%); plastic/resin clocks </a:t>
            </a:r>
            <a:pPr indent="0" marL="0">
              <a:buNone/>
            </a:pPr>
            <a:r>
              <a:rPr lang="en-US" sz="1050" b="1" dirty="0">
                <a:solidFill>
                  <a:srgbClr val="CC0000"/>
                </a:solidFill>
                <a:latin typeface="Calibri" pitchFamily="34" charset="0"/>
                <a:ea typeface="Calibri" pitchFamily="34" charset="-122"/>
                <a:cs typeface="Calibri" pitchFamily="34" charset="-120"/>
              </a:rPr>
              <a:t>60%</a:t>
            </a:r>
            <a:pPr indent="0" marL="0">
              <a:buNone/>
            </a:pPr>
            <a:r>
              <a:rPr lang="en-US" sz="1050" dirty="0">
                <a:solidFill>
                  <a:srgbClr val="1F2937"/>
                </a:solidFill>
                <a:latin typeface="Calibri" pitchFamily="34" charset="0"/>
                <a:ea typeface="Calibri" pitchFamily="34" charset="-122"/>
                <a:cs typeface="Calibri" pitchFamily="34" charset="-120"/>
              </a:rPr>
              <a:t> (5%)</a:t>
            </a:r>
            <a:endParaRPr lang="en-US" sz="1200" dirty="0"/>
          </a:p>
        </p:txBody>
      </p:sp>
      <p:sp>
        <p:nvSpPr>
          <p:cNvPr id="21" name="Shape 19"/>
          <p:cNvSpPr/>
          <p:nvPr/>
        </p:nvSpPr>
        <p:spPr>
          <a:xfrm>
            <a:off x="5321808" y="2350008"/>
            <a:ext cx="3200400" cy="722376"/>
          </a:xfrm>
          <a:prstGeom prst="roundRect">
            <a:avLst>
              <a:gd name="adj" fmla="val 7595"/>
            </a:avLst>
          </a:prstGeom>
          <a:solidFill>
            <a:srgbClr val="FFFFFF"/>
          </a:solidFill>
          <a:ln w="6350">
            <a:solidFill>
              <a:srgbClr val="C9D3E3"/>
            </a:solidFill>
            <a:prstDash val="solid"/>
          </a:ln>
        </p:spPr>
      </p:sp>
      <p:sp>
        <p:nvSpPr>
          <p:cNvPr id="22" name="Text 20"/>
          <p:cNvSpPr txBox="1"/>
          <p:nvPr/>
        </p:nvSpPr>
        <p:spPr>
          <a:xfrm>
            <a:off x="5413248" y="2386584"/>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Soft, light, natural: light-neutral chairs </a:t>
            </a:r>
            <a:pPr indent="0" marL="0">
              <a:buNone/>
            </a:pPr>
            <a:r>
              <a:rPr lang="en-US" sz="1050" b="1" dirty="0">
                <a:solidFill>
                  <a:srgbClr val="7F187F"/>
                </a:solidFill>
                <a:latin typeface="Calibri" pitchFamily="34" charset="0"/>
                <a:ea typeface="Calibri" pitchFamily="34" charset="-122"/>
                <a:cs typeface="Calibri" pitchFamily="34" charset="-120"/>
              </a:rPr>
              <a:t>27%</a:t>
            </a:r>
            <a:pPr indent="0" marL="0">
              <a:buNone/>
            </a:pPr>
            <a:r>
              <a:rPr lang="en-US" sz="1050" dirty="0">
                <a:solidFill>
                  <a:srgbClr val="1F2937"/>
                </a:solidFill>
                <a:latin typeface="Calibri" pitchFamily="34" charset="0"/>
                <a:ea typeface="Calibri" pitchFamily="34" charset="-122"/>
                <a:cs typeface="Calibri" pitchFamily="34" charset="-120"/>
              </a:rPr>
              <a:t> (6%); cozy/plush </a:t>
            </a:r>
            <a:pPr indent="0" marL="0">
              <a:buNone/>
            </a:pPr>
            <a:r>
              <a:rPr lang="en-US" sz="1050" b="1" dirty="0">
                <a:solidFill>
                  <a:srgbClr val="7F187F"/>
                </a:solidFill>
                <a:latin typeface="Calibri" pitchFamily="34" charset="0"/>
                <a:ea typeface="Calibri" pitchFamily="34" charset="-122"/>
                <a:cs typeface="Calibri" pitchFamily="34" charset="-120"/>
              </a:rPr>
              <a:t>33%</a:t>
            </a:r>
            <a:pPr indent="0" marL="0">
              <a:buNone/>
            </a:pPr>
            <a:r>
              <a:rPr lang="en-US" sz="1050" dirty="0">
                <a:solidFill>
                  <a:srgbClr val="1F2937"/>
                </a:solidFill>
                <a:latin typeface="Calibri" pitchFamily="34" charset="0"/>
                <a:ea typeface="Calibri" pitchFamily="34" charset="-122"/>
                <a:cs typeface="Calibri" pitchFamily="34" charset="-120"/>
              </a:rPr>
              <a:t> (13%); natural/woven screens </a:t>
            </a:r>
            <a:pPr indent="0" marL="0">
              <a:buNone/>
            </a:pPr>
            <a:r>
              <a:rPr lang="en-US" sz="1050" b="1" dirty="0">
                <a:solidFill>
                  <a:srgbClr val="7F187F"/>
                </a:solidFill>
                <a:latin typeface="Calibri" pitchFamily="34" charset="0"/>
                <a:ea typeface="Calibri" pitchFamily="34" charset="-122"/>
                <a:cs typeface="Calibri" pitchFamily="34" charset="-120"/>
              </a:rPr>
              <a:t>32%</a:t>
            </a:r>
            <a:pPr indent="0" marL="0">
              <a:buNone/>
            </a:pPr>
            <a:r>
              <a:rPr lang="en-US" sz="1050" dirty="0">
                <a:solidFill>
                  <a:srgbClr val="1F2937"/>
                </a:solidFill>
                <a:latin typeface="Calibri" pitchFamily="34" charset="0"/>
                <a:ea typeface="Calibri" pitchFamily="34" charset="-122"/>
                <a:cs typeface="Calibri" pitchFamily="34" charset="-120"/>
              </a:rPr>
              <a:t> (2%); statement clocks </a:t>
            </a:r>
            <a:pPr indent="0" marL="0">
              <a:buNone/>
            </a:pPr>
            <a:r>
              <a:rPr lang="en-US" sz="1050" b="1" dirty="0">
                <a:solidFill>
                  <a:srgbClr val="7F187F"/>
                </a:solidFill>
                <a:latin typeface="Calibri" pitchFamily="34" charset="0"/>
                <a:ea typeface="Calibri" pitchFamily="34" charset="-122"/>
                <a:cs typeface="Calibri" pitchFamily="34" charset="-120"/>
              </a:rPr>
              <a:t>39%</a:t>
            </a:r>
            <a:pPr indent="0" marL="0">
              <a:buNone/>
            </a:pPr>
            <a:r>
              <a:rPr lang="en-US" sz="1050" dirty="0">
                <a:solidFill>
                  <a:srgbClr val="1F2937"/>
                </a:solidFill>
                <a:latin typeface="Calibri" pitchFamily="34" charset="0"/>
                <a:ea typeface="Calibri" pitchFamily="34" charset="-122"/>
                <a:cs typeface="Calibri" pitchFamily="34" charset="-120"/>
              </a:rPr>
              <a:t> (9%)</a:t>
            </a:r>
            <a:endParaRPr lang="en-US" sz="1200" dirty="0"/>
          </a:p>
        </p:txBody>
      </p:sp>
      <p:sp>
        <p:nvSpPr>
          <p:cNvPr id="23" name="Shape 21"/>
          <p:cNvSpPr/>
          <p:nvPr/>
        </p:nvSpPr>
        <p:spPr>
          <a:xfrm>
            <a:off x="8577072" y="2350008"/>
            <a:ext cx="3200400" cy="722376"/>
          </a:xfrm>
          <a:prstGeom prst="roundRect">
            <a:avLst>
              <a:gd name="adj" fmla="val 7595"/>
            </a:avLst>
          </a:prstGeom>
          <a:solidFill>
            <a:srgbClr val="FFFFFF"/>
          </a:solidFill>
          <a:ln w="6350">
            <a:solidFill>
              <a:srgbClr val="C9D3E3"/>
            </a:solidFill>
            <a:prstDash val="solid"/>
          </a:ln>
        </p:spPr>
      </p:sp>
      <p:sp>
        <p:nvSpPr>
          <p:cNvPr id="24" name="Text 22"/>
          <p:cNvSpPr txBox="1"/>
          <p:nvPr/>
        </p:nvSpPr>
        <p:spPr>
          <a:xfrm>
            <a:off x="8668512" y="2386584"/>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Warm materials: wood-tone coffee storage </a:t>
            </a:r>
            <a:pPr indent="0" marL="0">
              <a:buNone/>
            </a:pPr>
            <a:r>
              <a:rPr lang="en-US" sz="1050" b="1" dirty="0">
                <a:solidFill>
                  <a:srgbClr val="C45500"/>
                </a:solidFill>
                <a:latin typeface="Calibri" pitchFamily="34" charset="0"/>
                <a:ea typeface="Calibri" pitchFamily="34" charset="-122"/>
                <a:cs typeface="Calibri" pitchFamily="34" charset="-120"/>
              </a:rPr>
              <a:t>77%</a:t>
            </a:r>
            <a:pPr indent="0" marL="0">
              <a:buNone/>
            </a:pPr>
            <a:r>
              <a:rPr lang="en-US" sz="1050" dirty="0">
                <a:solidFill>
                  <a:srgbClr val="1F2937"/>
                </a:solidFill>
                <a:latin typeface="Calibri" pitchFamily="34" charset="0"/>
                <a:ea typeface="Calibri" pitchFamily="34" charset="-122"/>
                <a:cs typeface="Calibri" pitchFamily="34" charset="-120"/>
              </a:rPr>
              <a:t> (2%); stainless lunch boxes </a:t>
            </a:r>
            <a:pPr indent="0" marL="0">
              <a:buNone/>
            </a:pPr>
            <a:r>
              <a:rPr lang="en-US" sz="1050" b="1" dirty="0">
                <a:solidFill>
                  <a:srgbClr val="C45500"/>
                </a:solidFill>
                <a:latin typeface="Calibri" pitchFamily="34" charset="0"/>
                <a:ea typeface="Calibri" pitchFamily="34" charset="-122"/>
                <a:cs typeface="Calibri" pitchFamily="34" charset="-120"/>
              </a:rPr>
              <a:t>46%</a:t>
            </a:r>
            <a:pPr indent="0" marL="0">
              <a:buNone/>
            </a:pPr>
            <a:r>
              <a:rPr lang="en-US" sz="1050" dirty="0">
                <a:solidFill>
                  <a:srgbClr val="1F2937"/>
                </a:solidFill>
                <a:latin typeface="Calibri" pitchFamily="34" charset="0"/>
                <a:ea typeface="Calibri" pitchFamily="34" charset="-122"/>
                <a:cs typeface="Calibri" pitchFamily="34" charset="-120"/>
              </a:rPr>
              <a:t> (15%); leather-bound planners </a:t>
            </a:r>
            <a:pPr indent="0" marL="0">
              <a:buNone/>
            </a:pPr>
            <a:r>
              <a:rPr lang="en-US" sz="1050" b="1" dirty="0">
                <a:solidFill>
                  <a:srgbClr val="C45500"/>
                </a:solidFill>
                <a:latin typeface="Calibri" pitchFamily="34" charset="0"/>
                <a:ea typeface="Calibri" pitchFamily="34" charset="-122"/>
                <a:cs typeface="Calibri" pitchFamily="34" charset="-120"/>
              </a:rPr>
              <a:t>24%</a:t>
            </a:r>
            <a:pPr indent="0" marL="0">
              <a:buNone/>
            </a:pPr>
            <a:r>
              <a:rPr lang="en-US" sz="1050" dirty="0">
                <a:solidFill>
                  <a:srgbClr val="1F2937"/>
                </a:solidFill>
                <a:latin typeface="Calibri" pitchFamily="34" charset="0"/>
                <a:ea typeface="Calibri" pitchFamily="34" charset="-122"/>
                <a:cs typeface="Calibri" pitchFamily="34" charset="-120"/>
              </a:rPr>
              <a:t> (0%)</a:t>
            </a:r>
            <a:endParaRPr lang="en-US" sz="1200" dirty="0"/>
          </a:p>
        </p:txBody>
      </p:sp>
      <p:sp>
        <p:nvSpPr>
          <p:cNvPr id="25" name="Shape 23"/>
          <p:cNvSpPr/>
          <p:nvPr/>
        </p:nvSpPr>
        <p:spPr>
          <a:xfrm>
            <a:off x="411480" y="3108960"/>
            <a:ext cx="1600200" cy="722376"/>
          </a:xfrm>
          <a:prstGeom prst="roundRect">
            <a:avLst>
              <a:gd name="adj" fmla="val 7595"/>
            </a:avLst>
          </a:prstGeom>
          <a:solidFill>
            <a:srgbClr val="1F4E9A"/>
          </a:solidFill>
          <a:ln w="12700">
            <a:solidFill>
              <a:srgbClr val="1F4E9A"/>
            </a:solidFill>
            <a:prstDash val="solid"/>
          </a:ln>
        </p:spPr>
      </p:sp>
      <p:sp>
        <p:nvSpPr>
          <p:cNvPr id="26" name="Text 24"/>
          <p:cNvSpPr txBox="1"/>
          <p:nvPr/>
        </p:nvSpPr>
        <p:spPr>
          <a:xfrm>
            <a:off x="521208" y="3108960"/>
            <a:ext cx="1417320" cy="72237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Where they go deeper</a:t>
            </a:r>
            <a:endParaRPr lang="en-US" sz="1250" dirty="0"/>
          </a:p>
        </p:txBody>
      </p:sp>
      <p:sp>
        <p:nvSpPr>
          <p:cNvPr id="27" name="Shape 25"/>
          <p:cNvSpPr/>
          <p:nvPr/>
        </p:nvSpPr>
        <p:spPr>
          <a:xfrm>
            <a:off x="2066544" y="3108960"/>
            <a:ext cx="3200400" cy="722376"/>
          </a:xfrm>
          <a:prstGeom prst="roundRect">
            <a:avLst>
              <a:gd name="adj" fmla="val 7595"/>
            </a:avLst>
          </a:prstGeom>
          <a:solidFill>
            <a:srgbClr val="EEF3FB"/>
          </a:solidFill>
          <a:ln w="6350">
            <a:solidFill>
              <a:srgbClr val="C9D3E3"/>
            </a:solidFill>
            <a:prstDash val="solid"/>
          </a:ln>
        </p:spPr>
      </p:sp>
      <p:sp>
        <p:nvSpPr>
          <p:cNvPr id="28" name="Text 26"/>
          <p:cNvSpPr txBox="1"/>
          <p:nvPr/>
        </p:nvSpPr>
        <p:spPr>
          <a:xfrm>
            <a:off x="2157984" y="3145536"/>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Function formats: guest/side chairs </a:t>
            </a:r>
            <a:pPr indent="0" marL="0">
              <a:buNone/>
            </a:pPr>
            <a:r>
              <a:rPr lang="en-US" sz="1050" b="1" dirty="0">
                <a:solidFill>
                  <a:srgbClr val="CC0000"/>
                </a:solidFill>
                <a:latin typeface="Calibri" pitchFamily="34" charset="0"/>
                <a:ea typeface="Calibri" pitchFamily="34" charset="-122"/>
                <a:cs typeface="Calibri" pitchFamily="34" charset="-120"/>
              </a:rPr>
              <a:t>68%</a:t>
            </a:r>
            <a:pPr indent="0" marL="0">
              <a:buNone/>
            </a:pPr>
            <a:r>
              <a:rPr lang="en-US" sz="1050" dirty="0">
                <a:solidFill>
                  <a:srgbClr val="1F2937"/>
                </a:solidFill>
                <a:latin typeface="Calibri" pitchFamily="34" charset="0"/>
                <a:ea typeface="Calibri" pitchFamily="34" charset="-122"/>
                <a:cs typeface="Calibri" pitchFamily="34" charset="-120"/>
              </a:rPr>
              <a:t> (14%); laptop backpacks </a:t>
            </a:r>
            <a:pPr indent="0" marL="0">
              <a:buNone/>
            </a:pPr>
            <a:r>
              <a:rPr lang="en-US" sz="1050" b="1" dirty="0">
                <a:solidFill>
                  <a:srgbClr val="CC0000"/>
                </a:solidFill>
                <a:latin typeface="Calibri" pitchFamily="34" charset="0"/>
                <a:ea typeface="Calibri" pitchFamily="34" charset="-122"/>
                <a:cs typeface="Calibri" pitchFamily="34" charset="-120"/>
              </a:rPr>
              <a:t>62%</a:t>
            </a:r>
            <a:pPr indent="0" marL="0">
              <a:buNone/>
            </a:pPr>
            <a:r>
              <a:rPr lang="en-US" sz="1050" dirty="0">
                <a:solidFill>
                  <a:srgbClr val="1F2937"/>
                </a:solidFill>
                <a:latin typeface="Calibri" pitchFamily="34" charset="0"/>
                <a:ea typeface="Calibri" pitchFamily="34" charset="-122"/>
                <a:cs typeface="Calibri" pitchFamily="34" charset="-120"/>
              </a:rPr>
              <a:t> (12%); tackable panels </a:t>
            </a:r>
            <a:pPr indent="0" marL="0">
              <a:buNone/>
            </a:pPr>
            <a:r>
              <a:rPr lang="en-US" sz="1050" b="1" dirty="0">
                <a:solidFill>
                  <a:srgbClr val="CC0000"/>
                </a:solidFill>
                <a:latin typeface="Calibri" pitchFamily="34" charset="0"/>
                <a:ea typeface="Calibri" pitchFamily="34" charset="-122"/>
                <a:cs typeface="Calibri" pitchFamily="34" charset="-120"/>
              </a:rPr>
              <a:t>83%</a:t>
            </a:r>
            <a:pPr indent="0" marL="0">
              <a:buNone/>
            </a:pPr>
            <a:r>
              <a:rPr lang="en-US" sz="1050" dirty="0">
                <a:solidFill>
                  <a:srgbClr val="1F2937"/>
                </a:solidFill>
                <a:latin typeface="Calibri" pitchFamily="34" charset="0"/>
                <a:ea typeface="Calibri" pitchFamily="34" charset="-122"/>
                <a:cs typeface="Calibri" pitchFamily="34" charset="-120"/>
              </a:rPr>
              <a:t> (2%); 60–72" desks </a:t>
            </a:r>
            <a:pPr indent="0" marL="0">
              <a:buNone/>
            </a:pPr>
            <a:r>
              <a:rPr lang="en-US" sz="1050" b="1" dirty="0">
                <a:solidFill>
                  <a:srgbClr val="CC0000"/>
                </a:solidFill>
                <a:latin typeface="Calibri" pitchFamily="34" charset="0"/>
                <a:ea typeface="Calibri" pitchFamily="34" charset="-122"/>
                <a:cs typeface="Calibri" pitchFamily="34" charset="-120"/>
              </a:rPr>
              <a:t>53%</a:t>
            </a:r>
            <a:pPr indent="0" marL="0">
              <a:buNone/>
            </a:pPr>
            <a:r>
              <a:rPr lang="en-US" sz="1050" dirty="0">
                <a:solidFill>
                  <a:srgbClr val="1F2937"/>
                </a:solidFill>
                <a:latin typeface="Calibri" pitchFamily="34" charset="0"/>
                <a:ea typeface="Calibri" pitchFamily="34" charset="-122"/>
                <a:cs typeface="Calibri" pitchFamily="34" charset="-120"/>
              </a:rPr>
              <a:t> (16%)</a:t>
            </a:r>
            <a:endParaRPr lang="en-US" sz="1200" dirty="0"/>
          </a:p>
        </p:txBody>
      </p:sp>
      <p:sp>
        <p:nvSpPr>
          <p:cNvPr id="29" name="Shape 27"/>
          <p:cNvSpPr/>
          <p:nvPr/>
        </p:nvSpPr>
        <p:spPr>
          <a:xfrm>
            <a:off x="5321808" y="3108960"/>
            <a:ext cx="3200400" cy="722376"/>
          </a:xfrm>
          <a:prstGeom prst="roundRect">
            <a:avLst>
              <a:gd name="adj" fmla="val 7595"/>
            </a:avLst>
          </a:prstGeom>
          <a:solidFill>
            <a:srgbClr val="EEF3FB"/>
          </a:solidFill>
          <a:ln w="6350">
            <a:solidFill>
              <a:srgbClr val="C9D3E3"/>
            </a:solidFill>
            <a:prstDash val="solid"/>
          </a:ln>
        </p:spPr>
      </p:sp>
      <p:sp>
        <p:nvSpPr>
          <p:cNvPr id="30" name="Text 28"/>
          <p:cNvSpPr txBox="1"/>
          <p:nvPr/>
        </p:nvSpPr>
        <p:spPr>
          <a:xfrm>
            <a:off x="5413248" y="3145536"/>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Home formats: armchairs </a:t>
            </a:r>
            <a:pPr indent="0" marL="0">
              <a:buNone/>
            </a:pPr>
            <a:r>
              <a:rPr lang="en-US" sz="1050" b="1" dirty="0">
                <a:solidFill>
                  <a:srgbClr val="7F187F"/>
                </a:solidFill>
                <a:latin typeface="Calibri" pitchFamily="34" charset="0"/>
                <a:ea typeface="Calibri" pitchFamily="34" charset="-122"/>
                <a:cs typeface="Calibri" pitchFamily="34" charset="-120"/>
              </a:rPr>
              <a:t>36%</a:t>
            </a:r>
            <a:pPr indent="0" marL="0">
              <a:buNone/>
            </a:pPr>
            <a:r>
              <a:rPr lang="en-US" sz="1050" dirty="0">
                <a:solidFill>
                  <a:srgbClr val="1F2937"/>
                </a:solidFill>
                <a:latin typeface="Calibri" pitchFamily="34" charset="0"/>
                <a:ea typeface="Calibri" pitchFamily="34" charset="-122"/>
                <a:cs typeface="Calibri" pitchFamily="34" charset="-120"/>
              </a:rPr>
              <a:t> (10%); shaded table lamps </a:t>
            </a:r>
            <a:pPr indent="0" marL="0">
              <a:buNone/>
            </a:pPr>
            <a:r>
              <a:rPr lang="en-US" sz="1050" b="1" dirty="0">
                <a:solidFill>
                  <a:srgbClr val="7F187F"/>
                </a:solidFill>
                <a:latin typeface="Calibri" pitchFamily="34" charset="0"/>
                <a:ea typeface="Calibri" pitchFamily="34" charset="-122"/>
                <a:cs typeface="Calibri" pitchFamily="34" charset="-120"/>
              </a:rPr>
              <a:t>78%</a:t>
            </a:r>
            <a:pPr indent="0" marL="0">
              <a:buNone/>
            </a:pPr>
            <a:r>
              <a:rPr lang="en-US" sz="1050" dirty="0">
                <a:solidFill>
                  <a:srgbClr val="1F2937"/>
                </a:solidFill>
                <a:latin typeface="Calibri" pitchFamily="34" charset="0"/>
                <a:ea typeface="Calibri" pitchFamily="34" charset="-122"/>
                <a:cs typeface="Calibri" pitchFamily="34" charset="-120"/>
              </a:rPr>
              <a:t> (36%); desks under 40" </a:t>
            </a:r>
            <a:pPr indent="0" marL="0">
              <a:buNone/>
            </a:pPr>
            <a:r>
              <a:rPr lang="en-US" sz="1050" b="1" dirty="0">
                <a:solidFill>
                  <a:srgbClr val="7F187F"/>
                </a:solidFill>
                <a:latin typeface="Calibri" pitchFamily="34" charset="0"/>
                <a:ea typeface="Calibri" pitchFamily="34" charset="-122"/>
                <a:cs typeface="Calibri" pitchFamily="34" charset="-120"/>
              </a:rPr>
              <a:t>39%</a:t>
            </a:r>
            <a:pPr indent="0" marL="0">
              <a:buNone/>
            </a:pPr>
            <a:r>
              <a:rPr lang="en-US" sz="1050" dirty="0">
                <a:solidFill>
                  <a:srgbClr val="1F2937"/>
                </a:solidFill>
                <a:latin typeface="Calibri" pitchFamily="34" charset="0"/>
                <a:ea typeface="Calibri" pitchFamily="34" charset="-122"/>
                <a:cs typeface="Calibri" pitchFamily="34" charset="-120"/>
              </a:rPr>
              <a:t> (4%); oversized clocks </a:t>
            </a:r>
            <a:pPr indent="0" marL="0">
              <a:buNone/>
            </a:pPr>
            <a:r>
              <a:rPr lang="en-US" sz="1050" b="1" dirty="0">
                <a:solidFill>
                  <a:srgbClr val="7F187F"/>
                </a:solidFill>
                <a:latin typeface="Calibri" pitchFamily="34" charset="0"/>
                <a:ea typeface="Calibri" pitchFamily="34" charset="-122"/>
                <a:cs typeface="Calibri" pitchFamily="34" charset="-120"/>
              </a:rPr>
              <a:t>30%</a:t>
            </a:r>
            <a:pPr indent="0" marL="0">
              <a:buNone/>
            </a:pPr>
            <a:r>
              <a:rPr lang="en-US" sz="1050" dirty="0">
                <a:solidFill>
                  <a:srgbClr val="1F2937"/>
                </a:solidFill>
                <a:latin typeface="Calibri" pitchFamily="34" charset="0"/>
                <a:ea typeface="Calibri" pitchFamily="34" charset="-122"/>
                <a:cs typeface="Calibri" pitchFamily="34" charset="-120"/>
              </a:rPr>
              <a:t> (3%)</a:t>
            </a:r>
            <a:endParaRPr lang="en-US" sz="1200" dirty="0"/>
          </a:p>
        </p:txBody>
      </p:sp>
      <p:sp>
        <p:nvSpPr>
          <p:cNvPr id="31" name="Shape 29"/>
          <p:cNvSpPr/>
          <p:nvPr/>
        </p:nvSpPr>
        <p:spPr>
          <a:xfrm>
            <a:off x="8577072" y="3108960"/>
            <a:ext cx="3200400" cy="722376"/>
          </a:xfrm>
          <a:prstGeom prst="roundRect">
            <a:avLst>
              <a:gd name="adj" fmla="val 7595"/>
            </a:avLst>
          </a:prstGeom>
          <a:solidFill>
            <a:srgbClr val="EEF3FB"/>
          </a:solidFill>
          <a:ln w="6350">
            <a:solidFill>
              <a:srgbClr val="C9D3E3"/>
            </a:solidFill>
            <a:prstDash val="solid"/>
          </a:ln>
        </p:spPr>
      </p:sp>
      <p:sp>
        <p:nvSpPr>
          <p:cNvPr id="32" name="Text 30"/>
          <p:cNvSpPr txBox="1"/>
          <p:nvPr/>
        </p:nvSpPr>
        <p:spPr>
          <a:xfrm>
            <a:off x="8668512" y="3145536"/>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Niche needs: guided journals </a:t>
            </a:r>
            <a:pPr indent="0" marL="0">
              <a:buNone/>
            </a:pPr>
            <a:r>
              <a:rPr lang="en-US" sz="1050" b="1" dirty="0">
                <a:solidFill>
                  <a:srgbClr val="C45500"/>
                </a:solidFill>
                <a:latin typeface="Calibri" pitchFamily="34" charset="0"/>
                <a:ea typeface="Calibri" pitchFamily="34" charset="-122"/>
                <a:cs typeface="Calibri" pitchFamily="34" charset="-120"/>
              </a:rPr>
              <a:t>17%</a:t>
            </a:r>
            <a:pPr indent="0" marL="0">
              <a:buNone/>
            </a:pPr>
            <a:r>
              <a:rPr lang="en-US" sz="1050" dirty="0">
                <a:solidFill>
                  <a:srgbClr val="1F2937"/>
                </a:solidFill>
                <a:latin typeface="Calibri" pitchFamily="34" charset="0"/>
                <a:ea typeface="Calibri" pitchFamily="34" charset="-122"/>
                <a:cs typeface="Calibri" pitchFamily="34" charset="-120"/>
              </a:rPr>
              <a:t> (0%); daily planners </a:t>
            </a:r>
            <a:pPr indent="0" marL="0">
              <a:buNone/>
            </a:pPr>
            <a:r>
              <a:rPr lang="en-US" sz="1050" b="1" dirty="0">
                <a:solidFill>
                  <a:srgbClr val="C45500"/>
                </a:solidFill>
                <a:latin typeface="Calibri" pitchFamily="34" charset="0"/>
                <a:ea typeface="Calibri" pitchFamily="34" charset="-122"/>
                <a:cs typeface="Calibri" pitchFamily="34" charset="-120"/>
              </a:rPr>
              <a:t>29%</a:t>
            </a:r>
            <a:pPr indent="0" marL="0">
              <a:buNone/>
            </a:pPr>
            <a:r>
              <a:rPr lang="en-US" sz="1050" dirty="0">
                <a:solidFill>
                  <a:srgbClr val="1F2937"/>
                </a:solidFill>
                <a:latin typeface="Calibri" pitchFamily="34" charset="0"/>
                <a:ea typeface="Calibri" pitchFamily="34" charset="-122"/>
                <a:cs typeface="Calibri" pitchFamily="34" charset="-120"/>
              </a:rPr>
              <a:t> (9%); Nespresso pod storage </a:t>
            </a:r>
            <a:pPr indent="0" marL="0">
              <a:buNone/>
            </a:pPr>
            <a:r>
              <a:rPr lang="en-US" sz="1050" b="1" dirty="0">
                <a:solidFill>
                  <a:srgbClr val="C45500"/>
                </a:solidFill>
                <a:latin typeface="Calibri" pitchFamily="34" charset="0"/>
                <a:ea typeface="Calibri" pitchFamily="34" charset="-122"/>
                <a:cs typeface="Calibri" pitchFamily="34" charset="-120"/>
              </a:rPr>
              <a:t>33%</a:t>
            </a:r>
            <a:pPr indent="0" marL="0">
              <a:buNone/>
            </a:pPr>
            <a:r>
              <a:rPr lang="en-US" sz="1050" dirty="0">
                <a:solidFill>
                  <a:srgbClr val="1F2937"/>
                </a:solidFill>
                <a:latin typeface="Calibri" pitchFamily="34" charset="0"/>
                <a:ea typeface="Calibri" pitchFamily="34" charset="-122"/>
                <a:cs typeface="Calibri" pitchFamily="34" charset="-120"/>
              </a:rPr>
              <a:t> (3%); travel packs </a:t>
            </a:r>
            <a:pPr indent="0" marL="0">
              <a:buNone/>
            </a:pPr>
            <a:r>
              <a:rPr lang="en-US" sz="1050" b="1" dirty="0">
                <a:solidFill>
                  <a:srgbClr val="C45500"/>
                </a:solidFill>
                <a:latin typeface="Calibri" pitchFamily="34" charset="0"/>
                <a:ea typeface="Calibri" pitchFamily="34" charset="-122"/>
                <a:cs typeface="Calibri" pitchFamily="34" charset="-120"/>
              </a:rPr>
              <a:t>28%</a:t>
            </a:r>
            <a:pPr indent="0" marL="0">
              <a:buNone/>
            </a:pPr>
            <a:r>
              <a:rPr lang="en-US" sz="1050" dirty="0">
                <a:solidFill>
                  <a:srgbClr val="1F2937"/>
                </a:solidFill>
                <a:latin typeface="Calibri" pitchFamily="34" charset="0"/>
                <a:ea typeface="Calibri" pitchFamily="34" charset="-122"/>
                <a:cs typeface="Calibri" pitchFamily="34" charset="-120"/>
              </a:rPr>
              <a:t> (6%)</a:t>
            </a:r>
            <a:endParaRPr lang="en-US" sz="1200" dirty="0"/>
          </a:p>
        </p:txBody>
      </p:sp>
      <p:sp>
        <p:nvSpPr>
          <p:cNvPr id="33" name="Shape 31"/>
          <p:cNvSpPr/>
          <p:nvPr/>
        </p:nvSpPr>
        <p:spPr>
          <a:xfrm>
            <a:off x="411480" y="3867912"/>
            <a:ext cx="1600200" cy="722376"/>
          </a:xfrm>
          <a:prstGeom prst="roundRect">
            <a:avLst>
              <a:gd name="adj" fmla="val 7595"/>
            </a:avLst>
          </a:prstGeom>
          <a:solidFill>
            <a:srgbClr val="1F4E9A"/>
          </a:solidFill>
          <a:ln w="12700">
            <a:solidFill>
              <a:srgbClr val="1F4E9A"/>
            </a:solidFill>
            <a:prstDash val="solid"/>
          </a:ln>
        </p:spPr>
      </p:sp>
      <p:sp>
        <p:nvSpPr>
          <p:cNvPr id="34" name="Text 32"/>
          <p:cNvSpPr txBox="1"/>
          <p:nvPr/>
        </p:nvSpPr>
        <p:spPr>
          <a:xfrm>
            <a:off x="521208" y="3867912"/>
            <a:ext cx="1417320" cy="72237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Price ladder</a:t>
            </a:r>
            <a:endParaRPr lang="en-US" sz="1250" dirty="0"/>
          </a:p>
        </p:txBody>
      </p:sp>
      <p:sp>
        <p:nvSpPr>
          <p:cNvPr id="35" name="Shape 33"/>
          <p:cNvSpPr/>
          <p:nvPr/>
        </p:nvSpPr>
        <p:spPr>
          <a:xfrm>
            <a:off x="2066544" y="3867912"/>
            <a:ext cx="3200400" cy="722376"/>
          </a:xfrm>
          <a:prstGeom prst="roundRect">
            <a:avLst>
              <a:gd name="adj" fmla="val 7595"/>
            </a:avLst>
          </a:prstGeom>
          <a:solidFill>
            <a:srgbClr val="FFFFFF"/>
          </a:solidFill>
          <a:ln w="6350">
            <a:solidFill>
              <a:srgbClr val="C9D3E3"/>
            </a:solidFill>
            <a:prstDash val="solid"/>
          </a:ln>
        </p:spPr>
      </p:sp>
      <p:sp>
        <p:nvSpPr>
          <p:cNvPr id="36" name="Text 34"/>
          <p:cNvSpPr txBox="1"/>
          <p:nvPr/>
        </p:nvSpPr>
        <p:spPr>
          <a:xfrm>
            <a:off x="2157984" y="3904488"/>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Premium in furniture: median desk </a:t>
            </a:r>
            <a:pPr indent="0" marL="0">
              <a:buNone/>
            </a:pPr>
            <a:r>
              <a:rPr lang="en-US" sz="1050" b="1" dirty="0">
                <a:solidFill>
                  <a:srgbClr val="CC0000"/>
                </a:solidFill>
                <a:latin typeface="Calibri" pitchFamily="34" charset="0"/>
                <a:ea typeface="Calibri" pitchFamily="34" charset="-122"/>
                <a:cs typeface="Calibri" pitchFamily="34" charset="-120"/>
              </a:rPr>
              <a:t>$729</a:t>
            </a:r>
            <a:pPr indent="0" marL="0">
              <a:buNone/>
            </a:pPr>
            <a:r>
              <a:rPr lang="en-US" sz="1050" dirty="0">
                <a:solidFill>
                  <a:srgbClr val="1F2937"/>
                </a:solidFill>
                <a:latin typeface="Calibri" pitchFamily="34" charset="0"/>
                <a:ea typeface="Calibri" pitchFamily="34" charset="-122"/>
                <a:cs typeface="Calibri" pitchFamily="34" charset="-120"/>
              </a:rPr>
              <a:t> (Wayfair $286), </a:t>
            </a:r>
            <a:pPr indent="0" marL="0">
              <a:buNone/>
            </a:pPr>
            <a:r>
              <a:rPr lang="en-US" sz="1050" b="1" dirty="0">
                <a:solidFill>
                  <a:srgbClr val="CC0000"/>
                </a:solidFill>
                <a:latin typeface="Calibri" pitchFamily="34" charset="0"/>
                <a:ea typeface="Calibri" pitchFamily="34" charset="-122"/>
                <a:cs typeface="Calibri" pitchFamily="34" charset="-120"/>
              </a:rPr>
              <a:t>56%</a:t>
            </a:r>
            <a:pPr indent="0" marL="0">
              <a:buNone/>
            </a:pPr>
            <a:r>
              <a:rPr lang="en-US" sz="1050" dirty="0">
                <a:solidFill>
                  <a:srgbClr val="1F2937"/>
                </a:solidFill>
                <a:latin typeface="Calibri" pitchFamily="34" charset="0"/>
                <a:ea typeface="Calibri" pitchFamily="34" charset="-122"/>
                <a:cs typeface="Calibri" pitchFamily="34" charset="-120"/>
              </a:rPr>
              <a:t> of desks $600+; median partition </a:t>
            </a:r>
            <a:pPr indent="0" marL="0">
              <a:buNone/>
            </a:pPr>
            <a:r>
              <a:rPr lang="en-US" sz="1050" b="1" dirty="0">
                <a:solidFill>
                  <a:srgbClr val="CC0000"/>
                </a:solidFill>
                <a:latin typeface="Calibri" pitchFamily="34" charset="0"/>
                <a:ea typeface="Calibri" pitchFamily="34" charset="-122"/>
                <a:cs typeface="Calibri" pitchFamily="34" charset="-120"/>
              </a:rPr>
              <a:t>$1,581</a:t>
            </a:r>
            <a:pPr indent="0" marL="0">
              <a:buNone/>
            </a:pPr>
            <a:r>
              <a:rPr lang="en-US" sz="1050" dirty="0">
                <a:solidFill>
                  <a:srgbClr val="1F2937"/>
                </a:solidFill>
                <a:latin typeface="Calibri" pitchFamily="34" charset="0"/>
                <a:ea typeface="Calibri" pitchFamily="34" charset="-122"/>
                <a:cs typeface="Calibri" pitchFamily="34" charset="-120"/>
              </a:rPr>
              <a:t> ($330)</a:t>
            </a:r>
            <a:endParaRPr lang="en-US" sz="1200" dirty="0"/>
          </a:p>
        </p:txBody>
      </p:sp>
      <p:sp>
        <p:nvSpPr>
          <p:cNvPr id="37" name="Shape 35"/>
          <p:cNvSpPr/>
          <p:nvPr/>
        </p:nvSpPr>
        <p:spPr>
          <a:xfrm>
            <a:off x="5321808" y="3867912"/>
            <a:ext cx="3200400" cy="722376"/>
          </a:xfrm>
          <a:prstGeom prst="roundRect">
            <a:avLst>
              <a:gd name="adj" fmla="val 7595"/>
            </a:avLst>
          </a:prstGeom>
          <a:solidFill>
            <a:srgbClr val="FFFFFF"/>
          </a:solidFill>
          <a:ln w="6350">
            <a:solidFill>
              <a:srgbClr val="C9D3E3"/>
            </a:solidFill>
            <a:prstDash val="solid"/>
          </a:ln>
        </p:spPr>
      </p:sp>
      <p:sp>
        <p:nvSpPr>
          <p:cNvPr id="38" name="Text 36"/>
          <p:cNvSpPr txBox="1"/>
          <p:nvPr/>
        </p:nvSpPr>
        <p:spPr>
          <a:xfrm>
            <a:off x="5413248" y="3904488"/>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Entry prices in furniture, premium in décor: desks under $200 </a:t>
            </a:r>
            <a:pPr indent="0" marL="0">
              <a:buNone/>
            </a:pPr>
            <a:r>
              <a:rPr lang="en-US" sz="1050" b="1" dirty="0">
                <a:solidFill>
                  <a:srgbClr val="7F187F"/>
                </a:solidFill>
                <a:latin typeface="Calibri" pitchFamily="34" charset="0"/>
                <a:ea typeface="Calibri" pitchFamily="34" charset="-122"/>
                <a:cs typeface="Calibri" pitchFamily="34" charset="-120"/>
              </a:rPr>
              <a:t>29%</a:t>
            </a:r>
            <a:pPr indent="0" marL="0">
              <a:buNone/>
            </a:pPr>
            <a:r>
              <a:rPr lang="en-US" sz="1050" dirty="0">
                <a:solidFill>
                  <a:srgbClr val="1F2937"/>
                </a:solidFill>
                <a:latin typeface="Calibri" pitchFamily="34" charset="0"/>
                <a:ea typeface="Calibri" pitchFamily="34" charset="-122"/>
                <a:cs typeface="Calibri" pitchFamily="34" charset="-120"/>
              </a:rPr>
              <a:t> (7%); clocks $125+ </a:t>
            </a:r>
            <a:pPr indent="0" marL="0">
              <a:buNone/>
            </a:pPr>
            <a:r>
              <a:rPr lang="en-US" sz="1050" b="1" dirty="0">
                <a:solidFill>
                  <a:srgbClr val="7F187F"/>
                </a:solidFill>
                <a:latin typeface="Calibri" pitchFamily="34" charset="0"/>
                <a:ea typeface="Calibri" pitchFamily="34" charset="-122"/>
                <a:cs typeface="Calibri" pitchFamily="34" charset="-120"/>
              </a:rPr>
              <a:t>25%</a:t>
            </a:r>
            <a:pPr indent="0" marL="0">
              <a:buNone/>
            </a:pPr>
            <a:r>
              <a:rPr lang="en-US" sz="1050" dirty="0">
                <a:solidFill>
                  <a:srgbClr val="1F2937"/>
                </a:solidFill>
                <a:latin typeface="Calibri" pitchFamily="34" charset="0"/>
                <a:ea typeface="Calibri" pitchFamily="34" charset="-122"/>
                <a:cs typeface="Calibri" pitchFamily="34" charset="-120"/>
              </a:rPr>
              <a:t> (2%); lamps $175+ </a:t>
            </a:r>
            <a:pPr indent="0" marL="0">
              <a:buNone/>
            </a:pPr>
            <a:r>
              <a:rPr lang="en-US" sz="1050" b="1" dirty="0">
                <a:solidFill>
                  <a:srgbClr val="7F187F"/>
                </a:solidFill>
                <a:latin typeface="Calibri" pitchFamily="34" charset="0"/>
                <a:ea typeface="Calibri" pitchFamily="34" charset="-122"/>
                <a:cs typeface="Calibri" pitchFamily="34" charset="-120"/>
              </a:rPr>
              <a:t>26%</a:t>
            </a:r>
            <a:pPr indent="0" marL="0">
              <a:buNone/>
            </a:pPr>
            <a:r>
              <a:rPr lang="en-US" sz="1050" dirty="0">
                <a:solidFill>
                  <a:srgbClr val="1F2937"/>
                </a:solidFill>
                <a:latin typeface="Calibri" pitchFamily="34" charset="0"/>
                <a:ea typeface="Calibri" pitchFamily="34" charset="-122"/>
                <a:cs typeface="Calibri" pitchFamily="34" charset="-120"/>
              </a:rPr>
              <a:t> (5%)</a:t>
            </a:r>
            <a:endParaRPr lang="en-US" sz="1200" dirty="0"/>
          </a:p>
        </p:txBody>
      </p:sp>
      <p:sp>
        <p:nvSpPr>
          <p:cNvPr id="39" name="Shape 37"/>
          <p:cNvSpPr/>
          <p:nvPr/>
        </p:nvSpPr>
        <p:spPr>
          <a:xfrm>
            <a:off x="8577072" y="3867912"/>
            <a:ext cx="3200400" cy="722376"/>
          </a:xfrm>
          <a:prstGeom prst="roundRect">
            <a:avLst>
              <a:gd name="adj" fmla="val 7595"/>
            </a:avLst>
          </a:prstGeom>
          <a:solidFill>
            <a:srgbClr val="FFFFFF"/>
          </a:solidFill>
          <a:ln w="6350">
            <a:solidFill>
              <a:srgbClr val="C9D3E3"/>
            </a:solidFill>
            <a:prstDash val="solid"/>
          </a:ln>
        </p:spPr>
      </p:sp>
      <p:sp>
        <p:nvSpPr>
          <p:cNvPr id="40" name="Text 38"/>
          <p:cNvSpPr txBox="1"/>
          <p:nvPr/>
        </p:nvSpPr>
        <p:spPr>
          <a:xfrm>
            <a:off x="8668512" y="3904488"/>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Cheaper supplies: planners under $10 </a:t>
            </a:r>
            <a:pPr indent="0" marL="0">
              <a:buNone/>
            </a:pPr>
            <a:r>
              <a:rPr lang="en-US" sz="1050" b="1" dirty="0">
                <a:solidFill>
                  <a:srgbClr val="C45500"/>
                </a:solidFill>
                <a:latin typeface="Calibri" pitchFamily="34" charset="0"/>
                <a:ea typeface="Calibri" pitchFamily="34" charset="-122"/>
                <a:cs typeface="Calibri" pitchFamily="34" charset="-120"/>
              </a:rPr>
              <a:t>41%</a:t>
            </a:r>
            <a:pPr indent="0" marL="0">
              <a:buNone/>
            </a:pPr>
            <a:r>
              <a:rPr lang="en-US" sz="1050" dirty="0">
                <a:solidFill>
                  <a:srgbClr val="1F2937"/>
                </a:solidFill>
                <a:latin typeface="Calibri" pitchFamily="34" charset="0"/>
                <a:ea typeface="Calibri" pitchFamily="34" charset="-122"/>
                <a:cs typeface="Calibri" pitchFamily="34" charset="-120"/>
              </a:rPr>
              <a:t> (12%); coffee organizers under $15 </a:t>
            </a:r>
            <a:pPr indent="0" marL="0">
              <a:buNone/>
            </a:pPr>
            <a:r>
              <a:rPr lang="en-US" sz="1050" b="1" dirty="0">
                <a:solidFill>
                  <a:srgbClr val="C45500"/>
                </a:solidFill>
                <a:latin typeface="Calibri" pitchFamily="34" charset="0"/>
                <a:ea typeface="Calibri" pitchFamily="34" charset="-122"/>
                <a:cs typeface="Calibri" pitchFamily="34" charset="-120"/>
              </a:rPr>
              <a:t>17%</a:t>
            </a:r>
            <a:pPr indent="0" marL="0">
              <a:buNone/>
            </a:pPr>
            <a:r>
              <a:rPr lang="en-US" sz="1050" dirty="0">
                <a:solidFill>
                  <a:srgbClr val="1F2937"/>
                </a:solidFill>
                <a:latin typeface="Calibri" pitchFamily="34" charset="0"/>
                <a:ea typeface="Calibri" pitchFamily="34" charset="-122"/>
                <a:cs typeface="Calibri" pitchFamily="34" charset="-120"/>
              </a:rPr>
              <a:t> (0%); median planner </a:t>
            </a:r>
            <a:pPr indent="0" marL="0">
              <a:buNone/>
            </a:pPr>
            <a:r>
              <a:rPr lang="en-US" sz="1050" b="1" dirty="0">
                <a:solidFill>
                  <a:srgbClr val="C45500"/>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($20)</a:t>
            </a:r>
            <a:endParaRPr lang="en-US" sz="1200" dirty="0"/>
          </a:p>
        </p:txBody>
      </p:sp>
      <p:sp>
        <p:nvSpPr>
          <p:cNvPr id="41" name="Shape 39"/>
          <p:cNvSpPr/>
          <p:nvPr/>
        </p:nvSpPr>
        <p:spPr>
          <a:xfrm>
            <a:off x="411480" y="4626864"/>
            <a:ext cx="1600200" cy="722376"/>
          </a:xfrm>
          <a:prstGeom prst="roundRect">
            <a:avLst>
              <a:gd name="adj" fmla="val 7595"/>
            </a:avLst>
          </a:prstGeom>
          <a:solidFill>
            <a:srgbClr val="1F4E9A"/>
          </a:solidFill>
          <a:ln w="12700">
            <a:solidFill>
              <a:srgbClr val="1F4E9A"/>
            </a:solidFill>
            <a:prstDash val="solid"/>
          </a:ln>
        </p:spPr>
      </p:sp>
      <p:sp>
        <p:nvSpPr>
          <p:cNvPr id="42" name="Text 40"/>
          <p:cNvSpPr txBox="1"/>
          <p:nvPr/>
        </p:nvSpPr>
        <p:spPr>
          <a:xfrm>
            <a:off x="521208" y="4626864"/>
            <a:ext cx="1417320" cy="72237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Feature story</a:t>
            </a:r>
            <a:endParaRPr lang="en-US" sz="1250" dirty="0"/>
          </a:p>
        </p:txBody>
      </p:sp>
      <p:sp>
        <p:nvSpPr>
          <p:cNvPr id="43" name="Shape 41"/>
          <p:cNvSpPr/>
          <p:nvPr/>
        </p:nvSpPr>
        <p:spPr>
          <a:xfrm>
            <a:off x="2066544" y="4626864"/>
            <a:ext cx="3200400" cy="722376"/>
          </a:xfrm>
          <a:prstGeom prst="roundRect">
            <a:avLst>
              <a:gd name="adj" fmla="val 7595"/>
            </a:avLst>
          </a:prstGeom>
          <a:solidFill>
            <a:srgbClr val="EEF3FB"/>
          </a:solidFill>
          <a:ln w="6350">
            <a:solidFill>
              <a:srgbClr val="C9D3E3"/>
            </a:solidFill>
            <a:prstDash val="solid"/>
          </a:ln>
        </p:spPr>
      </p:sp>
      <p:sp>
        <p:nvSpPr>
          <p:cNvPr id="44" name="Text 42"/>
          <p:cNvSpPr txBox="1"/>
          <p:nvPr/>
        </p:nvSpPr>
        <p:spPr>
          <a:xfrm>
            <a:off x="2157984" y="4663440"/>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Tech &amp; practicality: desk lamps with USB </a:t>
            </a:r>
            <a:pPr indent="0" marL="0">
              <a:buNone/>
            </a:pPr>
            <a:r>
              <a:rPr lang="en-US" sz="1050" b="1" dirty="0">
                <a:solidFill>
                  <a:srgbClr val="CC0000"/>
                </a:solidFill>
                <a:latin typeface="Calibri" pitchFamily="34" charset="0"/>
                <a:ea typeface="Calibri" pitchFamily="34" charset="-122"/>
                <a:cs typeface="Calibri" pitchFamily="34" charset="-120"/>
              </a:rPr>
              <a:t>83%</a:t>
            </a:r>
            <a:pPr indent="0" marL="0">
              <a:buNone/>
            </a:pPr>
            <a:r>
              <a:rPr lang="en-US" sz="1050" dirty="0">
                <a:solidFill>
                  <a:srgbClr val="1F2937"/>
                </a:solidFill>
                <a:latin typeface="Calibri" pitchFamily="34" charset="0"/>
                <a:ea typeface="Calibri" pitchFamily="34" charset="-122"/>
                <a:cs typeface="Calibri" pitchFamily="34" charset="-120"/>
              </a:rPr>
              <a:t> (18%), dimmable </a:t>
            </a:r>
            <a:pPr indent="0" marL="0">
              <a:buNone/>
            </a:pPr>
            <a:r>
              <a:rPr lang="en-US" sz="1050" b="1" dirty="0">
                <a:solidFill>
                  <a:srgbClr val="CC0000"/>
                </a:solidFill>
                <a:latin typeface="Calibri" pitchFamily="34" charset="0"/>
                <a:ea typeface="Calibri" pitchFamily="34" charset="-122"/>
                <a:cs typeface="Calibri" pitchFamily="34" charset="-120"/>
              </a:rPr>
              <a:t>49%</a:t>
            </a:r>
            <a:pPr indent="0" marL="0">
              <a:buNone/>
            </a:pPr>
            <a:r>
              <a:rPr lang="en-US" sz="1050" dirty="0">
                <a:solidFill>
                  <a:srgbClr val="1F2937"/>
                </a:solidFill>
                <a:latin typeface="Calibri" pitchFamily="34" charset="0"/>
                <a:ea typeface="Calibri" pitchFamily="34" charset="-122"/>
                <a:cs typeface="Calibri" pitchFamily="34" charset="-120"/>
              </a:rPr>
              <a:t> (16%), wireless charging </a:t>
            </a:r>
            <a:pPr indent="0" marL="0">
              <a:buNone/>
            </a:pPr>
            <a:r>
              <a:rPr lang="en-US" sz="1050" b="1" dirty="0">
                <a:solidFill>
                  <a:srgbClr val="CC0000"/>
                </a:solidFill>
                <a:latin typeface="Calibri" pitchFamily="34" charset="0"/>
                <a:ea typeface="Calibri" pitchFamily="34" charset="-122"/>
                <a:cs typeface="Calibri" pitchFamily="34" charset="-120"/>
              </a:rPr>
              <a:t>29%</a:t>
            </a:r>
            <a:pPr indent="0" marL="0">
              <a:buNone/>
            </a:pPr>
            <a:r>
              <a:rPr lang="en-US" sz="1050" dirty="0">
                <a:solidFill>
                  <a:srgbClr val="1F2937"/>
                </a:solidFill>
                <a:latin typeface="Calibri" pitchFamily="34" charset="0"/>
                <a:ea typeface="Calibri" pitchFamily="34" charset="-122"/>
                <a:cs typeface="Calibri" pitchFamily="34" charset="-120"/>
              </a:rPr>
              <a:t> (2%)</a:t>
            </a:r>
            <a:endParaRPr lang="en-US" sz="1200" dirty="0"/>
          </a:p>
        </p:txBody>
      </p:sp>
      <p:sp>
        <p:nvSpPr>
          <p:cNvPr id="45" name="Shape 43"/>
          <p:cNvSpPr/>
          <p:nvPr/>
        </p:nvSpPr>
        <p:spPr>
          <a:xfrm>
            <a:off x="5321808" y="4626864"/>
            <a:ext cx="3200400" cy="722376"/>
          </a:xfrm>
          <a:prstGeom prst="roundRect">
            <a:avLst>
              <a:gd name="adj" fmla="val 7595"/>
            </a:avLst>
          </a:prstGeom>
          <a:solidFill>
            <a:srgbClr val="EEF3FB"/>
          </a:solidFill>
          <a:ln w="6350">
            <a:solidFill>
              <a:srgbClr val="C9D3E3"/>
            </a:solidFill>
            <a:prstDash val="solid"/>
          </a:ln>
        </p:spPr>
      </p:sp>
      <p:sp>
        <p:nvSpPr>
          <p:cNvPr id="46" name="Text 44"/>
          <p:cNvSpPr txBox="1"/>
          <p:nvPr/>
        </p:nvSpPr>
        <p:spPr>
          <a:xfrm>
            <a:off x="5413248" y="4663440"/>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Mood over specs: "luxe" desks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(7%); "luxe" screens </a:t>
            </a:r>
            <a:pPr indent="0" marL="0">
              <a:buNone/>
            </a:pPr>
            <a:r>
              <a:rPr lang="en-US" sz="1050" b="1" dirty="0">
                <a:solidFill>
                  <a:srgbClr val="7F187F"/>
                </a:solidFill>
                <a:latin typeface="Calibri" pitchFamily="34" charset="0"/>
                <a:ea typeface="Calibri" pitchFamily="34" charset="-122"/>
                <a:cs typeface="Calibri" pitchFamily="34" charset="-120"/>
              </a:rPr>
              <a:t>23%</a:t>
            </a:r>
            <a:pPr indent="0" marL="0">
              <a:buNone/>
            </a:pPr>
            <a:r>
              <a:rPr lang="en-US" sz="1050" dirty="0">
                <a:solidFill>
                  <a:srgbClr val="1F2937"/>
                </a:solidFill>
                <a:latin typeface="Calibri" pitchFamily="34" charset="0"/>
                <a:ea typeface="Calibri" pitchFamily="34" charset="-122"/>
                <a:cs typeface="Calibri" pitchFamily="34" charset="-120"/>
              </a:rPr>
              <a:t> (1%); print/photo screens </a:t>
            </a:r>
            <a:pPr indent="0" marL="0">
              <a:buNone/>
            </a:pPr>
            <a:r>
              <a:rPr lang="en-US" sz="1050" b="1" dirty="0">
                <a:solidFill>
                  <a:srgbClr val="7F187F"/>
                </a:solidFill>
                <a:latin typeface="Calibri" pitchFamily="34" charset="0"/>
                <a:ea typeface="Calibri" pitchFamily="34" charset="-122"/>
                <a:cs typeface="Calibri" pitchFamily="34" charset="-120"/>
              </a:rPr>
              <a:t>21%</a:t>
            </a:r>
            <a:pPr indent="0" marL="0">
              <a:buNone/>
            </a:pPr>
            <a:r>
              <a:rPr lang="en-US" sz="1050" dirty="0">
                <a:solidFill>
                  <a:srgbClr val="1F2937"/>
                </a:solidFill>
                <a:latin typeface="Calibri" pitchFamily="34" charset="0"/>
                <a:ea typeface="Calibri" pitchFamily="34" charset="-122"/>
                <a:cs typeface="Calibri" pitchFamily="34" charset="-120"/>
              </a:rPr>
              <a:t> (0%)</a:t>
            </a:r>
            <a:endParaRPr lang="en-US" sz="1200" dirty="0"/>
          </a:p>
        </p:txBody>
      </p:sp>
      <p:sp>
        <p:nvSpPr>
          <p:cNvPr id="47" name="Shape 45"/>
          <p:cNvSpPr/>
          <p:nvPr/>
        </p:nvSpPr>
        <p:spPr>
          <a:xfrm>
            <a:off x="8577072" y="4626864"/>
            <a:ext cx="3200400" cy="722376"/>
          </a:xfrm>
          <a:prstGeom prst="roundRect">
            <a:avLst>
              <a:gd name="adj" fmla="val 7595"/>
            </a:avLst>
          </a:prstGeom>
          <a:solidFill>
            <a:srgbClr val="EEF3FB"/>
          </a:solidFill>
          <a:ln w="6350">
            <a:solidFill>
              <a:srgbClr val="C9D3E3"/>
            </a:solidFill>
            <a:prstDash val="solid"/>
          </a:ln>
        </p:spPr>
      </p:sp>
      <p:sp>
        <p:nvSpPr>
          <p:cNvPr id="48" name="Text 46"/>
          <p:cNvSpPr txBox="1"/>
          <p:nvPr/>
        </p:nvSpPr>
        <p:spPr>
          <a:xfrm>
            <a:off x="8668512" y="4663440"/>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Persona &amp; use-case titles ("for women", "hiking", "travel"); listing text is short, so features are under-stated: read feature gaps with care</a:t>
            </a:r>
            <a:endParaRPr lang="en-US" sz="1200" dirty="0"/>
          </a:p>
        </p:txBody>
      </p:sp>
      <p:sp>
        <p:nvSpPr>
          <p:cNvPr id="49" name="Shape 47"/>
          <p:cNvSpPr/>
          <p:nvPr/>
        </p:nvSpPr>
        <p:spPr>
          <a:xfrm>
            <a:off x="411480" y="5385816"/>
            <a:ext cx="1600200" cy="722376"/>
          </a:xfrm>
          <a:prstGeom prst="roundRect">
            <a:avLst>
              <a:gd name="adj" fmla="val 7595"/>
            </a:avLst>
          </a:prstGeom>
          <a:solidFill>
            <a:srgbClr val="1F4E9A"/>
          </a:solidFill>
          <a:ln w="12700">
            <a:solidFill>
              <a:srgbClr val="1F4E9A"/>
            </a:solidFill>
            <a:prstDash val="solid"/>
          </a:ln>
        </p:spPr>
      </p:sp>
      <p:sp>
        <p:nvSpPr>
          <p:cNvPr id="50" name="Text 48"/>
          <p:cNvSpPr txBox="1"/>
          <p:nvPr/>
        </p:nvSpPr>
        <p:spPr>
          <a:xfrm>
            <a:off x="521208" y="5385816"/>
            <a:ext cx="1417320" cy="72237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Sourcing</a:t>
            </a:r>
            <a:endParaRPr lang="en-US" sz="1250" dirty="0"/>
          </a:p>
        </p:txBody>
      </p:sp>
      <p:sp>
        <p:nvSpPr>
          <p:cNvPr id="51" name="Shape 49"/>
          <p:cNvSpPr/>
          <p:nvPr/>
        </p:nvSpPr>
        <p:spPr>
          <a:xfrm>
            <a:off x="2066544" y="5385816"/>
            <a:ext cx="3200400" cy="722376"/>
          </a:xfrm>
          <a:prstGeom prst="roundRect">
            <a:avLst>
              <a:gd name="adj" fmla="val 7595"/>
            </a:avLst>
          </a:prstGeom>
          <a:solidFill>
            <a:srgbClr val="FFFFFF"/>
          </a:solidFill>
          <a:ln w="6350">
            <a:solidFill>
              <a:srgbClr val="C9D3E3"/>
            </a:solidFill>
            <a:prstDash val="solid"/>
          </a:ln>
        </p:spPr>
      </p:sp>
      <p:sp>
        <p:nvSpPr>
          <p:cNvPr id="52" name="Text 50"/>
          <p:cNvSpPr txBox="1"/>
          <p:nvPr/>
        </p:nvSpPr>
        <p:spPr>
          <a:xfrm>
            <a:off x="2157984" y="5422392"/>
            <a:ext cx="3035808" cy="649224"/>
          </a:xfrm>
          <a:prstGeom prst="rect">
            <a:avLst/>
          </a:prstGeom>
          <a:noFill/>
          <a:ln/>
        </p:spPr>
        <p:txBody>
          <a:bodyPr wrap="square" lIns="0" tIns="0" rIns="0" bIns="0" rtlCol="0" anchor="ctr"/>
          <a:lstStyle/>
          <a:p>
            <a:pPr indent="0" marL="0">
              <a:buNone/>
            </a:pPr>
            <a:r>
              <a:rPr lang="en-US" sz="1050" b="1" dirty="0">
                <a:solidFill>
                  <a:srgbClr val="CC00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brands behind the recommended products already sell on Staples (AT-A-GLANCE, Bentgo, Targus, OttLite…): quick wins</a:t>
            </a:r>
            <a:endParaRPr lang="en-US" sz="1200" dirty="0"/>
          </a:p>
        </p:txBody>
      </p:sp>
      <p:sp>
        <p:nvSpPr>
          <p:cNvPr id="53" name="Shape 51"/>
          <p:cNvSpPr/>
          <p:nvPr/>
        </p:nvSpPr>
        <p:spPr>
          <a:xfrm>
            <a:off x="5321808" y="5385816"/>
            <a:ext cx="3200400" cy="722376"/>
          </a:xfrm>
          <a:prstGeom prst="roundRect">
            <a:avLst>
              <a:gd name="adj" fmla="val 7595"/>
            </a:avLst>
          </a:prstGeom>
          <a:solidFill>
            <a:srgbClr val="FFFFFF"/>
          </a:solidFill>
          <a:ln w="6350">
            <a:solidFill>
              <a:srgbClr val="C9D3E3"/>
            </a:solidFill>
            <a:prstDash val="solid"/>
          </a:ln>
        </p:spPr>
      </p:sp>
      <p:sp>
        <p:nvSpPr>
          <p:cNvPr id="54" name="Text 52"/>
          <p:cNvSpPr txBox="1"/>
          <p:nvPr/>
        </p:nvSpPr>
        <p:spPr>
          <a:xfrm>
            <a:off x="5413248" y="5422392"/>
            <a:ext cx="3035808" cy="649224"/>
          </a:xfrm>
          <a:prstGeom prst="rect">
            <a:avLst/>
          </a:prstGeom>
          <a:noFill/>
          <a:ln/>
        </p:spPr>
        <p:txBody>
          <a:bodyPr wrap="square" lIns="0" tIns="0" rIns="0" bIns="0" rtlCol="0" anchor="ctr"/>
          <a:lstStyle/>
          <a:p>
            <a:pPr indent="0" marL="0">
              <a:buNone/>
            </a:pPr>
            <a:r>
              <a:rPr lang="en-US" sz="1050" b="1" dirty="0">
                <a:solidFill>
                  <a:srgbClr val="7F187F"/>
                </a:solidFill>
                <a:latin typeface="Calibri" pitchFamily="34" charset="0"/>
                <a:ea typeface="Calibri" pitchFamily="34" charset="-122"/>
                <a:cs typeface="Calibri" pitchFamily="34" charset="-120"/>
              </a:rPr>
              <a:t>71%</a:t>
            </a:r>
            <a:pPr indent="0" marL="0">
              <a:buNone/>
            </a:pPr>
            <a:r>
              <a:rPr lang="en-US" sz="1050" dirty="0">
                <a:solidFill>
                  <a:srgbClr val="1F2937"/>
                </a:solidFill>
                <a:latin typeface="Calibri" pitchFamily="34" charset="0"/>
                <a:ea typeface="Calibri" pitchFamily="34" charset="-122"/>
                <a:cs typeface="Calibri" pitchFamily="34" charset="-120"/>
              </a:rPr>
              <a:t> of brands in the picks are Wayfair house labels (East Urban Home, Ebern Designs…): source the archetype from makers, not the label</a:t>
            </a:r>
            <a:endParaRPr lang="en-US" sz="1200" dirty="0"/>
          </a:p>
        </p:txBody>
      </p:sp>
      <p:sp>
        <p:nvSpPr>
          <p:cNvPr id="55" name="Shape 53"/>
          <p:cNvSpPr/>
          <p:nvPr/>
        </p:nvSpPr>
        <p:spPr>
          <a:xfrm>
            <a:off x="8577072" y="5385816"/>
            <a:ext cx="3200400" cy="722376"/>
          </a:xfrm>
          <a:prstGeom prst="roundRect">
            <a:avLst>
              <a:gd name="adj" fmla="val 7595"/>
            </a:avLst>
          </a:prstGeom>
          <a:solidFill>
            <a:srgbClr val="FFFFFF"/>
          </a:solidFill>
          <a:ln w="6350">
            <a:solidFill>
              <a:srgbClr val="C9D3E3"/>
            </a:solidFill>
            <a:prstDash val="solid"/>
          </a:ln>
        </p:spPr>
      </p:sp>
      <p:sp>
        <p:nvSpPr>
          <p:cNvPr id="56" name="Text 54"/>
          <p:cNvSpPr txBox="1"/>
          <p:nvPr/>
        </p:nvSpPr>
        <p:spPr>
          <a:xfrm>
            <a:off x="8668512" y="5422392"/>
            <a:ext cx="3035808" cy="64922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Long tail of independent and unbranded sellers (</a:t>
            </a:r>
            <a:pPr indent="0" marL="0">
              <a:buNone/>
            </a:pPr>
            <a:r>
              <a:rPr lang="en-US" sz="1050" b="1" dirty="0">
                <a:solidFill>
                  <a:srgbClr val="C45500"/>
                </a:solidFill>
                <a:latin typeface="Calibri" pitchFamily="34" charset="0"/>
                <a:ea typeface="Calibri" pitchFamily="34" charset="-122"/>
                <a:cs typeface="Calibri" pitchFamily="34" charset="-120"/>
              </a:rPr>
              <a:t>172</a:t>
            </a:r>
            <a:pPr indent="0" marL="0">
              <a:buNone/>
            </a:pPr>
            <a:r>
              <a:rPr lang="en-US" sz="1050" dirty="0">
                <a:solidFill>
                  <a:srgbClr val="1F2937"/>
                </a:solidFill>
                <a:latin typeface="Calibri" pitchFamily="34" charset="0"/>
                <a:ea typeface="Calibri" pitchFamily="34" charset="-122"/>
                <a:cs typeface="Calibri" pitchFamily="34" charset="-120"/>
              </a:rPr>
              <a:t> brands in the picks, no house labels): recruit sellers directly</a:t>
            </a:r>
            <a:endParaRPr lang="en-US" sz="1200" dirty="0"/>
          </a:p>
        </p:txBody>
      </p:sp>
      <p:sp>
        <p:nvSpPr>
          <p:cNvPr id="57" name="Text 55"/>
          <p:cNvSpPr txBox="1"/>
          <p:nvPr/>
        </p:nvSpPr>
        <p:spPr>
          <a:xfrm>
            <a:off x="411480" y="6217920"/>
            <a:ext cx="11365992" cy="219456"/>
          </a:xfrm>
          <a:prstGeom prst="rect">
            <a:avLst/>
          </a:prstGeom>
          <a:noFill/>
          <a:ln/>
        </p:spPr>
        <p:txBody>
          <a:bodyPr wrap="square" lIns="0" tIns="0" rIns="0" bIns="0" rtlCol="0" anchor="t"/>
          <a:lstStyle/>
          <a:p>
            <a:pPr indent="0" marL="0">
              <a:buNone/>
            </a:pPr>
            <a:r>
              <a:rPr lang="en-US" sz="900" i="1" dirty="0">
                <a:solidFill>
                  <a:srgbClr val="5B6475"/>
                </a:solidFill>
                <a:latin typeface="Calibri" pitchFamily="34" charset="0"/>
                <a:ea typeface="Calibri" pitchFamily="34" charset="-122"/>
                <a:cs typeface="Calibri" pitchFamily="34" charset="-120"/>
              </a:rPr>
              <a:t>Shares = % of each retailer's product families in the node; brackets = the other retailer's share in the same node. Every gap shown is statistically credible (≥ 95%). Amazon shares cover 4 nodes, Wayfair 5.</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Did You Know? One Signal per Node</a:t>
            </a:r>
            <a:endParaRPr lang="en-US" sz="2800" dirty="0"/>
          </a:p>
        </p:txBody>
      </p:sp>
      <p:sp>
        <p:nvSpPr>
          <p:cNvPr id="3" name="Shape 1"/>
          <p:cNvSpPr/>
          <p:nvPr/>
        </p:nvSpPr>
        <p:spPr>
          <a:xfrm>
            <a:off x="411480" y="1133856"/>
            <a:ext cx="3703320" cy="365760"/>
          </a:xfrm>
          <a:prstGeom prst="roundRect">
            <a:avLst>
              <a:gd name="adj" fmla="val 15000"/>
            </a:avLst>
          </a:prstGeom>
          <a:solidFill>
            <a:srgbClr val="13285B"/>
          </a:solidFill>
          <a:ln w="12700">
            <a:solidFill>
              <a:srgbClr val="13285B"/>
            </a:solidFill>
            <a:prstDash val="solid"/>
          </a:ln>
        </p:spPr>
      </p:sp>
      <p:sp>
        <p:nvSpPr>
          <p:cNvPr id="4" name="Text 2"/>
          <p:cNvSpPr txBox="1"/>
          <p:nvPr/>
        </p:nvSpPr>
        <p:spPr>
          <a:xfrm>
            <a:off x="411480" y="1133856"/>
            <a:ext cx="370332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HERO · EXTEND</a:t>
            </a:r>
            <a:endParaRPr lang="en-US" sz="1250" dirty="0"/>
          </a:p>
        </p:txBody>
      </p:sp>
      <p:sp>
        <p:nvSpPr>
          <p:cNvPr id="5" name="Shape 3"/>
          <p:cNvSpPr/>
          <p:nvPr/>
        </p:nvSpPr>
        <p:spPr>
          <a:xfrm>
            <a:off x="411480" y="1572768"/>
            <a:ext cx="3703320" cy="1517904"/>
          </a:xfrm>
          <a:prstGeom prst="roundRect">
            <a:avLst>
              <a:gd name="adj" fmla="val 6024"/>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 name="Shape 4"/>
          <p:cNvSpPr/>
          <p:nvPr/>
        </p:nvSpPr>
        <p:spPr>
          <a:xfrm>
            <a:off x="484632" y="1645920"/>
            <a:ext cx="1133856" cy="1371600"/>
          </a:xfrm>
          <a:prstGeom prst="roundRect">
            <a:avLst>
              <a:gd name="adj" fmla="val 6452"/>
            </a:avLst>
          </a:prstGeom>
          <a:solidFill>
            <a:srgbClr val="EEF3FB"/>
          </a:solidFill>
          <a:ln w="12700">
            <a:solidFill>
              <a:srgbClr val="EEF3FB"/>
            </a:solidFill>
            <a:prstDash val="solid"/>
          </a:ln>
        </p:spPr>
      </p:sp>
      <p:sp>
        <p:nvSpPr>
          <p:cNvPr id="7" name="Text 5"/>
          <p:cNvSpPr txBox="1"/>
          <p:nvPr/>
        </p:nvSpPr>
        <p:spPr>
          <a:xfrm>
            <a:off x="484632" y="1700784"/>
            <a:ext cx="1133856" cy="182880"/>
          </a:xfrm>
          <a:prstGeom prst="rect">
            <a:avLst/>
          </a:prstGeom>
          <a:noFill/>
          <a:ln/>
        </p:spPr>
        <p:txBody>
          <a:bodyPr wrap="square" lIns="0" tIns="0" rIns="0" bIns="0" rtlCol="0" anchor="t"/>
          <a:lstStyle/>
          <a:p>
            <a:pPr algn="ctr" indent="0" marL="0">
              <a:buNone/>
            </a:pPr>
            <a:r>
              <a:rPr lang="en-US" sz="850" b="1" dirty="0">
                <a:solidFill>
                  <a:srgbClr val="CC0000"/>
                </a:solidFill>
                <a:latin typeface="Calibri" pitchFamily="34" charset="0"/>
                <a:ea typeface="Calibri" pitchFamily="34" charset="-122"/>
                <a:cs typeface="Calibri" pitchFamily="34" charset="-120"/>
              </a:rPr>
              <a:t>STAPLES</a:t>
            </a:r>
            <a:endParaRPr lang="en-US" sz="850" dirty="0"/>
          </a:p>
        </p:txBody>
      </p:sp>
      <p:sp>
        <p:nvSpPr>
          <p:cNvPr id="8" name="Text 6"/>
          <p:cNvSpPr txBox="1"/>
          <p:nvPr/>
        </p:nvSpPr>
        <p:spPr>
          <a:xfrm>
            <a:off x="484632" y="1856232"/>
            <a:ext cx="1133856" cy="347472"/>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0%</a:t>
            </a:r>
            <a:endParaRPr lang="en-US" sz="2200" dirty="0"/>
          </a:p>
        </p:txBody>
      </p:sp>
      <p:sp>
        <p:nvSpPr>
          <p:cNvPr id="9" name="Text 7"/>
          <p:cNvSpPr txBox="1"/>
          <p:nvPr/>
        </p:nvSpPr>
        <p:spPr>
          <a:xfrm>
            <a:off x="484632" y="2231136"/>
            <a:ext cx="1133856" cy="182880"/>
          </a:xfrm>
          <a:prstGeom prst="rect">
            <a:avLst/>
          </a:prstGeom>
          <a:noFill/>
          <a:ln/>
        </p:spPr>
        <p:txBody>
          <a:bodyPr wrap="square" lIns="0" tIns="0" rIns="0" bIns="0" rtlCol="0" anchor="t"/>
          <a:lstStyle/>
          <a:p>
            <a:pPr algn="ctr" indent="0" marL="0">
              <a:buNone/>
            </a:pPr>
            <a:r>
              <a:rPr lang="en-US" sz="850" b="1" dirty="0">
                <a:solidFill>
                  <a:srgbClr val="C45500"/>
                </a:solidFill>
                <a:latin typeface="Calibri" pitchFamily="34" charset="0"/>
                <a:ea typeface="Calibri" pitchFamily="34" charset="-122"/>
                <a:cs typeface="Calibri" pitchFamily="34" charset="-120"/>
              </a:rPr>
              <a:t>AMAZON</a:t>
            </a:r>
            <a:endParaRPr lang="en-US" sz="850" dirty="0"/>
          </a:p>
        </p:txBody>
      </p:sp>
      <p:sp>
        <p:nvSpPr>
          <p:cNvPr id="10" name="Text 8"/>
          <p:cNvSpPr txBox="1"/>
          <p:nvPr/>
        </p:nvSpPr>
        <p:spPr>
          <a:xfrm>
            <a:off x="484632" y="2386584"/>
            <a:ext cx="1133856" cy="347472"/>
          </a:xfrm>
          <a:prstGeom prst="rect">
            <a:avLst/>
          </a:prstGeom>
          <a:noFill/>
          <a:ln/>
        </p:spPr>
        <p:txBody>
          <a:bodyPr wrap="square" lIns="0" tIns="0" rIns="0" bIns="0" rtlCol="0" anchor="ctr"/>
          <a:lstStyle/>
          <a:p>
            <a:pPr algn="ctr" indent="0" marL="0">
              <a:buNone/>
            </a:pPr>
            <a:r>
              <a:rPr lang="en-US" sz="2200" b="1" dirty="0">
                <a:solidFill>
                  <a:srgbClr val="C45500"/>
                </a:solidFill>
                <a:latin typeface="Calibri" pitchFamily="34" charset="0"/>
                <a:ea typeface="Calibri" pitchFamily="34" charset="-122"/>
                <a:cs typeface="Calibri" pitchFamily="34" charset="-120"/>
              </a:rPr>
              <a:t>17%</a:t>
            </a:r>
            <a:endParaRPr lang="en-US" sz="2200" dirty="0"/>
          </a:p>
        </p:txBody>
      </p:sp>
      <p:sp>
        <p:nvSpPr>
          <p:cNvPr id="11" name="Text 9"/>
          <p:cNvSpPr txBox="1"/>
          <p:nvPr/>
        </p:nvSpPr>
        <p:spPr>
          <a:xfrm>
            <a:off x="502920" y="2761488"/>
            <a:ext cx="1097280" cy="237744"/>
          </a:xfrm>
          <a:prstGeom prst="rect">
            <a:avLst/>
          </a:prstGeom>
          <a:noFill/>
          <a:ln/>
        </p:spPr>
        <p:txBody>
          <a:bodyPr wrap="square" lIns="0" tIns="0" rIns="0" bIns="0" rtlCol="0" anchor="ctr"/>
          <a:lstStyle/>
          <a:p>
            <a:pPr algn="ctr" indent="0" marL="0">
              <a:buNone/>
            </a:pPr>
            <a:r>
              <a:rPr lang="en-US" sz="900" dirty="0">
                <a:solidFill>
                  <a:srgbClr val="5B6475"/>
                </a:solidFill>
                <a:latin typeface="Calibri" pitchFamily="34" charset="0"/>
                <a:ea typeface="Calibri" pitchFamily="34" charset="-122"/>
                <a:cs typeface="Calibri" pitchFamily="34" charset="-120"/>
              </a:rPr>
              <a:t>guided journals</a:t>
            </a:r>
            <a:endParaRPr lang="en-US" sz="900" dirty="0"/>
          </a:p>
        </p:txBody>
      </p:sp>
      <p:sp>
        <p:nvSpPr>
          <p:cNvPr id="12" name="Text 10"/>
          <p:cNvSpPr txBox="1"/>
          <p:nvPr/>
        </p:nvSpPr>
        <p:spPr>
          <a:xfrm>
            <a:off x="1737360" y="1664208"/>
            <a:ext cx="2286000" cy="274320"/>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Planners &amp; Personal Organizers</a:t>
            </a:r>
            <a:endParaRPr lang="en-US" sz="1300" dirty="0"/>
          </a:p>
        </p:txBody>
      </p:sp>
      <p:sp>
        <p:nvSpPr>
          <p:cNvPr id="13" name="Text 11"/>
          <p:cNvSpPr txBox="1"/>
          <p:nvPr/>
        </p:nvSpPr>
        <p:spPr>
          <a:xfrm>
            <a:off x="1737360" y="1956816"/>
            <a:ext cx="2286000" cy="6583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Staples lists 2 journals among 805 planners; 17% of Amazon's planner range is guided or gratitude journals.</a:t>
            </a:r>
            <a:endParaRPr lang="en-US" sz="1050" dirty="0"/>
          </a:p>
        </p:txBody>
      </p:sp>
      <p:sp>
        <p:nvSpPr>
          <p:cNvPr id="14" name="Text 12"/>
          <p:cNvSpPr txBox="1"/>
          <p:nvPr/>
        </p:nvSpPr>
        <p:spPr>
          <a:xfrm>
            <a:off x="1737360" y="2615184"/>
            <a:ext cx="2286000" cy="402336"/>
          </a:xfrm>
          <a:prstGeom prst="rect">
            <a:avLst/>
          </a:prstGeom>
          <a:noFill/>
          <a:ln/>
        </p:spPr>
        <p:txBody>
          <a:bodyPr wrap="square" lIns="0" tIns="0" rIns="0" bIns="0" rtlCol="0" anchor="t"/>
          <a:lstStyle/>
          <a:p>
            <a:pPr indent="0" marL="0">
              <a:buNone/>
            </a:pPr>
            <a:r>
              <a:rPr lang="en-US" sz="1050" b="1" i="1" dirty="0">
                <a:solidFill>
                  <a:srgbClr val="1F4E9A"/>
                </a:solidFill>
                <a:latin typeface="Calibri" pitchFamily="34" charset="0"/>
                <a:ea typeface="Calibri" pitchFamily="34" charset="-122"/>
                <a:cs typeface="Calibri" pitchFamily="34" charset="-120"/>
              </a:rPr>
              <a:t>So what: </a:t>
            </a:r>
            <a:pPr indent="0" marL="0">
              <a:buNone/>
            </a:pPr>
            <a:r>
              <a:rPr lang="en-US" sz="1050" i="1" dirty="0">
                <a:solidFill>
                  <a:srgbClr val="1F4E9A"/>
                </a:solidFill>
                <a:latin typeface="Calibri" pitchFamily="34" charset="0"/>
                <a:ea typeface="Calibri" pitchFamily="34" charset="-122"/>
                <a:cs typeface="Calibri" pitchFamily="34" charset="-120"/>
              </a:rPr>
              <a:t>A ready add with no Staples twin.</a:t>
            </a:r>
            <a:endParaRPr lang="en-US" sz="1050" dirty="0"/>
          </a:p>
        </p:txBody>
      </p:sp>
      <p:sp>
        <p:nvSpPr>
          <p:cNvPr id="15" name="Shape 13"/>
          <p:cNvSpPr/>
          <p:nvPr/>
        </p:nvSpPr>
        <p:spPr>
          <a:xfrm>
            <a:off x="411480" y="3182112"/>
            <a:ext cx="3703320" cy="1517904"/>
          </a:xfrm>
          <a:prstGeom prst="roundRect">
            <a:avLst>
              <a:gd name="adj" fmla="val 6024"/>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6" name="Shape 14"/>
          <p:cNvSpPr/>
          <p:nvPr/>
        </p:nvSpPr>
        <p:spPr>
          <a:xfrm>
            <a:off x="484632" y="3255264"/>
            <a:ext cx="1133856" cy="1371600"/>
          </a:xfrm>
          <a:prstGeom prst="roundRect">
            <a:avLst>
              <a:gd name="adj" fmla="val 6452"/>
            </a:avLst>
          </a:prstGeom>
          <a:solidFill>
            <a:srgbClr val="EEF3FB"/>
          </a:solidFill>
          <a:ln w="12700">
            <a:solidFill>
              <a:srgbClr val="EEF3FB"/>
            </a:solidFill>
            <a:prstDash val="solid"/>
          </a:ln>
        </p:spPr>
      </p:sp>
      <p:sp>
        <p:nvSpPr>
          <p:cNvPr id="17" name="Text 15"/>
          <p:cNvSpPr txBox="1"/>
          <p:nvPr/>
        </p:nvSpPr>
        <p:spPr>
          <a:xfrm>
            <a:off x="484632" y="3310128"/>
            <a:ext cx="1133856" cy="182880"/>
          </a:xfrm>
          <a:prstGeom prst="rect">
            <a:avLst/>
          </a:prstGeom>
          <a:noFill/>
          <a:ln/>
        </p:spPr>
        <p:txBody>
          <a:bodyPr wrap="square" lIns="0" tIns="0" rIns="0" bIns="0" rtlCol="0" anchor="t"/>
          <a:lstStyle/>
          <a:p>
            <a:pPr algn="ctr" indent="0" marL="0">
              <a:buNone/>
            </a:pPr>
            <a:r>
              <a:rPr lang="en-US" sz="850" b="1" dirty="0">
                <a:solidFill>
                  <a:srgbClr val="CC0000"/>
                </a:solidFill>
                <a:latin typeface="Calibri" pitchFamily="34" charset="0"/>
                <a:ea typeface="Calibri" pitchFamily="34" charset="-122"/>
                <a:cs typeface="Calibri" pitchFamily="34" charset="-120"/>
              </a:rPr>
              <a:t>STAPLES</a:t>
            </a:r>
            <a:endParaRPr lang="en-US" sz="850" dirty="0"/>
          </a:p>
        </p:txBody>
      </p:sp>
      <p:sp>
        <p:nvSpPr>
          <p:cNvPr id="18" name="Text 16"/>
          <p:cNvSpPr txBox="1"/>
          <p:nvPr/>
        </p:nvSpPr>
        <p:spPr>
          <a:xfrm>
            <a:off x="484632" y="3465576"/>
            <a:ext cx="1133856" cy="347472"/>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1%</a:t>
            </a:r>
            <a:endParaRPr lang="en-US" sz="2200" dirty="0"/>
          </a:p>
        </p:txBody>
      </p:sp>
      <p:sp>
        <p:nvSpPr>
          <p:cNvPr id="19" name="Text 17"/>
          <p:cNvSpPr txBox="1"/>
          <p:nvPr/>
        </p:nvSpPr>
        <p:spPr>
          <a:xfrm>
            <a:off x="484632" y="3840480"/>
            <a:ext cx="1133856" cy="182880"/>
          </a:xfrm>
          <a:prstGeom prst="rect">
            <a:avLst/>
          </a:prstGeom>
          <a:noFill/>
          <a:ln/>
        </p:spPr>
        <p:txBody>
          <a:bodyPr wrap="square" lIns="0" tIns="0" rIns="0" bIns="0" rtlCol="0" anchor="t"/>
          <a:lstStyle/>
          <a:p>
            <a:pPr algn="ctr" indent="0" marL="0">
              <a:buNone/>
            </a:pPr>
            <a:r>
              <a:rPr lang="en-US" sz="850" b="1" dirty="0">
                <a:solidFill>
                  <a:srgbClr val="C45500"/>
                </a:solidFill>
                <a:latin typeface="Calibri" pitchFamily="34" charset="0"/>
                <a:ea typeface="Calibri" pitchFamily="34" charset="-122"/>
                <a:cs typeface="Calibri" pitchFamily="34" charset="-120"/>
              </a:rPr>
              <a:t>AMAZON</a:t>
            </a:r>
            <a:endParaRPr lang="en-US" sz="850" dirty="0"/>
          </a:p>
        </p:txBody>
      </p:sp>
      <p:sp>
        <p:nvSpPr>
          <p:cNvPr id="20" name="Text 18"/>
          <p:cNvSpPr txBox="1"/>
          <p:nvPr/>
        </p:nvSpPr>
        <p:spPr>
          <a:xfrm>
            <a:off x="484632" y="3995928"/>
            <a:ext cx="1133856" cy="347472"/>
          </a:xfrm>
          <a:prstGeom prst="rect">
            <a:avLst/>
          </a:prstGeom>
          <a:noFill/>
          <a:ln/>
        </p:spPr>
        <p:txBody>
          <a:bodyPr wrap="square" lIns="0" tIns="0" rIns="0" bIns="0" rtlCol="0" anchor="ctr"/>
          <a:lstStyle/>
          <a:p>
            <a:pPr algn="ctr" indent="0" marL="0">
              <a:buNone/>
            </a:pPr>
            <a:r>
              <a:rPr lang="en-US" sz="2200" b="1" dirty="0">
                <a:solidFill>
                  <a:srgbClr val="C45500"/>
                </a:solidFill>
                <a:latin typeface="Calibri" pitchFamily="34" charset="0"/>
                <a:ea typeface="Calibri" pitchFamily="34" charset="-122"/>
                <a:cs typeface="Calibri" pitchFamily="34" charset="-120"/>
              </a:rPr>
              <a:t>40%</a:t>
            </a:r>
            <a:endParaRPr lang="en-US" sz="2200" dirty="0"/>
          </a:p>
        </p:txBody>
      </p:sp>
      <p:sp>
        <p:nvSpPr>
          <p:cNvPr id="21" name="Text 19"/>
          <p:cNvSpPr txBox="1"/>
          <p:nvPr/>
        </p:nvSpPr>
        <p:spPr>
          <a:xfrm>
            <a:off x="502920" y="4370832"/>
            <a:ext cx="1097280" cy="237744"/>
          </a:xfrm>
          <a:prstGeom prst="rect">
            <a:avLst/>
          </a:prstGeom>
          <a:noFill/>
          <a:ln/>
        </p:spPr>
        <p:txBody>
          <a:bodyPr wrap="square" lIns="0" tIns="0" rIns="0" bIns="0" rtlCol="0" anchor="ctr"/>
          <a:lstStyle/>
          <a:p>
            <a:pPr algn="ctr" indent="0" marL="0">
              <a:buNone/>
            </a:pPr>
            <a:r>
              <a:rPr lang="en-US" sz="900" dirty="0">
                <a:solidFill>
                  <a:srgbClr val="5B6475"/>
                </a:solidFill>
                <a:latin typeface="Calibri" pitchFamily="34" charset="0"/>
                <a:ea typeface="Calibri" pitchFamily="34" charset="-122"/>
                <a:cs typeface="Calibri" pitchFamily="34" charset="-120"/>
              </a:rPr>
              <a:t>hiking / outdoor</a:t>
            </a:r>
            <a:endParaRPr lang="en-US" sz="900" dirty="0"/>
          </a:p>
        </p:txBody>
      </p:sp>
      <p:sp>
        <p:nvSpPr>
          <p:cNvPr id="22" name="Text 20"/>
          <p:cNvSpPr txBox="1"/>
          <p:nvPr/>
        </p:nvSpPr>
        <p:spPr>
          <a:xfrm>
            <a:off x="1737360" y="3273552"/>
            <a:ext cx="2286000" cy="274320"/>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Backpacks</a:t>
            </a:r>
            <a:endParaRPr lang="en-US" sz="1300" dirty="0"/>
          </a:p>
        </p:txBody>
      </p:sp>
      <p:sp>
        <p:nvSpPr>
          <p:cNvPr id="23" name="Text 21"/>
          <p:cNvSpPr txBox="1"/>
          <p:nvPr/>
        </p:nvSpPr>
        <p:spPr>
          <a:xfrm>
            <a:off x="1737360" y="3566160"/>
            <a:ext cx="2286000" cy="6583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62% of Staples' backpacks are laptop/work bags; Amazon's range is led by hiking and travel packs.</a:t>
            </a:r>
            <a:endParaRPr lang="en-US" sz="1050" dirty="0"/>
          </a:p>
        </p:txBody>
      </p:sp>
      <p:sp>
        <p:nvSpPr>
          <p:cNvPr id="24" name="Text 22"/>
          <p:cNvSpPr txBox="1"/>
          <p:nvPr/>
        </p:nvSpPr>
        <p:spPr>
          <a:xfrm>
            <a:off x="1737360" y="4224528"/>
            <a:ext cx="2286000" cy="402336"/>
          </a:xfrm>
          <a:prstGeom prst="rect">
            <a:avLst/>
          </a:prstGeom>
          <a:noFill/>
          <a:ln/>
        </p:spPr>
        <p:txBody>
          <a:bodyPr wrap="square" lIns="0" tIns="0" rIns="0" bIns="0" rtlCol="0" anchor="t"/>
          <a:lstStyle/>
          <a:p>
            <a:pPr indent="0" marL="0">
              <a:buNone/>
            </a:pPr>
            <a:r>
              <a:rPr lang="en-US" sz="1050" b="1" i="1" dirty="0">
                <a:solidFill>
                  <a:srgbClr val="1F4E9A"/>
                </a:solidFill>
                <a:latin typeface="Calibri" pitchFamily="34" charset="0"/>
                <a:ea typeface="Calibri" pitchFamily="34" charset="-122"/>
                <a:cs typeface="Calibri" pitchFamily="34" charset="-120"/>
              </a:rPr>
              <a:t>So what: </a:t>
            </a:r>
            <a:pPr indent="0" marL="0">
              <a:buNone/>
            </a:pPr>
            <a:r>
              <a:rPr lang="en-US" sz="1050" i="1" dirty="0">
                <a:solidFill>
                  <a:srgbClr val="1F4E9A"/>
                </a:solidFill>
                <a:latin typeface="Calibri" pitchFamily="34" charset="0"/>
                <a:ea typeface="Calibri" pitchFamily="34" charset="-122"/>
                <a:cs typeface="Calibri" pitchFamily="34" charset="-120"/>
              </a:rPr>
              <a:t>Weekend packs reach the commuter at a new moment.</a:t>
            </a:r>
            <a:endParaRPr lang="en-US" sz="1050" dirty="0"/>
          </a:p>
        </p:txBody>
      </p:sp>
      <p:sp>
        <p:nvSpPr>
          <p:cNvPr id="25" name="Shape 23"/>
          <p:cNvSpPr/>
          <p:nvPr/>
        </p:nvSpPr>
        <p:spPr>
          <a:xfrm>
            <a:off x="411480" y="4791456"/>
            <a:ext cx="3703320" cy="1517904"/>
          </a:xfrm>
          <a:prstGeom prst="roundRect">
            <a:avLst>
              <a:gd name="adj" fmla="val 6024"/>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6" name="Shape 24"/>
          <p:cNvSpPr/>
          <p:nvPr/>
        </p:nvSpPr>
        <p:spPr>
          <a:xfrm>
            <a:off x="484632" y="4864608"/>
            <a:ext cx="1133856" cy="1371600"/>
          </a:xfrm>
          <a:prstGeom prst="roundRect">
            <a:avLst>
              <a:gd name="adj" fmla="val 6452"/>
            </a:avLst>
          </a:prstGeom>
          <a:solidFill>
            <a:srgbClr val="EEF3FB"/>
          </a:solidFill>
          <a:ln w="12700">
            <a:solidFill>
              <a:srgbClr val="EEF3FB"/>
            </a:solidFill>
            <a:prstDash val="solid"/>
          </a:ln>
        </p:spPr>
      </p:sp>
      <p:sp>
        <p:nvSpPr>
          <p:cNvPr id="27" name="Text 25"/>
          <p:cNvSpPr txBox="1"/>
          <p:nvPr/>
        </p:nvSpPr>
        <p:spPr>
          <a:xfrm>
            <a:off x="484632" y="4919472"/>
            <a:ext cx="1133856" cy="182880"/>
          </a:xfrm>
          <a:prstGeom prst="rect">
            <a:avLst/>
          </a:prstGeom>
          <a:noFill/>
          <a:ln/>
        </p:spPr>
        <p:txBody>
          <a:bodyPr wrap="square" lIns="0" tIns="0" rIns="0" bIns="0" rtlCol="0" anchor="t"/>
          <a:lstStyle/>
          <a:p>
            <a:pPr algn="ctr" indent="0" marL="0">
              <a:buNone/>
            </a:pPr>
            <a:r>
              <a:rPr lang="en-US" sz="850" b="1" dirty="0">
                <a:solidFill>
                  <a:srgbClr val="CC0000"/>
                </a:solidFill>
                <a:latin typeface="Calibri" pitchFamily="34" charset="0"/>
                <a:ea typeface="Calibri" pitchFamily="34" charset="-122"/>
                <a:cs typeface="Calibri" pitchFamily="34" charset="-120"/>
              </a:rPr>
              <a:t>STAPLES</a:t>
            </a:r>
            <a:endParaRPr lang="en-US" sz="850" dirty="0"/>
          </a:p>
        </p:txBody>
      </p:sp>
      <p:sp>
        <p:nvSpPr>
          <p:cNvPr id="28" name="Text 26"/>
          <p:cNvSpPr txBox="1"/>
          <p:nvPr/>
        </p:nvSpPr>
        <p:spPr>
          <a:xfrm>
            <a:off x="484632" y="5074920"/>
            <a:ext cx="1133856" cy="347472"/>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7%</a:t>
            </a:r>
            <a:endParaRPr lang="en-US" sz="2200" dirty="0"/>
          </a:p>
        </p:txBody>
      </p:sp>
      <p:sp>
        <p:nvSpPr>
          <p:cNvPr id="29" name="Text 27"/>
          <p:cNvSpPr txBox="1"/>
          <p:nvPr/>
        </p:nvSpPr>
        <p:spPr>
          <a:xfrm>
            <a:off x="484632" y="5449824"/>
            <a:ext cx="1133856" cy="182880"/>
          </a:xfrm>
          <a:prstGeom prst="rect">
            <a:avLst/>
          </a:prstGeom>
          <a:noFill/>
          <a:ln/>
        </p:spPr>
        <p:txBody>
          <a:bodyPr wrap="square" lIns="0" tIns="0" rIns="0" bIns="0" rtlCol="0" anchor="t"/>
          <a:lstStyle/>
          <a:p>
            <a:pPr algn="ctr" indent="0" marL="0">
              <a:buNone/>
            </a:pPr>
            <a:r>
              <a:rPr lang="en-US" sz="850" b="1" dirty="0">
                <a:solidFill>
                  <a:srgbClr val="7F187F"/>
                </a:solidFill>
                <a:latin typeface="Calibri" pitchFamily="34" charset="0"/>
                <a:ea typeface="Calibri" pitchFamily="34" charset="-122"/>
                <a:cs typeface="Calibri" pitchFamily="34" charset="-120"/>
              </a:rPr>
              <a:t>WAYFAIR</a:t>
            </a:r>
            <a:endParaRPr lang="en-US" sz="850" dirty="0"/>
          </a:p>
        </p:txBody>
      </p:sp>
      <p:sp>
        <p:nvSpPr>
          <p:cNvPr id="30" name="Text 28"/>
          <p:cNvSpPr txBox="1"/>
          <p:nvPr/>
        </p:nvSpPr>
        <p:spPr>
          <a:xfrm>
            <a:off x="484632" y="5605272"/>
            <a:ext cx="1133856" cy="347472"/>
          </a:xfrm>
          <a:prstGeom prst="rect">
            <a:avLst/>
          </a:prstGeom>
          <a:noFill/>
          <a:ln/>
        </p:spPr>
        <p:txBody>
          <a:bodyPr wrap="square" lIns="0" tIns="0" rIns="0" bIns="0" rtlCol="0" anchor="ctr"/>
          <a:lstStyle/>
          <a:p>
            <a:pPr algn="ctr" indent="0" marL="0">
              <a:buNone/>
            </a:pPr>
            <a:r>
              <a:rPr lang="en-US" sz="2200" b="1" dirty="0">
                <a:solidFill>
                  <a:srgbClr val="7F187F"/>
                </a:solidFill>
                <a:latin typeface="Calibri" pitchFamily="34" charset="0"/>
                <a:ea typeface="Calibri" pitchFamily="34" charset="-122"/>
                <a:cs typeface="Calibri" pitchFamily="34" charset="-120"/>
              </a:rPr>
              <a:t>29%</a:t>
            </a:r>
            <a:endParaRPr lang="en-US" sz="2200" dirty="0"/>
          </a:p>
        </p:txBody>
      </p:sp>
      <p:sp>
        <p:nvSpPr>
          <p:cNvPr id="31" name="Text 29"/>
          <p:cNvSpPr txBox="1"/>
          <p:nvPr/>
        </p:nvSpPr>
        <p:spPr>
          <a:xfrm>
            <a:off x="502920" y="5980176"/>
            <a:ext cx="1097280" cy="237744"/>
          </a:xfrm>
          <a:prstGeom prst="rect">
            <a:avLst/>
          </a:prstGeom>
          <a:noFill/>
          <a:ln/>
        </p:spPr>
        <p:txBody>
          <a:bodyPr wrap="square" lIns="0" tIns="0" rIns="0" bIns="0" rtlCol="0" anchor="ctr"/>
          <a:lstStyle/>
          <a:p>
            <a:pPr algn="ctr" indent="0" marL="0">
              <a:buNone/>
            </a:pPr>
            <a:r>
              <a:rPr lang="en-US" sz="900" dirty="0">
                <a:solidFill>
                  <a:srgbClr val="5B6475"/>
                </a:solidFill>
                <a:latin typeface="Calibri" pitchFamily="34" charset="0"/>
                <a:ea typeface="Calibri" pitchFamily="34" charset="-122"/>
                <a:cs typeface="Calibri" pitchFamily="34" charset="-120"/>
              </a:rPr>
              <a:t>desks under $200</a:t>
            </a:r>
            <a:endParaRPr lang="en-US" sz="900" dirty="0"/>
          </a:p>
        </p:txBody>
      </p:sp>
      <p:sp>
        <p:nvSpPr>
          <p:cNvPr id="32" name="Text 30"/>
          <p:cNvSpPr txBox="1"/>
          <p:nvPr/>
        </p:nvSpPr>
        <p:spPr>
          <a:xfrm>
            <a:off x="1737360" y="4882896"/>
            <a:ext cx="2286000" cy="274320"/>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Office Desks</a:t>
            </a:r>
            <a:endParaRPr lang="en-US" sz="1300" dirty="0"/>
          </a:p>
        </p:txBody>
      </p:sp>
      <p:sp>
        <p:nvSpPr>
          <p:cNvPr id="33" name="Text 31"/>
          <p:cNvSpPr txBox="1"/>
          <p:nvPr/>
        </p:nvSpPr>
        <p:spPr>
          <a:xfrm>
            <a:off x="1737360" y="5175504"/>
            <a:ext cx="2286000" cy="6583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Staples' median desk is $729 vs $286; desks under 40" wide: 4% vs 39%.</a:t>
            </a:r>
            <a:endParaRPr lang="en-US" sz="1050" dirty="0"/>
          </a:p>
        </p:txBody>
      </p:sp>
      <p:sp>
        <p:nvSpPr>
          <p:cNvPr id="34" name="Text 32"/>
          <p:cNvSpPr txBox="1"/>
          <p:nvPr/>
        </p:nvSpPr>
        <p:spPr>
          <a:xfrm>
            <a:off x="1737360" y="5833872"/>
            <a:ext cx="2286000" cy="402336"/>
          </a:xfrm>
          <a:prstGeom prst="rect">
            <a:avLst/>
          </a:prstGeom>
          <a:noFill/>
          <a:ln/>
        </p:spPr>
        <p:txBody>
          <a:bodyPr wrap="square" lIns="0" tIns="0" rIns="0" bIns="0" rtlCol="0" anchor="t"/>
          <a:lstStyle/>
          <a:p>
            <a:pPr indent="0" marL="0">
              <a:buNone/>
            </a:pPr>
            <a:r>
              <a:rPr lang="en-US" sz="1050" b="1" i="1" dirty="0">
                <a:solidFill>
                  <a:srgbClr val="1F4E9A"/>
                </a:solidFill>
                <a:latin typeface="Calibri" pitchFamily="34" charset="0"/>
                <a:ea typeface="Calibri" pitchFamily="34" charset="-122"/>
                <a:cs typeface="Calibri" pitchFamily="34" charset="-120"/>
              </a:rPr>
              <a:t>So what: </a:t>
            </a:r>
            <a:pPr indent="0" marL="0">
              <a:buNone/>
            </a:pPr>
            <a:r>
              <a:rPr lang="en-US" sz="1050" i="1" dirty="0">
                <a:solidFill>
                  <a:srgbClr val="1F4E9A"/>
                </a:solidFill>
                <a:latin typeface="Calibri" pitchFamily="34" charset="0"/>
                <a:ea typeface="Calibri" pitchFamily="34" charset="-122"/>
                <a:cs typeface="Calibri" pitchFamily="34" charset="-120"/>
              </a:rPr>
              <a:t>The gap is compact, affordable home-office desks.</a:t>
            </a:r>
            <a:endParaRPr lang="en-US" sz="1050" dirty="0"/>
          </a:p>
        </p:txBody>
      </p:sp>
      <p:sp>
        <p:nvSpPr>
          <p:cNvPr id="35" name="Shape 33"/>
          <p:cNvSpPr/>
          <p:nvPr/>
        </p:nvSpPr>
        <p:spPr>
          <a:xfrm>
            <a:off x="4242816" y="1133856"/>
            <a:ext cx="3703320" cy="365760"/>
          </a:xfrm>
          <a:prstGeom prst="roundRect">
            <a:avLst>
              <a:gd name="adj" fmla="val 15000"/>
            </a:avLst>
          </a:prstGeom>
          <a:solidFill>
            <a:srgbClr val="2F6FD0"/>
          </a:solidFill>
          <a:ln w="12700">
            <a:solidFill>
              <a:srgbClr val="2F6FD0"/>
            </a:solidFill>
            <a:prstDash val="solid"/>
          </a:ln>
        </p:spPr>
      </p:sp>
      <p:sp>
        <p:nvSpPr>
          <p:cNvPr id="36" name="Text 34"/>
          <p:cNvSpPr txBox="1"/>
          <p:nvPr/>
        </p:nvSpPr>
        <p:spPr>
          <a:xfrm>
            <a:off x="4242816" y="1133856"/>
            <a:ext cx="370332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PROBABLE HERO · BUILD</a:t>
            </a:r>
            <a:endParaRPr lang="en-US" sz="1250" dirty="0"/>
          </a:p>
        </p:txBody>
      </p:sp>
      <p:sp>
        <p:nvSpPr>
          <p:cNvPr id="37" name="Shape 35"/>
          <p:cNvSpPr/>
          <p:nvPr/>
        </p:nvSpPr>
        <p:spPr>
          <a:xfrm>
            <a:off x="4242816" y="1572768"/>
            <a:ext cx="3703320" cy="1517904"/>
          </a:xfrm>
          <a:prstGeom prst="roundRect">
            <a:avLst>
              <a:gd name="adj" fmla="val 6024"/>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8" name="Shape 36"/>
          <p:cNvSpPr/>
          <p:nvPr/>
        </p:nvSpPr>
        <p:spPr>
          <a:xfrm>
            <a:off x="4315968" y="1645920"/>
            <a:ext cx="1133856" cy="1371600"/>
          </a:xfrm>
          <a:prstGeom prst="roundRect">
            <a:avLst>
              <a:gd name="adj" fmla="val 6452"/>
            </a:avLst>
          </a:prstGeom>
          <a:solidFill>
            <a:srgbClr val="EEF3FB"/>
          </a:solidFill>
          <a:ln w="12700">
            <a:solidFill>
              <a:srgbClr val="EEF3FB"/>
            </a:solidFill>
            <a:prstDash val="solid"/>
          </a:ln>
        </p:spPr>
      </p:sp>
      <p:sp>
        <p:nvSpPr>
          <p:cNvPr id="39" name="Text 37"/>
          <p:cNvSpPr txBox="1"/>
          <p:nvPr/>
        </p:nvSpPr>
        <p:spPr>
          <a:xfrm>
            <a:off x="4315968" y="1700784"/>
            <a:ext cx="1133856" cy="182880"/>
          </a:xfrm>
          <a:prstGeom prst="rect">
            <a:avLst/>
          </a:prstGeom>
          <a:noFill/>
          <a:ln/>
        </p:spPr>
        <p:txBody>
          <a:bodyPr wrap="square" lIns="0" tIns="0" rIns="0" bIns="0" rtlCol="0" anchor="t"/>
          <a:lstStyle/>
          <a:p>
            <a:pPr algn="ctr" indent="0" marL="0">
              <a:buNone/>
            </a:pPr>
            <a:r>
              <a:rPr lang="en-US" sz="850" b="1" dirty="0">
                <a:solidFill>
                  <a:srgbClr val="CC0000"/>
                </a:solidFill>
                <a:latin typeface="Calibri" pitchFamily="34" charset="0"/>
                <a:ea typeface="Calibri" pitchFamily="34" charset="-122"/>
                <a:cs typeface="Calibri" pitchFamily="34" charset="-120"/>
              </a:rPr>
              <a:t>STAPLES</a:t>
            </a:r>
            <a:endParaRPr lang="en-US" sz="850" dirty="0"/>
          </a:p>
        </p:txBody>
      </p:sp>
      <p:sp>
        <p:nvSpPr>
          <p:cNvPr id="40" name="Text 38"/>
          <p:cNvSpPr txBox="1"/>
          <p:nvPr/>
        </p:nvSpPr>
        <p:spPr>
          <a:xfrm>
            <a:off x="4315968" y="1856232"/>
            <a:ext cx="1133856" cy="347472"/>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7%</a:t>
            </a:r>
            <a:endParaRPr lang="en-US" sz="2200" dirty="0"/>
          </a:p>
        </p:txBody>
      </p:sp>
      <p:sp>
        <p:nvSpPr>
          <p:cNvPr id="41" name="Text 39"/>
          <p:cNvSpPr txBox="1"/>
          <p:nvPr/>
        </p:nvSpPr>
        <p:spPr>
          <a:xfrm>
            <a:off x="4315968" y="2231136"/>
            <a:ext cx="1133856" cy="182880"/>
          </a:xfrm>
          <a:prstGeom prst="rect">
            <a:avLst/>
          </a:prstGeom>
          <a:noFill/>
          <a:ln/>
        </p:spPr>
        <p:txBody>
          <a:bodyPr wrap="square" lIns="0" tIns="0" rIns="0" bIns="0" rtlCol="0" anchor="t"/>
          <a:lstStyle/>
          <a:p>
            <a:pPr algn="ctr" indent="0" marL="0">
              <a:buNone/>
            </a:pPr>
            <a:r>
              <a:rPr lang="en-US" sz="850" b="1" dirty="0">
                <a:solidFill>
                  <a:srgbClr val="7F187F"/>
                </a:solidFill>
                <a:latin typeface="Calibri" pitchFamily="34" charset="0"/>
                <a:ea typeface="Calibri" pitchFamily="34" charset="-122"/>
                <a:cs typeface="Calibri" pitchFamily="34" charset="-120"/>
              </a:rPr>
              <a:t>WAYFAIR</a:t>
            </a:r>
            <a:endParaRPr lang="en-US" sz="850" dirty="0"/>
          </a:p>
        </p:txBody>
      </p:sp>
      <p:sp>
        <p:nvSpPr>
          <p:cNvPr id="42" name="Text 40"/>
          <p:cNvSpPr txBox="1"/>
          <p:nvPr/>
        </p:nvSpPr>
        <p:spPr>
          <a:xfrm>
            <a:off x="4315968" y="2386584"/>
            <a:ext cx="1133856" cy="347472"/>
          </a:xfrm>
          <a:prstGeom prst="rect">
            <a:avLst/>
          </a:prstGeom>
          <a:noFill/>
          <a:ln/>
        </p:spPr>
        <p:txBody>
          <a:bodyPr wrap="square" lIns="0" tIns="0" rIns="0" bIns="0" rtlCol="0" anchor="ctr"/>
          <a:lstStyle/>
          <a:p>
            <a:pPr algn="ctr" indent="0" marL="0">
              <a:buNone/>
            </a:pPr>
            <a:r>
              <a:rPr lang="en-US" sz="2200" b="1" dirty="0">
                <a:solidFill>
                  <a:srgbClr val="7F187F"/>
                </a:solidFill>
                <a:latin typeface="Calibri" pitchFamily="34" charset="0"/>
                <a:ea typeface="Calibri" pitchFamily="34" charset="-122"/>
                <a:cs typeface="Calibri" pitchFamily="34" charset="-120"/>
              </a:rPr>
              <a:t>38%</a:t>
            </a:r>
            <a:endParaRPr lang="en-US" sz="2200" dirty="0"/>
          </a:p>
        </p:txBody>
      </p:sp>
      <p:sp>
        <p:nvSpPr>
          <p:cNvPr id="43" name="Text 41"/>
          <p:cNvSpPr txBox="1"/>
          <p:nvPr/>
        </p:nvSpPr>
        <p:spPr>
          <a:xfrm>
            <a:off x="4334256" y="2761488"/>
            <a:ext cx="1097280" cy="237744"/>
          </a:xfrm>
          <a:prstGeom prst="rect">
            <a:avLst/>
          </a:prstGeom>
          <a:noFill/>
          <a:ln/>
        </p:spPr>
        <p:txBody>
          <a:bodyPr wrap="square" lIns="0" tIns="0" rIns="0" bIns="0" rtlCol="0" anchor="ctr"/>
          <a:lstStyle/>
          <a:p>
            <a:pPr algn="ctr" indent="0" marL="0">
              <a:buNone/>
            </a:pPr>
            <a:r>
              <a:rPr lang="en-US" sz="900" dirty="0">
                <a:solidFill>
                  <a:srgbClr val="5B6475"/>
                </a:solidFill>
                <a:latin typeface="Calibri" pitchFamily="34" charset="0"/>
                <a:ea typeface="Calibri" pitchFamily="34" charset="-122"/>
                <a:cs typeface="Calibri" pitchFamily="34" charset="-120"/>
              </a:rPr>
              <a:t>living-room chairs</a:t>
            </a:r>
            <a:endParaRPr lang="en-US" sz="900" dirty="0"/>
          </a:p>
        </p:txBody>
      </p:sp>
      <p:sp>
        <p:nvSpPr>
          <p:cNvPr id="44" name="Text 42"/>
          <p:cNvSpPr txBox="1"/>
          <p:nvPr/>
        </p:nvSpPr>
        <p:spPr>
          <a:xfrm>
            <a:off x="5568696" y="1664208"/>
            <a:ext cx="2286000" cy="274320"/>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Accent &amp; Waiting Room Chairs</a:t>
            </a:r>
            <a:endParaRPr lang="en-US" sz="1300" dirty="0"/>
          </a:p>
        </p:txBody>
      </p:sp>
      <p:sp>
        <p:nvSpPr>
          <p:cNvPr id="45" name="Text 43"/>
          <p:cNvSpPr txBox="1"/>
          <p:nvPr/>
        </p:nvSpPr>
        <p:spPr>
          <a:xfrm>
            <a:off x="5568696" y="1956816"/>
            <a:ext cx="2286000" cy="6583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57% of Staples' accent chairs are reception seats and 48% are black; Staples has 0 barrel chairs.</a:t>
            </a:r>
            <a:endParaRPr lang="en-US" sz="1050" dirty="0"/>
          </a:p>
        </p:txBody>
      </p:sp>
      <p:sp>
        <p:nvSpPr>
          <p:cNvPr id="46" name="Text 44"/>
          <p:cNvSpPr txBox="1"/>
          <p:nvPr/>
        </p:nvSpPr>
        <p:spPr>
          <a:xfrm>
            <a:off x="5568696" y="2615184"/>
            <a:ext cx="2286000" cy="402336"/>
          </a:xfrm>
          <a:prstGeom prst="rect">
            <a:avLst/>
          </a:prstGeom>
          <a:noFill/>
          <a:ln/>
        </p:spPr>
        <p:txBody>
          <a:bodyPr wrap="square" lIns="0" tIns="0" rIns="0" bIns="0" rtlCol="0" anchor="t"/>
          <a:lstStyle/>
          <a:p>
            <a:pPr indent="0" marL="0">
              <a:buNone/>
            </a:pPr>
            <a:r>
              <a:rPr lang="en-US" sz="1050" b="1" i="1" dirty="0">
                <a:solidFill>
                  <a:srgbClr val="1F4E9A"/>
                </a:solidFill>
                <a:latin typeface="Calibri" pitchFamily="34" charset="0"/>
                <a:ea typeface="Calibri" pitchFamily="34" charset="-122"/>
                <a:cs typeface="Calibri" pitchFamily="34" charset="-120"/>
              </a:rPr>
              <a:t>So what: </a:t>
            </a:r>
            <a:pPr indent="0" marL="0">
              <a:buNone/>
            </a:pPr>
            <a:r>
              <a:rPr lang="en-US" sz="1050" i="1" dirty="0">
                <a:solidFill>
                  <a:srgbClr val="1F4E9A"/>
                </a:solidFill>
                <a:latin typeface="Calibri" pitchFamily="34" charset="0"/>
                <a:ea typeface="Calibri" pitchFamily="34" charset="-122"/>
                <a:cs typeface="Calibri" pitchFamily="34" charset="-120"/>
              </a:rPr>
              <a:t>The "White Chair" gap is real: light, residential, swivel.</a:t>
            </a:r>
            <a:endParaRPr lang="en-US" sz="1050" dirty="0"/>
          </a:p>
        </p:txBody>
      </p:sp>
      <p:sp>
        <p:nvSpPr>
          <p:cNvPr id="47" name="Shape 45"/>
          <p:cNvSpPr/>
          <p:nvPr/>
        </p:nvSpPr>
        <p:spPr>
          <a:xfrm>
            <a:off x="4242816" y="3182112"/>
            <a:ext cx="3703320" cy="1517904"/>
          </a:xfrm>
          <a:prstGeom prst="roundRect">
            <a:avLst>
              <a:gd name="adj" fmla="val 6024"/>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8" name="Shape 46"/>
          <p:cNvSpPr/>
          <p:nvPr/>
        </p:nvSpPr>
        <p:spPr>
          <a:xfrm>
            <a:off x="4315968" y="3255264"/>
            <a:ext cx="1133856" cy="1371600"/>
          </a:xfrm>
          <a:prstGeom prst="roundRect">
            <a:avLst>
              <a:gd name="adj" fmla="val 6452"/>
            </a:avLst>
          </a:prstGeom>
          <a:solidFill>
            <a:srgbClr val="EEF3FB"/>
          </a:solidFill>
          <a:ln w="12700">
            <a:solidFill>
              <a:srgbClr val="EEF3FB"/>
            </a:solidFill>
            <a:prstDash val="solid"/>
          </a:ln>
        </p:spPr>
      </p:sp>
      <p:sp>
        <p:nvSpPr>
          <p:cNvPr id="49" name="Text 47"/>
          <p:cNvSpPr txBox="1"/>
          <p:nvPr/>
        </p:nvSpPr>
        <p:spPr>
          <a:xfrm>
            <a:off x="4315968" y="3310128"/>
            <a:ext cx="1133856" cy="182880"/>
          </a:xfrm>
          <a:prstGeom prst="rect">
            <a:avLst/>
          </a:prstGeom>
          <a:noFill/>
          <a:ln/>
        </p:spPr>
        <p:txBody>
          <a:bodyPr wrap="square" lIns="0" tIns="0" rIns="0" bIns="0" rtlCol="0" anchor="t"/>
          <a:lstStyle/>
          <a:p>
            <a:pPr algn="ctr" indent="0" marL="0">
              <a:buNone/>
            </a:pPr>
            <a:r>
              <a:rPr lang="en-US" sz="850" b="1" dirty="0">
                <a:solidFill>
                  <a:srgbClr val="CC0000"/>
                </a:solidFill>
                <a:latin typeface="Calibri" pitchFamily="34" charset="0"/>
                <a:ea typeface="Calibri" pitchFamily="34" charset="-122"/>
                <a:cs typeface="Calibri" pitchFamily="34" charset="-120"/>
              </a:rPr>
              <a:t>STAPLES</a:t>
            </a:r>
            <a:endParaRPr lang="en-US" sz="850" dirty="0"/>
          </a:p>
        </p:txBody>
      </p:sp>
      <p:sp>
        <p:nvSpPr>
          <p:cNvPr id="50" name="Text 48"/>
          <p:cNvSpPr txBox="1"/>
          <p:nvPr/>
        </p:nvSpPr>
        <p:spPr>
          <a:xfrm>
            <a:off x="4315968" y="3465576"/>
            <a:ext cx="1133856" cy="347472"/>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5%</a:t>
            </a:r>
            <a:endParaRPr lang="en-US" sz="2200" dirty="0"/>
          </a:p>
        </p:txBody>
      </p:sp>
      <p:sp>
        <p:nvSpPr>
          <p:cNvPr id="51" name="Text 49"/>
          <p:cNvSpPr txBox="1"/>
          <p:nvPr/>
        </p:nvSpPr>
        <p:spPr>
          <a:xfrm>
            <a:off x="4315968" y="3840480"/>
            <a:ext cx="1133856" cy="182880"/>
          </a:xfrm>
          <a:prstGeom prst="rect">
            <a:avLst/>
          </a:prstGeom>
          <a:noFill/>
          <a:ln/>
        </p:spPr>
        <p:txBody>
          <a:bodyPr wrap="square" lIns="0" tIns="0" rIns="0" bIns="0" rtlCol="0" anchor="t"/>
          <a:lstStyle/>
          <a:p>
            <a:pPr algn="ctr" indent="0" marL="0">
              <a:buNone/>
            </a:pPr>
            <a:r>
              <a:rPr lang="en-US" sz="850" b="1" dirty="0">
                <a:solidFill>
                  <a:srgbClr val="7F187F"/>
                </a:solidFill>
                <a:latin typeface="Calibri" pitchFamily="34" charset="0"/>
                <a:ea typeface="Calibri" pitchFamily="34" charset="-122"/>
                <a:cs typeface="Calibri" pitchFamily="34" charset="-120"/>
              </a:rPr>
              <a:t>WAYFAIR</a:t>
            </a:r>
            <a:endParaRPr lang="en-US" sz="850" dirty="0"/>
          </a:p>
        </p:txBody>
      </p:sp>
      <p:sp>
        <p:nvSpPr>
          <p:cNvPr id="52" name="Text 50"/>
          <p:cNvSpPr txBox="1"/>
          <p:nvPr/>
        </p:nvSpPr>
        <p:spPr>
          <a:xfrm>
            <a:off x="4315968" y="3995928"/>
            <a:ext cx="1133856" cy="347472"/>
          </a:xfrm>
          <a:prstGeom prst="rect">
            <a:avLst/>
          </a:prstGeom>
          <a:noFill/>
          <a:ln/>
        </p:spPr>
        <p:txBody>
          <a:bodyPr wrap="square" lIns="0" tIns="0" rIns="0" bIns="0" rtlCol="0" anchor="ctr"/>
          <a:lstStyle/>
          <a:p>
            <a:pPr algn="ctr" indent="0" marL="0">
              <a:buNone/>
            </a:pPr>
            <a:r>
              <a:rPr lang="en-US" sz="2200" b="1" dirty="0">
                <a:solidFill>
                  <a:srgbClr val="7F187F"/>
                </a:solidFill>
                <a:latin typeface="Calibri" pitchFamily="34" charset="0"/>
                <a:ea typeface="Calibri" pitchFamily="34" charset="-122"/>
                <a:cs typeface="Calibri" pitchFamily="34" charset="-120"/>
              </a:rPr>
              <a:t>26%</a:t>
            </a:r>
            <a:endParaRPr lang="en-US" sz="2200" dirty="0"/>
          </a:p>
        </p:txBody>
      </p:sp>
      <p:sp>
        <p:nvSpPr>
          <p:cNvPr id="53" name="Text 51"/>
          <p:cNvSpPr txBox="1"/>
          <p:nvPr/>
        </p:nvSpPr>
        <p:spPr>
          <a:xfrm>
            <a:off x="4334256" y="4370832"/>
            <a:ext cx="1097280" cy="237744"/>
          </a:xfrm>
          <a:prstGeom prst="rect">
            <a:avLst/>
          </a:prstGeom>
          <a:noFill/>
          <a:ln/>
        </p:spPr>
        <p:txBody>
          <a:bodyPr wrap="square" lIns="0" tIns="0" rIns="0" bIns="0" rtlCol="0" anchor="ctr"/>
          <a:lstStyle/>
          <a:p>
            <a:pPr algn="ctr" indent="0" marL="0">
              <a:buNone/>
            </a:pPr>
            <a:r>
              <a:rPr lang="en-US" sz="900" dirty="0">
                <a:solidFill>
                  <a:srgbClr val="5B6475"/>
                </a:solidFill>
                <a:latin typeface="Calibri" pitchFamily="34" charset="0"/>
                <a:ea typeface="Calibri" pitchFamily="34" charset="-122"/>
                <a:cs typeface="Calibri" pitchFamily="34" charset="-120"/>
              </a:rPr>
              <a:t>lamps $175+</a:t>
            </a:r>
            <a:endParaRPr lang="en-US" sz="900" dirty="0"/>
          </a:p>
        </p:txBody>
      </p:sp>
      <p:sp>
        <p:nvSpPr>
          <p:cNvPr id="54" name="Text 52"/>
          <p:cNvSpPr txBox="1"/>
          <p:nvPr/>
        </p:nvSpPr>
        <p:spPr>
          <a:xfrm>
            <a:off x="5568696" y="3273552"/>
            <a:ext cx="2286000" cy="274320"/>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Desk Lamps</a:t>
            </a:r>
            <a:endParaRPr lang="en-US" sz="1300" dirty="0"/>
          </a:p>
        </p:txBody>
      </p:sp>
      <p:sp>
        <p:nvSpPr>
          <p:cNvPr id="55" name="Text 53"/>
          <p:cNvSpPr txBox="1"/>
          <p:nvPr/>
        </p:nvSpPr>
        <p:spPr>
          <a:xfrm>
            <a:off x="5568696" y="3566160"/>
            <a:ext cx="2286000" cy="6583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Staples wins on tech (USB 83% vs 18%), but décor-grade lamps are rare at Staples.</a:t>
            </a:r>
            <a:endParaRPr lang="en-US" sz="1050" dirty="0"/>
          </a:p>
        </p:txBody>
      </p:sp>
      <p:sp>
        <p:nvSpPr>
          <p:cNvPr id="56" name="Text 54"/>
          <p:cNvSpPr txBox="1"/>
          <p:nvPr/>
        </p:nvSpPr>
        <p:spPr>
          <a:xfrm>
            <a:off x="5568696" y="4224528"/>
            <a:ext cx="2286000" cy="402336"/>
          </a:xfrm>
          <a:prstGeom prst="rect">
            <a:avLst/>
          </a:prstGeom>
          <a:noFill/>
          <a:ln/>
        </p:spPr>
        <p:txBody>
          <a:bodyPr wrap="square" lIns="0" tIns="0" rIns="0" bIns="0" rtlCol="0" anchor="t"/>
          <a:lstStyle/>
          <a:p>
            <a:pPr indent="0" marL="0">
              <a:buNone/>
            </a:pPr>
            <a:r>
              <a:rPr lang="en-US" sz="1050" b="1" i="1" dirty="0">
                <a:solidFill>
                  <a:srgbClr val="1F4E9A"/>
                </a:solidFill>
                <a:latin typeface="Calibri" pitchFamily="34" charset="0"/>
                <a:ea typeface="Calibri" pitchFamily="34" charset="-122"/>
                <a:cs typeface="Calibri" pitchFamily="34" charset="-120"/>
              </a:rPr>
              <a:t>So what: </a:t>
            </a:r>
            <a:pPr indent="0" marL="0">
              <a:buNone/>
            </a:pPr>
            <a:r>
              <a:rPr lang="en-US" sz="1050" i="1" dirty="0">
                <a:solidFill>
                  <a:srgbClr val="1F4E9A"/>
                </a:solidFill>
                <a:latin typeface="Calibri" pitchFamily="34" charset="0"/>
                <a:ea typeface="Calibri" pitchFamily="34" charset="-122"/>
                <a:cs typeface="Calibri" pitchFamily="34" charset="-120"/>
              </a:rPr>
              <a:t>Trade up with design lamps; keep tech lamps 1P.</a:t>
            </a:r>
            <a:endParaRPr lang="en-US" sz="1050" dirty="0"/>
          </a:p>
        </p:txBody>
      </p:sp>
      <p:sp>
        <p:nvSpPr>
          <p:cNvPr id="57" name="Shape 55"/>
          <p:cNvSpPr/>
          <p:nvPr/>
        </p:nvSpPr>
        <p:spPr>
          <a:xfrm>
            <a:off x="4242816" y="4791456"/>
            <a:ext cx="3703320" cy="1517904"/>
          </a:xfrm>
          <a:prstGeom prst="roundRect">
            <a:avLst>
              <a:gd name="adj" fmla="val 6024"/>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6"/>
          <p:cNvSpPr/>
          <p:nvPr/>
        </p:nvSpPr>
        <p:spPr>
          <a:xfrm>
            <a:off x="4315968" y="4864608"/>
            <a:ext cx="1133856" cy="1371600"/>
          </a:xfrm>
          <a:prstGeom prst="roundRect">
            <a:avLst>
              <a:gd name="adj" fmla="val 6452"/>
            </a:avLst>
          </a:prstGeom>
          <a:solidFill>
            <a:srgbClr val="EEF3FB"/>
          </a:solidFill>
          <a:ln w="12700">
            <a:solidFill>
              <a:srgbClr val="EEF3FB"/>
            </a:solidFill>
            <a:prstDash val="solid"/>
          </a:ln>
        </p:spPr>
      </p:sp>
      <p:sp>
        <p:nvSpPr>
          <p:cNvPr id="59" name="Text 57"/>
          <p:cNvSpPr txBox="1"/>
          <p:nvPr/>
        </p:nvSpPr>
        <p:spPr>
          <a:xfrm>
            <a:off x="4315968" y="4919472"/>
            <a:ext cx="1133856" cy="182880"/>
          </a:xfrm>
          <a:prstGeom prst="rect">
            <a:avLst/>
          </a:prstGeom>
          <a:noFill/>
          <a:ln/>
        </p:spPr>
        <p:txBody>
          <a:bodyPr wrap="square" lIns="0" tIns="0" rIns="0" bIns="0" rtlCol="0" anchor="t"/>
          <a:lstStyle/>
          <a:p>
            <a:pPr algn="ctr" indent="0" marL="0">
              <a:buNone/>
            </a:pPr>
            <a:r>
              <a:rPr lang="en-US" sz="850" b="1" dirty="0">
                <a:solidFill>
                  <a:srgbClr val="CC0000"/>
                </a:solidFill>
                <a:latin typeface="Calibri" pitchFamily="34" charset="0"/>
                <a:ea typeface="Calibri" pitchFamily="34" charset="-122"/>
                <a:cs typeface="Calibri" pitchFamily="34" charset="-120"/>
              </a:rPr>
              <a:t>STAPLES</a:t>
            </a:r>
            <a:endParaRPr lang="en-US" sz="850" dirty="0"/>
          </a:p>
        </p:txBody>
      </p:sp>
      <p:sp>
        <p:nvSpPr>
          <p:cNvPr id="60" name="Text 58"/>
          <p:cNvSpPr txBox="1"/>
          <p:nvPr/>
        </p:nvSpPr>
        <p:spPr>
          <a:xfrm>
            <a:off x="4315968" y="5074920"/>
            <a:ext cx="1133856" cy="347472"/>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15%</a:t>
            </a:r>
            <a:endParaRPr lang="en-US" sz="2200" dirty="0"/>
          </a:p>
        </p:txBody>
      </p:sp>
      <p:sp>
        <p:nvSpPr>
          <p:cNvPr id="61" name="Text 59"/>
          <p:cNvSpPr txBox="1"/>
          <p:nvPr/>
        </p:nvSpPr>
        <p:spPr>
          <a:xfrm>
            <a:off x="4315968" y="5449824"/>
            <a:ext cx="1133856" cy="182880"/>
          </a:xfrm>
          <a:prstGeom prst="rect">
            <a:avLst/>
          </a:prstGeom>
          <a:noFill/>
          <a:ln/>
        </p:spPr>
        <p:txBody>
          <a:bodyPr wrap="square" lIns="0" tIns="0" rIns="0" bIns="0" rtlCol="0" anchor="t"/>
          <a:lstStyle/>
          <a:p>
            <a:pPr algn="ctr" indent="0" marL="0">
              <a:buNone/>
            </a:pPr>
            <a:r>
              <a:rPr lang="en-US" sz="850" b="1" dirty="0">
                <a:solidFill>
                  <a:srgbClr val="C45500"/>
                </a:solidFill>
                <a:latin typeface="Calibri" pitchFamily="34" charset="0"/>
                <a:ea typeface="Calibri" pitchFamily="34" charset="-122"/>
                <a:cs typeface="Calibri" pitchFamily="34" charset="-120"/>
              </a:rPr>
              <a:t>AMAZON</a:t>
            </a:r>
            <a:endParaRPr lang="en-US" sz="850" dirty="0"/>
          </a:p>
        </p:txBody>
      </p:sp>
      <p:sp>
        <p:nvSpPr>
          <p:cNvPr id="62" name="Text 60"/>
          <p:cNvSpPr txBox="1"/>
          <p:nvPr/>
        </p:nvSpPr>
        <p:spPr>
          <a:xfrm>
            <a:off x="4315968" y="5605272"/>
            <a:ext cx="1133856" cy="347472"/>
          </a:xfrm>
          <a:prstGeom prst="rect">
            <a:avLst/>
          </a:prstGeom>
          <a:noFill/>
          <a:ln/>
        </p:spPr>
        <p:txBody>
          <a:bodyPr wrap="square" lIns="0" tIns="0" rIns="0" bIns="0" rtlCol="0" anchor="ctr"/>
          <a:lstStyle/>
          <a:p>
            <a:pPr algn="ctr" indent="0" marL="0">
              <a:buNone/>
            </a:pPr>
            <a:r>
              <a:rPr lang="en-US" sz="2200" b="1" dirty="0">
                <a:solidFill>
                  <a:srgbClr val="C45500"/>
                </a:solidFill>
                <a:latin typeface="Calibri" pitchFamily="34" charset="0"/>
                <a:ea typeface="Calibri" pitchFamily="34" charset="-122"/>
                <a:cs typeface="Calibri" pitchFamily="34" charset="-120"/>
              </a:rPr>
              <a:t>46%</a:t>
            </a:r>
            <a:endParaRPr lang="en-US" sz="2200" dirty="0"/>
          </a:p>
        </p:txBody>
      </p:sp>
      <p:sp>
        <p:nvSpPr>
          <p:cNvPr id="63" name="Text 61"/>
          <p:cNvSpPr txBox="1"/>
          <p:nvPr/>
        </p:nvSpPr>
        <p:spPr>
          <a:xfrm>
            <a:off x="4334256" y="5980176"/>
            <a:ext cx="1097280" cy="237744"/>
          </a:xfrm>
          <a:prstGeom prst="rect">
            <a:avLst/>
          </a:prstGeom>
          <a:noFill/>
          <a:ln/>
        </p:spPr>
        <p:txBody>
          <a:bodyPr wrap="square" lIns="0" tIns="0" rIns="0" bIns="0" rtlCol="0" anchor="ctr"/>
          <a:lstStyle/>
          <a:p>
            <a:pPr algn="ctr" indent="0" marL="0">
              <a:buNone/>
            </a:pPr>
            <a:r>
              <a:rPr lang="en-US" sz="900" dirty="0">
                <a:solidFill>
                  <a:srgbClr val="5B6475"/>
                </a:solidFill>
                <a:latin typeface="Calibri" pitchFamily="34" charset="0"/>
                <a:ea typeface="Calibri" pitchFamily="34" charset="-122"/>
                <a:cs typeface="Calibri" pitchFamily="34" charset="-120"/>
              </a:rPr>
              <a:t>stainless steel</a:t>
            </a:r>
            <a:endParaRPr lang="en-US" sz="900" dirty="0"/>
          </a:p>
        </p:txBody>
      </p:sp>
      <p:sp>
        <p:nvSpPr>
          <p:cNvPr id="64" name="Text 62"/>
          <p:cNvSpPr txBox="1"/>
          <p:nvPr/>
        </p:nvSpPr>
        <p:spPr>
          <a:xfrm>
            <a:off x="5568696" y="4882896"/>
            <a:ext cx="2286000" cy="274320"/>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Lunch Bags &amp; Boxes</a:t>
            </a:r>
            <a:endParaRPr lang="en-US" sz="1300" dirty="0"/>
          </a:p>
        </p:txBody>
      </p:sp>
      <p:sp>
        <p:nvSpPr>
          <p:cNvPr id="65" name="Text 63"/>
          <p:cNvSpPr txBox="1"/>
          <p:nvPr/>
        </p:nvSpPr>
        <p:spPr>
          <a:xfrm>
            <a:off x="5568696" y="5175504"/>
            <a:ext cx="2286000" cy="6583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Staples' range skews to teens (50% vs 1%); Amazon targets adults and women (23% vs 4%).</a:t>
            </a:r>
            <a:endParaRPr lang="en-US" sz="1050" dirty="0"/>
          </a:p>
        </p:txBody>
      </p:sp>
      <p:sp>
        <p:nvSpPr>
          <p:cNvPr id="66" name="Text 64"/>
          <p:cNvSpPr txBox="1"/>
          <p:nvPr/>
        </p:nvSpPr>
        <p:spPr>
          <a:xfrm>
            <a:off x="5568696" y="5833872"/>
            <a:ext cx="2286000" cy="402336"/>
          </a:xfrm>
          <a:prstGeom prst="rect">
            <a:avLst/>
          </a:prstGeom>
          <a:noFill/>
          <a:ln/>
        </p:spPr>
        <p:txBody>
          <a:bodyPr wrap="square" lIns="0" tIns="0" rIns="0" bIns="0" rtlCol="0" anchor="t"/>
          <a:lstStyle/>
          <a:p>
            <a:pPr indent="0" marL="0">
              <a:buNone/>
            </a:pPr>
            <a:r>
              <a:rPr lang="en-US" sz="1050" b="1" i="1" dirty="0">
                <a:solidFill>
                  <a:srgbClr val="1F4E9A"/>
                </a:solidFill>
                <a:latin typeface="Calibri" pitchFamily="34" charset="0"/>
                <a:ea typeface="Calibri" pitchFamily="34" charset="-122"/>
                <a:cs typeface="Calibri" pitchFamily="34" charset="-120"/>
              </a:rPr>
              <a:t>So what: </a:t>
            </a:r>
            <a:pPr indent="0" marL="0">
              <a:buNone/>
            </a:pPr>
            <a:r>
              <a:rPr lang="en-US" sz="1050" i="1" dirty="0">
                <a:solidFill>
                  <a:srgbClr val="1F4E9A"/>
                </a:solidFill>
                <a:latin typeface="Calibri" pitchFamily="34" charset="0"/>
                <a:ea typeface="Calibri" pitchFamily="34" charset="-122"/>
                <a:cs typeface="Calibri" pitchFamily="34" charset="-120"/>
              </a:rPr>
              <a:t>Adult commuter meal kits are under-served.</a:t>
            </a:r>
            <a:endParaRPr lang="en-US" sz="1050" dirty="0"/>
          </a:p>
        </p:txBody>
      </p:sp>
      <p:sp>
        <p:nvSpPr>
          <p:cNvPr id="67" name="Shape 65"/>
          <p:cNvSpPr/>
          <p:nvPr/>
        </p:nvSpPr>
        <p:spPr>
          <a:xfrm>
            <a:off x="8074152" y="1133856"/>
            <a:ext cx="3703320" cy="365760"/>
          </a:xfrm>
          <a:prstGeom prst="roundRect">
            <a:avLst>
              <a:gd name="adj" fmla="val 15000"/>
            </a:avLst>
          </a:prstGeom>
          <a:solidFill>
            <a:srgbClr val="8FB0E8"/>
          </a:solidFill>
          <a:ln w="12700">
            <a:solidFill>
              <a:srgbClr val="8FB0E8"/>
            </a:solidFill>
            <a:prstDash val="solid"/>
          </a:ln>
        </p:spPr>
      </p:sp>
      <p:sp>
        <p:nvSpPr>
          <p:cNvPr id="68" name="Text 66"/>
          <p:cNvSpPr txBox="1"/>
          <p:nvPr/>
        </p:nvSpPr>
        <p:spPr>
          <a:xfrm>
            <a:off x="8074152" y="1133856"/>
            <a:ext cx="3703320" cy="36576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NON-HERO · EXPLORE</a:t>
            </a:r>
            <a:endParaRPr lang="en-US" sz="1250" dirty="0"/>
          </a:p>
        </p:txBody>
      </p:sp>
      <p:sp>
        <p:nvSpPr>
          <p:cNvPr id="69" name="Shape 67"/>
          <p:cNvSpPr/>
          <p:nvPr/>
        </p:nvSpPr>
        <p:spPr>
          <a:xfrm>
            <a:off x="8074152" y="1572768"/>
            <a:ext cx="3703320" cy="1517904"/>
          </a:xfrm>
          <a:prstGeom prst="roundRect">
            <a:avLst>
              <a:gd name="adj" fmla="val 6024"/>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70" name="Shape 68"/>
          <p:cNvSpPr/>
          <p:nvPr/>
        </p:nvSpPr>
        <p:spPr>
          <a:xfrm>
            <a:off x="8147304" y="1645920"/>
            <a:ext cx="1133856" cy="1371600"/>
          </a:xfrm>
          <a:prstGeom prst="roundRect">
            <a:avLst>
              <a:gd name="adj" fmla="val 6452"/>
            </a:avLst>
          </a:prstGeom>
          <a:solidFill>
            <a:srgbClr val="EEF3FB"/>
          </a:solidFill>
          <a:ln w="12700">
            <a:solidFill>
              <a:srgbClr val="EEF3FB"/>
            </a:solidFill>
            <a:prstDash val="solid"/>
          </a:ln>
        </p:spPr>
      </p:sp>
      <p:sp>
        <p:nvSpPr>
          <p:cNvPr id="71" name="Text 69"/>
          <p:cNvSpPr txBox="1"/>
          <p:nvPr/>
        </p:nvSpPr>
        <p:spPr>
          <a:xfrm>
            <a:off x="8147304" y="1700784"/>
            <a:ext cx="1133856" cy="182880"/>
          </a:xfrm>
          <a:prstGeom prst="rect">
            <a:avLst/>
          </a:prstGeom>
          <a:noFill/>
          <a:ln/>
        </p:spPr>
        <p:txBody>
          <a:bodyPr wrap="square" lIns="0" tIns="0" rIns="0" bIns="0" rtlCol="0" anchor="t"/>
          <a:lstStyle/>
          <a:p>
            <a:pPr algn="ctr" indent="0" marL="0">
              <a:buNone/>
            </a:pPr>
            <a:r>
              <a:rPr lang="en-US" sz="850" b="1" dirty="0">
                <a:solidFill>
                  <a:srgbClr val="CC0000"/>
                </a:solidFill>
                <a:latin typeface="Calibri" pitchFamily="34" charset="0"/>
                <a:ea typeface="Calibri" pitchFamily="34" charset="-122"/>
                <a:cs typeface="Calibri" pitchFamily="34" charset="-120"/>
              </a:rPr>
              <a:t>STAPLES</a:t>
            </a:r>
            <a:endParaRPr lang="en-US" sz="850" dirty="0"/>
          </a:p>
        </p:txBody>
      </p:sp>
      <p:sp>
        <p:nvSpPr>
          <p:cNvPr id="72" name="Text 70"/>
          <p:cNvSpPr txBox="1"/>
          <p:nvPr/>
        </p:nvSpPr>
        <p:spPr>
          <a:xfrm>
            <a:off x="8147304" y="1856232"/>
            <a:ext cx="1133856" cy="347472"/>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2%</a:t>
            </a:r>
            <a:endParaRPr lang="en-US" sz="2200" dirty="0"/>
          </a:p>
        </p:txBody>
      </p:sp>
      <p:sp>
        <p:nvSpPr>
          <p:cNvPr id="73" name="Text 71"/>
          <p:cNvSpPr txBox="1"/>
          <p:nvPr/>
        </p:nvSpPr>
        <p:spPr>
          <a:xfrm>
            <a:off x="8147304" y="2231136"/>
            <a:ext cx="1133856" cy="182880"/>
          </a:xfrm>
          <a:prstGeom prst="rect">
            <a:avLst/>
          </a:prstGeom>
          <a:noFill/>
          <a:ln/>
        </p:spPr>
        <p:txBody>
          <a:bodyPr wrap="square" lIns="0" tIns="0" rIns="0" bIns="0" rtlCol="0" anchor="t"/>
          <a:lstStyle/>
          <a:p>
            <a:pPr algn="ctr" indent="0" marL="0">
              <a:buNone/>
            </a:pPr>
            <a:r>
              <a:rPr lang="en-US" sz="850" b="1" dirty="0">
                <a:solidFill>
                  <a:srgbClr val="7F187F"/>
                </a:solidFill>
                <a:latin typeface="Calibri" pitchFamily="34" charset="0"/>
                <a:ea typeface="Calibri" pitchFamily="34" charset="-122"/>
                <a:cs typeface="Calibri" pitchFamily="34" charset="-120"/>
              </a:rPr>
              <a:t>WAYFAIR</a:t>
            </a:r>
            <a:endParaRPr lang="en-US" sz="850" dirty="0"/>
          </a:p>
        </p:txBody>
      </p:sp>
      <p:sp>
        <p:nvSpPr>
          <p:cNvPr id="74" name="Text 72"/>
          <p:cNvSpPr txBox="1"/>
          <p:nvPr/>
        </p:nvSpPr>
        <p:spPr>
          <a:xfrm>
            <a:off x="8147304" y="2386584"/>
            <a:ext cx="1133856" cy="347472"/>
          </a:xfrm>
          <a:prstGeom prst="rect">
            <a:avLst/>
          </a:prstGeom>
          <a:noFill/>
          <a:ln/>
        </p:spPr>
        <p:txBody>
          <a:bodyPr wrap="square" lIns="0" tIns="0" rIns="0" bIns="0" rtlCol="0" anchor="ctr"/>
          <a:lstStyle/>
          <a:p>
            <a:pPr algn="ctr" indent="0" marL="0">
              <a:buNone/>
            </a:pPr>
            <a:r>
              <a:rPr lang="en-US" sz="2200" b="1" dirty="0">
                <a:solidFill>
                  <a:srgbClr val="7F187F"/>
                </a:solidFill>
                <a:latin typeface="Calibri" pitchFamily="34" charset="0"/>
                <a:ea typeface="Calibri" pitchFamily="34" charset="-122"/>
                <a:cs typeface="Calibri" pitchFamily="34" charset="-120"/>
              </a:rPr>
              <a:t>25%</a:t>
            </a:r>
            <a:endParaRPr lang="en-US" sz="2200" dirty="0"/>
          </a:p>
        </p:txBody>
      </p:sp>
      <p:sp>
        <p:nvSpPr>
          <p:cNvPr id="75" name="Text 73"/>
          <p:cNvSpPr txBox="1"/>
          <p:nvPr/>
        </p:nvSpPr>
        <p:spPr>
          <a:xfrm>
            <a:off x="8165592" y="2761488"/>
            <a:ext cx="1097280" cy="237744"/>
          </a:xfrm>
          <a:prstGeom prst="rect">
            <a:avLst/>
          </a:prstGeom>
          <a:noFill/>
          <a:ln/>
        </p:spPr>
        <p:txBody>
          <a:bodyPr wrap="square" lIns="0" tIns="0" rIns="0" bIns="0" rtlCol="0" anchor="ctr"/>
          <a:lstStyle/>
          <a:p>
            <a:pPr algn="ctr" indent="0" marL="0">
              <a:buNone/>
            </a:pPr>
            <a:r>
              <a:rPr lang="en-US" sz="900" dirty="0">
                <a:solidFill>
                  <a:srgbClr val="5B6475"/>
                </a:solidFill>
                <a:latin typeface="Calibri" pitchFamily="34" charset="0"/>
                <a:ea typeface="Calibri" pitchFamily="34" charset="-122"/>
                <a:cs typeface="Calibri" pitchFamily="34" charset="-120"/>
              </a:rPr>
              <a:t>clocks $125+</a:t>
            </a:r>
            <a:endParaRPr lang="en-US" sz="900" dirty="0"/>
          </a:p>
        </p:txBody>
      </p:sp>
      <p:sp>
        <p:nvSpPr>
          <p:cNvPr id="76" name="Text 74"/>
          <p:cNvSpPr txBox="1"/>
          <p:nvPr/>
        </p:nvSpPr>
        <p:spPr>
          <a:xfrm>
            <a:off x="9400032" y="1664208"/>
            <a:ext cx="2286000" cy="274320"/>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Clocks &amp; Timers</a:t>
            </a:r>
            <a:endParaRPr lang="en-US" sz="1300" dirty="0"/>
          </a:p>
        </p:txBody>
      </p:sp>
      <p:sp>
        <p:nvSpPr>
          <p:cNvPr id="77" name="Text 75"/>
          <p:cNvSpPr txBox="1"/>
          <p:nvPr/>
        </p:nvSpPr>
        <p:spPr>
          <a:xfrm>
            <a:off x="9400032" y="1956816"/>
            <a:ext cx="2286000" cy="6583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67% of Staples' clocks are under $50 and 60% plastic/resin; Wayfair: 30% oversized.</a:t>
            </a:r>
            <a:endParaRPr lang="en-US" sz="1050" dirty="0"/>
          </a:p>
        </p:txBody>
      </p:sp>
      <p:sp>
        <p:nvSpPr>
          <p:cNvPr id="78" name="Text 76"/>
          <p:cNvSpPr txBox="1"/>
          <p:nvPr/>
        </p:nvSpPr>
        <p:spPr>
          <a:xfrm>
            <a:off x="9400032" y="2615184"/>
            <a:ext cx="2286000" cy="402336"/>
          </a:xfrm>
          <a:prstGeom prst="rect">
            <a:avLst/>
          </a:prstGeom>
          <a:noFill/>
          <a:ln/>
        </p:spPr>
        <p:txBody>
          <a:bodyPr wrap="square" lIns="0" tIns="0" rIns="0" bIns="0" rtlCol="0" anchor="t"/>
          <a:lstStyle/>
          <a:p>
            <a:pPr indent="0" marL="0">
              <a:buNone/>
            </a:pPr>
            <a:r>
              <a:rPr lang="en-US" sz="1050" b="1" i="1" dirty="0">
                <a:solidFill>
                  <a:srgbClr val="1F4E9A"/>
                </a:solidFill>
                <a:latin typeface="Calibri" pitchFamily="34" charset="0"/>
                <a:ea typeface="Calibri" pitchFamily="34" charset="-122"/>
                <a:cs typeface="Calibri" pitchFamily="34" charset="-120"/>
              </a:rPr>
              <a:t>So what: </a:t>
            </a:r>
            <a:pPr indent="0" marL="0">
              <a:buNone/>
            </a:pPr>
            <a:r>
              <a:rPr lang="en-US" sz="1050" i="1" dirty="0">
                <a:solidFill>
                  <a:srgbClr val="1F4E9A"/>
                </a:solidFill>
                <a:latin typeface="Calibri" pitchFamily="34" charset="0"/>
                <a:ea typeface="Calibri" pitchFamily="34" charset="-122"/>
                <a:cs typeface="Calibri" pitchFamily="34" charset="-120"/>
              </a:rPr>
              <a:t>Statement décor clocks are a pure trade-up.</a:t>
            </a:r>
            <a:endParaRPr lang="en-US" sz="1050" dirty="0"/>
          </a:p>
        </p:txBody>
      </p:sp>
      <p:sp>
        <p:nvSpPr>
          <p:cNvPr id="79" name="Shape 77"/>
          <p:cNvSpPr/>
          <p:nvPr/>
        </p:nvSpPr>
        <p:spPr>
          <a:xfrm>
            <a:off x="8074152" y="3182112"/>
            <a:ext cx="3703320" cy="1517904"/>
          </a:xfrm>
          <a:prstGeom prst="roundRect">
            <a:avLst>
              <a:gd name="adj" fmla="val 6024"/>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80" name="Shape 78"/>
          <p:cNvSpPr/>
          <p:nvPr/>
        </p:nvSpPr>
        <p:spPr>
          <a:xfrm>
            <a:off x="8147304" y="3255264"/>
            <a:ext cx="1133856" cy="1371600"/>
          </a:xfrm>
          <a:prstGeom prst="roundRect">
            <a:avLst>
              <a:gd name="adj" fmla="val 6452"/>
            </a:avLst>
          </a:prstGeom>
          <a:solidFill>
            <a:srgbClr val="EEF3FB"/>
          </a:solidFill>
          <a:ln w="12700">
            <a:solidFill>
              <a:srgbClr val="EEF3FB"/>
            </a:solidFill>
            <a:prstDash val="solid"/>
          </a:ln>
        </p:spPr>
      </p:sp>
      <p:sp>
        <p:nvSpPr>
          <p:cNvPr id="81" name="Text 79"/>
          <p:cNvSpPr txBox="1"/>
          <p:nvPr/>
        </p:nvSpPr>
        <p:spPr>
          <a:xfrm>
            <a:off x="8147304" y="3310128"/>
            <a:ext cx="1133856" cy="182880"/>
          </a:xfrm>
          <a:prstGeom prst="rect">
            <a:avLst/>
          </a:prstGeom>
          <a:noFill/>
          <a:ln/>
        </p:spPr>
        <p:txBody>
          <a:bodyPr wrap="square" lIns="0" tIns="0" rIns="0" bIns="0" rtlCol="0" anchor="t"/>
          <a:lstStyle/>
          <a:p>
            <a:pPr algn="ctr" indent="0" marL="0">
              <a:buNone/>
            </a:pPr>
            <a:r>
              <a:rPr lang="en-US" sz="850" b="1" dirty="0">
                <a:solidFill>
                  <a:srgbClr val="CC0000"/>
                </a:solidFill>
                <a:latin typeface="Calibri" pitchFamily="34" charset="0"/>
                <a:ea typeface="Calibri" pitchFamily="34" charset="-122"/>
                <a:cs typeface="Calibri" pitchFamily="34" charset="-120"/>
              </a:rPr>
              <a:t>STAPLES</a:t>
            </a:r>
            <a:endParaRPr lang="en-US" sz="850" dirty="0"/>
          </a:p>
        </p:txBody>
      </p:sp>
      <p:sp>
        <p:nvSpPr>
          <p:cNvPr id="82" name="Text 80"/>
          <p:cNvSpPr txBox="1"/>
          <p:nvPr/>
        </p:nvSpPr>
        <p:spPr>
          <a:xfrm>
            <a:off x="8147304" y="3465576"/>
            <a:ext cx="1133856" cy="347472"/>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3%</a:t>
            </a:r>
            <a:endParaRPr lang="en-US" sz="2200" dirty="0"/>
          </a:p>
        </p:txBody>
      </p:sp>
      <p:sp>
        <p:nvSpPr>
          <p:cNvPr id="83" name="Text 81"/>
          <p:cNvSpPr txBox="1"/>
          <p:nvPr/>
        </p:nvSpPr>
        <p:spPr>
          <a:xfrm>
            <a:off x="8147304" y="3840480"/>
            <a:ext cx="1133856" cy="182880"/>
          </a:xfrm>
          <a:prstGeom prst="rect">
            <a:avLst/>
          </a:prstGeom>
          <a:noFill/>
          <a:ln/>
        </p:spPr>
        <p:txBody>
          <a:bodyPr wrap="square" lIns="0" tIns="0" rIns="0" bIns="0" rtlCol="0" anchor="t"/>
          <a:lstStyle/>
          <a:p>
            <a:pPr algn="ctr" indent="0" marL="0">
              <a:buNone/>
            </a:pPr>
            <a:r>
              <a:rPr lang="en-US" sz="850" b="1" dirty="0">
                <a:solidFill>
                  <a:srgbClr val="7F187F"/>
                </a:solidFill>
                <a:latin typeface="Calibri" pitchFamily="34" charset="0"/>
                <a:ea typeface="Calibri" pitchFamily="34" charset="-122"/>
                <a:cs typeface="Calibri" pitchFamily="34" charset="-120"/>
              </a:rPr>
              <a:t>WAYFAIR</a:t>
            </a:r>
            <a:endParaRPr lang="en-US" sz="850" dirty="0"/>
          </a:p>
        </p:txBody>
      </p:sp>
      <p:sp>
        <p:nvSpPr>
          <p:cNvPr id="84" name="Text 82"/>
          <p:cNvSpPr txBox="1"/>
          <p:nvPr/>
        </p:nvSpPr>
        <p:spPr>
          <a:xfrm>
            <a:off x="8147304" y="3995928"/>
            <a:ext cx="1133856" cy="347472"/>
          </a:xfrm>
          <a:prstGeom prst="rect">
            <a:avLst/>
          </a:prstGeom>
          <a:noFill/>
          <a:ln/>
        </p:spPr>
        <p:txBody>
          <a:bodyPr wrap="square" lIns="0" tIns="0" rIns="0" bIns="0" rtlCol="0" anchor="ctr"/>
          <a:lstStyle/>
          <a:p>
            <a:pPr algn="ctr" indent="0" marL="0">
              <a:buNone/>
            </a:pPr>
            <a:r>
              <a:rPr lang="en-US" sz="2200" b="1" dirty="0">
                <a:solidFill>
                  <a:srgbClr val="7F187F"/>
                </a:solidFill>
                <a:latin typeface="Calibri" pitchFamily="34" charset="0"/>
                <a:ea typeface="Calibri" pitchFamily="34" charset="-122"/>
                <a:cs typeface="Calibri" pitchFamily="34" charset="-120"/>
              </a:rPr>
              <a:t>28%</a:t>
            </a:r>
            <a:endParaRPr lang="en-US" sz="2200" dirty="0"/>
          </a:p>
        </p:txBody>
      </p:sp>
      <p:sp>
        <p:nvSpPr>
          <p:cNvPr id="85" name="Text 83"/>
          <p:cNvSpPr txBox="1"/>
          <p:nvPr/>
        </p:nvSpPr>
        <p:spPr>
          <a:xfrm>
            <a:off x="8165592" y="4370832"/>
            <a:ext cx="1097280" cy="237744"/>
          </a:xfrm>
          <a:prstGeom prst="rect">
            <a:avLst/>
          </a:prstGeom>
          <a:noFill/>
          <a:ln/>
        </p:spPr>
        <p:txBody>
          <a:bodyPr wrap="square" lIns="0" tIns="0" rIns="0" bIns="0" rtlCol="0" anchor="ctr"/>
          <a:lstStyle/>
          <a:p>
            <a:pPr algn="ctr" indent="0" marL="0">
              <a:buNone/>
            </a:pPr>
            <a:r>
              <a:rPr lang="en-US" sz="900" dirty="0">
                <a:solidFill>
                  <a:srgbClr val="5B6475"/>
                </a:solidFill>
                <a:latin typeface="Calibri" pitchFamily="34" charset="0"/>
                <a:ea typeface="Calibri" pitchFamily="34" charset="-122"/>
                <a:cs typeface="Calibri" pitchFamily="34" charset="-120"/>
              </a:rPr>
              <a:t>under $150</a:t>
            </a:r>
            <a:endParaRPr lang="en-US" sz="900" dirty="0"/>
          </a:p>
        </p:txBody>
      </p:sp>
      <p:sp>
        <p:nvSpPr>
          <p:cNvPr id="86" name="Text 84"/>
          <p:cNvSpPr txBox="1"/>
          <p:nvPr/>
        </p:nvSpPr>
        <p:spPr>
          <a:xfrm>
            <a:off x="9400032" y="3273552"/>
            <a:ext cx="2286000" cy="274320"/>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Office Partitions &amp; Dividers</a:t>
            </a:r>
            <a:endParaRPr lang="en-US" sz="1300" dirty="0"/>
          </a:p>
        </p:txBody>
      </p:sp>
      <p:sp>
        <p:nvSpPr>
          <p:cNvPr id="87" name="Text 85"/>
          <p:cNvSpPr txBox="1"/>
          <p:nvPr/>
        </p:nvSpPr>
        <p:spPr>
          <a:xfrm>
            <a:off x="9400032" y="3566160"/>
            <a:ext cx="2286000" cy="6583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83% of Staples' partitions are tackable office panels (median $1,581); Wayfair sells home folding screens.</a:t>
            </a:r>
            <a:endParaRPr lang="en-US" sz="1050" dirty="0"/>
          </a:p>
        </p:txBody>
      </p:sp>
      <p:sp>
        <p:nvSpPr>
          <p:cNvPr id="88" name="Text 86"/>
          <p:cNvSpPr txBox="1"/>
          <p:nvPr/>
        </p:nvSpPr>
        <p:spPr>
          <a:xfrm>
            <a:off x="9400032" y="4224528"/>
            <a:ext cx="2286000" cy="402336"/>
          </a:xfrm>
          <a:prstGeom prst="rect">
            <a:avLst/>
          </a:prstGeom>
          <a:noFill/>
          <a:ln/>
        </p:spPr>
        <p:txBody>
          <a:bodyPr wrap="square" lIns="0" tIns="0" rIns="0" bIns="0" rtlCol="0" anchor="t"/>
          <a:lstStyle/>
          <a:p>
            <a:pPr indent="0" marL="0">
              <a:buNone/>
            </a:pPr>
            <a:r>
              <a:rPr lang="en-US" sz="1050" b="1" i="1" dirty="0">
                <a:solidFill>
                  <a:srgbClr val="1F4E9A"/>
                </a:solidFill>
                <a:latin typeface="Calibri" pitchFamily="34" charset="0"/>
                <a:ea typeface="Calibri" pitchFamily="34" charset="-122"/>
                <a:cs typeface="Calibri" pitchFamily="34" charset="-120"/>
              </a:rPr>
              <a:t>So what: </a:t>
            </a:r>
            <a:pPr indent="0" marL="0">
              <a:buNone/>
            </a:pPr>
            <a:r>
              <a:rPr lang="en-US" sz="1050" i="1" dirty="0">
                <a:solidFill>
                  <a:srgbClr val="1F4E9A"/>
                </a:solidFill>
                <a:latin typeface="Calibri" pitchFamily="34" charset="0"/>
                <a:ea typeface="Calibri" pitchFamily="34" charset="-122"/>
                <a:cs typeface="Calibri" pitchFamily="34" charset="-120"/>
              </a:rPr>
              <a:t>Home screens: a new customer, near-zero cannibalisation.</a:t>
            </a:r>
            <a:endParaRPr lang="en-US" sz="1050" dirty="0"/>
          </a:p>
        </p:txBody>
      </p:sp>
      <p:sp>
        <p:nvSpPr>
          <p:cNvPr id="89" name="Shape 87"/>
          <p:cNvSpPr/>
          <p:nvPr/>
        </p:nvSpPr>
        <p:spPr>
          <a:xfrm>
            <a:off x="8074152" y="4791456"/>
            <a:ext cx="3703320" cy="1517904"/>
          </a:xfrm>
          <a:prstGeom prst="roundRect">
            <a:avLst>
              <a:gd name="adj" fmla="val 6024"/>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0" name="Shape 88"/>
          <p:cNvSpPr/>
          <p:nvPr/>
        </p:nvSpPr>
        <p:spPr>
          <a:xfrm>
            <a:off x="8147304" y="4864608"/>
            <a:ext cx="1133856" cy="1371600"/>
          </a:xfrm>
          <a:prstGeom prst="roundRect">
            <a:avLst>
              <a:gd name="adj" fmla="val 6452"/>
            </a:avLst>
          </a:prstGeom>
          <a:solidFill>
            <a:srgbClr val="EEF3FB"/>
          </a:solidFill>
          <a:ln w="12700">
            <a:solidFill>
              <a:srgbClr val="EEF3FB"/>
            </a:solidFill>
            <a:prstDash val="solid"/>
          </a:ln>
        </p:spPr>
      </p:sp>
      <p:sp>
        <p:nvSpPr>
          <p:cNvPr id="91" name="Text 89"/>
          <p:cNvSpPr txBox="1"/>
          <p:nvPr/>
        </p:nvSpPr>
        <p:spPr>
          <a:xfrm>
            <a:off x="8147304" y="4919472"/>
            <a:ext cx="1133856" cy="182880"/>
          </a:xfrm>
          <a:prstGeom prst="rect">
            <a:avLst/>
          </a:prstGeom>
          <a:noFill/>
          <a:ln/>
        </p:spPr>
        <p:txBody>
          <a:bodyPr wrap="square" lIns="0" tIns="0" rIns="0" bIns="0" rtlCol="0" anchor="t"/>
          <a:lstStyle/>
          <a:p>
            <a:pPr algn="ctr" indent="0" marL="0">
              <a:buNone/>
            </a:pPr>
            <a:r>
              <a:rPr lang="en-US" sz="850" b="1" dirty="0">
                <a:solidFill>
                  <a:srgbClr val="CC0000"/>
                </a:solidFill>
                <a:latin typeface="Calibri" pitchFamily="34" charset="0"/>
                <a:ea typeface="Calibri" pitchFamily="34" charset="-122"/>
                <a:cs typeface="Calibri" pitchFamily="34" charset="-120"/>
              </a:rPr>
              <a:t>STAPLES</a:t>
            </a:r>
            <a:endParaRPr lang="en-US" sz="850" dirty="0"/>
          </a:p>
        </p:txBody>
      </p:sp>
      <p:sp>
        <p:nvSpPr>
          <p:cNvPr id="92" name="Text 90"/>
          <p:cNvSpPr txBox="1"/>
          <p:nvPr/>
        </p:nvSpPr>
        <p:spPr>
          <a:xfrm>
            <a:off x="8147304" y="5074920"/>
            <a:ext cx="1133856" cy="347472"/>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2%</a:t>
            </a:r>
            <a:endParaRPr lang="en-US" sz="2200" dirty="0"/>
          </a:p>
        </p:txBody>
      </p:sp>
      <p:sp>
        <p:nvSpPr>
          <p:cNvPr id="93" name="Text 91"/>
          <p:cNvSpPr txBox="1"/>
          <p:nvPr/>
        </p:nvSpPr>
        <p:spPr>
          <a:xfrm>
            <a:off x="8147304" y="5449824"/>
            <a:ext cx="1133856" cy="182880"/>
          </a:xfrm>
          <a:prstGeom prst="rect">
            <a:avLst/>
          </a:prstGeom>
          <a:noFill/>
          <a:ln/>
        </p:spPr>
        <p:txBody>
          <a:bodyPr wrap="square" lIns="0" tIns="0" rIns="0" bIns="0" rtlCol="0" anchor="t"/>
          <a:lstStyle/>
          <a:p>
            <a:pPr algn="ctr" indent="0" marL="0">
              <a:buNone/>
            </a:pPr>
            <a:r>
              <a:rPr lang="en-US" sz="850" b="1" dirty="0">
                <a:solidFill>
                  <a:srgbClr val="C45500"/>
                </a:solidFill>
                <a:latin typeface="Calibri" pitchFamily="34" charset="0"/>
                <a:ea typeface="Calibri" pitchFamily="34" charset="-122"/>
                <a:cs typeface="Calibri" pitchFamily="34" charset="-120"/>
              </a:rPr>
              <a:t>AMAZON</a:t>
            </a:r>
            <a:endParaRPr lang="en-US" sz="850" dirty="0"/>
          </a:p>
        </p:txBody>
      </p:sp>
      <p:sp>
        <p:nvSpPr>
          <p:cNvPr id="94" name="Text 92"/>
          <p:cNvSpPr txBox="1"/>
          <p:nvPr/>
        </p:nvSpPr>
        <p:spPr>
          <a:xfrm>
            <a:off x="8147304" y="5605272"/>
            <a:ext cx="1133856" cy="347472"/>
          </a:xfrm>
          <a:prstGeom prst="rect">
            <a:avLst/>
          </a:prstGeom>
          <a:noFill/>
          <a:ln/>
        </p:spPr>
        <p:txBody>
          <a:bodyPr wrap="square" lIns="0" tIns="0" rIns="0" bIns="0" rtlCol="0" anchor="ctr"/>
          <a:lstStyle/>
          <a:p>
            <a:pPr algn="ctr" indent="0" marL="0">
              <a:buNone/>
            </a:pPr>
            <a:r>
              <a:rPr lang="en-US" sz="2200" b="1" dirty="0">
                <a:solidFill>
                  <a:srgbClr val="C45500"/>
                </a:solidFill>
                <a:latin typeface="Calibri" pitchFamily="34" charset="0"/>
                <a:ea typeface="Calibri" pitchFamily="34" charset="-122"/>
                <a:cs typeface="Calibri" pitchFamily="34" charset="-120"/>
              </a:rPr>
              <a:t>77%</a:t>
            </a:r>
            <a:endParaRPr lang="en-US" sz="2200" dirty="0"/>
          </a:p>
        </p:txBody>
      </p:sp>
      <p:sp>
        <p:nvSpPr>
          <p:cNvPr id="95" name="Text 93"/>
          <p:cNvSpPr txBox="1"/>
          <p:nvPr/>
        </p:nvSpPr>
        <p:spPr>
          <a:xfrm>
            <a:off x="8165592" y="5980176"/>
            <a:ext cx="1097280" cy="237744"/>
          </a:xfrm>
          <a:prstGeom prst="rect">
            <a:avLst/>
          </a:prstGeom>
          <a:noFill/>
          <a:ln/>
        </p:spPr>
        <p:txBody>
          <a:bodyPr wrap="square" lIns="0" tIns="0" rIns="0" bIns="0" rtlCol="0" anchor="ctr"/>
          <a:lstStyle/>
          <a:p>
            <a:pPr algn="ctr" indent="0" marL="0">
              <a:buNone/>
            </a:pPr>
            <a:r>
              <a:rPr lang="en-US" sz="900" dirty="0">
                <a:solidFill>
                  <a:srgbClr val="5B6475"/>
                </a:solidFill>
                <a:latin typeface="Calibri" pitchFamily="34" charset="0"/>
                <a:ea typeface="Calibri" pitchFamily="34" charset="-122"/>
                <a:cs typeface="Calibri" pitchFamily="34" charset="-120"/>
              </a:rPr>
              <a:t>wood-tone</a:t>
            </a:r>
            <a:endParaRPr lang="en-US" sz="900" dirty="0"/>
          </a:p>
        </p:txBody>
      </p:sp>
      <p:sp>
        <p:nvSpPr>
          <p:cNvPr id="96" name="Text 94"/>
          <p:cNvSpPr txBox="1"/>
          <p:nvPr/>
        </p:nvSpPr>
        <p:spPr>
          <a:xfrm>
            <a:off x="9400032" y="4882896"/>
            <a:ext cx="2286000" cy="274320"/>
          </a:xfrm>
          <a:prstGeom prst="rect">
            <a:avLst/>
          </a:prstGeom>
          <a:noFill/>
          <a:ln/>
        </p:spPr>
        <p:txBody>
          <a:bodyPr wrap="square" lIns="0" tIns="0" rIns="0" bIns="0" rtlCol="0" anchor="t"/>
          <a:lstStyle/>
          <a:p>
            <a:pPr indent="0" marL="0">
              <a:buNone/>
            </a:pPr>
            <a:r>
              <a:rPr lang="en-US" sz="1300" b="1" dirty="0">
                <a:solidFill>
                  <a:srgbClr val="13285B"/>
                </a:solidFill>
                <a:latin typeface="Calibri" pitchFamily="34" charset="0"/>
                <a:ea typeface="Calibri" pitchFamily="34" charset="-122"/>
                <a:cs typeface="Calibri" pitchFamily="34" charset="-120"/>
              </a:rPr>
              <a:t>Coffee Organizers &amp; Dispensers</a:t>
            </a:r>
            <a:endParaRPr lang="en-US" sz="1300" dirty="0"/>
          </a:p>
        </p:txBody>
      </p:sp>
      <p:sp>
        <p:nvSpPr>
          <p:cNvPr id="97" name="Text 95"/>
          <p:cNvSpPr txBox="1"/>
          <p:nvPr/>
        </p:nvSpPr>
        <p:spPr>
          <a:xfrm>
            <a:off x="9400032" y="5175504"/>
            <a:ext cx="2286000" cy="658368"/>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84% of Staples' coffee organizers are black and none is under $15 (Amazon 17%).</a:t>
            </a:r>
            <a:endParaRPr lang="en-US" sz="1050" dirty="0"/>
          </a:p>
        </p:txBody>
      </p:sp>
      <p:sp>
        <p:nvSpPr>
          <p:cNvPr id="98" name="Text 96"/>
          <p:cNvSpPr txBox="1"/>
          <p:nvPr/>
        </p:nvSpPr>
        <p:spPr>
          <a:xfrm>
            <a:off x="9400032" y="5833872"/>
            <a:ext cx="2286000" cy="402336"/>
          </a:xfrm>
          <a:prstGeom prst="rect">
            <a:avLst/>
          </a:prstGeom>
          <a:noFill/>
          <a:ln/>
        </p:spPr>
        <p:txBody>
          <a:bodyPr wrap="square" lIns="0" tIns="0" rIns="0" bIns="0" rtlCol="0" anchor="t"/>
          <a:lstStyle/>
          <a:p>
            <a:pPr indent="0" marL="0">
              <a:buNone/>
            </a:pPr>
            <a:r>
              <a:rPr lang="en-US" sz="1050" b="1" i="1" dirty="0">
                <a:solidFill>
                  <a:srgbClr val="1F4E9A"/>
                </a:solidFill>
                <a:latin typeface="Calibri" pitchFamily="34" charset="0"/>
                <a:ea typeface="Calibri" pitchFamily="34" charset="-122"/>
                <a:cs typeface="Calibri" pitchFamily="34" charset="-120"/>
              </a:rPr>
              <a:t>So what: </a:t>
            </a:r>
            <a:pPr indent="0" marL="0">
              <a:buNone/>
            </a:pPr>
            <a:r>
              <a:rPr lang="en-US" sz="1050" i="1" dirty="0">
                <a:solidFill>
                  <a:srgbClr val="1F4E9A"/>
                </a:solidFill>
                <a:latin typeface="Calibri" pitchFamily="34" charset="0"/>
                <a:ea typeface="Calibri" pitchFamily="34" charset="-122"/>
                <a:cs typeface="Calibri" pitchFamily="34" charset="-120"/>
              </a:rPr>
              <a:t>Bamboo pod drawers bring the kitchen-counter look.</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Recommendations: Top 2 Archetypes to Add per Node</a:t>
            </a:r>
            <a:endParaRPr lang="en-US" sz="2800" dirty="0"/>
          </a:p>
        </p:txBody>
      </p:sp>
      <p:sp>
        <p:nvSpPr>
          <p:cNvPr id="3" name="Shape 1"/>
          <p:cNvSpPr/>
          <p:nvPr/>
        </p:nvSpPr>
        <p:spPr>
          <a:xfrm>
            <a:off x="868680" y="1115568"/>
            <a:ext cx="3584448" cy="365760"/>
          </a:xfrm>
          <a:prstGeom prst="roundRect">
            <a:avLst>
              <a:gd name="adj" fmla="val 15000"/>
            </a:avLst>
          </a:prstGeom>
          <a:solidFill>
            <a:srgbClr val="13285B"/>
          </a:solidFill>
          <a:ln w="12700">
            <a:solidFill>
              <a:srgbClr val="13285B"/>
            </a:solidFill>
            <a:prstDash val="solid"/>
          </a:ln>
        </p:spPr>
      </p:sp>
      <p:sp>
        <p:nvSpPr>
          <p:cNvPr id="4" name="Text 2"/>
          <p:cNvSpPr txBox="1"/>
          <p:nvPr/>
        </p:nvSpPr>
        <p:spPr>
          <a:xfrm>
            <a:off x="868680" y="1115568"/>
            <a:ext cx="3584448"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HERO · EXTEND</a:t>
            </a:r>
            <a:endParaRPr lang="en-US" sz="1250" dirty="0"/>
          </a:p>
        </p:txBody>
      </p:sp>
      <p:sp>
        <p:nvSpPr>
          <p:cNvPr id="5" name="Shape 3"/>
          <p:cNvSpPr/>
          <p:nvPr/>
        </p:nvSpPr>
        <p:spPr>
          <a:xfrm>
            <a:off x="411480" y="1554480"/>
            <a:ext cx="384048" cy="1481328"/>
          </a:xfrm>
          <a:prstGeom prst="roundRect">
            <a:avLst>
              <a:gd name="adj" fmla="val 14286"/>
            </a:avLst>
          </a:prstGeom>
          <a:solidFill>
            <a:srgbClr val="DCE7F8"/>
          </a:solidFill>
          <a:ln w="12700">
            <a:solidFill>
              <a:srgbClr val="DCE7F8"/>
            </a:solidFill>
            <a:prstDash val="solid"/>
          </a:ln>
        </p:spPr>
      </p:sp>
      <p:sp>
        <p:nvSpPr>
          <p:cNvPr id="6" name="Text 4"/>
          <p:cNvSpPr txBox="1"/>
          <p:nvPr/>
        </p:nvSpPr>
        <p:spPr>
          <a:xfrm>
            <a:off x="411480" y="1554480"/>
            <a:ext cx="384048" cy="1481328"/>
          </a:xfrm>
          <a:prstGeom prst="rect">
            <a:avLst/>
          </a:prstGeom>
          <a:noFill/>
          <a:ln/>
        </p:spPr>
        <p:txBody>
          <a:bodyPr wrap="square" lIns="0" tIns="0" rIns="0" bIns="0" rtlCol="0" anchor="ctr"/>
          <a:lstStyle/>
          <a:p>
            <a:pPr algn="ctr" indent="0" marL="0">
              <a:buNone/>
            </a:pPr>
            <a:r>
              <a:rPr lang="en-US" sz="1300" b="1" dirty="0">
                <a:solidFill>
                  <a:srgbClr val="13285B"/>
                </a:solidFill>
                <a:latin typeface="Calibri" pitchFamily="34" charset="0"/>
                <a:ea typeface="Calibri" pitchFamily="34" charset="-122"/>
                <a:cs typeface="Calibri" pitchFamily="34" charset="-120"/>
              </a:rPr>
              <a:t>#1</a:t>
            </a:r>
            <a:endParaRPr lang="en-US" sz="1300" dirty="0"/>
          </a:p>
        </p:txBody>
      </p:sp>
      <p:sp>
        <p:nvSpPr>
          <p:cNvPr id="7" name="Shape 5"/>
          <p:cNvSpPr/>
          <p:nvPr/>
        </p:nvSpPr>
        <p:spPr>
          <a:xfrm>
            <a:off x="868680" y="1554480"/>
            <a:ext cx="3584448" cy="1481328"/>
          </a:xfrm>
          <a:prstGeom prst="roundRect">
            <a:avLst>
              <a:gd name="adj" fmla="val 4938"/>
            </a:avLst>
          </a:prstGeom>
          <a:solidFill>
            <a:srgbClr val="FFFFFF"/>
          </a:solidFill>
          <a:ln w="9525">
            <a:solidFill>
              <a:srgbClr val="C9D3E3"/>
            </a:solidFill>
            <a:prstDash val="solid"/>
          </a:ln>
        </p:spPr>
      </p:sp>
      <p:sp>
        <p:nvSpPr>
          <p:cNvPr id="8" name="Text 6"/>
          <p:cNvSpPr txBox="1"/>
          <p:nvPr/>
        </p:nvSpPr>
        <p:spPr>
          <a:xfrm>
            <a:off x="978408" y="1609344"/>
            <a:ext cx="2578608" cy="256032"/>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Planners &amp; Personal Organizers</a:t>
            </a:r>
            <a:endParaRPr lang="en-US" sz="1250" dirty="0"/>
          </a:p>
        </p:txBody>
      </p:sp>
      <p:sp>
        <p:nvSpPr>
          <p:cNvPr id="9" name="Shape 7"/>
          <p:cNvSpPr/>
          <p:nvPr/>
        </p:nvSpPr>
        <p:spPr>
          <a:xfrm>
            <a:off x="3584448" y="1627632"/>
            <a:ext cx="777240" cy="219456"/>
          </a:xfrm>
          <a:prstGeom prst="roundRect">
            <a:avLst>
              <a:gd name="adj" fmla="val 50000"/>
            </a:avLst>
          </a:prstGeom>
          <a:solidFill>
            <a:srgbClr val="C45500"/>
          </a:solidFill>
          <a:ln w="12700">
            <a:solidFill>
              <a:srgbClr val="C45500"/>
            </a:solidFill>
            <a:prstDash val="solid"/>
          </a:ln>
        </p:spPr>
      </p:sp>
      <p:sp>
        <p:nvSpPr>
          <p:cNvPr id="10" name="Text 8"/>
          <p:cNvSpPr txBox="1"/>
          <p:nvPr/>
        </p:nvSpPr>
        <p:spPr>
          <a:xfrm>
            <a:off x="3584448" y="1627632"/>
            <a:ext cx="77724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Amazon</a:t>
            </a:r>
            <a:endParaRPr lang="en-US" sz="900" dirty="0"/>
          </a:p>
        </p:txBody>
      </p:sp>
      <p:sp>
        <p:nvSpPr>
          <p:cNvPr id="11" name="Shape 9"/>
          <p:cNvSpPr/>
          <p:nvPr/>
        </p:nvSpPr>
        <p:spPr>
          <a:xfrm>
            <a:off x="978408" y="1920240"/>
            <a:ext cx="768096" cy="192024"/>
          </a:xfrm>
          <a:prstGeom prst="roundRect">
            <a:avLst>
              <a:gd name="adj" fmla="val 50000"/>
            </a:avLst>
          </a:prstGeom>
          <a:solidFill>
            <a:srgbClr val="1E8E5A"/>
          </a:solidFill>
          <a:ln w="12700">
            <a:solidFill>
              <a:srgbClr val="1E8E5A"/>
            </a:solidFill>
            <a:prstDash val="solid"/>
          </a:ln>
        </p:spPr>
      </p:sp>
      <p:sp>
        <p:nvSpPr>
          <p:cNvPr id="12" name="Text 10"/>
          <p:cNvSpPr txBox="1"/>
          <p:nvPr/>
        </p:nvSpPr>
        <p:spPr>
          <a:xfrm>
            <a:off x="978408" y="1920240"/>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Strong</a:t>
            </a:r>
            <a:endParaRPr lang="en-US" sz="850" dirty="0"/>
          </a:p>
        </p:txBody>
      </p:sp>
      <p:sp>
        <p:nvSpPr>
          <p:cNvPr id="13" name="Text 11"/>
          <p:cNvSpPr txBox="1"/>
          <p:nvPr/>
        </p:nvSpPr>
        <p:spPr>
          <a:xfrm>
            <a:off x="1810512" y="1892808"/>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1" invalidUrl="" action="" tgtFrame="" tooltip="Open example on Amazon" history="1" highlightClick="0" endSnd="0">
                  <a:extLst>
                    <a:ext uri="{A12FA001-AC4F-418D-AE19-62706E023703}">
                      <ahyp:hlinkClr xmlns:ahyp="http://schemas.microsoft.com/office/drawing/2018/hyperlinkcolor" val="tx"/>
                    </a:ext>
                  </a:extLst>
                </a:hlinkClick>
              </a:rPr>
              <a:t>Minimal multi-year monthly planner</a:t>
            </a:r>
            <a:endParaRPr lang="en-US" sz="1100" dirty="0"/>
          </a:p>
        </p:txBody>
      </p:sp>
      <p:sp>
        <p:nvSpPr>
          <p:cNvPr id="14" name="Text 12"/>
          <p:cNvSpPr txBox="1"/>
          <p:nvPr/>
        </p:nvSpPr>
        <p:spPr>
          <a:xfrm>
            <a:off x="978408" y="2139696"/>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Plain designs: Staples 37% vs Amazon 78%</a:t>
            </a:r>
            <a:pPr indent="0" marL="0">
              <a:buNone/>
            </a:pPr>
            <a:r>
              <a:rPr lang="en-US" sz="950" b="1" dirty="0">
                <a:solidFill>
                  <a:srgbClr val="B86E00"/>
                </a:solidFill>
                <a:latin typeface="Calibri" pitchFamily="34" charset="0"/>
                <a:ea typeface="Calibri" pitchFamily="34" charset="-122"/>
                <a:cs typeface="Calibri" pitchFamily="34" charset="-120"/>
              </a:rPr>
              <a:t>  ·  DEEPEN</a:t>
            </a:r>
            <a:endParaRPr lang="en-US" sz="950" dirty="0"/>
          </a:p>
        </p:txBody>
      </p:sp>
      <p:sp>
        <p:nvSpPr>
          <p:cNvPr id="15" name="Text 13"/>
          <p:cNvSpPr txBox="1"/>
          <p:nvPr/>
        </p:nvSpPr>
        <p:spPr>
          <a:xfrm>
            <a:off x="978408" y="2295144"/>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2027-2029 Monthly Planner - 3 Year Calendar 2027-2028-2029 Monthly Planner" history="1" highlightClick="0" endSnd="0">
                  <a:extLst>
                    <a:ext uri="{A12FA001-AC4F-418D-AE19-62706E023703}">
                      <ahyp:hlinkClr xmlns:ahyp="http://schemas.microsoft.com/office/drawing/2018/hyperlinkcolor" val="tx"/>
                    </a:ext>
                  </a:extLst>
                </a:hlinkClick>
              </a:rPr>
              <a:t>2027-2029 Monthly Planner - 3 Year… · $17.49 ↗</a:t>
            </a:r>
            <a:endParaRPr lang="en-US" sz="950" dirty="0"/>
          </a:p>
        </p:txBody>
      </p:sp>
      <p:sp>
        <p:nvSpPr>
          <p:cNvPr id="16" name="Shape 14"/>
          <p:cNvSpPr/>
          <p:nvPr/>
        </p:nvSpPr>
        <p:spPr>
          <a:xfrm>
            <a:off x="978408" y="2423160"/>
            <a:ext cx="3364992" cy="0"/>
          </a:xfrm>
          <a:prstGeom prst="line">
            <a:avLst/>
          </a:prstGeom>
          <a:noFill/>
          <a:ln w="9525">
            <a:solidFill>
              <a:srgbClr val="E3E8F0"/>
            </a:solidFill>
            <a:prstDash val="solid"/>
          </a:ln>
        </p:spPr>
      </p:sp>
      <p:sp>
        <p:nvSpPr>
          <p:cNvPr id="17" name="Shape 15"/>
          <p:cNvSpPr/>
          <p:nvPr/>
        </p:nvSpPr>
        <p:spPr>
          <a:xfrm>
            <a:off x="978408" y="2487168"/>
            <a:ext cx="768096" cy="192024"/>
          </a:xfrm>
          <a:prstGeom prst="roundRect">
            <a:avLst>
              <a:gd name="adj" fmla="val 50000"/>
            </a:avLst>
          </a:prstGeom>
          <a:solidFill>
            <a:srgbClr val="B86E00"/>
          </a:solidFill>
          <a:ln w="12700">
            <a:solidFill>
              <a:srgbClr val="B86E00"/>
            </a:solidFill>
            <a:prstDash val="solid"/>
          </a:ln>
        </p:spPr>
      </p:sp>
      <p:sp>
        <p:nvSpPr>
          <p:cNvPr id="18" name="Text 16"/>
          <p:cNvSpPr txBox="1"/>
          <p:nvPr/>
        </p:nvSpPr>
        <p:spPr>
          <a:xfrm>
            <a:off x="978408" y="2487168"/>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Gap-led</a:t>
            </a:r>
            <a:endParaRPr lang="en-US" sz="850" dirty="0"/>
          </a:p>
        </p:txBody>
      </p:sp>
      <p:sp>
        <p:nvSpPr>
          <p:cNvPr id="19" name="Text 17"/>
          <p:cNvSpPr txBox="1"/>
          <p:nvPr/>
        </p:nvSpPr>
        <p:spPr>
          <a:xfrm>
            <a:off x="1810512" y="2459736"/>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3" invalidUrl="" action="" tgtFrame="" tooltip="Open example on Amazon" history="1" highlightClick="0" endSnd="0">
                  <a:extLst>
                    <a:ext uri="{A12FA001-AC4F-418D-AE19-62706E023703}">
                      <ahyp:hlinkClr xmlns:ahyp="http://schemas.microsoft.com/office/drawing/2018/hyperlinkcolor" val="tx"/>
                    </a:ext>
                  </a:extLst>
                </a:hlinkClick>
              </a:rPr>
              <a:t>Guided / daily journal</a:t>
            </a:r>
            <a:endParaRPr lang="en-US" sz="1100" dirty="0"/>
          </a:p>
        </p:txBody>
      </p:sp>
      <p:sp>
        <p:nvSpPr>
          <p:cNvPr id="20" name="Text 18"/>
          <p:cNvSpPr txBox="1"/>
          <p:nvPr/>
        </p:nvSpPr>
        <p:spPr>
          <a:xfrm>
            <a:off x="978408" y="2706624"/>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Staples 2 of 805 · Amazon 17% of range</a:t>
            </a:r>
            <a:pPr indent="0" marL="0">
              <a:buNone/>
            </a:pPr>
            <a:r>
              <a:rPr lang="en-US" sz="950" b="1" dirty="0">
                <a:solidFill>
                  <a:srgbClr val="1E8E5A"/>
                </a:solidFill>
                <a:latin typeface="Calibri" pitchFamily="34" charset="0"/>
                <a:ea typeface="Calibri" pitchFamily="34" charset="-122"/>
                <a:cs typeface="Calibri" pitchFamily="34" charset="-120"/>
              </a:rPr>
              <a:t>  ·  ADD</a:t>
            </a:r>
            <a:endParaRPr lang="en-US" sz="950" dirty="0"/>
          </a:p>
        </p:txBody>
      </p:sp>
      <p:sp>
        <p:nvSpPr>
          <p:cNvPr id="21" name="Text 19"/>
          <p:cNvSpPr txBox="1"/>
          <p:nvPr/>
        </p:nvSpPr>
        <p:spPr>
          <a:xfrm>
            <a:off x="978408" y="2862072"/>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LEATHER VILLAGE Leather Bound Journal Key Lock, Distressed Brown 8x6." history="1" highlightClick="0" endSnd="0">
                  <a:extLst>
                    <a:ext uri="{A12FA001-AC4F-418D-AE19-62706E023703}">
                      <ahyp:hlinkClr xmlns:ahyp="http://schemas.microsoft.com/office/drawing/2018/hyperlinkcolor" val="tx"/>
                    </a:ext>
                  </a:extLst>
                </a:hlinkClick>
              </a:rPr>
              <a:t>LEATHER VILLAGE Leather Bound Journal Key… · $29.99 ↗</a:t>
            </a:r>
            <a:endParaRPr lang="en-US" sz="950" dirty="0"/>
          </a:p>
        </p:txBody>
      </p:sp>
      <p:sp>
        <p:nvSpPr>
          <p:cNvPr id="22" name="Shape 20"/>
          <p:cNvSpPr/>
          <p:nvPr/>
        </p:nvSpPr>
        <p:spPr>
          <a:xfrm>
            <a:off x="411480" y="3090672"/>
            <a:ext cx="384048" cy="1481328"/>
          </a:xfrm>
          <a:prstGeom prst="roundRect">
            <a:avLst>
              <a:gd name="adj" fmla="val 14286"/>
            </a:avLst>
          </a:prstGeom>
          <a:solidFill>
            <a:srgbClr val="DCE7F8"/>
          </a:solidFill>
          <a:ln w="12700">
            <a:solidFill>
              <a:srgbClr val="DCE7F8"/>
            </a:solidFill>
            <a:prstDash val="solid"/>
          </a:ln>
        </p:spPr>
      </p:sp>
      <p:sp>
        <p:nvSpPr>
          <p:cNvPr id="23" name="Text 21"/>
          <p:cNvSpPr txBox="1"/>
          <p:nvPr/>
        </p:nvSpPr>
        <p:spPr>
          <a:xfrm>
            <a:off x="411480" y="3090672"/>
            <a:ext cx="384048" cy="1481328"/>
          </a:xfrm>
          <a:prstGeom prst="rect">
            <a:avLst/>
          </a:prstGeom>
          <a:noFill/>
          <a:ln/>
        </p:spPr>
        <p:txBody>
          <a:bodyPr wrap="square" lIns="0" tIns="0" rIns="0" bIns="0" rtlCol="0" anchor="ctr"/>
          <a:lstStyle/>
          <a:p>
            <a:pPr algn="ctr" indent="0" marL="0">
              <a:buNone/>
            </a:pPr>
            <a:r>
              <a:rPr lang="en-US" sz="1300" b="1" dirty="0">
                <a:solidFill>
                  <a:srgbClr val="13285B"/>
                </a:solidFill>
                <a:latin typeface="Calibri" pitchFamily="34" charset="0"/>
                <a:ea typeface="Calibri" pitchFamily="34" charset="-122"/>
                <a:cs typeface="Calibri" pitchFamily="34" charset="-120"/>
              </a:rPr>
              <a:t>#2</a:t>
            </a:r>
            <a:endParaRPr lang="en-US" sz="1300" dirty="0"/>
          </a:p>
        </p:txBody>
      </p:sp>
      <p:sp>
        <p:nvSpPr>
          <p:cNvPr id="24" name="Shape 22"/>
          <p:cNvSpPr/>
          <p:nvPr/>
        </p:nvSpPr>
        <p:spPr>
          <a:xfrm>
            <a:off x="868680" y="3090672"/>
            <a:ext cx="3584448" cy="1481328"/>
          </a:xfrm>
          <a:prstGeom prst="roundRect">
            <a:avLst>
              <a:gd name="adj" fmla="val 4938"/>
            </a:avLst>
          </a:prstGeom>
          <a:solidFill>
            <a:srgbClr val="FFFFFF"/>
          </a:solidFill>
          <a:ln w="9525">
            <a:solidFill>
              <a:srgbClr val="C9D3E3"/>
            </a:solidFill>
            <a:prstDash val="solid"/>
          </a:ln>
        </p:spPr>
      </p:sp>
      <p:sp>
        <p:nvSpPr>
          <p:cNvPr id="25" name="Text 23"/>
          <p:cNvSpPr txBox="1"/>
          <p:nvPr/>
        </p:nvSpPr>
        <p:spPr>
          <a:xfrm>
            <a:off x="978408" y="3145536"/>
            <a:ext cx="2578608" cy="256032"/>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Backpacks</a:t>
            </a:r>
            <a:endParaRPr lang="en-US" sz="1250" dirty="0"/>
          </a:p>
        </p:txBody>
      </p:sp>
      <p:sp>
        <p:nvSpPr>
          <p:cNvPr id="26" name="Shape 24"/>
          <p:cNvSpPr/>
          <p:nvPr/>
        </p:nvSpPr>
        <p:spPr>
          <a:xfrm>
            <a:off x="3584448" y="3163824"/>
            <a:ext cx="777240" cy="219456"/>
          </a:xfrm>
          <a:prstGeom prst="roundRect">
            <a:avLst>
              <a:gd name="adj" fmla="val 50000"/>
            </a:avLst>
          </a:prstGeom>
          <a:solidFill>
            <a:srgbClr val="C45500"/>
          </a:solidFill>
          <a:ln w="12700">
            <a:solidFill>
              <a:srgbClr val="C45500"/>
            </a:solidFill>
            <a:prstDash val="solid"/>
          </a:ln>
        </p:spPr>
      </p:sp>
      <p:sp>
        <p:nvSpPr>
          <p:cNvPr id="27" name="Text 25"/>
          <p:cNvSpPr txBox="1"/>
          <p:nvPr/>
        </p:nvSpPr>
        <p:spPr>
          <a:xfrm>
            <a:off x="3584448" y="3163824"/>
            <a:ext cx="77724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Amazon</a:t>
            </a:r>
            <a:endParaRPr lang="en-US" sz="900" dirty="0"/>
          </a:p>
        </p:txBody>
      </p:sp>
      <p:sp>
        <p:nvSpPr>
          <p:cNvPr id="28" name="Shape 26"/>
          <p:cNvSpPr/>
          <p:nvPr/>
        </p:nvSpPr>
        <p:spPr>
          <a:xfrm>
            <a:off x="978408" y="3456432"/>
            <a:ext cx="768096" cy="192024"/>
          </a:xfrm>
          <a:prstGeom prst="roundRect">
            <a:avLst>
              <a:gd name="adj" fmla="val 50000"/>
            </a:avLst>
          </a:prstGeom>
          <a:solidFill>
            <a:srgbClr val="B86E00"/>
          </a:solidFill>
          <a:ln w="12700">
            <a:solidFill>
              <a:srgbClr val="B86E00"/>
            </a:solidFill>
            <a:prstDash val="solid"/>
          </a:ln>
        </p:spPr>
      </p:sp>
      <p:sp>
        <p:nvSpPr>
          <p:cNvPr id="29" name="Text 27"/>
          <p:cNvSpPr txBox="1"/>
          <p:nvPr/>
        </p:nvSpPr>
        <p:spPr>
          <a:xfrm>
            <a:off x="978408" y="3456432"/>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Gap-led</a:t>
            </a:r>
            <a:endParaRPr lang="en-US" sz="850" dirty="0"/>
          </a:p>
        </p:txBody>
      </p:sp>
      <p:sp>
        <p:nvSpPr>
          <p:cNvPr id="30" name="Text 28"/>
          <p:cNvSpPr txBox="1"/>
          <p:nvPr/>
        </p:nvSpPr>
        <p:spPr>
          <a:xfrm>
            <a:off x="1810512" y="3429000"/>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5" invalidUrl="" action="" tgtFrame="" tooltip="Open example on Amazon" history="1" highlightClick="0" endSnd="0">
                  <a:extLst>
                    <a:ext uri="{A12FA001-AC4F-418D-AE19-62706E023703}">
                      <ahyp:hlinkClr xmlns:ahyp="http://schemas.microsoft.com/office/drawing/2018/hyperlinkcolor" val="tx"/>
                    </a:ext>
                  </a:extLst>
                </a:hlinkClick>
              </a:rPr>
              <a:t>Hiking / outdoor daypack (unisex)</a:t>
            </a:r>
            <a:endParaRPr lang="en-US" sz="1100" dirty="0"/>
          </a:p>
        </p:txBody>
      </p:sp>
      <p:sp>
        <p:nvSpPr>
          <p:cNvPr id="31" name="Text 29"/>
          <p:cNvSpPr txBox="1"/>
          <p:nvPr/>
        </p:nvSpPr>
        <p:spPr>
          <a:xfrm>
            <a:off x="978408" y="3675888"/>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Hiking packs: Staples 1% vs Amazon 40%</a:t>
            </a:r>
            <a:pPr indent="0" marL="0">
              <a:buNone/>
            </a:pPr>
            <a:r>
              <a:rPr lang="en-US" sz="950" b="1" dirty="0">
                <a:solidFill>
                  <a:srgbClr val="1E8E5A"/>
                </a:solidFill>
                <a:latin typeface="Calibri" pitchFamily="34" charset="0"/>
                <a:ea typeface="Calibri" pitchFamily="34" charset="-122"/>
                <a:cs typeface="Calibri" pitchFamily="34" charset="-120"/>
              </a:rPr>
              <a:t>  ·  ADD</a:t>
            </a:r>
            <a:endParaRPr lang="en-US" sz="950" dirty="0"/>
          </a:p>
        </p:txBody>
      </p:sp>
      <p:sp>
        <p:nvSpPr>
          <p:cNvPr id="32" name="Text 30"/>
          <p:cNvSpPr txBox="1"/>
          <p:nvPr/>
        </p:nvSpPr>
        <p:spPr>
          <a:xfrm>
            <a:off x="978408" y="3831336"/>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25L Hiking Backpack for Men Women - Waterproof Daypack with Whistle &amp; Anti Theft Zippers &amp; Multi Compartments for Camping, Travel &amp; Outdoor Day Hikes (Black)" history="1" highlightClick="0" endSnd="0">
                  <a:extLst>
                    <a:ext uri="{A12FA001-AC4F-418D-AE19-62706E023703}">
                      <ahyp:hlinkClr xmlns:ahyp="http://schemas.microsoft.com/office/drawing/2018/hyperlinkcolor" val="tx"/>
                    </a:ext>
                  </a:extLst>
                </a:hlinkClick>
              </a:rPr>
              <a:t>25L Hiking Backpack for Men Women … · $27.16 ↗</a:t>
            </a:r>
            <a:endParaRPr lang="en-US" sz="950" dirty="0"/>
          </a:p>
        </p:txBody>
      </p:sp>
      <p:sp>
        <p:nvSpPr>
          <p:cNvPr id="33" name="Shape 31"/>
          <p:cNvSpPr/>
          <p:nvPr/>
        </p:nvSpPr>
        <p:spPr>
          <a:xfrm>
            <a:off x="978408" y="3959352"/>
            <a:ext cx="3364992" cy="0"/>
          </a:xfrm>
          <a:prstGeom prst="line">
            <a:avLst/>
          </a:prstGeom>
          <a:noFill/>
          <a:ln w="9525">
            <a:solidFill>
              <a:srgbClr val="E3E8F0"/>
            </a:solidFill>
            <a:prstDash val="solid"/>
          </a:ln>
        </p:spPr>
      </p:sp>
      <p:sp>
        <p:nvSpPr>
          <p:cNvPr id="34" name="Shape 32"/>
          <p:cNvSpPr/>
          <p:nvPr/>
        </p:nvSpPr>
        <p:spPr>
          <a:xfrm>
            <a:off x="978408" y="4023360"/>
            <a:ext cx="768096" cy="192024"/>
          </a:xfrm>
          <a:prstGeom prst="roundRect">
            <a:avLst>
              <a:gd name="adj" fmla="val 50000"/>
            </a:avLst>
          </a:prstGeom>
          <a:solidFill>
            <a:srgbClr val="B86E00"/>
          </a:solidFill>
          <a:ln w="12700">
            <a:solidFill>
              <a:srgbClr val="B86E00"/>
            </a:solidFill>
            <a:prstDash val="solid"/>
          </a:ln>
        </p:spPr>
      </p:sp>
      <p:sp>
        <p:nvSpPr>
          <p:cNvPr id="35" name="Text 33"/>
          <p:cNvSpPr txBox="1"/>
          <p:nvPr/>
        </p:nvSpPr>
        <p:spPr>
          <a:xfrm>
            <a:off x="978408" y="4023360"/>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Gap-led</a:t>
            </a:r>
            <a:endParaRPr lang="en-US" sz="850" dirty="0"/>
          </a:p>
        </p:txBody>
      </p:sp>
      <p:sp>
        <p:nvSpPr>
          <p:cNvPr id="36" name="Text 34"/>
          <p:cNvSpPr txBox="1"/>
          <p:nvPr/>
        </p:nvSpPr>
        <p:spPr>
          <a:xfrm>
            <a:off x="1810512" y="3995928"/>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7" invalidUrl="" action="" tgtFrame="" tooltip="Open example on Amazon" history="1" highlightClick="0" endSnd="0">
                  <a:extLst>
                    <a:ext uri="{A12FA001-AC4F-418D-AE19-62706E023703}">
                      <ahyp:hlinkClr xmlns:ahyp="http://schemas.microsoft.com/office/drawing/2018/hyperlinkcolor" val="tx"/>
                    </a:ext>
                  </a:extLst>
                </a:hlinkClick>
              </a:rPr>
              <a:t>Travel / carry-on backpack (40L)</a:t>
            </a:r>
            <a:endParaRPr lang="en-US" sz="1100" dirty="0"/>
          </a:p>
        </p:txBody>
      </p:sp>
      <p:sp>
        <p:nvSpPr>
          <p:cNvPr id="37" name="Text 35"/>
          <p:cNvSpPr txBox="1"/>
          <p:nvPr/>
        </p:nvSpPr>
        <p:spPr>
          <a:xfrm>
            <a:off x="978408" y="4242816"/>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Travel packs: Staples 6% vs Amazon 28%</a:t>
            </a:r>
            <a:pPr indent="0" marL="0">
              <a:buNone/>
            </a:pPr>
            <a:r>
              <a:rPr lang="en-US" sz="950" b="1" dirty="0">
                <a:solidFill>
                  <a:srgbClr val="B86E00"/>
                </a:solidFill>
                <a:latin typeface="Calibri" pitchFamily="34" charset="0"/>
                <a:ea typeface="Calibri" pitchFamily="34" charset="-122"/>
                <a:cs typeface="Calibri" pitchFamily="34" charset="-120"/>
              </a:rPr>
              <a:t>  ·  DEEPEN</a:t>
            </a:r>
            <a:endParaRPr lang="en-US" sz="950" dirty="0"/>
          </a:p>
        </p:txBody>
      </p:sp>
      <p:sp>
        <p:nvSpPr>
          <p:cNvPr id="38" name="Text 36"/>
          <p:cNvSpPr txBox="1"/>
          <p:nvPr/>
        </p:nvSpPr>
        <p:spPr>
          <a:xfrm>
            <a:off x="978408" y="4398264"/>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EMPSIGN 40L Travel Backpack for Women &amp; Men" history="1" highlightClick="0" endSnd="0">
                  <a:extLst>
                    <a:ext uri="{A12FA001-AC4F-418D-AE19-62706E023703}">
                      <ahyp:hlinkClr xmlns:ahyp="http://schemas.microsoft.com/office/drawing/2018/hyperlinkcolor" val="tx"/>
                    </a:ext>
                  </a:extLst>
                </a:hlinkClick>
              </a:rPr>
              <a:t>EMPSIGN 40L Travel Backpack for Women &amp;… · $39.99 ↗</a:t>
            </a:r>
            <a:endParaRPr lang="en-US" sz="950" dirty="0"/>
          </a:p>
        </p:txBody>
      </p:sp>
      <p:sp>
        <p:nvSpPr>
          <p:cNvPr id="39" name="Shape 37"/>
          <p:cNvSpPr/>
          <p:nvPr/>
        </p:nvSpPr>
        <p:spPr>
          <a:xfrm>
            <a:off x="411480" y="4626864"/>
            <a:ext cx="384048" cy="1481328"/>
          </a:xfrm>
          <a:prstGeom prst="roundRect">
            <a:avLst>
              <a:gd name="adj" fmla="val 14286"/>
            </a:avLst>
          </a:prstGeom>
          <a:solidFill>
            <a:srgbClr val="DCE7F8"/>
          </a:solidFill>
          <a:ln w="12700">
            <a:solidFill>
              <a:srgbClr val="DCE7F8"/>
            </a:solidFill>
            <a:prstDash val="solid"/>
          </a:ln>
        </p:spPr>
      </p:sp>
      <p:sp>
        <p:nvSpPr>
          <p:cNvPr id="40" name="Text 38"/>
          <p:cNvSpPr txBox="1"/>
          <p:nvPr/>
        </p:nvSpPr>
        <p:spPr>
          <a:xfrm>
            <a:off x="411480" y="4626864"/>
            <a:ext cx="384048" cy="1481328"/>
          </a:xfrm>
          <a:prstGeom prst="rect">
            <a:avLst/>
          </a:prstGeom>
          <a:noFill/>
          <a:ln/>
        </p:spPr>
        <p:txBody>
          <a:bodyPr wrap="square" lIns="0" tIns="0" rIns="0" bIns="0" rtlCol="0" anchor="ctr"/>
          <a:lstStyle/>
          <a:p>
            <a:pPr algn="ctr" indent="0" marL="0">
              <a:buNone/>
            </a:pPr>
            <a:r>
              <a:rPr lang="en-US" sz="1300" b="1" dirty="0">
                <a:solidFill>
                  <a:srgbClr val="13285B"/>
                </a:solidFill>
                <a:latin typeface="Calibri" pitchFamily="34" charset="0"/>
                <a:ea typeface="Calibri" pitchFamily="34" charset="-122"/>
                <a:cs typeface="Calibri" pitchFamily="34" charset="-120"/>
              </a:rPr>
              <a:t>#3</a:t>
            </a:r>
            <a:endParaRPr lang="en-US" sz="1300" dirty="0"/>
          </a:p>
        </p:txBody>
      </p:sp>
      <p:sp>
        <p:nvSpPr>
          <p:cNvPr id="41" name="Shape 39"/>
          <p:cNvSpPr/>
          <p:nvPr/>
        </p:nvSpPr>
        <p:spPr>
          <a:xfrm>
            <a:off x="868680" y="4626864"/>
            <a:ext cx="3584448" cy="1481328"/>
          </a:xfrm>
          <a:prstGeom prst="roundRect">
            <a:avLst>
              <a:gd name="adj" fmla="val 4938"/>
            </a:avLst>
          </a:prstGeom>
          <a:solidFill>
            <a:srgbClr val="FFFFFF"/>
          </a:solidFill>
          <a:ln w="9525">
            <a:solidFill>
              <a:srgbClr val="C9D3E3"/>
            </a:solidFill>
            <a:prstDash val="solid"/>
          </a:ln>
        </p:spPr>
      </p:sp>
      <p:sp>
        <p:nvSpPr>
          <p:cNvPr id="42" name="Text 40"/>
          <p:cNvSpPr txBox="1"/>
          <p:nvPr/>
        </p:nvSpPr>
        <p:spPr>
          <a:xfrm>
            <a:off x="978408" y="4681728"/>
            <a:ext cx="2578608" cy="256032"/>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Office Desks</a:t>
            </a:r>
            <a:endParaRPr lang="en-US" sz="1250" dirty="0"/>
          </a:p>
        </p:txBody>
      </p:sp>
      <p:sp>
        <p:nvSpPr>
          <p:cNvPr id="43" name="Shape 41"/>
          <p:cNvSpPr/>
          <p:nvPr/>
        </p:nvSpPr>
        <p:spPr>
          <a:xfrm>
            <a:off x="3584448" y="4700016"/>
            <a:ext cx="777240" cy="219456"/>
          </a:xfrm>
          <a:prstGeom prst="roundRect">
            <a:avLst>
              <a:gd name="adj" fmla="val 50000"/>
            </a:avLst>
          </a:prstGeom>
          <a:solidFill>
            <a:srgbClr val="7F187F"/>
          </a:solidFill>
          <a:ln w="12700">
            <a:solidFill>
              <a:srgbClr val="7F187F"/>
            </a:solidFill>
            <a:prstDash val="solid"/>
          </a:ln>
        </p:spPr>
      </p:sp>
      <p:sp>
        <p:nvSpPr>
          <p:cNvPr id="44" name="Text 42"/>
          <p:cNvSpPr txBox="1"/>
          <p:nvPr/>
        </p:nvSpPr>
        <p:spPr>
          <a:xfrm>
            <a:off x="3584448" y="4700016"/>
            <a:ext cx="77724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Wayfair</a:t>
            </a:r>
            <a:endParaRPr lang="en-US" sz="900" dirty="0"/>
          </a:p>
        </p:txBody>
      </p:sp>
      <p:sp>
        <p:nvSpPr>
          <p:cNvPr id="45" name="Shape 43"/>
          <p:cNvSpPr/>
          <p:nvPr/>
        </p:nvSpPr>
        <p:spPr>
          <a:xfrm>
            <a:off x="978408" y="4992624"/>
            <a:ext cx="768096" cy="192024"/>
          </a:xfrm>
          <a:prstGeom prst="roundRect">
            <a:avLst>
              <a:gd name="adj" fmla="val 50000"/>
            </a:avLst>
          </a:prstGeom>
          <a:solidFill>
            <a:srgbClr val="2F6FD0"/>
          </a:solidFill>
          <a:ln w="12700">
            <a:solidFill>
              <a:srgbClr val="2F6FD0"/>
            </a:solidFill>
            <a:prstDash val="solid"/>
          </a:ln>
        </p:spPr>
      </p:sp>
      <p:sp>
        <p:nvSpPr>
          <p:cNvPr id="46" name="Text 44"/>
          <p:cNvSpPr txBox="1"/>
          <p:nvPr/>
        </p:nvSpPr>
        <p:spPr>
          <a:xfrm>
            <a:off x="978408" y="4992624"/>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Vector-led</a:t>
            </a:r>
            <a:endParaRPr lang="en-US" sz="850" dirty="0"/>
          </a:p>
        </p:txBody>
      </p:sp>
      <p:sp>
        <p:nvSpPr>
          <p:cNvPr id="47" name="Text 45"/>
          <p:cNvSpPr txBox="1"/>
          <p:nvPr/>
        </p:nvSpPr>
        <p:spPr>
          <a:xfrm>
            <a:off x="1810512" y="4965192"/>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9" invalidUrl="" action="" tgtFrame="" tooltip="Open example on Wayfair" history="1" highlightClick="0" endSnd="0">
                  <a:extLst>
                    <a:ext uri="{A12FA001-AC4F-418D-AE19-62706E023703}">
                      <ahyp:hlinkClr xmlns:ahyp="http://schemas.microsoft.com/office/drawing/2018/hyperlinkcolor" val="tx"/>
                    </a:ext>
                  </a:extLst>
                </a:hlinkClick>
              </a:rPr>
              <a:t>Design-led (luxe) computer desk</a:t>
            </a:r>
            <a:endParaRPr lang="en-US" sz="1100" dirty="0"/>
          </a:p>
        </p:txBody>
      </p:sp>
      <p:sp>
        <p:nvSpPr>
          <p:cNvPr id="48" name="Text 46"/>
          <p:cNvSpPr txBox="1"/>
          <p:nvPr/>
        </p:nvSpPr>
        <p:spPr>
          <a:xfrm>
            <a:off x="978408" y="5212080"/>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"Luxe" desks: Staples 7% vs Wayfair 35%</a:t>
            </a:r>
            <a:pPr indent="0" marL="0">
              <a:buNone/>
            </a:pPr>
            <a:r>
              <a:rPr lang="en-US" sz="950" b="1" dirty="0">
                <a:solidFill>
                  <a:srgbClr val="B86E00"/>
                </a:solidFill>
                <a:latin typeface="Calibri" pitchFamily="34" charset="0"/>
                <a:ea typeface="Calibri" pitchFamily="34" charset="-122"/>
                <a:cs typeface="Calibri" pitchFamily="34" charset="-120"/>
              </a:rPr>
              <a:t>  ·  DEEPEN</a:t>
            </a:r>
            <a:endParaRPr lang="en-US" sz="950" dirty="0"/>
          </a:p>
        </p:txBody>
      </p:sp>
      <p:sp>
        <p:nvSpPr>
          <p:cNvPr id="49" name="Text 47"/>
          <p:cNvSpPr txBox="1"/>
          <p:nvPr/>
        </p:nvSpPr>
        <p:spPr>
          <a:xfrm>
            <a:off x="978408" y="5367528"/>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10" invalidUrl="" action="" tgtFrame="" tooltip="Contemporary Home Office Computer Desk, 61&quot; Height - Brown Laminate Shelves 61&quot;h Leaning Desk For Office, Taupe Laminate, Work Satisfaction Increase" history="1" highlightClick="0" endSnd="0">
                  <a:extLst>
                    <a:ext uri="{A12FA001-AC4F-418D-AE19-62706E023703}">
                      <ahyp:hlinkClr xmlns:ahyp="http://schemas.microsoft.com/office/drawing/2018/hyperlinkcolor" val="tx"/>
                    </a:ext>
                  </a:extLst>
                </a:hlinkClick>
              </a:rPr>
              <a:t>Contemporary Home Office Computer Desk… · $339.99 ↗</a:t>
            </a:r>
            <a:endParaRPr lang="en-US" sz="950" dirty="0"/>
          </a:p>
        </p:txBody>
      </p:sp>
      <p:sp>
        <p:nvSpPr>
          <p:cNvPr id="50" name="Shape 48"/>
          <p:cNvSpPr/>
          <p:nvPr/>
        </p:nvSpPr>
        <p:spPr>
          <a:xfrm>
            <a:off x="978408" y="5495544"/>
            <a:ext cx="3364992" cy="0"/>
          </a:xfrm>
          <a:prstGeom prst="line">
            <a:avLst/>
          </a:prstGeom>
          <a:noFill/>
          <a:ln w="9525">
            <a:solidFill>
              <a:srgbClr val="E3E8F0"/>
            </a:solidFill>
            <a:prstDash val="solid"/>
          </a:ln>
        </p:spPr>
      </p:sp>
      <p:sp>
        <p:nvSpPr>
          <p:cNvPr id="51" name="Shape 49"/>
          <p:cNvSpPr/>
          <p:nvPr/>
        </p:nvSpPr>
        <p:spPr>
          <a:xfrm>
            <a:off x="978408" y="5559552"/>
            <a:ext cx="768096" cy="192024"/>
          </a:xfrm>
          <a:prstGeom prst="roundRect">
            <a:avLst>
              <a:gd name="adj" fmla="val 50000"/>
            </a:avLst>
          </a:prstGeom>
          <a:solidFill>
            <a:srgbClr val="B86E00"/>
          </a:solidFill>
          <a:ln w="12700">
            <a:solidFill>
              <a:srgbClr val="B86E00"/>
            </a:solidFill>
            <a:prstDash val="solid"/>
          </a:ln>
        </p:spPr>
      </p:sp>
      <p:sp>
        <p:nvSpPr>
          <p:cNvPr id="52" name="Text 50"/>
          <p:cNvSpPr txBox="1"/>
          <p:nvPr/>
        </p:nvSpPr>
        <p:spPr>
          <a:xfrm>
            <a:off x="978408" y="5559552"/>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Gap-led</a:t>
            </a:r>
            <a:endParaRPr lang="en-US" sz="850" dirty="0"/>
          </a:p>
        </p:txBody>
      </p:sp>
      <p:sp>
        <p:nvSpPr>
          <p:cNvPr id="53" name="Text 51"/>
          <p:cNvSpPr txBox="1"/>
          <p:nvPr/>
        </p:nvSpPr>
        <p:spPr>
          <a:xfrm>
            <a:off x="1810512" y="5532120"/>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11" invalidUrl="" action="" tgtFrame="" tooltip="Open example on Wayfair" history="1" highlightClick="0" endSnd="0">
                  <a:extLst>
                    <a:ext uri="{A12FA001-AC4F-418D-AE19-62706E023703}">
                      <ahyp:hlinkClr xmlns:ahyp="http://schemas.microsoft.com/office/drawing/2018/hyperlinkcolor" val="tx"/>
                    </a:ext>
                  </a:extLst>
                </a:hlinkClick>
              </a:rPr>
              <a:t>Minimal remote-work desk with storage</a:t>
            </a:r>
            <a:endParaRPr lang="en-US" sz="1100" dirty="0"/>
          </a:p>
        </p:txBody>
      </p:sp>
      <p:sp>
        <p:nvSpPr>
          <p:cNvPr id="54" name="Text 52"/>
          <p:cNvSpPr txBox="1"/>
          <p:nvPr/>
        </p:nvSpPr>
        <p:spPr>
          <a:xfrm>
            <a:off x="978408" y="5779008"/>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Remote-work desks: Staples 19% vs Wayfair 51%</a:t>
            </a:r>
            <a:pPr indent="0" marL="0">
              <a:buNone/>
            </a:pPr>
            <a:r>
              <a:rPr lang="en-US" sz="950" b="1" dirty="0">
                <a:solidFill>
                  <a:srgbClr val="1E8E5A"/>
                </a:solidFill>
                <a:latin typeface="Calibri" pitchFamily="34" charset="0"/>
                <a:ea typeface="Calibri" pitchFamily="34" charset="-122"/>
                <a:cs typeface="Calibri" pitchFamily="34" charset="-120"/>
              </a:rPr>
              <a:t>  ·  ADD</a:t>
            </a:r>
            <a:endParaRPr lang="en-US" sz="950" dirty="0"/>
          </a:p>
        </p:txBody>
      </p:sp>
      <p:sp>
        <p:nvSpPr>
          <p:cNvPr id="55" name="Text 53"/>
          <p:cNvSpPr txBox="1"/>
          <p:nvPr/>
        </p:nvSpPr>
        <p:spPr>
          <a:xfrm>
            <a:off x="978408" y="5934456"/>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12" invalidUrl="" action="" tgtFrame="" tooltip="Home Office Table With Grey Laminate Finish And Black Metal Base, 48&quot;l Workstation For Office, 48&quot;l, Legs, Storage" history="1" highlightClick="0" endSnd="0">
                  <a:extLst>
                    <a:ext uri="{A12FA001-AC4F-418D-AE19-62706E023703}">
                      <ahyp:hlinkClr xmlns:ahyp="http://schemas.microsoft.com/office/drawing/2018/hyperlinkcolor" val="tx"/>
                    </a:ext>
                  </a:extLst>
                </a:hlinkClick>
              </a:rPr>
              <a:t>Home Office Table With Grey Laminate… · $349.99 ↗</a:t>
            </a:r>
            <a:endParaRPr lang="en-US" sz="950" dirty="0"/>
          </a:p>
        </p:txBody>
      </p:sp>
      <p:sp>
        <p:nvSpPr>
          <p:cNvPr id="56" name="Shape 54"/>
          <p:cNvSpPr/>
          <p:nvPr/>
        </p:nvSpPr>
        <p:spPr>
          <a:xfrm>
            <a:off x="4526280" y="1115568"/>
            <a:ext cx="3584448" cy="365760"/>
          </a:xfrm>
          <a:prstGeom prst="roundRect">
            <a:avLst>
              <a:gd name="adj" fmla="val 15000"/>
            </a:avLst>
          </a:prstGeom>
          <a:solidFill>
            <a:srgbClr val="2F6FD0"/>
          </a:solidFill>
          <a:ln w="12700">
            <a:solidFill>
              <a:srgbClr val="2F6FD0"/>
            </a:solidFill>
            <a:prstDash val="solid"/>
          </a:ln>
        </p:spPr>
      </p:sp>
      <p:sp>
        <p:nvSpPr>
          <p:cNvPr id="57" name="Text 55"/>
          <p:cNvSpPr txBox="1"/>
          <p:nvPr/>
        </p:nvSpPr>
        <p:spPr>
          <a:xfrm>
            <a:off x="4526280" y="1115568"/>
            <a:ext cx="3584448"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PROBABLE HERO · BUILD</a:t>
            </a:r>
            <a:endParaRPr lang="en-US" sz="1250" dirty="0"/>
          </a:p>
        </p:txBody>
      </p:sp>
      <p:sp>
        <p:nvSpPr>
          <p:cNvPr id="58" name="Shape 56"/>
          <p:cNvSpPr/>
          <p:nvPr/>
        </p:nvSpPr>
        <p:spPr>
          <a:xfrm>
            <a:off x="4526280" y="1554480"/>
            <a:ext cx="3584448" cy="1481328"/>
          </a:xfrm>
          <a:prstGeom prst="roundRect">
            <a:avLst>
              <a:gd name="adj" fmla="val 4938"/>
            </a:avLst>
          </a:prstGeom>
          <a:solidFill>
            <a:srgbClr val="FFFFFF"/>
          </a:solidFill>
          <a:ln w="9525">
            <a:solidFill>
              <a:srgbClr val="C9D3E3"/>
            </a:solidFill>
            <a:prstDash val="solid"/>
          </a:ln>
        </p:spPr>
      </p:sp>
      <p:sp>
        <p:nvSpPr>
          <p:cNvPr id="59" name="Text 57"/>
          <p:cNvSpPr txBox="1"/>
          <p:nvPr/>
        </p:nvSpPr>
        <p:spPr>
          <a:xfrm>
            <a:off x="4636008" y="1609344"/>
            <a:ext cx="2578608" cy="256032"/>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Accent &amp; Waiting Room Chairs</a:t>
            </a:r>
            <a:endParaRPr lang="en-US" sz="1250" dirty="0"/>
          </a:p>
        </p:txBody>
      </p:sp>
      <p:sp>
        <p:nvSpPr>
          <p:cNvPr id="60" name="Shape 58"/>
          <p:cNvSpPr/>
          <p:nvPr/>
        </p:nvSpPr>
        <p:spPr>
          <a:xfrm>
            <a:off x="7242048" y="1627632"/>
            <a:ext cx="777240" cy="219456"/>
          </a:xfrm>
          <a:prstGeom prst="roundRect">
            <a:avLst>
              <a:gd name="adj" fmla="val 50000"/>
            </a:avLst>
          </a:prstGeom>
          <a:solidFill>
            <a:srgbClr val="7F187F"/>
          </a:solidFill>
          <a:ln w="12700">
            <a:solidFill>
              <a:srgbClr val="7F187F"/>
            </a:solidFill>
            <a:prstDash val="solid"/>
          </a:ln>
        </p:spPr>
      </p:sp>
      <p:sp>
        <p:nvSpPr>
          <p:cNvPr id="61" name="Text 59"/>
          <p:cNvSpPr txBox="1"/>
          <p:nvPr/>
        </p:nvSpPr>
        <p:spPr>
          <a:xfrm>
            <a:off x="7242048" y="1627632"/>
            <a:ext cx="77724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Wayfair</a:t>
            </a:r>
            <a:endParaRPr lang="en-US" sz="900" dirty="0"/>
          </a:p>
        </p:txBody>
      </p:sp>
      <p:sp>
        <p:nvSpPr>
          <p:cNvPr id="62" name="Shape 60"/>
          <p:cNvSpPr/>
          <p:nvPr/>
        </p:nvSpPr>
        <p:spPr>
          <a:xfrm>
            <a:off x="4636008" y="1920240"/>
            <a:ext cx="768096" cy="192024"/>
          </a:xfrm>
          <a:prstGeom prst="roundRect">
            <a:avLst>
              <a:gd name="adj" fmla="val 50000"/>
            </a:avLst>
          </a:prstGeom>
          <a:solidFill>
            <a:srgbClr val="1E8E5A"/>
          </a:solidFill>
          <a:ln w="12700">
            <a:solidFill>
              <a:srgbClr val="1E8E5A"/>
            </a:solidFill>
            <a:prstDash val="solid"/>
          </a:ln>
        </p:spPr>
      </p:sp>
      <p:sp>
        <p:nvSpPr>
          <p:cNvPr id="63" name="Text 61"/>
          <p:cNvSpPr txBox="1"/>
          <p:nvPr/>
        </p:nvSpPr>
        <p:spPr>
          <a:xfrm>
            <a:off x="4636008" y="1920240"/>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Strong</a:t>
            </a:r>
            <a:endParaRPr lang="en-US" sz="850" dirty="0"/>
          </a:p>
        </p:txBody>
      </p:sp>
      <p:sp>
        <p:nvSpPr>
          <p:cNvPr id="64" name="Text 62"/>
          <p:cNvSpPr txBox="1"/>
          <p:nvPr/>
        </p:nvSpPr>
        <p:spPr>
          <a:xfrm>
            <a:off x="5468112" y="1892808"/>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13" invalidUrl="" action="" tgtFrame="" tooltip="Open example on Wayfair" history="1" highlightClick="0" endSnd="0">
                  <a:extLst>
                    <a:ext uri="{A12FA001-AC4F-418D-AE19-62706E023703}">
                      <ahyp:hlinkClr xmlns:ahyp="http://schemas.microsoft.com/office/drawing/2018/hyperlinkcolor" val="tx"/>
                    </a:ext>
                  </a:extLst>
                </a:hlinkClick>
              </a:rPr>
              <a:t>Warm-tone leather / fabric armchair</a:t>
            </a:r>
            <a:endParaRPr lang="en-US" sz="1100" dirty="0"/>
          </a:p>
        </p:txBody>
      </p:sp>
      <p:sp>
        <p:nvSpPr>
          <p:cNvPr id="65" name="Text 63"/>
          <p:cNvSpPr txBox="1"/>
          <p:nvPr/>
        </p:nvSpPr>
        <p:spPr>
          <a:xfrm>
            <a:off x="4636008" y="2139696"/>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Armchairs: Staples 10% vs Wayfair 36%</a:t>
            </a:r>
            <a:pPr indent="0" marL="0">
              <a:buNone/>
            </a:pPr>
            <a:r>
              <a:rPr lang="en-US" sz="950" b="1" dirty="0">
                <a:solidFill>
                  <a:srgbClr val="B86E00"/>
                </a:solidFill>
                <a:latin typeface="Calibri" pitchFamily="34" charset="0"/>
                <a:ea typeface="Calibri" pitchFamily="34" charset="-122"/>
                <a:cs typeface="Calibri" pitchFamily="34" charset="-120"/>
              </a:rPr>
              <a:t>  ·  DEEPEN</a:t>
            </a:r>
            <a:endParaRPr lang="en-US" sz="950" dirty="0"/>
          </a:p>
        </p:txBody>
      </p:sp>
      <p:sp>
        <p:nvSpPr>
          <p:cNvPr id="66" name="Text 64"/>
          <p:cNvSpPr txBox="1"/>
          <p:nvPr/>
        </p:nvSpPr>
        <p:spPr>
          <a:xfrm>
            <a:off x="4636008" y="2295144"/>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14" invalidUrl="" action="" tgtFrame="" tooltip="Pettengill Tufted Distressed Genuine Top-Grain Leather Accent Armchair" history="1" highlightClick="0" endSnd="0">
                  <a:extLst>
                    <a:ext uri="{A12FA001-AC4F-418D-AE19-62706E023703}">
                      <ahyp:hlinkClr xmlns:ahyp="http://schemas.microsoft.com/office/drawing/2018/hyperlinkcolor" val="tx"/>
                    </a:ext>
                  </a:extLst>
                </a:hlinkClick>
              </a:rPr>
              <a:t>Pettengill Tufted Distressed Genuine… · $969.99 ↗</a:t>
            </a:r>
            <a:endParaRPr lang="en-US" sz="950" dirty="0"/>
          </a:p>
        </p:txBody>
      </p:sp>
      <p:sp>
        <p:nvSpPr>
          <p:cNvPr id="67" name="Shape 65"/>
          <p:cNvSpPr/>
          <p:nvPr/>
        </p:nvSpPr>
        <p:spPr>
          <a:xfrm>
            <a:off x="4636008" y="2423160"/>
            <a:ext cx="3364992" cy="0"/>
          </a:xfrm>
          <a:prstGeom prst="line">
            <a:avLst/>
          </a:prstGeom>
          <a:noFill/>
          <a:ln w="9525">
            <a:solidFill>
              <a:srgbClr val="E3E8F0"/>
            </a:solidFill>
            <a:prstDash val="solid"/>
          </a:ln>
        </p:spPr>
      </p:sp>
      <p:sp>
        <p:nvSpPr>
          <p:cNvPr id="68" name="Shape 66"/>
          <p:cNvSpPr/>
          <p:nvPr/>
        </p:nvSpPr>
        <p:spPr>
          <a:xfrm>
            <a:off x="4636008" y="2487168"/>
            <a:ext cx="768096" cy="192024"/>
          </a:xfrm>
          <a:prstGeom prst="roundRect">
            <a:avLst>
              <a:gd name="adj" fmla="val 50000"/>
            </a:avLst>
          </a:prstGeom>
          <a:solidFill>
            <a:srgbClr val="B86E00"/>
          </a:solidFill>
          <a:ln w="12700">
            <a:solidFill>
              <a:srgbClr val="B86E00"/>
            </a:solidFill>
            <a:prstDash val="solid"/>
          </a:ln>
        </p:spPr>
      </p:sp>
      <p:sp>
        <p:nvSpPr>
          <p:cNvPr id="69" name="Text 67"/>
          <p:cNvSpPr txBox="1"/>
          <p:nvPr/>
        </p:nvSpPr>
        <p:spPr>
          <a:xfrm>
            <a:off x="4636008" y="2487168"/>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Gap-led</a:t>
            </a:r>
            <a:endParaRPr lang="en-US" sz="850" dirty="0"/>
          </a:p>
        </p:txBody>
      </p:sp>
      <p:sp>
        <p:nvSpPr>
          <p:cNvPr id="70" name="Text 68"/>
          <p:cNvSpPr txBox="1"/>
          <p:nvPr/>
        </p:nvSpPr>
        <p:spPr>
          <a:xfrm>
            <a:off x="5468112" y="2459736"/>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15" invalidUrl="" action="" tgtFrame="" tooltip="Open example on Wayfair" history="1" highlightClick="0" endSnd="0">
                  <a:extLst>
                    <a:ext uri="{A12FA001-AC4F-418D-AE19-62706E023703}">
                      <ahyp:hlinkClr xmlns:ahyp="http://schemas.microsoft.com/office/drawing/2018/hyperlinkcolor" val="tx"/>
                    </a:ext>
                  </a:extLst>
                </a:hlinkClick>
              </a:rPr>
              <a:t>Light-neutral swivel barrel chair</a:t>
            </a:r>
            <a:endParaRPr lang="en-US" sz="1100" dirty="0"/>
          </a:p>
        </p:txBody>
      </p:sp>
      <p:sp>
        <p:nvSpPr>
          <p:cNvPr id="71" name="Text 69"/>
          <p:cNvSpPr txBox="1"/>
          <p:nvPr/>
        </p:nvSpPr>
        <p:spPr>
          <a:xfrm>
            <a:off x="4636008" y="2706624"/>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Staples 0 of 116 · Wayfair 13% of range</a:t>
            </a:r>
            <a:pPr indent="0" marL="0">
              <a:buNone/>
            </a:pPr>
            <a:r>
              <a:rPr lang="en-US" sz="950" b="1" dirty="0">
                <a:solidFill>
                  <a:srgbClr val="1E8E5A"/>
                </a:solidFill>
                <a:latin typeface="Calibri" pitchFamily="34" charset="0"/>
                <a:ea typeface="Calibri" pitchFamily="34" charset="-122"/>
                <a:cs typeface="Calibri" pitchFamily="34" charset="-120"/>
              </a:rPr>
              <a:t>  ·  ADD</a:t>
            </a:r>
            <a:endParaRPr lang="en-US" sz="950" dirty="0"/>
          </a:p>
        </p:txBody>
      </p:sp>
      <p:sp>
        <p:nvSpPr>
          <p:cNvPr id="72" name="Text 70"/>
          <p:cNvSpPr txBox="1"/>
          <p:nvPr/>
        </p:nvSpPr>
        <p:spPr>
          <a:xfrm>
            <a:off x="4636008" y="2862072"/>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16"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Velvet… · $259.99 ↗</a:t>
            </a:r>
            <a:endParaRPr lang="en-US" sz="950" dirty="0"/>
          </a:p>
        </p:txBody>
      </p:sp>
      <p:sp>
        <p:nvSpPr>
          <p:cNvPr id="73" name="Shape 71"/>
          <p:cNvSpPr/>
          <p:nvPr/>
        </p:nvSpPr>
        <p:spPr>
          <a:xfrm>
            <a:off x="4526280" y="3090672"/>
            <a:ext cx="3584448" cy="1481328"/>
          </a:xfrm>
          <a:prstGeom prst="roundRect">
            <a:avLst>
              <a:gd name="adj" fmla="val 4938"/>
            </a:avLst>
          </a:prstGeom>
          <a:solidFill>
            <a:srgbClr val="FFFFFF"/>
          </a:solidFill>
          <a:ln w="9525">
            <a:solidFill>
              <a:srgbClr val="C9D3E3"/>
            </a:solidFill>
            <a:prstDash val="solid"/>
          </a:ln>
        </p:spPr>
      </p:sp>
      <p:sp>
        <p:nvSpPr>
          <p:cNvPr id="74" name="Text 72"/>
          <p:cNvSpPr txBox="1"/>
          <p:nvPr/>
        </p:nvSpPr>
        <p:spPr>
          <a:xfrm>
            <a:off x="4636008" y="3145536"/>
            <a:ext cx="2578608" cy="256032"/>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Desk Lamps</a:t>
            </a:r>
            <a:endParaRPr lang="en-US" sz="1250" dirty="0"/>
          </a:p>
        </p:txBody>
      </p:sp>
      <p:sp>
        <p:nvSpPr>
          <p:cNvPr id="75" name="Shape 73"/>
          <p:cNvSpPr/>
          <p:nvPr/>
        </p:nvSpPr>
        <p:spPr>
          <a:xfrm>
            <a:off x="7242048" y="3163824"/>
            <a:ext cx="777240" cy="219456"/>
          </a:xfrm>
          <a:prstGeom prst="roundRect">
            <a:avLst>
              <a:gd name="adj" fmla="val 50000"/>
            </a:avLst>
          </a:prstGeom>
          <a:solidFill>
            <a:srgbClr val="7F187F"/>
          </a:solidFill>
          <a:ln w="12700">
            <a:solidFill>
              <a:srgbClr val="7F187F"/>
            </a:solidFill>
            <a:prstDash val="solid"/>
          </a:ln>
        </p:spPr>
      </p:sp>
      <p:sp>
        <p:nvSpPr>
          <p:cNvPr id="76" name="Text 74"/>
          <p:cNvSpPr txBox="1"/>
          <p:nvPr/>
        </p:nvSpPr>
        <p:spPr>
          <a:xfrm>
            <a:off x="7242048" y="3163824"/>
            <a:ext cx="77724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Wayfair</a:t>
            </a:r>
            <a:endParaRPr lang="en-US" sz="900" dirty="0"/>
          </a:p>
        </p:txBody>
      </p:sp>
      <p:sp>
        <p:nvSpPr>
          <p:cNvPr id="77" name="Shape 75"/>
          <p:cNvSpPr/>
          <p:nvPr/>
        </p:nvSpPr>
        <p:spPr>
          <a:xfrm>
            <a:off x="4636008" y="3456432"/>
            <a:ext cx="768096" cy="192024"/>
          </a:xfrm>
          <a:prstGeom prst="roundRect">
            <a:avLst>
              <a:gd name="adj" fmla="val 50000"/>
            </a:avLst>
          </a:prstGeom>
          <a:solidFill>
            <a:srgbClr val="1E8E5A"/>
          </a:solidFill>
          <a:ln w="12700">
            <a:solidFill>
              <a:srgbClr val="1E8E5A"/>
            </a:solidFill>
            <a:prstDash val="solid"/>
          </a:ln>
        </p:spPr>
      </p:sp>
      <p:sp>
        <p:nvSpPr>
          <p:cNvPr id="78" name="Text 76"/>
          <p:cNvSpPr txBox="1"/>
          <p:nvPr/>
        </p:nvSpPr>
        <p:spPr>
          <a:xfrm>
            <a:off x="4636008" y="3456432"/>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Strong</a:t>
            </a:r>
            <a:endParaRPr lang="en-US" sz="850" dirty="0"/>
          </a:p>
        </p:txBody>
      </p:sp>
      <p:sp>
        <p:nvSpPr>
          <p:cNvPr id="79" name="Text 77"/>
          <p:cNvSpPr txBox="1"/>
          <p:nvPr/>
        </p:nvSpPr>
        <p:spPr>
          <a:xfrm>
            <a:off x="5468112" y="3429000"/>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17" invalidUrl="" action="" tgtFrame="" tooltip="Open example on Wayfair" history="1" highlightClick="0" endSnd="0">
                  <a:extLst>
                    <a:ext uri="{A12FA001-AC4F-418D-AE19-62706E023703}">
                      <ahyp:hlinkClr xmlns:ahyp="http://schemas.microsoft.com/office/drawing/2018/hyperlinkcolor" val="tx"/>
                    </a:ext>
                  </a:extLst>
                </a:hlinkClick>
              </a:rPr>
              <a:t>Decor-grade shaded table lamp ($150+)</a:t>
            </a:r>
            <a:endParaRPr lang="en-US" sz="1100" dirty="0"/>
          </a:p>
        </p:txBody>
      </p:sp>
      <p:sp>
        <p:nvSpPr>
          <p:cNvPr id="80" name="Text 78"/>
          <p:cNvSpPr txBox="1"/>
          <p:nvPr/>
        </p:nvSpPr>
        <p:spPr>
          <a:xfrm>
            <a:off x="4636008" y="3675888"/>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Lamps $175+: Staples 5% vs Wayfair 26%</a:t>
            </a:r>
            <a:pPr indent="0" marL="0">
              <a:buNone/>
            </a:pPr>
            <a:r>
              <a:rPr lang="en-US" sz="950" b="1" dirty="0">
                <a:solidFill>
                  <a:srgbClr val="B86E00"/>
                </a:solidFill>
                <a:latin typeface="Calibri" pitchFamily="34" charset="0"/>
                <a:ea typeface="Calibri" pitchFamily="34" charset="-122"/>
                <a:cs typeface="Calibri" pitchFamily="34" charset="-120"/>
              </a:rPr>
              <a:t>  ·  TRADE-UP</a:t>
            </a:r>
            <a:endParaRPr lang="en-US" sz="950" dirty="0"/>
          </a:p>
        </p:txBody>
      </p:sp>
      <p:sp>
        <p:nvSpPr>
          <p:cNvPr id="81" name="Text 79"/>
          <p:cNvSpPr txBox="1"/>
          <p:nvPr/>
        </p:nvSpPr>
        <p:spPr>
          <a:xfrm>
            <a:off x="4636008" y="3831336"/>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18" invalidUrl="" action="" tgtFrame="" tooltip="Waheed Stainless Steel Desk Lamp" history="1" highlightClick="0" endSnd="0">
                  <a:extLst>
                    <a:ext uri="{A12FA001-AC4F-418D-AE19-62706E023703}">
                      <ahyp:hlinkClr xmlns:ahyp="http://schemas.microsoft.com/office/drawing/2018/hyperlinkcolor" val="tx"/>
                    </a:ext>
                  </a:extLst>
                </a:hlinkClick>
              </a:rPr>
              <a:t>Waheed Stainless Steel Desk Lamp · $151.80 ↗</a:t>
            </a:r>
            <a:endParaRPr lang="en-US" sz="950" dirty="0"/>
          </a:p>
        </p:txBody>
      </p:sp>
      <p:sp>
        <p:nvSpPr>
          <p:cNvPr id="82" name="Shape 80"/>
          <p:cNvSpPr/>
          <p:nvPr/>
        </p:nvSpPr>
        <p:spPr>
          <a:xfrm>
            <a:off x="4636008" y="3959352"/>
            <a:ext cx="3364992" cy="0"/>
          </a:xfrm>
          <a:prstGeom prst="line">
            <a:avLst/>
          </a:prstGeom>
          <a:noFill/>
          <a:ln w="9525">
            <a:solidFill>
              <a:srgbClr val="E3E8F0"/>
            </a:solidFill>
            <a:prstDash val="solid"/>
          </a:ln>
        </p:spPr>
      </p:sp>
      <p:sp>
        <p:nvSpPr>
          <p:cNvPr id="83" name="Shape 81"/>
          <p:cNvSpPr/>
          <p:nvPr/>
        </p:nvSpPr>
        <p:spPr>
          <a:xfrm>
            <a:off x="4636008" y="4023360"/>
            <a:ext cx="768096" cy="192024"/>
          </a:xfrm>
          <a:prstGeom prst="roundRect">
            <a:avLst>
              <a:gd name="adj" fmla="val 50000"/>
            </a:avLst>
          </a:prstGeom>
          <a:solidFill>
            <a:srgbClr val="B86E00"/>
          </a:solidFill>
          <a:ln w="12700">
            <a:solidFill>
              <a:srgbClr val="B86E00"/>
            </a:solidFill>
            <a:prstDash val="solid"/>
          </a:ln>
        </p:spPr>
      </p:sp>
      <p:sp>
        <p:nvSpPr>
          <p:cNvPr id="84" name="Text 82"/>
          <p:cNvSpPr txBox="1"/>
          <p:nvPr/>
        </p:nvSpPr>
        <p:spPr>
          <a:xfrm>
            <a:off x="4636008" y="4023360"/>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Gap-led</a:t>
            </a:r>
            <a:endParaRPr lang="en-US" sz="850" dirty="0"/>
          </a:p>
        </p:txBody>
      </p:sp>
      <p:sp>
        <p:nvSpPr>
          <p:cNvPr id="85" name="Text 83"/>
          <p:cNvSpPr txBox="1"/>
          <p:nvPr/>
        </p:nvSpPr>
        <p:spPr>
          <a:xfrm>
            <a:off x="5468112" y="3995928"/>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19" invalidUrl="" action="" tgtFrame="" tooltip="Open example on Wayfair" history="1" highlightClick="0" endSnd="0">
                  <a:extLst>
                    <a:ext uri="{A12FA001-AC4F-418D-AE19-62706E023703}">
                      <ahyp:hlinkClr xmlns:ahyp="http://schemas.microsoft.com/office/drawing/2018/hyperlinkcolor" val="tx"/>
                    </a:ext>
                  </a:extLst>
                </a:hlinkClick>
              </a:rPr>
              <a:t>Glass / Tiffany-style statement lamp</a:t>
            </a:r>
            <a:endParaRPr lang="en-US" sz="1100" dirty="0"/>
          </a:p>
        </p:txBody>
      </p:sp>
      <p:sp>
        <p:nvSpPr>
          <p:cNvPr id="86" name="Text 84"/>
          <p:cNvSpPr txBox="1"/>
          <p:nvPr/>
        </p:nvSpPr>
        <p:spPr>
          <a:xfrm>
            <a:off x="4636008" y="4242816"/>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Staples 0 of 169 · Wayfair 10% of range</a:t>
            </a:r>
            <a:pPr indent="0" marL="0">
              <a:buNone/>
            </a:pPr>
            <a:r>
              <a:rPr lang="en-US" sz="950" b="1" dirty="0">
                <a:solidFill>
                  <a:srgbClr val="1E8E5A"/>
                </a:solidFill>
                <a:latin typeface="Calibri" pitchFamily="34" charset="0"/>
                <a:ea typeface="Calibri" pitchFamily="34" charset="-122"/>
                <a:cs typeface="Calibri" pitchFamily="34" charset="-120"/>
              </a:rPr>
              <a:t>  ·  ADD</a:t>
            </a:r>
            <a:endParaRPr lang="en-US" sz="950" dirty="0"/>
          </a:p>
        </p:txBody>
      </p:sp>
      <p:sp>
        <p:nvSpPr>
          <p:cNvPr id="87" name="Text 85"/>
          <p:cNvSpPr txBox="1"/>
          <p:nvPr/>
        </p:nvSpPr>
        <p:spPr>
          <a:xfrm>
            <a:off x="4636008" y="4398264"/>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0" invalidUrl="" action="" tgtFrame="" tooltip="18&quot; High Tiffany Turning Leaf Desk Lamp" history="1" highlightClick="0" endSnd="0">
                  <a:extLst>
                    <a:ext uri="{A12FA001-AC4F-418D-AE19-62706E023703}">
                      <ahyp:hlinkClr xmlns:ahyp="http://schemas.microsoft.com/office/drawing/2018/hyperlinkcolor" val="tx"/>
                    </a:ext>
                  </a:extLst>
                </a:hlinkClick>
              </a:rPr>
              <a:t>18" High Tiffany Turning Leaf Desk Lamp · $233.10 ↗</a:t>
            </a:r>
            <a:endParaRPr lang="en-US" sz="950" dirty="0"/>
          </a:p>
        </p:txBody>
      </p:sp>
      <p:sp>
        <p:nvSpPr>
          <p:cNvPr id="88" name="Shape 86"/>
          <p:cNvSpPr/>
          <p:nvPr/>
        </p:nvSpPr>
        <p:spPr>
          <a:xfrm>
            <a:off x="4526280" y="4626864"/>
            <a:ext cx="3584448" cy="1481328"/>
          </a:xfrm>
          <a:prstGeom prst="roundRect">
            <a:avLst>
              <a:gd name="adj" fmla="val 4938"/>
            </a:avLst>
          </a:prstGeom>
          <a:solidFill>
            <a:srgbClr val="FFFFFF"/>
          </a:solidFill>
          <a:ln w="9525">
            <a:solidFill>
              <a:srgbClr val="C9D3E3"/>
            </a:solidFill>
            <a:prstDash val="solid"/>
          </a:ln>
        </p:spPr>
      </p:sp>
      <p:sp>
        <p:nvSpPr>
          <p:cNvPr id="89" name="Text 87"/>
          <p:cNvSpPr txBox="1"/>
          <p:nvPr/>
        </p:nvSpPr>
        <p:spPr>
          <a:xfrm>
            <a:off x="4636008" y="4681728"/>
            <a:ext cx="2578608" cy="256032"/>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Lunch Bags &amp; Boxes</a:t>
            </a:r>
            <a:endParaRPr lang="en-US" sz="1250" dirty="0"/>
          </a:p>
        </p:txBody>
      </p:sp>
      <p:sp>
        <p:nvSpPr>
          <p:cNvPr id="90" name="Shape 88"/>
          <p:cNvSpPr/>
          <p:nvPr/>
        </p:nvSpPr>
        <p:spPr>
          <a:xfrm>
            <a:off x="7242048" y="4700016"/>
            <a:ext cx="777240" cy="219456"/>
          </a:xfrm>
          <a:prstGeom prst="roundRect">
            <a:avLst>
              <a:gd name="adj" fmla="val 50000"/>
            </a:avLst>
          </a:prstGeom>
          <a:solidFill>
            <a:srgbClr val="C45500"/>
          </a:solidFill>
          <a:ln w="12700">
            <a:solidFill>
              <a:srgbClr val="C45500"/>
            </a:solidFill>
            <a:prstDash val="solid"/>
          </a:ln>
        </p:spPr>
      </p:sp>
      <p:sp>
        <p:nvSpPr>
          <p:cNvPr id="91" name="Text 89"/>
          <p:cNvSpPr txBox="1"/>
          <p:nvPr/>
        </p:nvSpPr>
        <p:spPr>
          <a:xfrm>
            <a:off x="7242048" y="4700016"/>
            <a:ext cx="77724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Amazon</a:t>
            </a:r>
            <a:endParaRPr lang="en-US" sz="900" dirty="0"/>
          </a:p>
        </p:txBody>
      </p:sp>
      <p:sp>
        <p:nvSpPr>
          <p:cNvPr id="92" name="Shape 90"/>
          <p:cNvSpPr/>
          <p:nvPr/>
        </p:nvSpPr>
        <p:spPr>
          <a:xfrm>
            <a:off x="4636008" y="4992624"/>
            <a:ext cx="768096" cy="192024"/>
          </a:xfrm>
          <a:prstGeom prst="roundRect">
            <a:avLst>
              <a:gd name="adj" fmla="val 50000"/>
            </a:avLst>
          </a:prstGeom>
          <a:solidFill>
            <a:srgbClr val="1E8E5A"/>
          </a:solidFill>
          <a:ln w="12700">
            <a:solidFill>
              <a:srgbClr val="1E8E5A"/>
            </a:solidFill>
            <a:prstDash val="solid"/>
          </a:ln>
        </p:spPr>
      </p:sp>
      <p:sp>
        <p:nvSpPr>
          <p:cNvPr id="93" name="Text 91"/>
          <p:cNvSpPr txBox="1"/>
          <p:nvPr/>
        </p:nvSpPr>
        <p:spPr>
          <a:xfrm>
            <a:off x="4636008" y="4992624"/>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Strong</a:t>
            </a:r>
            <a:endParaRPr lang="en-US" sz="850" dirty="0"/>
          </a:p>
        </p:txBody>
      </p:sp>
      <p:sp>
        <p:nvSpPr>
          <p:cNvPr id="94" name="Text 92"/>
          <p:cNvSpPr txBox="1"/>
          <p:nvPr/>
        </p:nvSpPr>
        <p:spPr>
          <a:xfrm>
            <a:off x="5468112" y="4965192"/>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21" invalidUrl="" action="" tgtFrame="" tooltip="Open example on Amazon" history="1" highlightClick="0" endSnd="0">
                  <a:extLst>
                    <a:ext uri="{A12FA001-AC4F-418D-AE19-62706E023703}">
                      <ahyp:hlinkClr xmlns:ahyp="http://schemas.microsoft.com/office/drawing/2018/hyperlinkcolor" val="tx"/>
                    </a:ext>
                  </a:extLst>
                </a:hlinkClick>
              </a:rPr>
              <a:t>Stainless-steel commuter bento (adult)</a:t>
            </a:r>
            <a:endParaRPr lang="en-US" sz="1100" dirty="0"/>
          </a:p>
        </p:txBody>
      </p:sp>
      <p:sp>
        <p:nvSpPr>
          <p:cNvPr id="95" name="Text 93"/>
          <p:cNvSpPr txBox="1"/>
          <p:nvPr/>
        </p:nvSpPr>
        <p:spPr>
          <a:xfrm>
            <a:off x="4636008" y="5212080"/>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Stainless: Staples 15% vs Amazon 46%</a:t>
            </a:r>
            <a:pPr indent="0" marL="0">
              <a:buNone/>
            </a:pPr>
            <a:r>
              <a:rPr lang="en-US" sz="950" b="1" dirty="0">
                <a:solidFill>
                  <a:srgbClr val="1E8E5A"/>
                </a:solidFill>
                <a:latin typeface="Calibri" pitchFamily="34" charset="0"/>
                <a:ea typeface="Calibri" pitchFamily="34" charset="-122"/>
                <a:cs typeface="Calibri" pitchFamily="34" charset="-120"/>
              </a:rPr>
              <a:t>  ·  ADD</a:t>
            </a:r>
            <a:endParaRPr lang="en-US" sz="950" dirty="0"/>
          </a:p>
        </p:txBody>
      </p:sp>
      <p:sp>
        <p:nvSpPr>
          <p:cNvPr id="96" name="Text 94"/>
          <p:cNvSpPr txBox="1"/>
          <p:nvPr/>
        </p:nvSpPr>
        <p:spPr>
          <a:xfrm>
            <a:off x="4636008" y="5367528"/>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2"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Bento Box for… · $38.95 ↗</a:t>
            </a:r>
            <a:endParaRPr lang="en-US" sz="950" dirty="0"/>
          </a:p>
        </p:txBody>
      </p:sp>
      <p:sp>
        <p:nvSpPr>
          <p:cNvPr id="97" name="Shape 95"/>
          <p:cNvSpPr/>
          <p:nvPr/>
        </p:nvSpPr>
        <p:spPr>
          <a:xfrm>
            <a:off x="4636008" y="5495544"/>
            <a:ext cx="3364992" cy="0"/>
          </a:xfrm>
          <a:prstGeom prst="line">
            <a:avLst/>
          </a:prstGeom>
          <a:noFill/>
          <a:ln w="9525">
            <a:solidFill>
              <a:srgbClr val="E3E8F0"/>
            </a:solidFill>
            <a:prstDash val="solid"/>
          </a:ln>
        </p:spPr>
      </p:sp>
      <p:sp>
        <p:nvSpPr>
          <p:cNvPr id="98" name="Shape 96"/>
          <p:cNvSpPr/>
          <p:nvPr/>
        </p:nvSpPr>
        <p:spPr>
          <a:xfrm>
            <a:off x="4636008" y="5559552"/>
            <a:ext cx="768096" cy="192024"/>
          </a:xfrm>
          <a:prstGeom prst="roundRect">
            <a:avLst>
              <a:gd name="adj" fmla="val 50000"/>
            </a:avLst>
          </a:prstGeom>
          <a:solidFill>
            <a:srgbClr val="B86E00"/>
          </a:solidFill>
          <a:ln w="12700">
            <a:solidFill>
              <a:srgbClr val="B86E00"/>
            </a:solidFill>
            <a:prstDash val="solid"/>
          </a:ln>
        </p:spPr>
      </p:sp>
      <p:sp>
        <p:nvSpPr>
          <p:cNvPr id="99" name="Text 97"/>
          <p:cNvSpPr txBox="1"/>
          <p:nvPr/>
        </p:nvSpPr>
        <p:spPr>
          <a:xfrm>
            <a:off x="4636008" y="5559552"/>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Gap-led</a:t>
            </a:r>
            <a:endParaRPr lang="en-US" sz="850" dirty="0"/>
          </a:p>
        </p:txBody>
      </p:sp>
      <p:sp>
        <p:nvSpPr>
          <p:cNvPr id="100" name="Text 98"/>
          <p:cNvSpPr txBox="1"/>
          <p:nvPr/>
        </p:nvSpPr>
        <p:spPr>
          <a:xfrm>
            <a:off x="5468112" y="5532120"/>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23" invalidUrl="" action="" tgtFrame="" tooltip="Open example on Amazon" history="1" highlightClick="0" endSnd="0">
                  <a:extLst>
                    <a:ext uri="{A12FA001-AC4F-418D-AE19-62706E023703}">
                      <ahyp:hlinkClr xmlns:ahyp="http://schemas.microsoft.com/office/drawing/2018/hyperlinkcolor" val="tx"/>
                    </a:ext>
                  </a:extLst>
                </a:hlinkClick>
              </a:rPr>
              <a:t>Cordless heated lunch box</a:t>
            </a:r>
            <a:endParaRPr lang="en-US" sz="1100" dirty="0"/>
          </a:p>
        </p:txBody>
      </p:sp>
      <p:sp>
        <p:nvSpPr>
          <p:cNvPr id="101" name="Text 99"/>
          <p:cNvSpPr txBox="1"/>
          <p:nvPr/>
        </p:nvSpPr>
        <p:spPr>
          <a:xfrm>
            <a:off x="4636008" y="5779008"/>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Staples 6 items (2%) vs Amazon 12%</a:t>
            </a:r>
            <a:pPr indent="0" marL="0">
              <a:buNone/>
            </a:pPr>
            <a:r>
              <a:rPr lang="en-US" sz="950" b="1" dirty="0">
                <a:solidFill>
                  <a:srgbClr val="B86E00"/>
                </a:solidFill>
                <a:latin typeface="Calibri" pitchFamily="34" charset="0"/>
                <a:ea typeface="Calibri" pitchFamily="34" charset="-122"/>
                <a:cs typeface="Calibri" pitchFamily="34" charset="-120"/>
              </a:rPr>
              <a:t>  ·  DEEPEN</a:t>
            </a:r>
            <a:endParaRPr lang="en-US" sz="950" dirty="0"/>
          </a:p>
        </p:txBody>
      </p:sp>
      <p:sp>
        <p:nvSpPr>
          <p:cNvPr id="102" name="Text 100"/>
          <p:cNvSpPr txBox="1"/>
          <p:nvPr/>
        </p:nvSpPr>
        <p:spPr>
          <a:xfrm>
            <a:off x="4636008" y="5934456"/>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4" invalidUrl="" action="" tgtFrame="" tooltip="Cordless Electric Lunch Box, 18000mAh Rechargeable Self-Heating Lunch Box Food Warmer, 1.5L Portable Heated Lunch Container for Adults, Leakproof for Work, Office, Camping &amp; Travel, Blue-Black" history="1" highlightClick="0" endSnd="0">
                  <a:extLst>
                    <a:ext uri="{A12FA001-AC4F-418D-AE19-62706E023703}">
                      <ahyp:hlinkClr xmlns:ahyp="http://schemas.microsoft.com/office/drawing/2018/hyperlinkcolor" val="tx"/>
                    </a:ext>
                  </a:extLst>
                </a:hlinkClick>
              </a:rPr>
              <a:t>Cordless Electric Lunch Box, 18000mAh… · $59.99 ↗</a:t>
            </a:r>
            <a:endParaRPr lang="en-US" sz="950" dirty="0"/>
          </a:p>
        </p:txBody>
      </p:sp>
      <p:sp>
        <p:nvSpPr>
          <p:cNvPr id="103" name="Shape 101"/>
          <p:cNvSpPr/>
          <p:nvPr/>
        </p:nvSpPr>
        <p:spPr>
          <a:xfrm>
            <a:off x="8183880" y="1115568"/>
            <a:ext cx="3584448" cy="365760"/>
          </a:xfrm>
          <a:prstGeom prst="roundRect">
            <a:avLst>
              <a:gd name="adj" fmla="val 15000"/>
            </a:avLst>
          </a:prstGeom>
          <a:solidFill>
            <a:srgbClr val="8FB0E8"/>
          </a:solidFill>
          <a:ln w="12700">
            <a:solidFill>
              <a:srgbClr val="8FB0E8"/>
            </a:solidFill>
            <a:prstDash val="solid"/>
          </a:ln>
        </p:spPr>
      </p:sp>
      <p:sp>
        <p:nvSpPr>
          <p:cNvPr id="104" name="Text 102"/>
          <p:cNvSpPr txBox="1"/>
          <p:nvPr/>
        </p:nvSpPr>
        <p:spPr>
          <a:xfrm>
            <a:off x="8183880" y="1115568"/>
            <a:ext cx="3584448" cy="36576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NON-HERO · EXPLORE</a:t>
            </a:r>
            <a:endParaRPr lang="en-US" sz="1250" dirty="0"/>
          </a:p>
        </p:txBody>
      </p:sp>
      <p:sp>
        <p:nvSpPr>
          <p:cNvPr id="105" name="Shape 103"/>
          <p:cNvSpPr/>
          <p:nvPr/>
        </p:nvSpPr>
        <p:spPr>
          <a:xfrm>
            <a:off x="8183880" y="1554480"/>
            <a:ext cx="3584448" cy="1481328"/>
          </a:xfrm>
          <a:prstGeom prst="roundRect">
            <a:avLst>
              <a:gd name="adj" fmla="val 4938"/>
            </a:avLst>
          </a:prstGeom>
          <a:solidFill>
            <a:srgbClr val="FFFFFF"/>
          </a:solidFill>
          <a:ln w="9525">
            <a:solidFill>
              <a:srgbClr val="C9D3E3"/>
            </a:solidFill>
            <a:prstDash val="solid"/>
          </a:ln>
        </p:spPr>
      </p:sp>
      <p:sp>
        <p:nvSpPr>
          <p:cNvPr id="106" name="Text 104"/>
          <p:cNvSpPr txBox="1"/>
          <p:nvPr/>
        </p:nvSpPr>
        <p:spPr>
          <a:xfrm>
            <a:off x="8293608" y="1609344"/>
            <a:ext cx="2578608" cy="256032"/>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Clocks &amp; Timers</a:t>
            </a:r>
            <a:endParaRPr lang="en-US" sz="1250" dirty="0"/>
          </a:p>
        </p:txBody>
      </p:sp>
      <p:sp>
        <p:nvSpPr>
          <p:cNvPr id="107" name="Shape 105"/>
          <p:cNvSpPr/>
          <p:nvPr/>
        </p:nvSpPr>
        <p:spPr>
          <a:xfrm>
            <a:off x="10899648" y="1627632"/>
            <a:ext cx="777240" cy="219456"/>
          </a:xfrm>
          <a:prstGeom prst="roundRect">
            <a:avLst>
              <a:gd name="adj" fmla="val 50000"/>
            </a:avLst>
          </a:prstGeom>
          <a:solidFill>
            <a:srgbClr val="7F187F"/>
          </a:solidFill>
          <a:ln w="12700">
            <a:solidFill>
              <a:srgbClr val="7F187F"/>
            </a:solidFill>
            <a:prstDash val="solid"/>
          </a:ln>
        </p:spPr>
      </p:sp>
      <p:sp>
        <p:nvSpPr>
          <p:cNvPr id="108" name="Text 106"/>
          <p:cNvSpPr txBox="1"/>
          <p:nvPr/>
        </p:nvSpPr>
        <p:spPr>
          <a:xfrm>
            <a:off x="10899648" y="1627632"/>
            <a:ext cx="77724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Wayfair</a:t>
            </a:r>
            <a:endParaRPr lang="en-US" sz="900" dirty="0"/>
          </a:p>
        </p:txBody>
      </p:sp>
      <p:sp>
        <p:nvSpPr>
          <p:cNvPr id="109" name="Shape 107"/>
          <p:cNvSpPr/>
          <p:nvPr/>
        </p:nvSpPr>
        <p:spPr>
          <a:xfrm>
            <a:off x="8293608" y="1920240"/>
            <a:ext cx="768096" cy="192024"/>
          </a:xfrm>
          <a:prstGeom prst="roundRect">
            <a:avLst>
              <a:gd name="adj" fmla="val 50000"/>
            </a:avLst>
          </a:prstGeom>
          <a:solidFill>
            <a:srgbClr val="1E8E5A"/>
          </a:solidFill>
          <a:ln w="12700">
            <a:solidFill>
              <a:srgbClr val="1E8E5A"/>
            </a:solidFill>
            <a:prstDash val="solid"/>
          </a:ln>
        </p:spPr>
      </p:sp>
      <p:sp>
        <p:nvSpPr>
          <p:cNvPr id="110" name="Text 108"/>
          <p:cNvSpPr txBox="1"/>
          <p:nvPr/>
        </p:nvSpPr>
        <p:spPr>
          <a:xfrm>
            <a:off x="8293608" y="1920240"/>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Strong</a:t>
            </a:r>
            <a:endParaRPr lang="en-US" sz="850" dirty="0"/>
          </a:p>
        </p:txBody>
      </p:sp>
      <p:sp>
        <p:nvSpPr>
          <p:cNvPr id="111" name="Text 109"/>
          <p:cNvSpPr txBox="1"/>
          <p:nvPr/>
        </p:nvSpPr>
        <p:spPr>
          <a:xfrm>
            <a:off x="9125712" y="1892808"/>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25" invalidUrl="" action="" tgtFrame="" tooltip="Open example on Wayfair" history="1" highlightClick="0" endSnd="0">
                  <a:extLst>
                    <a:ext uri="{A12FA001-AC4F-418D-AE19-62706E023703}">
                      <ahyp:hlinkClr xmlns:ahyp="http://schemas.microsoft.com/office/drawing/2018/hyperlinkcolor" val="tx"/>
                    </a:ext>
                  </a:extLst>
                </a:hlinkClick>
              </a:rPr>
              <a:t>Statement oversized wall clock</a:t>
            </a:r>
            <a:endParaRPr lang="en-US" sz="1100" dirty="0"/>
          </a:p>
        </p:txBody>
      </p:sp>
      <p:sp>
        <p:nvSpPr>
          <p:cNvPr id="112" name="Text 110"/>
          <p:cNvSpPr txBox="1"/>
          <p:nvPr/>
        </p:nvSpPr>
        <p:spPr>
          <a:xfrm>
            <a:off x="8293608" y="2139696"/>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Oversized: Staples 3% vs Wayfair 30%</a:t>
            </a:r>
            <a:pPr indent="0" marL="0">
              <a:buNone/>
            </a:pPr>
            <a:r>
              <a:rPr lang="en-US" sz="950" b="1" dirty="0">
                <a:solidFill>
                  <a:srgbClr val="B86E00"/>
                </a:solidFill>
                <a:latin typeface="Calibri" pitchFamily="34" charset="0"/>
                <a:ea typeface="Calibri" pitchFamily="34" charset="-122"/>
                <a:cs typeface="Calibri" pitchFamily="34" charset="-120"/>
              </a:rPr>
              <a:t>  ·  DEEPEN</a:t>
            </a:r>
            <a:endParaRPr lang="en-US" sz="950" dirty="0"/>
          </a:p>
        </p:txBody>
      </p:sp>
      <p:sp>
        <p:nvSpPr>
          <p:cNvPr id="113" name="Text 111"/>
          <p:cNvSpPr txBox="1"/>
          <p:nvPr/>
        </p:nvSpPr>
        <p:spPr>
          <a:xfrm>
            <a:off x="8293608" y="2295144"/>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6" invalidUrl="" action="" tgtFrame="" tooltip="Poinsettias Contemporary Fusion - Floral Oversized Wood Wall Clock" history="1" highlightClick="0" endSnd="0">
                  <a:extLst>
                    <a:ext uri="{A12FA001-AC4F-418D-AE19-62706E023703}">
                      <ahyp:hlinkClr xmlns:ahyp="http://schemas.microsoft.com/office/drawing/2018/hyperlinkcolor" val="tx"/>
                    </a:ext>
                  </a:extLst>
                </a:hlinkClick>
              </a:rPr>
              <a:t>Poinsettias Contemporary Fusion - Floral… · $96.99 ↗</a:t>
            </a:r>
            <a:endParaRPr lang="en-US" sz="950" dirty="0"/>
          </a:p>
        </p:txBody>
      </p:sp>
      <p:sp>
        <p:nvSpPr>
          <p:cNvPr id="114" name="Shape 112"/>
          <p:cNvSpPr/>
          <p:nvPr/>
        </p:nvSpPr>
        <p:spPr>
          <a:xfrm>
            <a:off x="8293608" y="2423160"/>
            <a:ext cx="3364992" cy="0"/>
          </a:xfrm>
          <a:prstGeom prst="line">
            <a:avLst/>
          </a:prstGeom>
          <a:noFill/>
          <a:ln w="9525">
            <a:solidFill>
              <a:srgbClr val="E3E8F0"/>
            </a:solidFill>
            <a:prstDash val="solid"/>
          </a:ln>
        </p:spPr>
      </p:sp>
      <p:sp>
        <p:nvSpPr>
          <p:cNvPr id="115" name="Shape 113"/>
          <p:cNvSpPr/>
          <p:nvPr/>
        </p:nvSpPr>
        <p:spPr>
          <a:xfrm>
            <a:off x="8293608" y="2487168"/>
            <a:ext cx="768096" cy="192024"/>
          </a:xfrm>
          <a:prstGeom prst="roundRect">
            <a:avLst>
              <a:gd name="adj" fmla="val 50000"/>
            </a:avLst>
          </a:prstGeom>
          <a:solidFill>
            <a:srgbClr val="B86E00"/>
          </a:solidFill>
          <a:ln w="12700">
            <a:solidFill>
              <a:srgbClr val="B86E00"/>
            </a:solidFill>
            <a:prstDash val="solid"/>
          </a:ln>
        </p:spPr>
      </p:sp>
      <p:sp>
        <p:nvSpPr>
          <p:cNvPr id="116" name="Text 114"/>
          <p:cNvSpPr txBox="1"/>
          <p:nvPr/>
        </p:nvSpPr>
        <p:spPr>
          <a:xfrm>
            <a:off x="8293608" y="2487168"/>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Gap-led</a:t>
            </a:r>
            <a:endParaRPr lang="en-US" sz="850" dirty="0"/>
          </a:p>
        </p:txBody>
      </p:sp>
      <p:sp>
        <p:nvSpPr>
          <p:cNvPr id="117" name="Text 115"/>
          <p:cNvSpPr txBox="1"/>
          <p:nvPr/>
        </p:nvSpPr>
        <p:spPr>
          <a:xfrm>
            <a:off x="9125712" y="2459736"/>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27" invalidUrl="" action="" tgtFrame="" tooltip="Open example on Wayfair" history="1" highlightClick="0" endSnd="0">
                  <a:extLst>
                    <a:ext uri="{A12FA001-AC4F-418D-AE19-62706E023703}">
                      <ahyp:hlinkClr xmlns:ahyp="http://schemas.microsoft.com/office/drawing/2018/hyperlinkcolor" val="tx"/>
                    </a:ext>
                  </a:extLst>
                </a:hlinkClick>
              </a:rPr>
              <a:t>Wood pendulum wall clock</a:t>
            </a:r>
            <a:endParaRPr lang="en-US" sz="1100" dirty="0"/>
          </a:p>
        </p:txBody>
      </p:sp>
      <p:sp>
        <p:nvSpPr>
          <p:cNvPr id="118" name="Text 116"/>
          <p:cNvSpPr txBox="1"/>
          <p:nvPr/>
        </p:nvSpPr>
        <p:spPr>
          <a:xfrm>
            <a:off x="8293608" y="2706624"/>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Staples 0 of 174 · Wayfair 9% of range</a:t>
            </a:r>
            <a:pPr indent="0" marL="0">
              <a:buNone/>
            </a:pPr>
            <a:r>
              <a:rPr lang="en-US" sz="950" b="1" dirty="0">
                <a:solidFill>
                  <a:srgbClr val="1E8E5A"/>
                </a:solidFill>
                <a:latin typeface="Calibri" pitchFamily="34" charset="0"/>
                <a:ea typeface="Calibri" pitchFamily="34" charset="-122"/>
                <a:cs typeface="Calibri" pitchFamily="34" charset="-120"/>
              </a:rPr>
              <a:t>  ·  ADD</a:t>
            </a:r>
            <a:endParaRPr lang="en-US" sz="950" dirty="0"/>
          </a:p>
        </p:txBody>
      </p:sp>
      <p:sp>
        <p:nvSpPr>
          <p:cNvPr id="119" name="Text 117"/>
          <p:cNvSpPr txBox="1"/>
          <p:nvPr/>
        </p:nvSpPr>
        <p:spPr>
          <a:xfrm>
            <a:off x="8293608" y="2862072"/>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8" invalidUrl="" action="" tgtFrame="" tooltip="Two-Tone Wavy Floral Pendulum Wooden Wall Clocks" history="1" highlightClick="0" endSnd="0">
                  <a:extLst>
                    <a:ext uri="{A12FA001-AC4F-418D-AE19-62706E023703}">
                      <ahyp:hlinkClr xmlns:ahyp="http://schemas.microsoft.com/office/drawing/2018/hyperlinkcolor" val="tx"/>
                    </a:ext>
                  </a:extLst>
                </a:hlinkClick>
              </a:rPr>
              <a:t>Two-Tone Wavy Floral Pendulum Wooden Wall… · $309.99 ↗</a:t>
            </a:r>
            <a:endParaRPr lang="en-US" sz="950" dirty="0"/>
          </a:p>
        </p:txBody>
      </p:sp>
      <p:sp>
        <p:nvSpPr>
          <p:cNvPr id="120" name="Shape 118"/>
          <p:cNvSpPr/>
          <p:nvPr/>
        </p:nvSpPr>
        <p:spPr>
          <a:xfrm>
            <a:off x="8183880" y="3090672"/>
            <a:ext cx="3584448" cy="1481328"/>
          </a:xfrm>
          <a:prstGeom prst="roundRect">
            <a:avLst>
              <a:gd name="adj" fmla="val 4938"/>
            </a:avLst>
          </a:prstGeom>
          <a:solidFill>
            <a:srgbClr val="FFFFFF"/>
          </a:solidFill>
          <a:ln w="9525">
            <a:solidFill>
              <a:srgbClr val="C9D3E3"/>
            </a:solidFill>
            <a:prstDash val="solid"/>
          </a:ln>
        </p:spPr>
      </p:sp>
      <p:sp>
        <p:nvSpPr>
          <p:cNvPr id="121" name="Text 119"/>
          <p:cNvSpPr txBox="1"/>
          <p:nvPr/>
        </p:nvSpPr>
        <p:spPr>
          <a:xfrm>
            <a:off x="8293608" y="3145536"/>
            <a:ext cx="2578608" cy="256032"/>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Office Partitions &amp; Dividers</a:t>
            </a:r>
            <a:endParaRPr lang="en-US" sz="1250" dirty="0"/>
          </a:p>
        </p:txBody>
      </p:sp>
      <p:sp>
        <p:nvSpPr>
          <p:cNvPr id="122" name="Shape 120"/>
          <p:cNvSpPr/>
          <p:nvPr/>
        </p:nvSpPr>
        <p:spPr>
          <a:xfrm>
            <a:off x="10899648" y="3163824"/>
            <a:ext cx="777240" cy="219456"/>
          </a:xfrm>
          <a:prstGeom prst="roundRect">
            <a:avLst>
              <a:gd name="adj" fmla="val 50000"/>
            </a:avLst>
          </a:prstGeom>
          <a:solidFill>
            <a:srgbClr val="7F187F"/>
          </a:solidFill>
          <a:ln w="12700">
            <a:solidFill>
              <a:srgbClr val="7F187F"/>
            </a:solidFill>
            <a:prstDash val="solid"/>
          </a:ln>
        </p:spPr>
      </p:sp>
      <p:sp>
        <p:nvSpPr>
          <p:cNvPr id="123" name="Text 121"/>
          <p:cNvSpPr txBox="1"/>
          <p:nvPr/>
        </p:nvSpPr>
        <p:spPr>
          <a:xfrm>
            <a:off x="10899648" y="3163824"/>
            <a:ext cx="77724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Wayfair</a:t>
            </a:r>
            <a:endParaRPr lang="en-US" sz="900" dirty="0"/>
          </a:p>
        </p:txBody>
      </p:sp>
      <p:sp>
        <p:nvSpPr>
          <p:cNvPr id="124" name="Shape 122"/>
          <p:cNvSpPr/>
          <p:nvPr/>
        </p:nvSpPr>
        <p:spPr>
          <a:xfrm>
            <a:off x="8293608" y="3456432"/>
            <a:ext cx="768096" cy="192024"/>
          </a:xfrm>
          <a:prstGeom prst="roundRect">
            <a:avLst>
              <a:gd name="adj" fmla="val 50000"/>
            </a:avLst>
          </a:prstGeom>
          <a:solidFill>
            <a:srgbClr val="1E8E5A"/>
          </a:solidFill>
          <a:ln w="12700">
            <a:solidFill>
              <a:srgbClr val="1E8E5A"/>
            </a:solidFill>
            <a:prstDash val="solid"/>
          </a:ln>
        </p:spPr>
      </p:sp>
      <p:sp>
        <p:nvSpPr>
          <p:cNvPr id="125" name="Text 123"/>
          <p:cNvSpPr txBox="1"/>
          <p:nvPr/>
        </p:nvSpPr>
        <p:spPr>
          <a:xfrm>
            <a:off x="8293608" y="3456432"/>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Strong</a:t>
            </a:r>
            <a:endParaRPr lang="en-US" sz="850" dirty="0"/>
          </a:p>
        </p:txBody>
      </p:sp>
      <p:sp>
        <p:nvSpPr>
          <p:cNvPr id="126" name="Text 124"/>
          <p:cNvSpPr txBox="1"/>
          <p:nvPr/>
        </p:nvSpPr>
        <p:spPr>
          <a:xfrm>
            <a:off x="9125712" y="3429000"/>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29" invalidUrl="" action="" tgtFrame="" tooltip="Open example on Wayfair" history="1" highlightClick="0" endSnd="0">
                  <a:extLst>
                    <a:ext uri="{A12FA001-AC4F-418D-AE19-62706E023703}">
                      <ahyp:hlinkClr xmlns:ahyp="http://schemas.microsoft.com/office/drawing/2018/hyperlinkcolor" val="tx"/>
                    </a:ext>
                  </a:extLst>
                </a:hlinkClick>
              </a:rPr>
              <a:t>Decorative folding screen (under $150)</a:t>
            </a:r>
            <a:endParaRPr lang="en-US" sz="1100" dirty="0"/>
          </a:p>
        </p:txBody>
      </p:sp>
      <p:sp>
        <p:nvSpPr>
          <p:cNvPr id="127" name="Text 125"/>
          <p:cNvSpPr txBox="1"/>
          <p:nvPr/>
        </p:nvSpPr>
        <p:spPr>
          <a:xfrm>
            <a:off x="8293608" y="3675888"/>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Under $150: Staples 3% vs Wayfair 28%</a:t>
            </a:r>
            <a:pPr indent="0" marL="0">
              <a:buNone/>
            </a:pPr>
            <a:r>
              <a:rPr lang="en-US" sz="950" b="1" dirty="0">
                <a:solidFill>
                  <a:srgbClr val="1E8E5A"/>
                </a:solidFill>
                <a:latin typeface="Calibri" pitchFamily="34" charset="0"/>
                <a:ea typeface="Calibri" pitchFamily="34" charset="-122"/>
                <a:cs typeface="Calibri" pitchFamily="34" charset="-120"/>
              </a:rPr>
              <a:t>  ·  ADD</a:t>
            </a:r>
            <a:endParaRPr lang="en-US" sz="950" dirty="0"/>
          </a:p>
        </p:txBody>
      </p:sp>
      <p:sp>
        <p:nvSpPr>
          <p:cNvPr id="128" name="Text 126"/>
          <p:cNvSpPr txBox="1"/>
          <p:nvPr/>
        </p:nvSpPr>
        <p:spPr>
          <a:xfrm>
            <a:off x="8293608" y="3831336"/>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30" invalidUrl="" action="" tgtFrame="" tooltip="Folding Room Divider Screen 8 Panel 5.6 ' Tall Privacy Screen Freestanding Room Partition Beige" history="1" highlightClick="0" endSnd="0">
                  <a:extLst>
                    <a:ext uri="{A12FA001-AC4F-418D-AE19-62706E023703}">
                      <ahyp:hlinkClr xmlns:ahyp="http://schemas.microsoft.com/office/drawing/2018/hyperlinkcolor" val="tx"/>
                    </a:ext>
                  </a:extLst>
                </a:hlinkClick>
              </a:rPr>
              <a:t>Folding Room Divider Screen 8 Panel 5.6 '… · $139.99 ↗</a:t>
            </a:r>
            <a:endParaRPr lang="en-US" sz="950" dirty="0"/>
          </a:p>
        </p:txBody>
      </p:sp>
      <p:sp>
        <p:nvSpPr>
          <p:cNvPr id="129" name="Shape 127"/>
          <p:cNvSpPr/>
          <p:nvPr/>
        </p:nvSpPr>
        <p:spPr>
          <a:xfrm>
            <a:off x="8293608" y="3959352"/>
            <a:ext cx="3364992" cy="0"/>
          </a:xfrm>
          <a:prstGeom prst="line">
            <a:avLst/>
          </a:prstGeom>
          <a:noFill/>
          <a:ln w="9525">
            <a:solidFill>
              <a:srgbClr val="E3E8F0"/>
            </a:solidFill>
            <a:prstDash val="solid"/>
          </a:ln>
        </p:spPr>
      </p:sp>
      <p:sp>
        <p:nvSpPr>
          <p:cNvPr id="130" name="Shape 128"/>
          <p:cNvSpPr/>
          <p:nvPr/>
        </p:nvSpPr>
        <p:spPr>
          <a:xfrm>
            <a:off x="8293608" y="4023360"/>
            <a:ext cx="768096" cy="192024"/>
          </a:xfrm>
          <a:prstGeom prst="roundRect">
            <a:avLst>
              <a:gd name="adj" fmla="val 50000"/>
            </a:avLst>
          </a:prstGeom>
          <a:solidFill>
            <a:srgbClr val="2F6FD0"/>
          </a:solidFill>
          <a:ln w="12700">
            <a:solidFill>
              <a:srgbClr val="2F6FD0"/>
            </a:solidFill>
            <a:prstDash val="solid"/>
          </a:ln>
        </p:spPr>
      </p:sp>
      <p:sp>
        <p:nvSpPr>
          <p:cNvPr id="131" name="Text 129"/>
          <p:cNvSpPr txBox="1"/>
          <p:nvPr/>
        </p:nvSpPr>
        <p:spPr>
          <a:xfrm>
            <a:off x="8293608" y="4023360"/>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Vector-led</a:t>
            </a:r>
            <a:endParaRPr lang="en-US" sz="850" dirty="0"/>
          </a:p>
        </p:txBody>
      </p:sp>
      <p:sp>
        <p:nvSpPr>
          <p:cNvPr id="132" name="Text 130"/>
          <p:cNvSpPr txBox="1"/>
          <p:nvPr/>
        </p:nvSpPr>
        <p:spPr>
          <a:xfrm>
            <a:off x="9125712" y="3995928"/>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31" invalidUrl="" action="" tgtFrame="" tooltip="Open example on Wayfair" history="1" highlightClick="0" endSnd="0">
                  <a:extLst>
                    <a:ext uri="{A12FA001-AC4F-418D-AE19-62706E023703}">
                      <ahyp:hlinkClr xmlns:ahyp="http://schemas.microsoft.com/office/drawing/2018/hyperlinkcolor" val="tx"/>
                    </a:ext>
                  </a:extLst>
                </a:hlinkClick>
              </a:rPr>
              <a:t>Natural rattan / woven folding screen</a:t>
            </a:r>
            <a:endParaRPr lang="en-US" sz="1100" dirty="0"/>
          </a:p>
        </p:txBody>
      </p:sp>
      <p:sp>
        <p:nvSpPr>
          <p:cNvPr id="133" name="Text 131"/>
          <p:cNvSpPr txBox="1"/>
          <p:nvPr/>
        </p:nvSpPr>
        <p:spPr>
          <a:xfrm>
            <a:off x="8293608" y="4242816"/>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Natural/woven: Staples 2% vs Wayfair 32%</a:t>
            </a:r>
            <a:pPr indent="0" marL="0">
              <a:buNone/>
            </a:pPr>
            <a:r>
              <a:rPr lang="en-US" sz="950" b="1" dirty="0">
                <a:solidFill>
                  <a:srgbClr val="1E8E5A"/>
                </a:solidFill>
                <a:latin typeface="Calibri" pitchFamily="34" charset="0"/>
                <a:ea typeface="Calibri" pitchFamily="34" charset="-122"/>
                <a:cs typeface="Calibri" pitchFamily="34" charset="-120"/>
              </a:rPr>
              <a:t>  ·  ADD</a:t>
            </a:r>
            <a:endParaRPr lang="en-US" sz="950" dirty="0"/>
          </a:p>
        </p:txBody>
      </p:sp>
      <p:sp>
        <p:nvSpPr>
          <p:cNvPr id="134" name="Text 132"/>
          <p:cNvSpPr txBox="1"/>
          <p:nvPr/>
        </p:nvSpPr>
        <p:spPr>
          <a:xfrm>
            <a:off x="8293608" y="4398264"/>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32" invalidUrl="" action="" tgtFrame="" tooltip="bali &amp; pari Kiyoko Natural Rattan Room Divider - Handwoven Wicker Tri-Fold Decorative Privacy Screen with Woven Leaf Motif" history="1" highlightClick="0" endSnd="0">
                  <a:extLst>
                    <a:ext uri="{A12FA001-AC4F-418D-AE19-62706E023703}">
                      <ahyp:hlinkClr xmlns:ahyp="http://schemas.microsoft.com/office/drawing/2018/hyperlinkcolor" val="tx"/>
                    </a:ext>
                  </a:extLst>
                </a:hlinkClick>
              </a:rPr>
              <a:t>bali &amp; pari Kiyoko Natural Rattan Room… · $299.99 ↗</a:t>
            </a:r>
            <a:endParaRPr lang="en-US" sz="950" dirty="0"/>
          </a:p>
        </p:txBody>
      </p:sp>
      <p:sp>
        <p:nvSpPr>
          <p:cNvPr id="135" name="Shape 133"/>
          <p:cNvSpPr/>
          <p:nvPr/>
        </p:nvSpPr>
        <p:spPr>
          <a:xfrm>
            <a:off x="8183880" y="4626864"/>
            <a:ext cx="3584448" cy="1481328"/>
          </a:xfrm>
          <a:prstGeom prst="roundRect">
            <a:avLst>
              <a:gd name="adj" fmla="val 4938"/>
            </a:avLst>
          </a:prstGeom>
          <a:solidFill>
            <a:srgbClr val="FFFFFF"/>
          </a:solidFill>
          <a:ln w="9525">
            <a:solidFill>
              <a:srgbClr val="C9D3E3"/>
            </a:solidFill>
            <a:prstDash val="solid"/>
          </a:ln>
        </p:spPr>
      </p:sp>
      <p:sp>
        <p:nvSpPr>
          <p:cNvPr id="136" name="Text 134"/>
          <p:cNvSpPr txBox="1"/>
          <p:nvPr/>
        </p:nvSpPr>
        <p:spPr>
          <a:xfrm>
            <a:off x="8293608" y="4681728"/>
            <a:ext cx="2578608" cy="256032"/>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Coffee Organizers &amp; Dispensers</a:t>
            </a:r>
            <a:endParaRPr lang="en-US" sz="1250" dirty="0"/>
          </a:p>
        </p:txBody>
      </p:sp>
      <p:sp>
        <p:nvSpPr>
          <p:cNvPr id="137" name="Shape 135"/>
          <p:cNvSpPr/>
          <p:nvPr/>
        </p:nvSpPr>
        <p:spPr>
          <a:xfrm>
            <a:off x="10899648" y="4700016"/>
            <a:ext cx="777240" cy="219456"/>
          </a:xfrm>
          <a:prstGeom prst="roundRect">
            <a:avLst>
              <a:gd name="adj" fmla="val 50000"/>
            </a:avLst>
          </a:prstGeom>
          <a:solidFill>
            <a:srgbClr val="C45500"/>
          </a:solidFill>
          <a:ln w="12700">
            <a:solidFill>
              <a:srgbClr val="C45500"/>
            </a:solidFill>
            <a:prstDash val="solid"/>
          </a:ln>
        </p:spPr>
      </p:sp>
      <p:sp>
        <p:nvSpPr>
          <p:cNvPr id="138" name="Text 136"/>
          <p:cNvSpPr txBox="1"/>
          <p:nvPr/>
        </p:nvSpPr>
        <p:spPr>
          <a:xfrm>
            <a:off x="10899648" y="4700016"/>
            <a:ext cx="77724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Amazon</a:t>
            </a:r>
            <a:endParaRPr lang="en-US" sz="900" dirty="0"/>
          </a:p>
        </p:txBody>
      </p:sp>
      <p:sp>
        <p:nvSpPr>
          <p:cNvPr id="139" name="Shape 137"/>
          <p:cNvSpPr/>
          <p:nvPr/>
        </p:nvSpPr>
        <p:spPr>
          <a:xfrm>
            <a:off x="8293608" y="4992624"/>
            <a:ext cx="768096" cy="192024"/>
          </a:xfrm>
          <a:prstGeom prst="roundRect">
            <a:avLst>
              <a:gd name="adj" fmla="val 50000"/>
            </a:avLst>
          </a:prstGeom>
          <a:solidFill>
            <a:srgbClr val="1E8E5A"/>
          </a:solidFill>
          <a:ln w="12700">
            <a:solidFill>
              <a:srgbClr val="1E8E5A"/>
            </a:solidFill>
            <a:prstDash val="solid"/>
          </a:ln>
        </p:spPr>
      </p:sp>
      <p:sp>
        <p:nvSpPr>
          <p:cNvPr id="140" name="Text 138"/>
          <p:cNvSpPr txBox="1"/>
          <p:nvPr/>
        </p:nvSpPr>
        <p:spPr>
          <a:xfrm>
            <a:off x="8293608" y="4992624"/>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Strong</a:t>
            </a:r>
            <a:endParaRPr lang="en-US" sz="850" dirty="0"/>
          </a:p>
        </p:txBody>
      </p:sp>
      <p:sp>
        <p:nvSpPr>
          <p:cNvPr id="141" name="Text 139"/>
          <p:cNvSpPr txBox="1"/>
          <p:nvPr/>
        </p:nvSpPr>
        <p:spPr>
          <a:xfrm>
            <a:off x="9125712" y="4965192"/>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33" invalidUrl="" action="" tgtFrame="" tooltip="Open example on Amazon" history="1" highlightClick="0" endSnd="0">
                  <a:extLst>
                    <a:ext uri="{A12FA001-AC4F-418D-AE19-62706E023703}">
                      <ahyp:hlinkClr xmlns:ahyp="http://schemas.microsoft.com/office/drawing/2018/hyperlinkcolor" val="tx"/>
                    </a:ext>
                  </a:extLst>
                </a:hlinkClick>
              </a:rPr>
              <a:t>Bamboo / wood K-Cup pod drawer</a:t>
            </a:r>
            <a:endParaRPr lang="en-US" sz="1100" dirty="0"/>
          </a:p>
        </p:txBody>
      </p:sp>
      <p:sp>
        <p:nvSpPr>
          <p:cNvPr id="142" name="Text 140"/>
          <p:cNvSpPr txBox="1"/>
          <p:nvPr/>
        </p:nvSpPr>
        <p:spPr>
          <a:xfrm>
            <a:off x="8293608" y="5212080"/>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Bamboo/wood: Staples 4% vs Amazon 36%</a:t>
            </a:r>
            <a:pPr indent="0" marL="0">
              <a:buNone/>
            </a:pPr>
            <a:r>
              <a:rPr lang="en-US" sz="950" b="1" dirty="0">
                <a:solidFill>
                  <a:srgbClr val="1E8E5A"/>
                </a:solidFill>
                <a:latin typeface="Calibri" pitchFamily="34" charset="0"/>
                <a:ea typeface="Calibri" pitchFamily="34" charset="-122"/>
                <a:cs typeface="Calibri" pitchFamily="34" charset="-120"/>
              </a:rPr>
              <a:t>  ·  ADD</a:t>
            </a:r>
            <a:endParaRPr lang="en-US" sz="950" dirty="0"/>
          </a:p>
        </p:txBody>
      </p:sp>
      <p:sp>
        <p:nvSpPr>
          <p:cNvPr id="143" name="Text 141"/>
          <p:cNvSpPr txBox="1"/>
          <p:nvPr/>
        </p:nvSpPr>
        <p:spPr>
          <a:xfrm>
            <a:off x="8293608" y="5367528"/>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34"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Coffee Pod… · $35.89 ↗</a:t>
            </a:r>
            <a:endParaRPr lang="en-US" sz="950" dirty="0"/>
          </a:p>
        </p:txBody>
      </p:sp>
      <p:sp>
        <p:nvSpPr>
          <p:cNvPr id="144" name="Shape 142"/>
          <p:cNvSpPr/>
          <p:nvPr/>
        </p:nvSpPr>
        <p:spPr>
          <a:xfrm>
            <a:off x="8293608" y="5495544"/>
            <a:ext cx="3364992" cy="0"/>
          </a:xfrm>
          <a:prstGeom prst="line">
            <a:avLst/>
          </a:prstGeom>
          <a:noFill/>
          <a:ln w="9525">
            <a:solidFill>
              <a:srgbClr val="E3E8F0"/>
            </a:solidFill>
            <a:prstDash val="solid"/>
          </a:ln>
        </p:spPr>
      </p:sp>
      <p:sp>
        <p:nvSpPr>
          <p:cNvPr id="145" name="Shape 143"/>
          <p:cNvSpPr/>
          <p:nvPr/>
        </p:nvSpPr>
        <p:spPr>
          <a:xfrm>
            <a:off x="8293608" y="5559552"/>
            <a:ext cx="768096" cy="192024"/>
          </a:xfrm>
          <a:prstGeom prst="roundRect">
            <a:avLst>
              <a:gd name="adj" fmla="val 50000"/>
            </a:avLst>
          </a:prstGeom>
          <a:solidFill>
            <a:srgbClr val="B86E00"/>
          </a:solidFill>
          <a:ln w="12700">
            <a:solidFill>
              <a:srgbClr val="B86E00"/>
            </a:solidFill>
            <a:prstDash val="solid"/>
          </a:ln>
        </p:spPr>
      </p:sp>
      <p:sp>
        <p:nvSpPr>
          <p:cNvPr id="146" name="Text 144"/>
          <p:cNvSpPr txBox="1"/>
          <p:nvPr/>
        </p:nvSpPr>
        <p:spPr>
          <a:xfrm>
            <a:off x="8293608" y="5559552"/>
            <a:ext cx="768096" cy="1920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Gap-led</a:t>
            </a:r>
            <a:endParaRPr lang="en-US" sz="850" dirty="0"/>
          </a:p>
        </p:txBody>
      </p:sp>
      <p:sp>
        <p:nvSpPr>
          <p:cNvPr id="147" name="Text 145"/>
          <p:cNvSpPr txBox="1"/>
          <p:nvPr/>
        </p:nvSpPr>
        <p:spPr>
          <a:xfrm>
            <a:off x="9125712" y="5532120"/>
            <a:ext cx="2551176" cy="246888"/>
          </a:xfrm>
          <a:prstGeom prst="rect">
            <a:avLst/>
          </a:prstGeom>
          <a:noFill/>
          <a:ln/>
        </p:spPr>
        <p:txBody>
          <a:bodyPr wrap="square" lIns="0" tIns="0" rIns="0" bIns="0" rtlCol="0" anchor="ctr"/>
          <a:lstStyle/>
          <a:p>
            <a:pPr indent="0" marL="0">
              <a:buNone/>
            </a:pPr>
            <a:r>
              <a:rPr lang="en-US" sz="1100" b="1" u="sng" dirty="0">
                <a:solidFill>
                  <a:srgbClr val="13285B"/>
                </a:solidFill>
                <a:latin typeface="Calibri" pitchFamily="34" charset="0"/>
                <a:ea typeface="Calibri" pitchFamily="34" charset="-122"/>
                <a:cs typeface="Calibri" pitchFamily="34" charset="-120"/>
                <a:hlinkClick r:id="rId35" invalidUrl="" action="" tgtFrame="" tooltip="Open example on Amazon" history="1" highlightClick="0" endSnd="0">
                  <a:extLst>
                    <a:ext uri="{A12FA001-AC4F-418D-AE19-62706E023703}">
                      <ahyp:hlinkClr xmlns:ahyp="http://schemas.microsoft.com/office/drawing/2018/hyperlinkcolor" val="tx"/>
                    </a:ext>
                  </a:extLst>
                </a:hlinkClick>
              </a:rPr>
              <a:t>Bamboo Nespresso pod drawer</a:t>
            </a:r>
            <a:endParaRPr lang="en-US" sz="1100" dirty="0"/>
          </a:p>
        </p:txBody>
      </p:sp>
      <p:sp>
        <p:nvSpPr>
          <p:cNvPr id="148" name="Text 146"/>
          <p:cNvSpPr txBox="1"/>
          <p:nvPr/>
        </p:nvSpPr>
        <p:spPr>
          <a:xfrm>
            <a:off x="8293608" y="5779008"/>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Nespresso storage: Staples 3% vs Amazon 33%</a:t>
            </a:r>
            <a:pPr indent="0" marL="0">
              <a:buNone/>
            </a:pPr>
            <a:r>
              <a:rPr lang="en-US" sz="950" b="1" dirty="0">
                <a:solidFill>
                  <a:srgbClr val="1E8E5A"/>
                </a:solidFill>
                <a:latin typeface="Calibri" pitchFamily="34" charset="0"/>
                <a:ea typeface="Calibri" pitchFamily="34" charset="-122"/>
                <a:cs typeface="Calibri" pitchFamily="34" charset="-120"/>
              </a:rPr>
              <a:t>  ·  ADD</a:t>
            </a:r>
            <a:endParaRPr lang="en-US" sz="950" dirty="0"/>
          </a:p>
        </p:txBody>
      </p:sp>
      <p:sp>
        <p:nvSpPr>
          <p:cNvPr id="149" name="Text 147"/>
          <p:cNvSpPr txBox="1"/>
          <p:nvPr/>
        </p:nvSpPr>
        <p:spPr>
          <a:xfrm>
            <a:off x="8293608" y="5934456"/>
            <a:ext cx="3383280" cy="164592"/>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36" invalidUrl="" action="" tgtFrame="" tooltip="Bamboo Coffee Pod Drawer Compatible with Nespresso Vertuo Capsule" history="1" highlightClick="0" endSnd="0">
                  <a:extLst>
                    <a:ext uri="{A12FA001-AC4F-418D-AE19-62706E023703}">
                      <ahyp:hlinkClr xmlns:ahyp="http://schemas.microsoft.com/office/drawing/2018/hyperlinkcolor" val="tx"/>
                    </a:ext>
                  </a:extLst>
                </a:hlinkClick>
              </a:rPr>
              <a:t>Bamboo Coffee Pod Drawer Compatible with… · $42.99 ↗</a:t>
            </a:r>
            <a:endParaRPr lang="en-US" sz="950" dirty="0"/>
          </a:p>
        </p:txBody>
      </p:sp>
      <p:sp>
        <p:nvSpPr>
          <p:cNvPr id="150" name="Text 148"/>
          <p:cNvSpPr txBox="1"/>
          <p:nvPr/>
        </p:nvSpPr>
        <p:spPr>
          <a:xfrm>
            <a:off x="411480" y="6199632"/>
            <a:ext cx="11365992" cy="219456"/>
          </a:xfrm>
          <a:prstGeom prst="rect">
            <a:avLst/>
          </a:prstGeom>
          <a:noFill/>
          <a:ln/>
        </p:spPr>
        <p:txBody>
          <a:bodyPr wrap="square" lIns="0" tIns="0" rIns="0" bIns="0" rtlCol="0" anchor="t"/>
          <a:lstStyle/>
          <a:p>
            <a:pPr indent="0" marL="0">
              <a:buNone/>
            </a:pPr>
            <a:r>
              <a:rPr lang="en-US" sz="900" b="1" dirty="0">
                <a:solidFill>
                  <a:srgbClr val="1E8E5A"/>
                </a:solidFill>
                <a:latin typeface="Calibri" pitchFamily="34" charset="0"/>
                <a:ea typeface="Calibri" pitchFamily="34" charset="-122"/>
                <a:cs typeface="Calibri" pitchFamily="34" charset="-120"/>
              </a:rPr>
              <a:t>Strong</a:t>
            </a:r>
            <a:pPr indent="0" marL="0">
              <a:buNone/>
            </a:pPr>
            <a:r>
              <a:rPr lang="en-US" sz="900" dirty="0">
                <a:solidFill>
                  <a:srgbClr val="5B6475"/>
                </a:solidFill>
                <a:latin typeface="Calibri" pitchFamily="34" charset="0"/>
                <a:ea typeface="Calibri" pitchFamily="34" charset="-122"/>
                <a:cs typeface="Calibri" pitchFamily="34" charset="-120"/>
              </a:rPr>
              <a:t> = both methods agree   </a:t>
            </a:r>
            <a:pPr indent="0" marL="0">
              <a:buNone/>
            </a:pPr>
            <a:r>
              <a:rPr lang="en-US" sz="900" b="1" dirty="0">
                <a:solidFill>
                  <a:srgbClr val="2F6FD0"/>
                </a:solidFill>
                <a:latin typeface="Calibri" pitchFamily="34" charset="0"/>
                <a:ea typeface="Calibri" pitchFamily="34" charset="-122"/>
                <a:cs typeface="Calibri" pitchFamily="34" charset="-120"/>
              </a:rPr>
              <a:t>Vector-led</a:t>
            </a:r>
            <a:pPr indent="0" marL="0">
              <a:buNone/>
            </a:pPr>
            <a:r>
              <a:rPr lang="en-US" sz="900" dirty="0">
                <a:solidFill>
                  <a:srgbClr val="5B6475"/>
                </a:solidFill>
                <a:latin typeface="Calibri" pitchFamily="34" charset="0"/>
                <a:ea typeface="Calibri" pitchFamily="34" charset="-122"/>
                <a:cs typeface="Calibri" pitchFamily="34" charset="-120"/>
              </a:rPr>
              <a:t> = product-similarity whitespace   </a:t>
            </a:r>
            <a:pPr indent="0" marL="0">
              <a:buNone/>
            </a:pPr>
            <a:r>
              <a:rPr lang="en-US" sz="900" b="1" dirty="0">
                <a:solidFill>
                  <a:srgbClr val="B86E00"/>
                </a:solidFill>
                <a:latin typeface="Calibri" pitchFamily="34" charset="0"/>
                <a:ea typeface="Calibri" pitchFamily="34" charset="-122"/>
                <a:cs typeface="Calibri" pitchFamily="34" charset="-120"/>
              </a:rPr>
              <a:t>Gap-led</a:t>
            </a:r>
            <a:pPr indent="0" marL="0">
              <a:buNone/>
            </a:pPr>
            <a:r>
              <a:rPr lang="en-US" sz="900" dirty="0">
                <a:solidFill>
                  <a:srgbClr val="5B6475"/>
                </a:solidFill>
                <a:latin typeface="Calibri" pitchFamily="34" charset="0"/>
                <a:ea typeface="Calibri" pitchFamily="34" charset="-122"/>
                <a:cs typeface="Calibri" pitchFamily="34" charset="-120"/>
              </a:rPr>
              <a:t> = attribute gap (check fit)   ·   ADD = Staples carries ~none, DEEPEN = carries a little   ·   Click a name to open the example (each passed its method's safety gate)</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Future Scope: Where This Engine Goes Next</a:t>
            </a:r>
            <a:endParaRPr lang="en-US" sz="2800" dirty="0"/>
          </a:p>
        </p:txBody>
      </p:sp>
      <p:sp>
        <p:nvSpPr>
          <p:cNvPr id="3" name="Shape 1"/>
          <p:cNvSpPr/>
          <p:nvPr/>
        </p:nvSpPr>
        <p:spPr>
          <a:xfrm>
            <a:off x="411480" y="1188720"/>
            <a:ext cx="5614416" cy="5120640"/>
          </a:xfrm>
          <a:prstGeom prst="roundRect">
            <a:avLst>
              <a:gd name="adj" fmla="val 2143"/>
            </a:avLst>
          </a:prstGeom>
          <a:solidFill>
            <a:srgbClr val="EEF3FB"/>
          </a:solidFill>
          <a:ln w="12700">
            <a:solidFill>
              <a:srgbClr val="EEF3FB"/>
            </a:solidFill>
            <a:prstDash val="solid"/>
          </a:ln>
        </p:spPr>
      </p:sp>
      <p:sp>
        <p:nvSpPr>
          <p:cNvPr id="4" name="Shape 2"/>
          <p:cNvSpPr/>
          <p:nvPr/>
        </p:nvSpPr>
        <p:spPr>
          <a:xfrm>
            <a:off x="411480" y="1188720"/>
            <a:ext cx="5614416" cy="566928"/>
          </a:xfrm>
          <a:prstGeom prst="roundRect">
            <a:avLst>
              <a:gd name="adj" fmla="val 19355"/>
            </a:avLst>
          </a:prstGeom>
          <a:solidFill>
            <a:srgbClr val="1F4E9A"/>
          </a:solidFill>
          <a:ln w="12700">
            <a:solidFill>
              <a:srgbClr val="1F4E9A"/>
            </a:solidFill>
            <a:prstDash val="solid"/>
          </a:ln>
        </p:spPr>
      </p:sp>
      <p:sp>
        <p:nvSpPr>
          <p:cNvPr id="5" name="Shape 3"/>
          <p:cNvSpPr/>
          <p:nvPr/>
        </p:nvSpPr>
        <p:spPr>
          <a:xfrm>
            <a:off x="548640" y="1280160"/>
            <a:ext cx="384048" cy="384048"/>
          </a:xfrm>
          <a:prstGeom prst="ellipse">
            <a:avLst/>
          </a:prstGeom>
          <a:solidFill>
            <a:srgbClr val="F5A623"/>
          </a:solidFill>
          <a:ln w="12700">
            <a:solidFill>
              <a:srgbClr val="F5A623"/>
            </a:solidFill>
            <a:prstDash val="solid"/>
          </a:ln>
        </p:spPr>
      </p:sp>
      <p:sp>
        <p:nvSpPr>
          <p:cNvPr id="6" name="Text 4"/>
          <p:cNvSpPr txBox="1"/>
          <p:nvPr/>
        </p:nvSpPr>
        <p:spPr>
          <a:xfrm>
            <a:off x="548640" y="12801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051560" y="1188720"/>
            <a:ext cx="4882896"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With Staples' internal data</a:t>
            </a:r>
            <a:endParaRPr lang="en-US" sz="1700" dirty="0"/>
          </a:p>
        </p:txBody>
      </p:sp>
      <p:sp>
        <p:nvSpPr>
          <p:cNvPr id="8" name="Shape 6"/>
          <p:cNvSpPr/>
          <p:nvPr/>
        </p:nvSpPr>
        <p:spPr>
          <a:xfrm>
            <a:off x="640080" y="1993392"/>
            <a:ext cx="548640" cy="548640"/>
          </a:xfrm>
          <a:prstGeom prst="ellipse">
            <a:avLst/>
          </a:prstGeom>
          <a:solidFill>
            <a:srgbClr val="1F4E9A"/>
          </a:solidFill>
          <a:ln w="12700">
            <a:solidFill>
              <a:srgbClr val="1F4E9A"/>
            </a:solidFill>
            <a:prstDash val="solid"/>
          </a:ln>
        </p:spPr>
      </p:sp>
      <p:pic>
        <p:nvPicPr>
          <p:cNvPr id="9" name="Image 0" descr="preencoded.png">    </p:cNvPr>
          <p:cNvPicPr>
            <a:picLocks noChangeAspect="1"/>
          </p:cNvPicPr>
          <p:nvPr/>
        </p:nvPicPr>
        <p:blipFill>
          <a:blip r:embed="rId1"/>
          <a:stretch>
            <a:fillRect/>
          </a:stretch>
        </p:blipFill>
        <p:spPr>
          <a:xfrm>
            <a:off x="760781" y="2114093"/>
            <a:ext cx="307238" cy="307238"/>
          </a:xfrm>
          <a:prstGeom prst="rect">
            <a:avLst/>
          </a:prstGeom>
        </p:spPr>
      </p:pic>
      <p:sp>
        <p:nvSpPr>
          <p:cNvPr id="10" name="Text 7"/>
          <p:cNvSpPr txBox="1"/>
          <p:nvPr/>
        </p:nvSpPr>
        <p:spPr>
          <a:xfrm>
            <a:off x="1371600" y="1956816"/>
            <a:ext cx="4471416" cy="292608"/>
          </a:xfrm>
          <a:prstGeom prst="rect">
            <a:avLst/>
          </a:prstGeom>
          <a:noFill/>
          <a:ln/>
        </p:spPr>
        <p:txBody>
          <a:bodyPr wrap="square" lIns="0" tIns="0" rIns="0" bIns="0" rtlCol="0" anchor="t"/>
          <a:lstStyle/>
          <a:p>
            <a:pPr indent="0" marL="0">
              <a:buNone/>
            </a:pPr>
            <a:r>
              <a:rPr lang="en-US" sz="1400" b="1" dirty="0">
                <a:solidFill>
                  <a:srgbClr val="13285B"/>
                </a:solidFill>
                <a:latin typeface="Calibri" pitchFamily="34" charset="0"/>
                <a:ea typeface="Calibri" pitchFamily="34" charset="-122"/>
                <a:cs typeface="Calibri" pitchFamily="34" charset="-120"/>
              </a:rPr>
              <a:t>Customer profiling &amp; demand sizing</a:t>
            </a:r>
            <a:endParaRPr lang="en-US" sz="1400" dirty="0"/>
          </a:p>
        </p:txBody>
      </p:sp>
      <p:sp>
        <p:nvSpPr>
          <p:cNvPr id="11" name="Text 8"/>
          <p:cNvSpPr txBox="1"/>
          <p:nvPr/>
        </p:nvSpPr>
        <p:spPr>
          <a:xfrm>
            <a:off x="1371600" y="2267712"/>
            <a:ext cx="4471416" cy="10515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Use sales, traffic and customer data to size demand per archetype and target each segment (Hero, Probable, Non-Hero) precisely.</a:t>
            </a:r>
            <a:endParaRPr lang="en-US" sz="1200" dirty="0"/>
          </a:p>
        </p:txBody>
      </p:sp>
      <p:sp>
        <p:nvSpPr>
          <p:cNvPr id="12" name="Shape 9"/>
          <p:cNvSpPr/>
          <p:nvPr/>
        </p:nvSpPr>
        <p:spPr>
          <a:xfrm>
            <a:off x="640080" y="3456432"/>
            <a:ext cx="548640" cy="548640"/>
          </a:xfrm>
          <a:prstGeom prst="ellipse">
            <a:avLst/>
          </a:prstGeom>
          <a:solidFill>
            <a:srgbClr val="1F4E9A"/>
          </a:solidFill>
          <a:ln w="12700">
            <a:solidFill>
              <a:srgbClr val="1F4E9A"/>
            </a:solidFill>
            <a:prstDash val="solid"/>
          </a:ln>
        </p:spPr>
      </p:sp>
      <p:pic>
        <p:nvPicPr>
          <p:cNvPr id="13" name="Image 1" descr="preencoded.png">    </p:cNvPr>
          <p:cNvPicPr>
            <a:picLocks noChangeAspect="1"/>
          </p:cNvPicPr>
          <p:nvPr/>
        </p:nvPicPr>
        <p:blipFill>
          <a:blip r:embed="rId2"/>
          <a:stretch>
            <a:fillRect/>
          </a:stretch>
        </p:blipFill>
        <p:spPr>
          <a:xfrm>
            <a:off x="760781" y="3577133"/>
            <a:ext cx="307238" cy="307238"/>
          </a:xfrm>
          <a:prstGeom prst="rect">
            <a:avLst/>
          </a:prstGeom>
        </p:spPr>
      </p:pic>
      <p:sp>
        <p:nvSpPr>
          <p:cNvPr id="14" name="Text 10"/>
          <p:cNvSpPr txBox="1"/>
          <p:nvPr/>
        </p:nvSpPr>
        <p:spPr>
          <a:xfrm>
            <a:off x="1371600" y="3419856"/>
            <a:ext cx="4471416" cy="292608"/>
          </a:xfrm>
          <a:prstGeom prst="rect">
            <a:avLst/>
          </a:prstGeom>
          <a:noFill/>
          <a:ln/>
        </p:spPr>
        <p:txBody>
          <a:bodyPr wrap="square" lIns="0" tIns="0" rIns="0" bIns="0" rtlCol="0" anchor="t"/>
          <a:lstStyle/>
          <a:p>
            <a:pPr indent="0" marL="0">
              <a:buNone/>
            </a:pPr>
            <a:r>
              <a:rPr lang="en-US" sz="1400" b="1" dirty="0">
                <a:solidFill>
                  <a:srgbClr val="13285B"/>
                </a:solidFill>
                <a:latin typeface="Calibri" pitchFamily="34" charset="0"/>
                <a:ea typeface="Calibri" pitchFamily="34" charset="-122"/>
                <a:cs typeface="Calibri" pitchFamily="34" charset="-120"/>
              </a:rPr>
              <a:t>Vendor catalogue vetting</a:t>
            </a:r>
            <a:endParaRPr lang="en-US" sz="1400" dirty="0"/>
          </a:p>
        </p:txBody>
      </p:sp>
      <p:sp>
        <p:nvSpPr>
          <p:cNvPr id="15" name="Text 11"/>
          <p:cNvSpPr txBox="1"/>
          <p:nvPr/>
        </p:nvSpPr>
        <p:spPr>
          <a:xfrm>
            <a:off x="1371600" y="3730752"/>
            <a:ext cx="4471416" cy="10515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Pivot the same engine onto seller listings to score, approve or reject marketplace submissions before they go live.</a:t>
            </a:r>
            <a:endParaRPr lang="en-US" sz="1200" dirty="0"/>
          </a:p>
        </p:txBody>
      </p:sp>
      <p:sp>
        <p:nvSpPr>
          <p:cNvPr id="16" name="Shape 12"/>
          <p:cNvSpPr/>
          <p:nvPr/>
        </p:nvSpPr>
        <p:spPr>
          <a:xfrm>
            <a:off x="640080" y="4919472"/>
            <a:ext cx="548640" cy="548640"/>
          </a:xfrm>
          <a:prstGeom prst="ellipse">
            <a:avLst/>
          </a:prstGeom>
          <a:solidFill>
            <a:srgbClr val="1F4E9A"/>
          </a:solidFill>
          <a:ln w="12700">
            <a:solidFill>
              <a:srgbClr val="1F4E9A"/>
            </a:solidFill>
            <a:prstDash val="solid"/>
          </a:ln>
        </p:spPr>
      </p:sp>
      <p:pic>
        <p:nvPicPr>
          <p:cNvPr id="17" name="Image 2" descr="preencoded.png">    </p:cNvPr>
          <p:cNvPicPr>
            <a:picLocks noChangeAspect="1"/>
          </p:cNvPicPr>
          <p:nvPr/>
        </p:nvPicPr>
        <p:blipFill>
          <a:blip r:embed="rId3"/>
          <a:stretch>
            <a:fillRect/>
          </a:stretch>
        </p:blipFill>
        <p:spPr>
          <a:xfrm>
            <a:off x="760781" y="5040173"/>
            <a:ext cx="307238" cy="307238"/>
          </a:xfrm>
          <a:prstGeom prst="rect">
            <a:avLst/>
          </a:prstGeom>
        </p:spPr>
      </p:pic>
      <p:sp>
        <p:nvSpPr>
          <p:cNvPr id="18" name="Text 13"/>
          <p:cNvSpPr txBox="1"/>
          <p:nvPr/>
        </p:nvSpPr>
        <p:spPr>
          <a:xfrm>
            <a:off x="1371600" y="4882896"/>
            <a:ext cx="4471416" cy="292608"/>
          </a:xfrm>
          <a:prstGeom prst="rect">
            <a:avLst/>
          </a:prstGeom>
          <a:noFill/>
          <a:ln/>
        </p:spPr>
        <p:txBody>
          <a:bodyPr wrap="square" lIns="0" tIns="0" rIns="0" bIns="0" rtlCol="0" anchor="t"/>
          <a:lstStyle/>
          <a:p>
            <a:pPr indent="0" marL="0">
              <a:buNone/>
            </a:pPr>
            <a:r>
              <a:rPr lang="en-US" sz="1400" b="1" dirty="0">
                <a:solidFill>
                  <a:srgbClr val="13285B"/>
                </a:solidFill>
                <a:latin typeface="Calibri" pitchFamily="34" charset="0"/>
                <a:ea typeface="Calibri" pitchFamily="34" charset="-122"/>
                <a:cs typeface="Calibri" pitchFamily="34" charset="-120"/>
              </a:rPr>
              <a:t>Sales-weighted cannibalisation &amp; margin</a:t>
            </a:r>
            <a:endParaRPr lang="en-US" sz="1400" dirty="0"/>
          </a:p>
        </p:txBody>
      </p:sp>
      <p:sp>
        <p:nvSpPr>
          <p:cNvPr id="19" name="Text 14"/>
          <p:cNvSpPr txBox="1"/>
          <p:nvPr/>
        </p:nvSpPr>
        <p:spPr>
          <a:xfrm>
            <a:off x="1371600" y="5193792"/>
            <a:ext cx="4471416" cy="10515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Replace listing-based checks with actual 1P sales, margin and price elasticity to protect revenue precisely.</a:t>
            </a:r>
            <a:endParaRPr lang="en-US" sz="1200" dirty="0"/>
          </a:p>
        </p:txBody>
      </p:sp>
      <p:sp>
        <p:nvSpPr>
          <p:cNvPr id="20" name="Shape 15"/>
          <p:cNvSpPr/>
          <p:nvPr/>
        </p:nvSpPr>
        <p:spPr>
          <a:xfrm>
            <a:off x="6163056" y="1188720"/>
            <a:ext cx="5614416" cy="5120640"/>
          </a:xfrm>
          <a:prstGeom prst="roundRect">
            <a:avLst>
              <a:gd name="adj" fmla="val 2143"/>
            </a:avLst>
          </a:prstGeom>
          <a:solidFill>
            <a:srgbClr val="EEF3FB"/>
          </a:solidFill>
          <a:ln w="12700">
            <a:solidFill>
              <a:srgbClr val="EEF3FB"/>
            </a:solidFill>
            <a:prstDash val="solid"/>
          </a:ln>
        </p:spPr>
      </p:sp>
      <p:sp>
        <p:nvSpPr>
          <p:cNvPr id="21" name="Shape 16"/>
          <p:cNvSpPr/>
          <p:nvPr/>
        </p:nvSpPr>
        <p:spPr>
          <a:xfrm>
            <a:off x="6163056" y="1188720"/>
            <a:ext cx="5614416" cy="566928"/>
          </a:xfrm>
          <a:prstGeom prst="roundRect">
            <a:avLst>
              <a:gd name="adj" fmla="val 19355"/>
            </a:avLst>
          </a:prstGeom>
          <a:solidFill>
            <a:srgbClr val="13285B"/>
          </a:solidFill>
          <a:ln w="12700">
            <a:solidFill>
              <a:srgbClr val="13285B"/>
            </a:solidFill>
            <a:prstDash val="solid"/>
          </a:ln>
        </p:spPr>
      </p:sp>
      <p:sp>
        <p:nvSpPr>
          <p:cNvPr id="22" name="Shape 17"/>
          <p:cNvSpPr/>
          <p:nvPr/>
        </p:nvSpPr>
        <p:spPr>
          <a:xfrm>
            <a:off x="6300216" y="1280160"/>
            <a:ext cx="384048" cy="384048"/>
          </a:xfrm>
          <a:prstGeom prst="ellipse">
            <a:avLst/>
          </a:prstGeom>
          <a:solidFill>
            <a:srgbClr val="F5A623"/>
          </a:solidFill>
          <a:ln w="12700">
            <a:solidFill>
              <a:srgbClr val="F5A623"/>
            </a:solidFill>
            <a:prstDash val="solid"/>
          </a:ln>
        </p:spPr>
      </p:sp>
      <p:sp>
        <p:nvSpPr>
          <p:cNvPr id="23" name="Text 18"/>
          <p:cNvSpPr txBox="1"/>
          <p:nvPr/>
        </p:nvSpPr>
        <p:spPr>
          <a:xfrm>
            <a:off x="6300216" y="12801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4" name="Text 19"/>
          <p:cNvSpPr txBox="1"/>
          <p:nvPr/>
        </p:nvSpPr>
        <p:spPr>
          <a:xfrm>
            <a:off x="6803136" y="1188720"/>
            <a:ext cx="4882896"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Beyond this recommendation</a:t>
            </a:r>
            <a:endParaRPr lang="en-US" sz="1700" dirty="0"/>
          </a:p>
        </p:txBody>
      </p:sp>
      <p:sp>
        <p:nvSpPr>
          <p:cNvPr id="25" name="Shape 20"/>
          <p:cNvSpPr/>
          <p:nvPr/>
        </p:nvSpPr>
        <p:spPr>
          <a:xfrm>
            <a:off x="6391656" y="1993392"/>
            <a:ext cx="548640" cy="548640"/>
          </a:xfrm>
          <a:prstGeom prst="ellipse">
            <a:avLst/>
          </a:prstGeom>
          <a:solidFill>
            <a:srgbClr val="13285B"/>
          </a:solidFill>
          <a:ln w="12700">
            <a:solidFill>
              <a:srgbClr val="13285B"/>
            </a:solidFill>
            <a:prstDash val="solid"/>
          </a:ln>
        </p:spPr>
      </p:sp>
      <p:pic>
        <p:nvPicPr>
          <p:cNvPr id="26" name="Image 3" descr="preencoded.png">    </p:cNvPr>
          <p:cNvPicPr>
            <a:picLocks noChangeAspect="1"/>
          </p:cNvPicPr>
          <p:nvPr/>
        </p:nvPicPr>
        <p:blipFill>
          <a:blip r:embed="rId4"/>
          <a:stretch>
            <a:fillRect/>
          </a:stretch>
        </p:blipFill>
        <p:spPr>
          <a:xfrm>
            <a:off x="6512357" y="2114093"/>
            <a:ext cx="307238" cy="307238"/>
          </a:xfrm>
          <a:prstGeom prst="rect">
            <a:avLst/>
          </a:prstGeom>
        </p:spPr>
      </p:pic>
      <p:sp>
        <p:nvSpPr>
          <p:cNvPr id="27" name="Text 21"/>
          <p:cNvSpPr txBox="1"/>
          <p:nvPr/>
        </p:nvSpPr>
        <p:spPr>
          <a:xfrm>
            <a:off x="7123176" y="1956816"/>
            <a:ext cx="4471416" cy="292608"/>
          </a:xfrm>
          <a:prstGeom prst="rect">
            <a:avLst/>
          </a:prstGeom>
          <a:noFill/>
          <a:ln/>
        </p:spPr>
        <p:txBody>
          <a:bodyPr wrap="square" lIns="0" tIns="0" rIns="0" bIns="0" rtlCol="0" anchor="t"/>
          <a:lstStyle/>
          <a:p>
            <a:pPr indent="0" marL="0">
              <a:buNone/>
            </a:pPr>
            <a:r>
              <a:rPr lang="en-US" sz="1400" b="1" dirty="0">
                <a:solidFill>
                  <a:srgbClr val="13285B"/>
                </a:solidFill>
                <a:latin typeface="Calibri" pitchFamily="34" charset="0"/>
                <a:ea typeface="Calibri" pitchFamily="34" charset="-122"/>
                <a:cs typeface="Calibri" pitchFamily="34" charset="-120"/>
              </a:rPr>
              <a:t>Search-intent gaps</a:t>
            </a:r>
            <a:endParaRPr lang="en-US" sz="1400" dirty="0"/>
          </a:p>
        </p:txBody>
      </p:sp>
      <p:sp>
        <p:nvSpPr>
          <p:cNvPr id="28" name="Text 22"/>
          <p:cNvSpPr txBox="1"/>
          <p:nvPr/>
        </p:nvSpPr>
        <p:spPr>
          <a:xfrm>
            <a:off x="7123176" y="2267712"/>
            <a:ext cx="4471416" cy="6858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Mine Staples.com searches with zero or weak results to find high-demand items missing from the catalogue.</a:t>
            </a:r>
            <a:endParaRPr lang="en-US" sz="1200" dirty="0"/>
          </a:p>
        </p:txBody>
      </p:sp>
      <p:sp>
        <p:nvSpPr>
          <p:cNvPr id="29" name="Shape 23"/>
          <p:cNvSpPr/>
          <p:nvPr/>
        </p:nvSpPr>
        <p:spPr>
          <a:xfrm>
            <a:off x="6391656" y="3090672"/>
            <a:ext cx="548640" cy="548640"/>
          </a:xfrm>
          <a:prstGeom prst="ellipse">
            <a:avLst/>
          </a:prstGeom>
          <a:solidFill>
            <a:srgbClr val="13285B"/>
          </a:solidFill>
          <a:ln w="12700">
            <a:solidFill>
              <a:srgbClr val="13285B"/>
            </a:solidFill>
            <a:prstDash val="solid"/>
          </a:ln>
        </p:spPr>
      </p:sp>
      <p:pic>
        <p:nvPicPr>
          <p:cNvPr id="30" name="Image 4" descr="preencoded.png">    </p:cNvPr>
          <p:cNvPicPr>
            <a:picLocks noChangeAspect="1"/>
          </p:cNvPicPr>
          <p:nvPr/>
        </p:nvPicPr>
        <p:blipFill>
          <a:blip r:embed="rId5"/>
          <a:stretch>
            <a:fillRect/>
          </a:stretch>
        </p:blipFill>
        <p:spPr>
          <a:xfrm>
            <a:off x="6512357" y="3211373"/>
            <a:ext cx="307238" cy="307238"/>
          </a:xfrm>
          <a:prstGeom prst="rect">
            <a:avLst/>
          </a:prstGeom>
        </p:spPr>
      </p:pic>
      <p:sp>
        <p:nvSpPr>
          <p:cNvPr id="31" name="Text 24"/>
          <p:cNvSpPr txBox="1"/>
          <p:nvPr/>
        </p:nvSpPr>
        <p:spPr>
          <a:xfrm>
            <a:off x="7123176" y="3054096"/>
            <a:ext cx="4471416" cy="292608"/>
          </a:xfrm>
          <a:prstGeom prst="rect">
            <a:avLst/>
          </a:prstGeom>
          <a:noFill/>
          <a:ln/>
        </p:spPr>
        <p:txBody>
          <a:bodyPr wrap="square" lIns="0" tIns="0" rIns="0" bIns="0" rtlCol="0" anchor="t"/>
          <a:lstStyle/>
          <a:p>
            <a:pPr indent="0" marL="0">
              <a:buNone/>
            </a:pPr>
            <a:r>
              <a:rPr lang="en-US" sz="1400" b="1" dirty="0">
                <a:solidFill>
                  <a:srgbClr val="13285B"/>
                </a:solidFill>
                <a:latin typeface="Calibri" pitchFamily="34" charset="0"/>
                <a:ea typeface="Calibri" pitchFamily="34" charset="-122"/>
                <a:cs typeface="Calibri" pitchFamily="34" charset="-120"/>
              </a:rPr>
              <a:t>Demand forecasting &amp; market research</a:t>
            </a:r>
            <a:endParaRPr lang="en-US" sz="1400" dirty="0"/>
          </a:p>
        </p:txBody>
      </p:sp>
      <p:sp>
        <p:nvSpPr>
          <p:cNvPr id="32" name="Text 25"/>
          <p:cNvSpPr txBox="1"/>
          <p:nvPr/>
        </p:nvSpPr>
        <p:spPr>
          <a:xfrm>
            <a:off x="7123176" y="3364992"/>
            <a:ext cx="4471416" cy="6858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Add social-trend and market research for Non-Hero nodes to size new categories before recruiting sellers.</a:t>
            </a:r>
            <a:endParaRPr lang="en-US" sz="1200" dirty="0"/>
          </a:p>
        </p:txBody>
      </p:sp>
      <p:sp>
        <p:nvSpPr>
          <p:cNvPr id="33" name="Shape 26"/>
          <p:cNvSpPr/>
          <p:nvPr/>
        </p:nvSpPr>
        <p:spPr>
          <a:xfrm>
            <a:off x="6391656" y="4187952"/>
            <a:ext cx="548640" cy="548640"/>
          </a:xfrm>
          <a:prstGeom prst="ellipse">
            <a:avLst/>
          </a:prstGeom>
          <a:solidFill>
            <a:srgbClr val="13285B"/>
          </a:solidFill>
          <a:ln w="12700">
            <a:solidFill>
              <a:srgbClr val="13285B"/>
            </a:solidFill>
            <a:prstDash val="solid"/>
          </a:ln>
        </p:spPr>
      </p:sp>
      <p:pic>
        <p:nvPicPr>
          <p:cNvPr id="34" name="Image 5" descr="preencoded.png">    </p:cNvPr>
          <p:cNvPicPr>
            <a:picLocks noChangeAspect="1"/>
          </p:cNvPicPr>
          <p:nvPr/>
        </p:nvPicPr>
        <p:blipFill>
          <a:blip r:embed="rId6"/>
          <a:stretch>
            <a:fillRect/>
          </a:stretch>
        </p:blipFill>
        <p:spPr>
          <a:xfrm>
            <a:off x="6512357" y="4308653"/>
            <a:ext cx="307238" cy="307238"/>
          </a:xfrm>
          <a:prstGeom prst="rect">
            <a:avLst/>
          </a:prstGeom>
        </p:spPr>
      </p:pic>
      <p:sp>
        <p:nvSpPr>
          <p:cNvPr id="35" name="Text 27"/>
          <p:cNvSpPr txBox="1"/>
          <p:nvPr/>
        </p:nvSpPr>
        <p:spPr>
          <a:xfrm>
            <a:off x="7123176" y="4151376"/>
            <a:ext cx="4471416" cy="292608"/>
          </a:xfrm>
          <a:prstGeom prst="rect">
            <a:avLst/>
          </a:prstGeom>
          <a:noFill/>
          <a:ln/>
        </p:spPr>
        <p:txBody>
          <a:bodyPr wrap="square" lIns="0" tIns="0" rIns="0" bIns="0" rtlCol="0" anchor="t"/>
          <a:lstStyle/>
          <a:p>
            <a:pPr indent="0" marL="0">
              <a:buNone/>
            </a:pPr>
            <a:r>
              <a:rPr lang="en-US" sz="1400" b="1" dirty="0">
                <a:solidFill>
                  <a:srgbClr val="13285B"/>
                </a:solidFill>
                <a:latin typeface="Calibri" pitchFamily="34" charset="0"/>
                <a:ea typeface="Calibri" pitchFamily="34" charset="-122"/>
                <a:cs typeface="Calibri" pitchFamily="34" charset="-120"/>
              </a:rPr>
              <a:t>Basket completion</a:t>
            </a:r>
            <a:endParaRPr lang="en-US" sz="1400" dirty="0"/>
          </a:p>
        </p:txBody>
      </p:sp>
      <p:sp>
        <p:nvSpPr>
          <p:cNvPr id="36" name="Text 28"/>
          <p:cNvSpPr txBox="1"/>
          <p:nvPr/>
        </p:nvSpPr>
        <p:spPr>
          <a:xfrm>
            <a:off x="7123176" y="4462272"/>
            <a:ext cx="4471416" cy="6858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Market-basket analysis on transactions to find items that complete baskets (e.g. Back-to-School) and fill them via marketplace sellers.</a:t>
            </a:r>
            <a:endParaRPr lang="en-US" sz="1200" dirty="0"/>
          </a:p>
        </p:txBody>
      </p:sp>
      <p:sp>
        <p:nvSpPr>
          <p:cNvPr id="37" name="Shape 29"/>
          <p:cNvSpPr/>
          <p:nvPr/>
        </p:nvSpPr>
        <p:spPr>
          <a:xfrm>
            <a:off x="6391656" y="5285232"/>
            <a:ext cx="548640" cy="548640"/>
          </a:xfrm>
          <a:prstGeom prst="ellipse">
            <a:avLst/>
          </a:prstGeom>
          <a:solidFill>
            <a:srgbClr val="13285B"/>
          </a:solidFill>
          <a:ln w="12700">
            <a:solidFill>
              <a:srgbClr val="13285B"/>
            </a:solidFill>
            <a:prstDash val="solid"/>
          </a:ln>
        </p:spPr>
      </p:sp>
      <p:pic>
        <p:nvPicPr>
          <p:cNvPr id="38" name="Image 6" descr="preencoded.png">    </p:cNvPr>
          <p:cNvPicPr>
            <a:picLocks noChangeAspect="1"/>
          </p:cNvPicPr>
          <p:nvPr/>
        </p:nvPicPr>
        <p:blipFill>
          <a:blip r:embed="rId7"/>
          <a:stretch>
            <a:fillRect/>
          </a:stretch>
        </p:blipFill>
        <p:spPr>
          <a:xfrm>
            <a:off x="6512357" y="5405933"/>
            <a:ext cx="307238" cy="307238"/>
          </a:xfrm>
          <a:prstGeom prst="rect">
            <a:avLst/>
          </a:prstGeom>
        </p:spPr>
      </p:pic>
      <p:sp>
        <p:nvSpPr>
          <p:cNvPr id="39" name="Text 30"/>
          <p:cNvSpPr txBox="1"/>
          <p:nvPr/>
        </p:nvSpPr>
        <p:spPr>
          <a:xfrm>
            <a:off x="7123176" y="5248656"/>
            <a:ext cx="4471416" cy="292608"/>
          </a:xfrm>
          <a:prstGeom prst="rect">
            <a:avLst/>
          </a:prstGeom>
          <a:noFill/>
          <a:ln/>
        </p:spPr>
        <p:txBody>
          <a:bodyPr wrap="square" lIns="0" tIns="0" rIns="0" bIns="0" rtlCol="0" anchor="t"/>
          <a:lstStyle/>
          <a:p>
            <a:pPr indent="0" marL="0">
              <a:buNone/>
            </a:pPr>
            <a:r>
              <a:rPr lang="en-US" sz="1400" b="1" dirty="0">
                <a:solidFill>
                  <a:srgbClr val="13285B"/>
                </a:solidFill>
                <a:latin typeface="Calibri" pitchFamily="34" charset="0"/>
                <a:ea typeface="Calibri" pitchFamily="34" charset="-122"/>
                <a:cs typeface="Calibri" pitchFamily="34" charset="-120"/>
              </a:rPr>
              <a:t>More competitors &amp; image-based design score</a:t>
            </a:r>
            <a:endParaRPr lang="en-US" sz="1400" dirty="0"/>
          </a:p>
        </p:txBody>
      </p:sp>
      <p:sp>
        <p:nvSpPr>
          <p:cNvPr id="40" name="Text 31"/>
          <p:cNvSpPr txBox="1"/>
          <p:nvPr/>
        </p:nvSpPr>
        <p:spPr>
          <a:xfrm>
            <a:off x="7123176" y="5559552"/>
            <a:ext cx="4471416" cy="6858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Add more retailers and score design from product images, not only text.</a:t>
            </a:r>
            <a:endParaRPr lang="en-US" sz="12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197510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60020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48056" y="1847088"/>
            <a:ext cx="1865376" cy="3730752"/>
          </a:xfrm>
          <a:prstGeom prst="roundRect">
            <a:avLst>
              <a:gd name="adj" fmla="val 3922"/>
            </a:avLst>
          </a:prstGeom>
          <a:solidFill>
            <a:srgbClr val="FFFFFF"/>
          </a:solidFill>
          <a:ln w="9525">
            <a:solidFill>
              <a:srgbClr val="9DB2D6"/>
            </a:solidFill>
            <a:prstDash val="dash"/>
          </a:ln>
        </p:spPr>
      </p:sp>
      <p:pic>
        <p:nvPicPr>
          <p:cNvPr id="6" name="Image 0" descr="preencoded.png">    </p:cNvPr>
          <p:cNvPicPr>
            <a:picLocks noChangeAspect="1"/>
          </p:cNvPicPr>
          <p:nvPr/>
        </p:nvPicPr>
        <p:blipFill>
          <a:blip r:embed="rId1"/>
          <a:stretch>
            <a:fillRect/>
          </a:stretch>
        </p:blipFill>
        <p:spPr>
          <a:xfrm>
            <a:off x="1133856" y="1984248"/>
            <a:ext cx="493776" cy="493776"/>
          </a:xfrm>
          <a:prstGeom prst="rect">
            <a:avLst/>
          </a:prstGeom>
        </p:spPr>
      </p:pic>
      <p:sp>
        <p:nvSpPr>
          <p:cNvPr id="7" name="Text 4"/>
          <p:cNvSpPr txBox="1"/>
          <p:nvPr/>
        </p:nvSpPr>
        <p:spPr>
          <a:xfrm>
            <a:off x="521208" y="2514600"/>
            <a:ext cx="171907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521208" y="2734056"/>
            <a:ext cx="171907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133856" y="3182112"/>
            <a:ext cx="493776" cy="493776"/>
          </a:xfrm>
          <a:prstGeom prst="rect">
            <a:avLst/>
          </a:prstGeom>
        </p:spPr>
      </p:pic>
      <p:sp>
        <p:nvSpPr>
          <p:cNvPr id="10" name="Text 6"/>
          <p:cNvSpPr txBox="1"/>
          <p:nvPr/>
        </p:nvSpPr>
        <p:spPr>
          <a:xfrm>
            <a:off x="521208" y="3712464"/>
            <a:ext cx="171907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521208" y="3931920"/>
            <a:ext cx="171907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ASINs · 7 nodes</a:t>
            </a:r>
            <a:endParaRPr lang="en-US" sz="950" dirty="0"/>
          </a:p>
        </p:txBody>
      </p:sp>
      <p:pic>
        <p:nvPicPr>
          <p:cNvPr id="12" name="Image 2" descr="preencoded.png">    </p:cNvPr>
          <p:cNvPicPr>
            <a:picLocks noChangeAspect="1"/>
          </p:cNvPicPr>
          <p:nvPr/>
        </p:nvPicPr>
        <p:blipFill>
          <a:blip r:embed="rId3"/>
          <a:stretch>
            <a:fillRect/>
          </a:stretch>
        </p:blipFill>
        <p:spPr>
          <a:xfrm>
            <a:off x="1133856" y="4379976"/>
            <a:ext cx="493776" cy="493776"/>
          </a:xfrm>
          <a:prstGeom prst="rect">
            <a:avLst/>
          </a:prstGeom>
        </p:spPr>
      </p:pic>
      <p:sp>
        <p:nvSpPr>
          <p:cNvPr id="13" name="Text 8"/>
          <p:cNvSpPr txBox="1"/>
          <p:nvPr/>
        </p:nvSpPr>
        <p:spPr>
          <a:xfrm>
            <a:off x="521208" y="4910328"/>
            <a:ext cx="171907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521208" y="5129784"/>
            <a:ext cx="171907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products · 5 nodes</a:t>
            </a:r>
            <a:endParaRPr lang="en-US" sz="950" dirty="0"/>
          </a:p>
        </p:txBody>
      </p:sp>
      <p:sp>
        <p:nvSpPr>
          <p:cNvPr id="15" name="Shape 10"/>
          <p:cNvSpPr/>
          <p:nvPr/>
        </p:nvSpPr>
        <p:spPr>
          <a:xfrm>
            <a:off x="2295144" y="3712464"/>
            <a:ext cx="91440" cy="0"/>
          </a:xfrm>
          <a:prstGeom prst="line">
            <a:avLst/>
          </a:prstGeom>
          <a:noFill/>
          <a:ln w="19050">
            <a:solidFill>
              <a:srgbClr val="1F4E9A"/>
            </a:solidFill>
            <a:prstDash val="solid"/>
            <a:tailEnd type="triangle"/>
          </a:ln>
        </p:spPr>
      </p:sp>
      <p:sp>
        <p:nvSpPr>
          <p:cNvPr id="16" name="Shape 11"/>
          <p:cNvSpPr/>
          <p:nvPr/>
        </p:nvSpPr>
        <p:spPr>
          <a:xfrm>
            <a:off x="2404872" y="1170432"/>
            <a:ext cx="2157984" cy="548640"/>
          </a:xfrm>
          <a:prstGeom prst="chevron">
            <a:avLst/>
          </a:prstGeom>
          <a:solidFill>
            <a:srgbClr val="CFDDF5"/>
          </a:solidFill>
          <a:ln w="12700">
            <a:solidFill>
              <a:srgbClr val="FFFFFF"/>
            </a:solidFill>
            <a:prstDash val="solid"/>
          </a:ln>
        </p:spPr>
      </p:sp>
      <p:sp>
        <p:nvSpPr>
          <p:cNvPr id="17" name="Text 12"/>
          <p:cNvSpPr txBox="1"/>
          <p:nvPr/>
        </p:nvSpPr>
        <p:spPr>
          <a:xfrm>
            <a:off x="2660904" y="1170432"/>
            <a:ext cx="169164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S0–S2</a:t>
            </a:r>
            <a:endParaRPr lang="en-US" sz="1250" dirty="0"/>
          </a:p>
        </p:txBody>
      </p:sp>
      <p:sp>
        <p:nvSpPr>
          <p:cNvPr id="18" name="Shape 13"/>
          <p:cNvSpPr/>
          <p:nvPr/>
        </p:nvSpPr>
        <p:spPr>
          <a:xfrm>
            <a:off x="2441448" y="1847088"/>
            <a:ext cx="2048256" cy="3730752"/>
          </a:xfrm>
          <a:prstGeom prst="roundRect">
            <a:avLst>
              <a:gd name="adj" fmla="val 3571"/>
            </a:avLst>
          </a:prstGeom>
          <a:solidFill>
            <a:srgbClr val="FFFFFF"/>
          </a:solidFill>
          <a:ln w="9525">
            <a:solidFill>
              <a:srgbClr val="9DB2D6"/>
            </a:solidFill>
            <a:prstDash val="dash"/>
          </a:ln>
        </p:spPr>
      </p:sp>
      <p:pic>
        <p:nvPicPr>
          <p:cNvPr id="19" name="Image 3" descr="preencoded.png">    </p:cNvPr>
          <p:cNvPicPr>
            <a:picLocks noChangeAspect="1"/>
          </p:cNvPicPr>
          <p:nvPr/>
        </p:nvPicPr>
        <p:blipFill>
          <a:blip r:embed="rId4"/>
          <a:stretch>
            <a:fillRect/>
          </a:stretch>
        </p:blipFill>
        <p:spPr>
          <a:xfrm>
            <a:off x="3218688" y="1984248"/>
            <a:ext cx="493776" cy="493776"/>
          </a:xfrm>
          <a:prstGeom prst="rect">
            <a:avLst/>
          </a:prstGeom>
        </p:spPr>
      </p:pic>
      <p:sp>
        <p:nvSpPr>
          <p:cNvPr id="20" name="Text 14"/>
          <p:cNvSpPr txBox="1"/>
          <p:nvPr/>
        </p:nvSpPr>
        <p:spPr>
          <a:xfrm>
            <a:off x="2514600" y="2514600"/>
            <a:ext cx="190195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14600" y="2734056"/>
            <a:ext cx="190195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mojibake, PII removed</a:t>
            </a:r>
            <a:endParaRPr lang="en-US" sz="950" dirty="0"/>
          </a:p>
        </p:txBody>
      </p:sp>
      <p:pic>
        <p:nvPicPr>
          <p:cNvPr id="22" name="Image 4" descr="preencoded.png">    </p:cNvPr>
          <p:cNvPicPr>
            <a:picLocks noChangeAspect="1"/>
          </p:cNvPicPr>
          <p:nvPr/>
        </p:nvPicPr>
        <p:blipFill>
          <a:blip r:embed="rId5"/>
          <a:stretch>
            <a:fillRect/>
          </a:stretch>
        </p:blipFill>
        <p:spPr>
          <a:xfrm>
            <a:off x="3218688" y="3182112"/>
            <a:ext cx="493776" cy="493776"/>
          </a:xfrm>
          <a:prstGeom prst="rect">
            <a:avLst/>
          </a:prstGeom>
        </p:spPr>
      </p:pic>
      <p:sp>
        <p:nvSpPr>
          <p:cNvPr id="23" name="Text 16"/>
          <p:cNvSpPr txBox="1"/>
          <p:nvPr/>
        </p:nvSpPr>
        <p:spPr>
          <a:xfrm>
            <a:off x="2514600" y="3712464"/>
            <a:ext cx="190195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14600" y="3931920"/>
            <a:ext cx="190195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18688" y="4379976"/>
            <a:ext cx="493776" cy="493776"/>
          </a:xfrm>
          <a:prstGeom prst="rect">
            <a:avLst/>
          </a:prstGeom>
        </p:spPr>
      </p:pic>
      <p:sp>
        <p:nvSpPr>
          <p:cNvPr id="26" name="Text 18"/>
          <p:cNvSpPr txBox="1"/>
          <p:nvPr/>
        </p:nvSpPr>
        <p:spPr>
          <a:xfrm>
            <a:off x="2514600" y="4910328"/>
            <a:ext cx="190195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14600" y="5129784"/>
            <a:ext cx="190195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page crosswalk + k-NN scope check</a:t>
            </a:r>
            <a:endParaRPr lang="en-US" sz="950" dirty="0"/>
          </a:p>
        </p:txBody>
      </p:sp>
      <p:sp>
        <p:nvSpPr>
          <p:cNvPr id="28" name="Shape 20"/>
          <p:cNvSpPr/>
          <p:nvPr/>
        </p:nvSpPr>
        <p:spPr>
          <a:xfrm>
            <a:off x="4471416" y="3712464"/>
            <a:ext cx="91440" cy="0"/>
          </a:xfrm>
          <a:prstGeom prst="line">
            <a:avLst/>
          </a:prstGeom>
          <a:noFill/>
          <a:ln w="19050">
            <a:solidFill>
              <a:srgbClr val="1F4E9A"/>
            </a:solidFill>
            <a:prstDash val="solid"/>
            <a:tailEnd type="triangle"/>
          </a:ln>
        </p:spPr>
      </p:sp>
      <p:sp>
        <p:nvSpPr>
          <p:cNvPr id="29" name="Shape 21"/>
          <p:cNvSpPr/>
          <p:nvPr/>
        </p:nvSpPr>
        <p:spPr>
          <a:xfrm>
            <a:off x="4581144" y="1170432"/>
            <a:ext cx="2295144" cy="548640"/>
          </a:xfrm>
          <a:prstGeom prst="chevron">
            <a:avLst/>
          </a:prstGeom>
          <a:solidFill>
            <a:srgbClr val="B9CEF2"/>
          </a:solidFill>
          <a:ln w="12700">
            <a:solidFill>
              <a:srgbClr val="FFFFFF"/>
            </a:solidFill>
            <a:prstDash val="solid"/>
          </a:ln>
        </p:spPr>
      </p:sp>
      <p:sp>
        <p:nvSpPr>
          <p:cNvPr id="30" name="Text 22"/>
          <p:cNvSpPr txBox="1"/>
          <p:nvPr/>
        </p:nvSpPr>
        <p:spPr>
          <a:xfrm>
            <a:off x="4837176" y="1170432"/>
            <a:ext cx="182880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S3–S4</a:t>
            </a:r>
            <a:endParaRPr lang="en-US" sz="1250" dirty="0"/>
          </a:p>
        </p:txBody>
      </p:sp>
      <p:sp>
        <p:nvSpPr>
          <p:cNvPr id="31" name="Shape 23"/>
          <p:cNvSpPr/>
          <p:nvPr/>
        </p:nvSpPr>
        <p:spPr>
          <a:xfrm>
            <a:off x="4617720" y="1847088"/>
            <a:ext cx="2185416" cy="3730752"/>
          </a:xfrm>
          <a:prstGeom prst="roundRect">
            <a:avLst>
              <a:gd name="adj" fmla="val 3347"/>
            </a:avLst>
          </a:prstGeom>
          <a:solidFill>
            <a:srgbClr val="FFFFFF"/>
          </a:solidFill>
          <a:ln w="9525">
            <a:solidFill>
              <a:srgbClr val="9DB2D6"/>
            </a:solidFill>
            <a:prstDash val="dash"/>
          </a:ln>
        </p:spPr>
      </p:sp>
      <p:pic>
        <p:nvPicPr>
          <p:cNvPr id="32" name="Image 6" descr="preencoded.png">    </p:cNvPr>
          <p:cNvPicPr>
            <a:picLocks noChangeAspect="1"/>
          </p:cNvPicPr>
          <p:nvPr/>
        </p:nvPicPr>
        <p:blipFill>
          <a:blip r:embed="rId7"/>
          <a:stretch>
            <a:fillRect/>
          </a:stretch>
        </p:blipFill>
        <p:spPr>
          <a:xfrm>
            <a:off x="5463540" y="1984248"/>
            <a:ext cx="493776" cy="493776"/>
          </a:xfrm>
          <a:prstGeom prst="rect">
            <a:avLst/>
          </a:prstGeom>
        </p:spPr>
      </p:pic>
      <p:sp>
        <p:nvSpPr>
          <p:cNvPr id="33" name="Text 24"/>
          <p:cNvSpPr txBox="1"/>
          <p:nvPr/>
        </p:nvSpPr>
        <p:spPr>
          <a:xfrm>
            <a:off x="4690872" y="2514600"/>
            <a:ext cx="203911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690872" y="2734056"/>
            <a:ext cx="203911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full text, same on both sides</a:t>
            </a:r>
            <a:endParaRPr lang="en-US" sz="950" dirty="0"/>
          </a:p>
        </p:txBody>
      </p:sp>
      <p:pic>
        <p:nvPicPr>
          <p:cNvPr id="35" name="Image 7" descr="preencoded.png">    </p:cNvPr>
          <p:cNvPicPr>
            <a:picLocks noChangeAspect="1"/>
          </p:cNvPicPr>
          <p:nvPr/>
        </p:nvPicPr>
        <p:blipFill>
          <a:blip r:embed="rId8"/>
          <a:stretch>
            <a:fillRect/>
          </a:stretch>
        </p:blipFill>
        <p:spPr>
          <a:xfrm>
            <a:off x="5463540" y="3182112"/>
            <a:ext cx="493776" cy="493776"/>
          </a:xfrm>
          <a:prstGeom prst="rect">
            <a:avLst/>
          </a:prstGeom>
        </p:spPr>
      </p:pic>
      <p:sp>
        <p:nvSpPr>
          <p:cNvPr id="36" name="Text 26"/>
          <p:cNvSpPr txBox="1"/>
          <p:nvPr/>
        </p:nvSpPr>
        <p:spPr>
          <a:xfrm>
            <a:off x="4690872" y="3712464"/>
            <a:ext cx="203911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cards</a:t>
            </a:r>
            <a:endParaRPr lang="en-US" sz="1150" dirty="0"/>
          </a:p>
        </p:txBody>
      </p:sp>
      <p:sp>
        <p:nvSpPr>
          <p:cNvPr id="37" name="Text 27"/>
          <p:cNvSpPr txBox="1"/>
          <p:nvPr/>
        </p:nvSpPr>
        <p:spPr>
          <a:xfrm>
            <a:off x="4690872" y="3931920"/>
            <a:ext cx="203911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bge embeddings, no price, no brand</a:t>
            </a:r>
            <a:endParaRPr lang="en-US" sz="950" dirty="0"/>
          </a:p>
        </p:txBody>
      </p:sp>
      <p:pic>
        <p:nvPicPr>
          <p:cNvPr id="38" name="Image 8" descr="preencoded.png">    </p:cNvPr>
          <p:cNvPicPr>
            <a:picLocks noChangeAspect="1"/>
          </p:cNvPicPr>
          <p:nvPr/>
        </p:nvPicPr>
        <p:blipFill>
          <a:blip r:embed="rId9"/>
          <a:stretch>
            <a:fillRect/>
          </a:stretch>
        </p:blipFill>
        <p:spPr>
          <a:xfrm>
            <a:off x="5463540" y="4379976"/>
            <a:ext cx="493776" cy="493776"/>
          </a:xfrm>
          <a:prstGeom prst="rect">
            <a:avLst/>
          </a:prstGeom>
        </p:spPr>
      </p:pic>
      <p:sp>
        <p:nvSpPr>
          <p:cNvPr id="39" name="Text 28"/>
          <p:cNvSpPr txBox="1"/>
          <p:nvPr/>
        </p:nvSpPr>
        <p:spPr>
          <a:xfrm>
            <a:off x="4690872" y="4910328"/>
            <a:ext cx="2039112"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690872" y="5129784"/>
            <a:ext cx="2039112"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784848" y="3712464"/>
            <a:ext cx="91440" cy="0"/>
          </a:xfrm>
          <a:prstGeom prst="line">
            <a:avLst/>
          </a:prstGeom>
          <a:noFill/>
          <a:ln w="19050">
            <a:solidFill>
              <a:srgbClr val="1F4E9A"/>
            </a:solidFill>
            <a:prstDash val="solid"/>
            <a:tailEnd type="triangle"/>
          </a:ln>
        </p:spPr>
      </p:sp>
      <p:sp>
        <p:nvSpPr>
          <p:cNvPr id="42" name="Shape 31"/>
          <p:cNvSpPr/>
          <p:nvPr/>
        </p:nvSpPr>
        <p:spPr>
          <a:xfrm>
            <a:off x="6894576" y="1170432"/>
            <a:ext cx="2752344" cy="548640"/>
          </a:xfrm>
          <a:prstGeom prst="chevron">
            <a:avLst/>
          </a:prstGeom>
          <a:solidFill>
            <a:srgbClr val="A9C3EE"/>
          </a:solidFill>
          <a:ln w="12700">
            <a:solidFill>
              <a:srgbClr val="FFFFFF"/>
            </a:solidFill>
            <a:prstDash val="solid"/>
          </a:ln>
        </p:spPr>
      </p:sp>
      <p:sp>
        <p:nvSpPr>
          <p:cNvPr id="43" name="Text 32"/>
          <p:cNvSpPr txBox="1"/>
          <p:nvPr/>
        </p:nvSpPr>
        <p:spPr>
          <a:xfrm>
            <a:off x="7150608" y="1170432"/>
            <a:ext cx="228600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S5–S6</a:t>
            </a:r>
            <a:endParaRPr lang="en-US" sz="1250" dirty="0"/>
          </a:p>
        </p:txBody>
      </p:sp>
      <p:sp>
        <p:nvSpPr>
          <p:cNvPr id="44" name="Shape 33"/>
          <p:cNvSpPr/>
          <p:nvPr/>
        </p:nvSpPr>
        <p:spPr>
          <a:xfrm>
            <a:off x="6931152" y="1847088"/>
            <a:ext cx="2642616" cy="3730752"/>
          </a:xfrm>
          <a:prstGeom prst="roundRect">
            <a:avLst>
              <a:gd name="adj" fmla="val 2768"/>
            </a:avLst>
          </a:prstGeom>
          <a:solidFill>
            <a:srgbClr val="FFFFFF"/>
          </a:solidFill>
          <a:ln w="9525">
            <a:solidFill>
              <a:srgbClr val="9DB2D6"/>
            </a:solidFill>
            <a:prstDash val="dash"/>
          </a:ln>
        </p:spPr>
      </p:sp>
      <p:sp>
        <p:nvSpPr>
          <p:cNvPr id="45" name="Shape 34"/>
          <p:cNvSpPr/>
          <p:nvPr/>
        </p:nvSpPr>
        <p:spPr>
          <a:xfrm>
            <a:off x="7022592" y="1956816"/>
            <a:ext cx="2459736" cy="1682496"/>
          </a:xfrm>
          <a:prstGeom prst="roundRect">
            <a:avLst>
              <a:gd name="adj" fmla="val 4348"/>
            </a:avLst>
          </a:prstGeom>
          <a:solidFill>
            <a:srgbClr val="EEF3FB"/>
          </a:solidFill>
          <a:ln w="12700">
            <a:solidFill>
              <a:srgbClr val="EEF3FB"/>
            </a:solidFill>
            <a:prstDash val="solid"/>
          </a:ln>
        </p:spPr>
      </p:sp>
      <p:sp>
        <p:nvSpPr>
          <p:cNvPr id="46" name="Text 35"/>
          <p:cNvSpPr txBox="1"/>
          <p:nvPr/>
        </p:nvSpPr>
        <p:spPr>
          <a:xfrm>
            <a:off x="7114032" y="2011680"/>
            <a:ext cx="2276856"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114032" y="2286000"/>
            <a:ext cx="2276856" cy="914400"/>
          </a:xfrm>
          <a:prstGeom prst="rect">
            <a:avLst/>
          </a:prstGeom>
          <a:noFill/>
          <a:ln/>
        </p:spPr>
        <p:txBody>
          <a:bodyPr wrap="square" lIns="0" tIns="0" rIns="0" bIns="0" rtlCol="0" anchor="t"/>
          <a:lstStyle/>
          <a:p>
            <a:pPr indent="0" marL="0">
              <a:spcAft>
                <a:spcPts val="1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1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1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100"/>
              </a:spcAft>
              <a:buNone/>
            </a:pPr>
            <a:r>
              <a:rPr lang="en-US" sz="950" dirty="0">
                <a:solidFill>
                  <a:srgbClr val="1F2937"/>
                </a:solidFill>
                <a:latin typeface="Calibri" pitchFamily="34" charset="0"/>
                <a:ea typeface="Calibri" pitchFamily="34" charset="-122"/>
                <a:cs typeface="Calibri" pitchFamily="34" charset="-120"/>
              </a:rPr>
              <a:t>AD (Aesthetic Delta) · PPR (Price Position Ratio)</a:t>
            </a:r>
            <a:endParaRPr lang="en-US" sz="950" dirty="0"/>
          </a:p>
        </p:txBody>
      </p:sp>
      <p:sp>
        <p:nvSpPr>
          <p:cNvPr id="48" name="Text 37"/>
          <p:cNvSpPr txBox="1"/>
          <p:nvPr/>
        </p:nvSpPr>
        <p:spPr>
          <a:xfrm>
            <a:off x="7114032" y="3255264"/>
            <a:ext cx="2276856"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022592" y="3767328"/>
            <a:ext cx="2459736" cy="1682496"/>
          </a:xfrm>
          <a:prstGeom prst="roundRect">
            <a:avLst>
              <a:gd name="adj" fmla="val 4348"/>
            </a:avLst>
          </a:prstGeom>
          <a:solidFill>
            <a:srgbClr val="F3F0FA"/>
          </a:solidFill>
          <a:ln w="12700">
            <a:solidFill>
              <a:srgbClr val="F3F0FA"/>
            </a:solidFill>
            <a:prstDash val="solid"/>
          </a:ln>
        </p:spPr>
      </p:sp>
      <p:sp>
        <p:nvSpPr>
          <p:cNvPr id="50" name="Text 39"/>
          <p:cNvSpPr txBox="1"/>
          <p:nvPr/>
        </p:nvSpPr>
        <p:spPr>
          <a:xfrm>
            <a:off x="7114032" y="3822192"/>
            <a:ext cx="2276856"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114032" y="4096512"/>
            <a:ext cx="2276856" cy="914400"/>
          </a:xfrm>
          <a:prstGeom prst="rect">
            <a:avLst/>
          </a:prstGeom>
          <a:noFill/>
          <a:ln/>
        </p:spPr>
        <p:txBody>
          <a:bodyPr wrap="square" lIns="0" tIns="0" rIns="0" bIns="0" rtlCol="0" anchor="t"/>
          <a:lstStyle/>
          <a:p>
            <a:pPr indent="0" marL="0">
              <a:spcAft>
                <a:spcPts val="100"/>
              </a:spcAft>
              <a:buNone/>
            </a:pPr>
            <a:r>
              <a:rPr lang="en-US" sz="950" dirty="0">
                <a:solidFill>
                  <a:srgbClr val="1F2937"/>
                </a:solidFill>
                <a:latin typeface="Calibri" pitchFamily="34" charset="0"/>
                <a:ea typeface="Calibri" pitchFamily="34" charset="-122"/>
                <a:cs typeface="Calibri" pitchFamily="34" charset="-120"/>
              </a:rPr>
              <a:t>LSR (Log Share Ratio) · PPG (Price Position Gap)</a:t>
            </a:r>
            <a:endParaRPr lang="en-US" sz="950" dirty="0"/>
          </a:p>
          <a:p>
            <a:pPr indent="0" marL="0">
              <a:spcAft>
                <a:spcPts val="1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1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1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114032" y="5065776"/>
            <a:ext cx="2276856"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555480" y="3712464"/>
            <a:ext cx="91440" cy="0"/>
          </a:xfrm>
          <a:prstGeom prst="line">
            <a:avLst/>
          </a:prstGeom>
          <a:noFill/>
          <a:ln w="19050">
            <a:solidFill>
              <a:srgbClr val="1F4E9A"/>
            </a:solidFill>
            <a:prstDash val="solid"/>
            <a:tailEnd type="triangle"/>
          </a:ln>
        </p:spPr>
      </p:sp>
      <p:sp>
        <p:nvSpPr>
          <p:cNvPr id="54" name="Shape 43"/>
          <p:cNvSpPr/>
          <p:nvPr/>
        </p:nvSpPr>
        <p:spPr>
          <a:xfrm>
            <a:off x="9665208" y="1170432"/>
            <a:ext cx="2167128" cy="548640"/>
          </a:xfrm>
          <a:prstGeom prst="chevron">
            <a:avLst/>
          </a:prstGeom>
          <a:solidFill>
            <a:srgbClr val="97B6EA"/>
          </a:solidFill>
          <a:ln w="12700">
            <a:solidFill>
              <a:srgbClr val="FFFFFF"/>
            </a:solidFill>
            <a:prstDash val="solid"/>
          </a:ln>
        </p:spPr>
      </p:sp>
      <p:sp>
        <p:nvSpPr>
          <p:cNvPr id="55" name="Text 44"/>
          <p:cNvSpPr txBox="1"/>
          <p:nvPr/>
        </p:nvSpPr>
        <p:spPr>
          <a:xfrm>
            <a:off x="992124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S7–S8</a:t>
            </a:r>
            <a:endParaRPr lang="en-US" sz="1250" dirty="0"/>
          </a:p>
        </p:txBody>
      </p:sp>
      <p:sp>
        <p:nvSpPr>
          <p:cNvPr id="56" name="Shape 45"/>
          <p:cNvSpPr/>
          <p:nvPr/>
        </p:nvSpPr>
        <p:spPr>
          <a:xfrm>
            <a:off x="9701784" y="1847088"/>
            <a:ext cx="2057400" cy="3730752"/>
          </a:xfrm>
          <a:prstGeom prst="roundRect">
            <a:avLst>
              <a:gd name="adj" fmla="val 3556"/>
            </a:avLst>
          </a:prstGeom>
          <a:solidFill>
            <a:srgbClr val="FFFFFF"/>
          </a:solidFill>
          <a:ln w="9525">
            <a:solidFill>
              <a:srgbClr val="9DB2D6"/>
            </a:solidFill>
            <a:prstDash val="dash"/>
          </a:ln>
        </p:spPr>
      </p:sp>
      <p:pic>
        <p:nvPicPr>
          <p:cNvPr id="57" name="Image 9" descr="preencoded.png">    </p:cNvPr>
          <p:cNvPicPr>
            <a:picLocks noChangeAspect="1"/>
          </p:cNvPicPr>
          <p:nvPr/>
        </p:nvPicPr>
        <p:blipFill>
          <a:blip r:embed="rId10"/>
          <a:stretch>
            <a:fillRect/>
          </a:stretch>
        </p:blipFill>
        <p:spPr>
          <a:xfrm>
            <a:off x="10483596" y="1984248"/>
            <a:ext cx="493776" cy="493776"/>
          </a:xfrm>
          <a:prstGeom prst="rect">
            <a:avLst/>
          </a:prstGeom>
        </p:spPr>
      </p:pic>
      <p:sp>
        <p:nvSpPr>
          <p:cNvPr id="58" name="Text 46"/>
          <p:cNvSpPr txBox="1"/>
          <p:nvPr/>
        </p:nvSpPr>
        <p:spPr>
          <a:xfrm>
            <a:off x="9774936" y="2514600"/>
            <a:ext cx="191109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9774936" y="2734056"/>
            <a:ext cx="1911096"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483596" y="3182112"/>
            <a:ext cx="493776" cy="493776"/>
          </a:xfrm>
          <a:prstGeom prst="rect">
            <a:avLst/>
          </a:prstGeom>
        </p:spPr>
      </p:pic>
      <p:sp>
        <p:nvSpPr>
          <p:cNvPr id="61" name="Text 48"/>
          <p:cNvSpPr txBox="1"/>
          <p:nvPr/>
        </p:nvSpPr>
        <p:spPr>
          <a:xfrm>
            <a:off x="9774936" y="3712464"/>
            <a:ext cx="191109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9774936" y="3931920"/>
            <a:ext cx="1911096"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Strong / Vector-led / Gap-led,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483596" y="4379976"/>
            <a:ext cx="493776" cy="493776"/>
          </a:xfrm>
          <a:prstGeom prst="rect">
            <a:avLst/>
          </a:prstGeom>
        </p:spPr>
      </p:pic>
      <p:sp>
        <p:nvSpPr>
          <p:cNvPr id="64" name="Text 50"/>
          <p:cNvSpPr txBox="1"/>
          <p:nvPr/>
        </p:nvSpPr>
        <p:spPr>
          <a:xfrm>
            <a:off x="9774936" y="4910328"/>
            <a:ext cx="191109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SKUs &amp; sellers</a:t>
            </a:r>
            <a:endParaRPr lang="en-US" sz="1150" dirty="0"/>
          </a:p>
        </p:txBody>
      </p:sp>
      <p:sp>
        <p:nvSpPr>
          <p:cNvPr id="65" name="Text 51"/>
          <p:cNvSpPr txBox="1"/>
          <p:nvPr/>
        </p:nvSpPr>
        <p:spPr>
          <a:xfrm>
            <a:off x="9774936" y="5129784"/>
            <a:ext cx="1911096" cy="384048"/>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example beside its nearest Staples item</a:t>
            </a:r>
            <a:endParaRPr lang="en-US" sz="950" dirty="0"/>
          </a:p>
        </p:txBody>
      </p:sp>
      <p:sp>
        <p:nvSpPr>
          <p:cNvPr id="66" name="Shape 52"/>
          <p:cNvSpPr/>
          <p:nvPr/>
        </p:nvSpPr>
        <p:spPr>
          <a:xfrm>
            <a:off x="411480" y="5705856"/>
            <a:ext cx="11365992" cy="566928"/>
          </a:xfrm>
          <a:prstGeom prst="roundRect">
            <a:avLst>
              <a:gd name="adj" fmla="val 12903"/>
            </a:avLst>
          </a:prstGeom>
          <a:solidFill>
            <a:srgbClr val="EEF3FB"/>
          </a:solidFill>
          <a:ln w="12700">
            <a:solidFill>
              <a:srgbClr val="EEF3FB"/>
            </a:solidFill>
            <a:prstDash val="solid"/>
          </a:ln>
        </p:spPr>
      </p:sp>
      <p:sp>
        <p:nvSpPr>
          <p:cNvPr id="67" name="Text 53"/>
          <p:cNvSpPr txBox="1"/>
          <p:nvPr/>
        </p:nvSpPr>
        <p:spPr>
          <a:xfrm>
            <a:off x="594360" y="5705856"/>
            <a:ext cx="11064240" cy="56692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Output: </a:t>
            </a:r>
            <a:pPr indent="0" marL="0">
              <a:buNone/>
            </a:pPr>
            <a:r>
              <a:rPr lang="en-US" sz="1100" dirty="0">
                <a:solidFill>
                  <a:srgbClr val="1F2937"/>
                </a:solidFill>
                <a:latin typeface="Calibri" pitchFamily="34" charset="0"/>
                <a:ea typeface="Calibri" pitchFamily="34" charset="-122"/>
                <a:cs typeface="Calibri" pitchFamily="34" charset="-120"/>
              </a:rPr>
              <a:t>one self-contained HTML report · 99 recommended archetypes · SKU evidence cards · seller view      </a:t>
            </a:r>
            <a:pPr indent="0" marL="0">
              <a:buNone/>
            </a:pPr>
            <a:r>
              <a:rPr lang="en-US" sz="1100" b="1" dirty="0">
                <a:solidFill>
                  <a:srgbClr val="13285B"/>
                </a:solidFill>
                <a:latin typeface="Calibri" pitchFamily="34" charset="0"/>
                <a:ea typeface="Calibri" pitchFamily="34" charset="-122"/>
                <a:cs typeface="Calibri" pitchFamily="34" charset="-120"/>
              </a:rPr>
              <a:t>Stack: </a:t>
            </a:r>
            <a:pPr indent="0" marL="0">
              <a:buNone/>
            </a:pPr>
            <a:r>
              <a:rPr lang="en-US" sz="1100" dirty="0">
                <a:solidFill>
                  <a:srgbClr val="1F2937"/>
                </a:solidFill>
                <a:latin typeface="Calibri" pitchFamily="34" charset="0"/>
                <a:ea typeface="Calibri" pitchFamily="34" charset="-122"/>
                <a:cs typeface="Calibri" pitchFamily="34" charset="-120"/>
              </a:rPr>
              <a:t>Python · pandas · sentence-transformers (bge) · UMAP + HDBSCAN · Bayesian share gaps · Jinja2</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2011680"/>
            <a:ext cx="54864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Text 1"/>
          <p:cNvSpPr txBox="1"/>
          <p:nvPr/>
        </p:nvSpPr>
        <p:spPr>
          <a:xfrm>
            <a:off x="640080" y="2926080"/>
            <a:ext cx="54864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4" name="Shape 2"/>
          <p:cNvSpPr/>
          <p:nvPr/>
        </p:nvSpPr>
        <p:spPr>
          <a:xfrm>
            <a:off x="6675120" y="1600200"/>
            <a:ext cx="4937760" cy="2743200"/>
          </a:xfrm>
          <a:prstGeom prst="roundRect">
            <a:avLst>
              <a:gd name="adj" fmla="val 5000"/>
            </a:avLst>
          </a:prstGeom>
          <a:solidFill>
            <a:srgbClr val="1C3A7A"/>
          </a:solidFill>
          <a:ln w="12700">
            <a:solidFill>
              <a:srgbClr val="1C3A7A"/>
            </a:solidFill>
            <a:prstDash val="solid"/>
          </a:ln>
        </p:spPr>
      </p:sp>
      <p:sp>
        <p:nvSpPr>
          <p:cNvPr id="5" name="Text 3"/>
          <p:cNvSpPr txBox="1"/>
          <p:nvPr/>
        </p:nvSpPr>
        <p:spPr>
          <a:xfrm>
            <a:off x="6995160" y="1783080"/>
            <a:ext cx="4389120" cy="365760"/>
          </a:xfrm>
          <a:prstGeom prst="rect">
            <a:avLst/>
          </a:prstGeom>
          <a:noFill/>
          <a:ln/>
        </p:spPr>
        <p:txBody>
          <a:bodyPr wrap="square" lIns="0" tIns="0" rIns="0" bIns="0" rtlCol="0" anchor="t"/>
          <a:lstStyle/>
          <a:p>
            <a:pPr indent="0" marL="0">
              <a:buNone/>
            </a:pPr>
            <a:r>
              <a:rPr lang="en-US" sz="1800" b="1" dirty="0">
                <a:solidFill>
                  <a:srgbClr val="F5A623"/>
                </a:solidFill>
                <a:latin typeface="Calibri" pitchFamily="34" charset="0"/>
                <a:ea typeface="Calibri" pitchFamily="34" charset="-122"/>
                <a:cs typeface="Calibri" pitchFamily="34" charset="-120"/>
              </a:rPr>
              <a:t>Proposed next steps</a:t>
            </a:r>
            <a:endParaRPr lang="en-US" sz="1800" dirty="0"/>
          </a:p>
        </p:txBody>
      </p:sp>
      <p:sp>
        <p:nvSpPr>
          <p:cNvPr id="6" name="Text 4"/>
          <p:cNvSpPr txBox="1"/>
          <p:nvPr/>
        </p:nvSpPr>
        <p:spPr>
          <a:xfrm>
            <a:off x="6995160" y="2286000"/>
            <a:ext cx="4389120" cy="19202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Calibration session: 60 side-by-side pairs to set the cannibalisation and price thresholds with merchants</a:t>
            </a:r>
            <a:endParaRPr lang="en-US" sz="1400" dirty="0"/>
          </a:p>
          <a:p>
            <a:pPr marL="342900" indent="-342900">
              <a:spcAft>
                <a:spcPts val="10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Category review of the top picks per node, then seller outreach starting with brands already on Staples</a:t>
            </a:r>
            <a:endParaRPr lang="en-US" sz="1400" dirty="0"/>
          </a:p>
          <a:p>
            <a:pPr marL="342900" indent="-342900">
              <a:spcAft>
                <a:spcPts val="10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Pilot listings in 2–3 nodes and track attach rate and commission over 6–18 months</a:t>
            </a:r>
            <a:endParaRPr lang="en-US" sz="1400" dirty="0"/>
          </a:p>
        </p:txBody>
      </p:sp>
      <p:sp>
        <p:nvSpPr>
          <p:cNvPr id="7" name="Text 5"/>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2026-10-05T06:11:43Z</dcterms:created>
  <dcterms:modified xsi:type="dcterms:W3CDTF">2026-10-05T06:11:43Z</dcterms:modified>
</cp:coreProperties>
</file>