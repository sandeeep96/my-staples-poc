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00fb9e8-07c0-69a5-e95f-7cc2c1c39e84}">
          <p14:sldIdLst>
            <p14:sldId id="256"/>
          </p14:sldIdLst>
        </p14:section>
        <p14:section name="Summary" id="{a73541dc-a4ed-8120-9d02-987e1ef0d7e8}">
          <p14:sldIdLst>
            <p14:sldId id="257"/>
            <p14:sldId id="258"/>
          </p14:sldIdLst>
        </p14:section>
        <p14:section name="Demo" id="{2973e5c7-711a-49da-bb37-21bc726996b6}">
          <p14:sldIdLst>
            <p14:sldId id="259"/>
          </p14:sldIdLst>
        </p14:section>
        <p14:section name="Next steps" id="{5f56495c-d9fc-f678-7ff5-c873e2ee5512}">
          <p14:sldIdLst>
            <p14:sldId id="260"/>
            <p14:sldId id="261"/>
            <p14:sldId id="262"/>
            <p14:sldId id="263"/>
          </p14:sldIdLst>
        </p14:section>
        <p14:section name="Appendix" id="{d30272a9-0328-5660-2d2f-e4d33fec7a8b}">
          <p14:sldIdLst>
            <p14:sldId id="264"/>
            <p14:sldId id="265"/>
          </p14:sldIdLst>
        </p14:section>
        <p14:section name="Close" id="{99510d9d-9ab8-8ef7-32cd-45916e33eeda}">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growth plan for the Staples Marketplace: everything on slides 5 and 6, put in the order agreed in our first review. Product first, customer next (two workstreams); existing customers before new ones (build the basket); adjacent categories before core (so existing merchants are brought along, not challenged); Staples.com before Staples Business; a confident first load, then scale on evidence (launch and learn).
Phase 1 Launch: start from the PoC's 74 safe picks; tune the cannibalisation thresholds and relax the adjacency thresholds with merchants; test the adjacent categories raised (toys, hydration, travel and luggage, tech accessories); vet seller listings and recruit, starting with the 13 brands already on Staples; add basket attach items for existing customers. Output: a curated launch assortment and one story per category owner.
Phase 2 Size &amp; scale: join Staples data to size the prize per archetype by customer segment and keep the top ~20%; search-funnel gaps and demand forecasting; competitor best-seller and seller intelligence; signals choose which subcategories to grow after entry; track pilots and re-crawl quarterly.
Phase 3 Extend: raise core-category gaps with the merchants who own them (e.g. smaller or luxe desks, bento); the customer workstream (education, social, trends, off-site retail media) for new customers; validate with research and surveys; Staples Business as a separate channel for specialist verticals and contract needs.
How we would support it (phased): first organise the data and build the stories for the initial launch, then extend into Staples' data, more analyses and stakeholder use cases, using Staples' existing data and tools and adding external data where useful; the plan adapts to Staples' roadmap rather than a fixed path.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model: three tiers, each pairing Staples and LatentView, with a set cadence; issues move up a tier when they need a decision.
Executive team (quarterly): Staples leadership with LatentView leadership. Quarterly business review for value, excellence and innovation; quarterly discussions on long-term planning and strategic alignment; a monthly executive briefing on strategic updates, key risks and mitigation.
Project team (monthly / quarterly): Staples team leads and stakeholders with LatentView client partners and account managers, who collectively own program management. Monthly business review on milestones, feedback and scope; weekly newsletters on project health with critical issues and dependencies escalated.
Delivery team (daily / weekly): the Staples team lead works with the LatentView program manager and a data engineering, BI and data science team. Daily stand-ups with the program manager; weekly review meetings on progress, challenges and upcoming tasks; monthly sprint planning and cross-workstream meetings; a quarterly inspect-and-adapt.
LatentView value adds and investments: access to a scalable analytics team; org expertise from the data engineering and data science &amp; AI horizontals, the BI and supply-chain centres of excellence and service delivery excellence; a buffer pool of trained engineers, scientists, analysts and BI developers for contingency.
How we communicate: maximum transparency, feedback on the partnership and team, insight into team utilisation, identifying opportunities, and new ideas across multiple frontiers. The cadence scales with the phase on the growth plan: light while we build the launch stories, fuller once Staples' data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5–7 (the PoC engine on Staples data, growth paths, and the phased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 Curated Growth Plan for the Staples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Everything on slides 5–6, sequenced: </a:t>
            </a:r>
            <a:pPr algn="ctr" indent="0" marL="0">
              <a:buNone/>
            </a:pPr>
            <a:r>
              <a:rPr lang="en-US" sz="1150" b="1" dirty="0">
                <a:solidFill>
                  <a:srgbClr val="13285B"/>
                </a:solidFill>
                <a:latin typeface="Calibri" pitchFamily="34" charset="0"/>
                <a:ea typeface="Calibri" pitchFamily="34" charset="-122"/>
                <a:cs typeface="Calibri" pitchFamily="34" charset="-120"/>
              </a:rPr>
              <a:t>product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adjacent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scale on evidence</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658368"/>
          </a:xfrm>
          <a:prstGeom prst="roundRect">
            <a:avLst>
              <a:gd name="adj" fmla="val 11111"/>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57784" y="1709928"/>
            <a:ext cx="347472" cy="347472"/>
          </a:xfrm>
          <a:prstGeom prst="rect">
            <a:avLst/>
          </a:prstGeom>
        </p:spPr>
      </p:pic>
      <p:sp>
        <p:nvSpPr>
          <p:cNvPr id="7" name="Text 4"/>
          <p:cNvSpPr txBox="1"/>
          <p:nvPr/>
        </p:nvSpPr>
        <p:spPr>
          <a:xfrm>
            <a:off x="1051560"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1 · LAUNCH</a:t>
            </a:r>
            <a:endParaRPr lang="en-US" sz="1100" dirty="0"/>
          </a:p>
        </p:txBody>
      </p:sp>
      <p:sp>
        <p:nvSpPr>
          <p:cNvPr id="8" name="Text 5"/>
          <p:cNvSpPr txBox="1"/>
          <p:nvPr/>
        </p:nvSpPr>
        <p:spPr>
          <a:xfrm>
            <a:off x="1051560"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Load a confident first assortment</a:t>
            </a:r>
            <a:endParaRPr lang="en-US" sz="1250" dirty="0"/>
          </a:p>
        </p:txBody>
      </p:sp>
      <p:sp>
        <p:nvSpPr>
          <p:cNvPr id="9" name="Shape 6"/>
          <p:cNvSpPr/>
          <p:nvPr/>
        </p:nvSpPr>
        <p:spPr>
          <a:xfrm>
            <a:off x="4078224" y="1755648"/>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8"/>
          <p:cNvSpPr/>
          <p:nvPr/>
        </p:nvSpPr>
        <p:spPr>
          <a:xfrm>
            <a:off x="521208" y="2414016"/>
            <a:ext cx="1112520" cy="256032"/>
          </a:xfrm>
          <a:prstGeom prst="roundRect">
            <a:avLst>
              <a:gd name="adj" fmla="val 50000"/>
            </a:avLst>
          </a:prstGeom>
          <a:solidFill>
            <a:srgbClr val="DCE7F8"/>
          </a:solidFill>
          <a:ln w="12700">
            <a:solidFill>
              <a:srgbClr val="DCE7F8"/>
            </a:solidFill>
            <a:prstDash val="solid"/>
          </a:ln>
        </p:spPr>
      </p:sp>
      <p:sp>
        <p:nvSpPr>
          <p:cNvPr id="12" name="Text 9"/>
          <p:cNvSpPr txBox="1"/>
          <p:nvPr/>
        </p:nvSpPr>
        <p:spPr>
          <a:xfrm>
            <a:off x="52120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first</a:t>
            </a:r>
            <a:endParaRPr lang="en-US" sz="850" dirty="0"/>
          </a:p>
        </p:txBody>
      </p:sp>
      <p:sp>
        <p:nvSpPr>
          <p:cNvPr id="13" name="Shape 10"/>
          <p:cNvSpPr/>
          <p:nvPr/>
        </p:nvSpPr>
        <p:spPr>
          <a:xfrm>
            <a:off x="1670304" y="2414016"/>
            <a:ext cx="1112520" cy="256032"/>
          </a:xfrm>
          <a:prstGeom prst="roundRect">
            <a:avLst>
              <a:gd name="adj" fmla="val 50000"/>
            </a:avLst>
          </a:prstGeom>
          <a:solidFill>
            <a:srgbClr val="DCE7F8"/>
          </a:solidFill>
          <a:ln w="12700">
            <a:solidFill>
              <a:srgbClr val="DCE7F8"/>
            </a:solidFill>
            <a:prstDash val="solid"/>
          </a:ln>
        </p:spPr>
      </p:sp>
      <p:sp>
        <p:nvSpPr>
          <p:cNvPr id="14" name="Text 11"/>
          <p:cNvSpPr txBox="1"/>
          <p:nvPr/>
        </p:nvSpPr>
        <p:spPr>
          <a:xfrm>
            <a:off x="167030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15" name="Shape 12"/>
          <p:cNvSpPr/>
          <p:nvPr/>
        </p:nvSpPr>
        <p:spPr>
          <a:xfrm>
            <a:off x="2819400" y="2414016"/>
            <a:ext cx="1112520" cy="256032"/>
          </a:xfrm>
          <a:prstGeom prst="roundRect">
            <a:avLst>
              <a:gd name="adj" fmla="val 50000"/>
            </a:avLst>
          </a:prstGeom>
          <a:solidFill>
            <a:srgbClr val="DCE7F8"/>
          </a:solidFill>
          <a:ln w="12700">
            <a:solidFill>
              <a:srgbClr val="DCE7F8"/>
            </a:solidFill>
            <a:prstDash val="solid"/>
          </a:ln>
        </p:spPr>
      </p:sp>
      <p:sp>
        <p:nvSpPr>
          <p:cNvPr id="16" name="Text 13"/>
          <p:cNvSpPr txBox="1"/>
          <p:nvPr/>
        </p:nvSpPr>
        <p:spPr>
          <a:xfrm>
            <a:off x="281940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17" name="Text 14"/>
          <p:cNvSpPr txBox="1"/>
          <p:nvPr/>
        </p:nvSpPr>
        <p:spPr>
          <a:xfrm>
            <a:off x="521208"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Start from the PoC's 74 safe picks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PoC</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 cannibalisation &amp; relax adjacency thresholds with merchants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Protect,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Test toys, hydration, luggage, tech</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Vet listings; recruit from the 13 brands on Staples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Curate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1–2 attach items per order</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18" name="Shape 15"/>
          <p:cNvSpPr/>
          <p:nvPr/>
        </p:nvSpPr>
        <p:spPr>
          <a:xfrm>
            <a:off x="502920" y="4700016"/>
            <a:ext cx="3447288" cy="640080"/>
          </a:xfrm>
          <a:prstGeom prst="roundRect">
            <a:avLst>
              <a:gd name="adj" fmla="val 8571"/>
            </a:avLst>
          </a:prstGeom>
          <a:solidFill>
            <a:srgbClr val="DCE7F8"/>
          </a:solidFill>
          <a:ln w="12700">
            <a:solidFill>
              <a:srgbClr val="DCE7F8"/>
            </a:solidFill>
            <a:prstDash val="solid"/>
          </a:ln>
        </p:spPr>
      </p:sp>
      <p:sp>
        <p:nvSpPr>
          <p:cNvPr id="19" name="Text 16"/>
          <p:cNvSpPr txBox="1"/>
          <p:nvPr/>
        </p:nvSpPr>
        <p:spPr>
          <a:xfrm>
            <a:off x="594360"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594360"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curated launch assortment, one story per category owner</a:t>
            </a:r>
            <a:endParaRPr lang="en-US" sz="1100" dirty="0"/>
          </a:p>
        </p:txBody>
      </p:sp>
      <p:sp>
        <p:nvSpPr>
          <p:cNvPr id="21" name="Shape 18"/>
          <p:cNvSpPr/>
          <p:nvPr/>
        </p:nvSpPr>
        <p:spPr>
          <a:xfrm>
            <a:off x="4279392" y="1554480"/>
            <a:ext cx="3630168" cy="658368"/>
          </a:xfrm>
          <a:prstGeom prst="roundRect">
            <a:avLst>
              <a:gd name="adj" fmla="val 11111"/>
            </a:avLst>
          </a:prstGeom>
          <a:solidFill>
            <a:srgbClr val="2F6FD0"/>
          </a:solidFill>
          <a:ln w="12700">
            <a:solidFill>
              <a:srgbClr val="2F6FD0"/>
            </a:solidFill>
            <a:prstDash val="solid"/>
          </a:ln>
        </p:spPr>
      </p:sp>
      <p:pic>
        <p:nvPicPr>
          <p:cNvPr id="22" name="Image 1" descr="preencoded.png">    </p:cNvPr>
          <p:cNvPicPr>
            <a:picLocks noChangeAspect="1"/>
          </p:cNvPicPr>
          <p:nvPr/>
        </p:nvPicPr>
        <p:blipFill>
          <a:blip r:embed="rId2"/>
          <a:stretch>
            <a:fillRect/>
          </a:stretch>
        </p:blipFill>
        <p:spPr>
          <a:xfrm>
            <a:off x="4425696" y="1709928"/>
            <a:ext cx="347472" cy="347472"/>
          </a:xfrm>
          <a:prstGeom prst="rect">
            <a:avLst/>
          </a:prstGeom>
        </p:spPr>
      </p:pic>
      <p:sp>
        <p:nvSpPr>
          <p:cNvPr id="23" name="Text 19"/>
          <p:cNvSpPr txBox="1"/>
          <p:nvPr/>
        </p:nvSpPr>
        <p:spPr>
          <a:xfrm>
            <a:off x="4919472"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2 · SIZE &amp; SCALE</a:t>
            </a:r>
            <a:endParaRPr lang="en-US" sz="1100" dirty="0"/>
          </a:p>
        </p:txBody>
      </p:sp>
      <p:sp>
        <p:nvSpPr>
          <p:cNvPr id="24" name="Text 20"/>
          <p:cNvSpPr txBox="1"/>
          <p:nvPr/>
        </p:nvSpPr>
        <p:spPr>
          <a:xfrm>
            <a:off x="4919472"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 scale what works</a:t>
            </a:r>
            <a:endParaRPr lang="en-US" sz="1250" dirty="0"/>
          </a:p>
        </p:txBody>
      </p:sp>
      <p:sp>
        <p:nvSpPr>
          <p:cNvPr id="25" name="Shape 21"/>
          <p:cNvSpPr/>
          <p:nvPr/>
        </p:nvSpPr>
        <p:spPr>
          <a:xfrm>
            <a:off x="7946136" y="1755648"/>
            <a:ext cx="164592" cy="256032"/>
          </a:xfrm>
          <a:prstGeom prst="rightArrow">
            <a:avLst/>
          </a:prstGeom>
          <a:solidFill>
            <a:srgbClr val="A9C3EE"/>
          </a:solidFill>
          <a:ln w="12700">
            <a:solidFill>
              <a:srgbClr val="A9C3EE"/>
            </a:solidFill>
            <a:prstDash val="solid"/>
          </a:ln>
        </p:spPr>
      </p:sp>
      <p:sp>
        <p:nvSpPr>
          <p:cNvPr id="26" name="Shape 22"/>
          <p:cNvSpPr/>
          <p:nvPr/>
        </p:nvSpPr>
        <p:spPr>
          <a:xfrm>
            <a:off x="4279392"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3"/>
          <p:cNvSpPr/>
          <p:nvPr/>
        </p:nvSpPr>
        <p:spPr>
          <a:xfrm>
            <a:off x="4389120" y="2414016"/>
            <a:ext cx="1112520" cy="256032"/>
          </a:xfrm>
          <a:prstGeom prst="roundRect">
            <a:avLst>
              <a:gd name="adj" fmla="val 50000"/>
            </a:avLst>
          </a:prstGeom>
          <a:solidFill>
            <a:srgbClr val="DCE7F8"/>
          </a:solidFill>
          <a:ln w="12700">
            <a:solidFill>
              <a:srgbClr val="DCE7F8"/>
            </a:solidFill>
            <a:prstDash val="solid"/>
          </a:ln>
        </p:spPr>
      </p:sp>
      <p:sp>
        <p:nvSpPr>
          <p:cNvPr id="28" name="Text 24"/>
          <p:cNvSpPr txBox="1"/>
          <p:nvPr/>
        </p:nvSpPr>
        <p:spPr>
          <a:xfrm>
            <a:off x="438912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 near-core</a:t>
            </a:r>
            <a:endParaRPr lang="en-US" sz="850" dirty="0"/>
          </a:p>
        </p:txBody>
      </p:sp>
      <p:sp>
        <p:nvSpPr>
          <p:cNvPr id="29" name="Shape 25"/>
          <p:cNvSpPr/>
          <p:nvPr/>
        </p:nvSpPr>
        <p:spPr>
          <a:xfrm>
            <a:off x="5538216" y="2414016"/>
            <a:ext cx="1112520" cy="256032"/>
          </a:xfrm>
          <a:prstGeom prst="roundRect">
            <a:avLst>
              <a:gd name="adj" fmla="val 50000"/>
            </a:avLst>
          </a:prstGeom>
          <a:solidFill>
            <a:srgbClr val="DCE7F8"/>
          </a:solidFill>
          <a:ln w="12700">
            <a:solidFill>
              <a:srgbClr val="DCE7F8"/>
            </a:solidFill>
            <a:prstDash val="solid"/>
          </a:ln>
        </p:spPr>
      </p:sp>
      <p:sp>
        <p:nvSpPr>
          <p:cNvPr id="30" name="Text 26"/>
          <p:cNvSpPr txBox="1"/>
          <p:nvPr/>
        </p:nvSpPr>
        <p:spPr>
          <a:xfrm>
            <a:off x="5538216"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31" name="Shape 27"/>
          <p:cNvSpPr/>
          <p:nvPr/>
        </p:nvSpPr>
        <p:spPr>
          <a:xfrm>
            <a:off x="6687312" y="2414016"/>
            <a:ext cx="1112520" cy="256032"/>
          </a:xfrm>
          <a:prstGeom prst="roundRect">
            <a:avLst>
              <a:gd name="adj" fmla="val 50000"/>
            </a:avLst>
          </a:prstGeom>
          <a:solidFill>
            <a:srgbClr val="DCE7F8"/>
          </a:solidFill>
          <a:ln w="12700">
            <a:solidFill>
              <a:srgbClr val="DCE7F8"/>
            </a:solidFill>
            <a:prstDash val="solid"/>
          </a:ln>
        </p:spPr>
      </p:sp>
      <p:sp>
        <p:nvSpPr>
          <p:cNvPr id="32" name="Text 28"/>
          <p:cNvSpPr txBox="1"/>
          <p:nvPr/>
        </p:nvSpPr>
        <p:spPr>
          <a:xfrm>
            <a:off x="668731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33" name="Text 29"/>
          <p:cNvSpPr txBox="1"/>
          <p:nvPr/>
        </p:nvSpPr>
        <p:spPr>
          <a:xfrm>
            <a:off x="4389120"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Opportunity $ by customer segment; top ~20%</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Prioritise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Search &amp; funnel gaps, demand forecasting</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Best-seller &amp; seller intelligence</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Signals pick the subcategories to grow</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Track pilots; quarterly re-crawls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Monitor</a:t>
            </a:r>
            <a:endParaRPr lang="en-US" sz="1200" dirty="0"/>
          </a:p>
        </p:txBody>
      </p:sp>
      <p:sp>
        <p:nvSpPr>
          <p:cNvPr id="34" name="Shape 30"/>
          <p:cNvSpPr/>
          <p:nvPr/>
        </p:nvSpPr>
        <p:spPr>
          <a:xfrm>
            <a:off x="4370832" y="4700016"/>
            <a:ext cx="3447288" cy="640080"/>
          </a:xfrm>
          <a:prstGeom prst="roundRect">
            <a:avLst>
              <a:gd name="adj" fmla="val 8571"/>
            </a:avLst>
          </a:prstGeom>
          <a:solidFill>
            <a:srgbClr val="DCE7F8"/>
          </a:solidFill>
          <a:ln w="12700">
            <a:solidFill>
              <a:srgbClr val="DCE7F8"/>
            </a:solidFill>
            <a:prstDash val="solid"/>
          </a:ln>
        </p:spPr>
      </p:sp>
      <p:sp>
        <p:nvSpPr>
          <p:cNvPr id="35" name="Text 31"/>
          <p:cNvSpPr txBox="1"/>
          <p:nvPr/>
        </p:nvSpPr>
        <p:spPr>
          <a:xfrm>
            <a:off x="4462272"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6" name="Text 32"/>
          <p:cNvSpPr txBox="1"/>
          <p:nvPr/>
        </p:nvSpPr>
        <p:spPr>
          <a:xfrm>
            <a:off x="4462272"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opportunity landscape; scale on evidence</a:t>
            </a:r>
            <a:endParaRPr lang="en-US" sz="1100" dirty="0"/>
          </a:p>
        </p:txBody>
      </p:sp>
      <p:sp>
        <p:nvSpPr>
          <p:cNvPr id="37" name="Shape 33"/>
          <p:cNvSpPr/>
          <p:nvPr/>
        </p:nvSpPr>
        <p:spPr>
          <a:xfrm>
            <a:off x="8147304" y="1554480"/>
            <a:ext cx="3630168" cy="658368"/>
          </a:xfrm>
          <a:prstGeom prst="roundRect">
            <a:avLst>
              <a:gd name="adj" fmla="val 11111"/>
            </a:avLst>
          </a:prstGeom>
          <a:solidFill>
            <a:srgbClr val="13285B"/>
          </a:solidFill>
          <a:ln w="12700">
            <a:solidFill>
              <a:srgbClr val="13285B"/>
            </a:solidFill>
            <a:prstDash val="solid"/>
          </a:ln>
        </p:spPr>
      </p:sp>
      <p:pic>
        <p:nvPicPr>
          <p:cNvPr id="38" name="Image 2" descr="preencoded.png">    </p:cNvPr>
          <p:cNvPicPr>
            <a:picLocks noChangeAspect="1"/>
          </p:cNvPicPr>
          <p:nvPr/>
        </p:nvPicPr>
        <p:blipFill>
          <a:blip r:embed="rId3"/>
          <a:stretch>
            <a:fillRect/>
          </a:stretch>
        </p:blipFill>
        <p:spPr>
          <a:xfrm>
            <a:off x="8293608" y="1709928"/>
            <a:ext cx="347472" cy="347472"/>
          </a:xfrm>
          <a:prstGeom prst="rect">
            <a:avLst/>
          </a:prstGeom>
        </p:spPr>
      </p:pic>
      <p:sp>
        <p:nvSpPr>
          <p:cNvPr id="39" name="Text 34"/>
          <p:cNvSpPr txBox="1"/>
          <p:nvPr/>
        </p:nvSpPr>
        <p:spPr>
          <a:xfrm>
            <a:off x="8787384"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3 · EXTEND</a:t>
            </a:r>
            <a:endParaRPr lang="en-US" sz="1100" dirty="0"/>
          </a:p>
        </p:txBody>
      </p:sp>
      <p:sp>
        <p:nvSpPr>
          <p:cNvPr id="40" name="Text 35"/>
          <p:cNvSpPr txBox="1"/>
          <p:nvPr/>
        </p:nvSpPr>
        <p:spPr>
          <a:xfrm>
            <a:off x="8787384"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Into core and new customers</a:t>
            </a:r>
            <a:endParaRPr lang="en-US" sz="1250" dirty="0"/>
          </a:p>
        </p:txBody>
      </p:sp>
      <p:sp>
        <p:nvSpPr>
          <p:cNvPr id="41" name="Shape 36"/>
          <p:cNvSpPr/>
          <p:nvPr/>
        </p:nvSpPr>
        <p:spPr>
          <a:xfrm>
            <a:off x="8147304"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7"/>
          <p:cNvSpPr/>
          <p:nvPr/>
        </p:nvSpPr>
        <p:spPr>
          <a:xfrm>
            <a:off x="8257032" y="2414016"/>
            <a:ext cx="1112520" cy="256032"/>
          </a:xfrm>
          <a:prstGeom prst="roundRect">
            <a:avLst>
              <a:gd name="adj" fmla="val 50000"/>
            </a:avLst>
          </a:prstGeom>
          <a:solidFill>
            <a:srgbClr val="DCE7F8"/>
          </a:solidFill>
          <a:ln w="12700">
            <a:solidFill>
              <a:srgbClr val="DCE7F8"/>
            </a:solidFill>
            <a:prstDash val="solid"/>
          </a:ln>
        </p:spPr>
      </p:sp>
      <p:sp>
        <p:nvSpPr>
          <p:cNvPr id="43" name="Text 38"/>
          <p:cNvSpPr txBox="1"/>
          <p:nvPr/>
        </p:nvSpPr>
        <p:spPr>
          <a:xfrm>
            <a:off x="825703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Core gaps</a:t>
            </a:r>
            <a:endParaRPr lang="en-US" sz="850" dirty="0"/>
          </a:p>
        </p:txBody>
      </p:sp>
      <p:sp>
        <p:nvSpPr>
          <p:cNvPr id="44" name="Shape 39"/>
          <p:cNvSpPr/>
          <p:nvPr/>
        </p:nvSpPr>
        <p:spPr>
          <a:xfrm>
            <a:off x="9406128" y="2414016"/>
            <a:ext cx="1112520" cy="256032"/>
          </a:xfrm>
          <a:prstGeom prst="roundRect">
            <a:avLst>
              <a:gd name="adj" fmla="val 50000"/>
            </a:avLst>
          </a:prstGeom>
          <a:solidFill>
            <a:srgbClr val="DCE7F8"/>
          </a:solidFill>
          <a:ln w="12700">
            <a:solidFill>
              <a:srgbClr val="DCE7F8"/>
            </a:solidFill>
            <a:prstDash val="solid"/>
          </a:ln>
        </p:spPr>
      </p:sp>
      <p:sp>
        <p:nvSpPr>
          <p:cNvPr id="45" name="Text 40"/>
          <p:cNvSpPr txBox="1"/>
          <p:nvPr/>
        </p:nvSpPr>
        <p:spPr>
          <a:xfrm>
            <a:off x="940612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New customers</a:t>
            </a:r>
            <a:endParaRPr lang="en-US" sz="850" dirty="0"/>
          </a:p>
        </p:txBody>
      </p:sp>
      <p:sp>
        <p:nvSpPr>
          <p:cNvPr id="46" name="Shape 41"/>
          <p:cNvSpPr/>
          <p:nvPr/>
        </p:nvSpPr>
        <p:spPr>
          <a:xfrm>
            <a:off x="10555224" y="2414016"/>
            <a:ext cx="1112520" cy="256032"/>
          </a:xfrm>
          <a:prstGeom prst="roundRect">
            <a:avLst>
              <a:gd name="adj" fmla="val 50000"/>
            </a:avLst>
          </a:prstGeom>
          <a:solidFill>
            <a:srgbClr val="DCE7F8"/>
          </a:solidFill>
          <a:ln w="12700">
            <a:solidFill>
              <a:srgbClr val="DCE7F8"/>
            </a:solidFill>
            <a:prstDash val="solid"/>
          </a:ln>
        </p:spPr>
      </p:sp>
      <p:sp>
        <p:nvSpPr>
          <p:cNvPr id="47" name="Text 42"/>
          <p:cNvSpPr txBox="1"/>
          <p:nvPr/>
        </p:nvSpPr>
        <p:spPr>
          <a:xfrm>
            <a:off x="1055522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 Staples Business</a:t>
            </a:r>
            <a:endParaRPr lang="en-US" sz="850" dirty="0"/>
          </a:p>
        </p:txBody>
      </p:sp>
      <p:sp>
        <p:nvSpPr>
          <p:cNvPr id="48" name="Text 43"/>
          <p:cNvSpPr txBox="1"/>
          <p:nvPr/>
        </p:nvSpPr>
        <p:spPr>
          <a:xfrm>
            <a:off x="8257032"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gaps raised with merchants, e.g. smaller or luxe desks, bento</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with merchants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Educate &amp; acquire customers: social, trends, off-site retail media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Validate with market research &amp; surveys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Staples Business: specialist verticals &amp; contract needs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channel</a:t>
            </a:r>
            <a:endParaRPr lang="en-US" sz="1200" dirty="0"/>
          </a:p>
        </p:txBody>
      </p:sp>
      <p:sp>
        <p:nvSpPr>
          <p:cNvPr id="49" name="Shape 44"/>
          <p:cNvSpPr/>
          <p:nvPr/>
        </p:nvSpPr>
        <p:spPr>
          <a:xfrm>
            <a:off x="8238744" y="4700016"/>
            <a:ext cx="3447288" cy="640080"/>
          </a:xfrm>
          <a:prstGeom prst="roundRect">
            <a:avLst>
              <a:gd name="adj" fmla="val 8571"/>
            </a:avLst>
          </a:prstGeom>
          <a:solidFill>
            <a:srgbClr val="DCE7F8"/>
          </a:solidFill>
          <a:ln w="12700">
            <a:solidFill>
              <a:srgbClr val="DCE7F8"/>
            </a:solidFill>
            <a:prstDash val="solid"/>
          </a:ln>
        </p:spPr>
      </p:sp>
      <p:sp>
        <p:nvSpPr>
          <p:cNvPr id="50" name="Text 45"/>
          <p:cNvSpPr txBox="1"/>
          <p:nvPr/>
        </p:nvSpPr>
        <p:spPr>
          <a:xfrm>
            <a:off x="8330184"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1" name="Text 46"/>
          <p:cNvSpPr txBox="1"/>
          <p:nvPr/>
        </p:nvSpPr>
        <p:spPr>
          <a:xfrm>
            <a:off x="8330184"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Core growth merchants sign up to; new customers reached</a:t>
            </a:r>
            <a:endParaRPr lang="en-US" sz="1100" dirty="0"/>
          </a:p>
        </p:txBody>
      </p:sp>
      <p:sp>
        <p:nvSpPr>
          <p:cNvPr id="52" name="Shape 47"/>
          <p:cNvSpPr/>
          <p:nvPr/>
        </p:nvSpPr>
        <p:spPr>
          <a:xfrm>
            <a:off x="411480" y="5559552"/>
            <a:ext cx="11365992" cy="768096"/>
          </a:xfrm>
          <a:prstGeom prst="roundRect">
            <a:avLst>
              <a:gd name="adj" fmla="val 9524"/>
            </a:avLst>
          </a:prstGeom>
          <a:solidFill>
            <a:srgbClr val="EEF3FB"/>
          </a:solidFill>
          <a:ln w="9525">
            <a:solidFill>
              <a:srgbClr val="8FB0E8"/>
            </a:solidFill>
            <a:prstDash val="solid"/>
          </a:ln>
        </p:spPr>
      </p:sp>
      <p:sp>
        <p:nvSpPr>
          <p:cNvPr id="53" name="Text 48"/>
          <p:cNvSpPr txBox="1"/>
          <p:nvPr/>
        </p:nvSpPr>
        <p:spPr>
          <a:xfrm>
            <a:off x="566928" y="5559552"/>
            <a:ext cx="1828800" cy="768096"/>
          </a:xfrm>
          <a:prstGeom prst="rect">
            <a:avLst/>
          </a:prstGeom>
          <a:noFill/>
          <a:ln/>
        </p:spPr>
        <p:txBody>
          <a:bodyPr wrap="square" lIns="0" tIns="0" rIns="0" bIns="0" rtlCol="0" anchor="ctr"/>
          <a:lstStyle/>
          <a:p>
            <a:pPr indent="0" marL="0">
              <a:buNone/>
            </a:pPr>
            <a:r>
              <a:rPr lang="en-US" sz="1050" b="1" spc="100" kern="0" dirty="0">
                <a:solidFill>
                  <a:srgbClr val="1F4E9A"/>
                </a:solidFill>
                <a:latin typeface="Calibri" pitchFamily="34" charset="0"/>
                <a:ea typeface="Calibri" pitchFamily="34" charset="-122"/>
                <a:cs typeface="Calibri" pitchFamily="34" charset="-120"/>
              </a:rPr>
              <a:t>BEYOND INTERNAL REPORTING</a:t>
            </a:r>
            <a:endParaRPr lang="en-US" sz="1050" dirty="0"/>
          </a:p>
        </p:txBody>
      </p:sp>
      <p:pic>
        <p:nvPicPr>
          <p:cNvPr id="54" name="Image 3" descr="preencoded.png">    </p:cNvPr>
          <p:cNvPicPr>
            <a:picLocks noChangeAspect="1"/>
          </p:cNvPicPr>
          <p:nvPr/>
        </p:nvPicPr>
        <p:blipFill>
          <a:blip r:embed="rId4"/>
          <a:stretch>
            <a:fillRect/>
          </a:stretch>
        </p:blipFill>
        <p:spPr>
          <a:xfrm>
            <a:off x="2514600" y="5769864"/>
            <a:ext cx="347472" cy="347472"/>
          </a:xfrm>
          <a:prstGeom prst="rect">
            <a:avLst/>
          </a:prstGeom>
        </p:spPr>
      </p:pic>
      <p:sp>
        <p:nvSpPr>
          <p:cNvPr id="55" name="Text 49"/>
          <p:cNvSpPr txBox="1"/>
          <p:nvPr/>
        </p:nvSpPr>
        <p:spPr>
          <a:xfrm>
            <a:off x="2971800"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Sees outside Staples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the competitor side internal data can't show</a:t>
            </a:r>
            <a:endParaRPr lang="en-US" sz="1050" dirty="0"/>
          </a:p>
        </p:txBody>
      </p:sp>
      <p:pic>
        <p:nvPicPr>
          <p:cNvPr id="56" name="Image 4" descr="preencoded.png">    </p:cNvPr>
          <p:cNvPicPr>
            <a:picLocks noChangeAspect="1"/>
          </p:cNvPicPr>
          <p:nvPr/>
        </p:nvPicPr>
        <p:blipFill>
          <a:blip r:embed="rId5"/>
          <a:stretch>
            <a:fillRect/>
          </a:stretch>
        </p:blipFill>
        <p:spPr>
          <a:xfrm>
            <a:off x="5602224" y="5769864"/>
            <a:ext cx="347472" cy="347472"/>
          </a:xfrm>
          <a:prstGeom prst="rect">
            <a:avLst/>
          </a:prstGeom>
        </p:spPr>
      </p:pic>
      <p:sp>
        <p:nvSpPr>
          <p:cNvPr id="57" name="Text 50"/>
          <p:cNvSpPr txBox="1"/>
          <p:nvPr/>
        </p:nvSpPr>
        <p:spPr>
          <a:xfrm>
            <a:off x="6059424"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Same yardstick on both sides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885 archetypes, one attribute extractor</a:t>
            </a:r>
            <a:endParaRPr lang="en-US" sz="1050" dirty="0"/>
          </a:p>
        </p:txBody>
      </p:sp>
      <p:pic>
        <p:nvPicPr>
          <p:cNvPr id="58" name="Image 5" descr="preencoded.png">    </p:cNvPr>
          <p:cNvPicPr>
            <a:picLocks noChangeAspect="1"/>
          </p:cNvPicPr>
          <p:nvPr/>
        </p:nvPicPr>
        <p:blipFill>
          <a:blip r:embed="rId6"/>
          <a:stretch>
            <a:fillRect/>
          </a:stretch>
        </p:blipFill>
        <p:spPr>
          <a:xfrm>
            <a:off x="8689848" y="5769864"/>
            <a:ext cx="347472" cy="347472"/>
          </a:xfrm>
          <a:prstGeom prst="rect">
            <a:avLst/>
          </a:prstGeom>
        </p:spPr>
      </p:pic>
      <p:sp>
        <p:nvSpPr>
          <p:cNvPr id="59" name="Text 51"/>
          <p:cNvSpPr txBox="1"/>
          <p:nvPr/>
        </p:nvSpPr>
        <p:spPr>
          <a:xfrm>
            <a:off x="9147048"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Two independent safety gates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cannibalisation checked twice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Our Governance Model Ensures Effective Oversight and Collaboration</a:t>
            </a:r>
            <a:endParaRPr lang="en-US" sz="2800" dirty="0"/>
          </a:p>
        </p:txBody>
      </p:sp>
      <p:sp>
        <p:nvSpPr>
          <p:cNvPr id="3" name="Shape 1"/>
          <p:cNvSpPr/>
          <p:nvPr/>
        </p:nvSpPr>
        <p:spPr>
          <a:xfrm>
            <a:off x="274320" y="1051560"/>
            <a:ext cx="8366760" cy="347472"/>
          </a:xfrm>
          <a:prstGeom prst="rect">
            <a:avLst/>
          </a:prstGeom>
          <a:solidFill>
            <a:srgbClr val="13285B"/>
          </a:solidFill>
          <a:ln w="12700">
            <a:solidFill>
              <a:srgbClr val="13285B"/>
            </a:solidFill>
            <a:prstDash val="solid"/>
          </a:ln>
        </p:spPr>
      </p:sp>
      <p:sp>
        <p:nvSpPr>
          <p:cNvPr id="4" name="Text 2"/>
          <p:cNvSpPr txBox="1"/>
          <p:nvPr/>
        </p:nvSpPr>
        <p:spPr>
          <a:xfrm>
            <a:off x="320040" y="1051560"/>
            <a:ext cx="82753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3-Tiered Robust Governance Structure with Cadence for Seamless Communication and Feedback Alignment</a:t>
            </a:r>
            <a:endParaRPr lang="en-US" sz="1150" dirty="0"/>
          </a:p>
        </p:txBody>
      </p:sp>
      <p:sp>
        <p:nvSpPr>
          <p:cNvPr id="5" name="Shape 3"/>
          <p:cNvSpPr/>
          <p:nvPr/>
        </p:nvSpPr>
        <p:spPr>
          <a:xfrm>
            <a:off x="8851392" y="1051560"/>
            <a:ext cx="2926080" cy="347472"/>
          </a:xfrm>
          <a:prstGeom prst="rect">
            <a:avLst/>
          </a:prstGeom>
          <a:solidFill>
            <a:srgbClr val="7E62A8"/>
          </a:solidFill>
          <a:ln w="12700">
            <a:solidFill>
              <a:srgbClr val="7E62A8"/>
            </a:solidFill>
            <a:prstDash val="solid"/>
          </a:ln>
        </p:spPr>
      </p:sp>
      <p:sp>
        <p:nvSpPr>
          <p:cNvPr id="6" name="Text 4"/>
          <p:cNvSpPr txBox="1"/>
          <p:nvPr/>
        </p:nvSpPr>
        <p:spPr>
          <a:xfrm>
            <a:off x="8851392" y="1051560"/>
            <a:ext cx="29260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LatentView Value Adds &amp; Investments</a:t>
            </a:r>
            <a:endParaRPr lang="en-US" sz="1100" dirty="0"/>
          </a:p>
        </p:txBody>
      </p:sp>
      <p:sp>
        <p:nvSpPr>
          <p:cNvPr id="7" name="Text 5"/>
          <p:cNvSpPr txBox="1"/>
          <p:nvPr/>
        </p:nvSpPr>
        <p:spPr>
          <a:xfrm>
            <a:off x="274320" y="1572768"/>
            <a:ext cx="1691640" cy="274320"/>
          </a:xfrm>
          <a:prstGeom prst="rect">
            <a:avLst/>
          </a:prstGeom>
          <a:noFill/>
          <a:ln/>
        </p:spPr>
        <p:txBody>
          <a:bodyPr wrap="square" lIns="0" tIns="0" rIns="0" bIns="0" rtlCol="0" anchor="ctr"/>
          <a:lstStyle/>
          <a:p>
            <a:pPr algn="ctr" indent="0" marL="0">
              <a:buNone/>
            </a:pPr>
            <a:r>
              <a:rPr lang="en-US" sz="1250" b="1" dirty="0">
                <a:solidFill>
                  <a:srgbClr val="1F4E9A"/>
                </a:solidFill>
                <a:latin typeface="Calibri" pitchFamily="34" charset="0"/>
                <a:ea typeface="Calibri" pitchFamily="34" charset="-122"/>
                <a:cs typeface="Calibri" pitchFamily="34" charset="-120"/>
              </a:rPr>
              <a:t>Executive Team</a:t>
            </a:r>
            <a:endParaRPr lang="en-US" sz="1250" dirty="0"/>
          </a:p>
        </p:txBody>
      </p:sp>
      <p:sp>
        <p:nvSpPr>
          <p:cNvPr id="8" name="Text 6"/>
          <p:cNvSpPr txBox="1"/>
          <p:nvPr/>
        </p:nvSpPr>
        <p:spPr>
          <a:xfrm>
            <a:off x="274320" y="1847088"/>
            <a:ext cx="1691640" cy="219456"/>
          </a:xfrm>
          <a:prstGeom prst="rect">
            <a:avLst/>
          </a:prstGeom>
          <a:noFill/>
          <a:ln/>
        </p:spPr>
        <p:txBody>
          <a:bodyPr wrap="square" lIns="0" tIns="0" rIns="0" bIns="0" rtlCol="0" anchor="ctr"/>
          <a:lstStyle/>
          <a:p>
            <a:pPr algn="ctr" indent="0" marL="0">
              <a:buNone/>
            </a:pPr>
            <a:r>
              <a:rPr lang="en-US" sz="1050" b="1" i="1" dirty="0">
                <a:solidFill>
                  <a:srgbClr val="A31515"/>
                </a:solidFill>
                <a:latin typeface="Calibri" pitchFamily="34" charset="0"/>
                <a:ea typeface="Calibri" pitchFamily="34" charset="-122"/>
                <a:cs typeface="Calibri" pitchFamily="34" charset="-120"/>
              </a:rPr>
              <a:t>Quarterly</a:t>
            </a:r>
            <a:endParaRPr lang="en-US" sz="1050" dirty="0"/>
          </a:p>
        </p:txBody>
      </p:sp>
      <p:sp>
        <p:nvSpPr>
          <p:cNvPr id="9" name="Text 7"/>
          <p:cNvSpPr txBox="1"/>
          <p:nvPr/>
        </p:nvSpPr>
        <p:spPr>
          <a:xfrm>
            <a:off x="274320" y="2084832"/>
            <a:ext cx="1691640" cy="384048"/>
          </a:xfrm>
          <a:prstGeom prst="rect">
            <a:avLst/>
          </a:prstGeom>
          <a:noFill/>
          <a:ln/>
        </p:spPr>
        <p:txBody>
          <a:bodyPr wrap="square" lIns="0" tIns="0" rIns="0" bIns="0" rtlCol="0" anchor="t"/>
          <a:lstStyle/>
          <a:p>
            <a:pPr algn="ctr" indent="0" marL="0">
              <a:buNone/>
            </a:pPr>
            <a:r>
              <a:rPr lang="en-US" sz="850" i="1" dirty="0">
                <a:solidFill>
                  <a:srgbClr val="7A8599"/>
                </a:solidFill>
                <a:latin typeface="Calibri" pitchFamily="34" charset="0"/>
                <a:ea typeface="Calibri" pitchFamily="34" charset="-122"/>
                <a:cs typeface="Calibri" pitchFamily="34" charset="-120"/>
              </a:rPr>
              <a:t>Quarterly business review · Monthly executive briefing</a:t>
            </a:r>
            <a:endParaRPr lang="en-US" sz="850" dirty="0"/>
          </a:p>
        </p:txBody>
      </p:sp>
      <p:sp>
        <p:nvSpPr>
          <p:cNvPr id="10" name="Text 8"/>
          <p:cNvSpPr txBox="1"/>
          <p:nvPr/>
        </p:nvSpPr>
        <p:spPr>
          <a:xfrm>
            <a:off x="274320" y="2743200"/>
            <a:ext cx="1691640" cy="274320"/>
          </a:xfrm>
          <a:prstGeom prst="rect">
            <a:avLst/>
          </a:prstGeom>
          <a:noFill/>
          <a:ln/>
        </p:spPr>
        <p:txBody>
          <a:bodyPr wrap="square" lIns="0" tIns="0" rIns="0" bIns="0" rtlCol="0" anchor="ctr"/>
          <a:lstStyle/>
          <a:p>
            <a:pPr algn="ctr" indent="0" marL="0">
              <a:buNone/>
            </a:pPr>
            <a:r>
              <a:rPr lang="en-US" sz="1250" b="1" dirty="0">
                <a:solidFill>
                  <a:srgbClr val="1F4E9A"/>
                </a:solidFill>
                <a:latin typeface="Calibri" pitchFamily="34" charset="0"/>
                <a:ea typeface="Calibri" pitchFamily="34" charset="-122"/>
                <a:cs typeface="Calibri" pitchFamily="34" charset="-120"/>
              </a:rPr>
              <a:t>Project Team</a:t>
            </a:r>
            <a:endParaRPr lang="en-US" sz="1250" dirty="0"/>
          </a:p>
        </p:txBody>
      </p:sp>
      <p:sp>
        <p:nvSpPr>
          <p:cNvPr id="11" name="Text 9"/>
          <p:cNvSpPr txBox="1"/>
          <p:nvPr/>
        </p:nvSpPr>
        <p:spPr>
          <a:xfrm>
            <a:off x="274320" y="3017520"/>
            <a:ext cx="1691640" cy="219456"/>
          </a:xfrm>
          <a:prstGeom prst="rect">
            <a:avLst/>
          </a:prstGeom>
          <a:noFill/>
          <a:ln/>
        </p:spPr>
        <p:txBody>
          <a:bodyPr wrap="square" lIns="0" tIns="0" rIns="0" bIns="0" rtlCol="0" anchor="ctr"/>
          <a:lstStyle/>
          <a:p>
            <a:pPr algn="ctr" indent="0" marL="0">
              <a:buNone/>
            </a:pPr>
            <a:r>
              <a:rPr lang="en-US" sz="1050" b="1" i="1" dirty="0">
                <a:solidFill>
                  <a:srgbClr val="A31515"/>
                </a:solidFill>
                <a:latin typeface="Calibri" pitchFamily="34" charset="0"/>
                <a:ea typeface="Calibri" pitchFamily="34" charset="-122"/>
                <a:cs typeface="Calibri" pitchFamily="34" charset="-120"/>
              </a:rPr>
              <a:t>Monthly / Quarterly</a:t>
            </a:r>
            <a:endParaRPr lang="en-US" sz="1050" dirty="0"/>
          </a:p>
        </p:txBody>
      </p:sp>
      <p:sp>
        <p:nvSpPr>
          <p:cNvPr id="12" name="Text 10"/>
          <p:cNvSpPr txBox="1"/>
          <p:nvPr/>
        </p:nvSpPr>
        <p:spPr>
          <a:xfrm>
            <a:off x="274320" y="3255264"/>
            <a:ext cx="1691640" cy="384048"/>
          </a:xfrm>
          <a:prstGeom prst="rect">
            <a:avLst/>
          </a:prstGeom>
          <a:noFill/>
          <a:ln/>
        </p:spPr>
        <p:txBody>
          <a:bodyPr wrap="square" lIns="0" tIns="0" rIns="0" bIns="0" rtlCol="0" anchor="t"/>
          <a:lstStyle/>
          <a:p>
            <a:pPr algn="ctr" indent="0" marL="0">
              <a:buNone/>
            </a:pPr>
            <a:r>
              <a:rPr lang="en-US" sz="850" i="1" dirty="0">
                <a:solidFill>
                  <a:srgbClr val="7A8599"/>
                </a:solidFill>
                <a:latin typeface="Calibri" pitchFamily="34" charset="0"/>
                <a:ea typeface="Calibri" pitchFamily="34" charset="-122"/>
                <a:cs typeface="Calibri" pitchFamily="34" charset="-120"/>
              </a:rPr>
              <a:t>Monthly business review · Weekly status newsletter</a:t>
            </a:r>
            <a:endParaRPr lang="en-US" sz="850" dirty="0"/>
          </a:p>
        </p:txBody>
      </p:sp>
      <p:sp>
        <p:nvSpPr>
          <p:cNvPr id="13" name="Text 11"/>
          <p:cNvSpPr txBox="1"/>
          <p:nvPr/>
        </p:nvSpPr>
        <p:spPr>
          <a:xfrm>
            <a:off x="274320" y="4407408"/>
            <a:ext cx="1691640" cy="274320"/>
          </a:xfrm>
          <a:prstGeom prst="rect">
            <a:avLst/>
          </a:prstGeom>
          <a:noFill/>
          <a:ln/>
        </p:spPr>
        <p:txBody>
          <a:bodyPr wrap="square" lIns="0" tIns="0" rIns="0" bIns="0" rtlCol="0" anchor="ctr"/>
          <a:lstStyle/>
          <a:p>
            <a:pPr algn="ctr" indent="0" marL="0">
              <a:buNone/>
            </a:pPr>
            <a:r>
              <a:rPr lang="en-US" sz="1250" b="1" dirty="0">
                <a:solidFill>
                  <a:srgbClr val="1F4E9A"/>
                </a:solidFill>
                <a:latin typeface="Calibri" pitchFamily="34" charset="0"/>
                <a:ea typeface="Calibri" pitchFamily="34" charset="-122"/>
                <a:cs typeface="Calibri" pitchFamily="34" charset="-120"/>
              </a:rPr>
              <a:t>Delivery Team</a:t>
            </a:r>
            <a:endParaRPr lang="en-US" sz="1250" dirty="0"/>
          </a:p>
        </p:txBody>
      </p:sp>
      <p:sp>
        <p:nvSpPr>
          <p:cNvPr id="14" name="Text 12"/>
          <p:cNvSpPr txBox="1"/>
          <p:nvPr/>
        </p:nvSpPr>
        <p:spPr>
          <a:xfrm>
            <a:off x="274320" y="4681728"/>
            <a:ext cx="1691640" cy="219456"/>
          </a:xfrm>
          <a:prstGeom prst="rect">
            <a:avLst/>
          </a:prstGeom>
          <a:noFill/>
          <a:ln/>
        </p:spPr>
        <p:txBody>
          <a:bodyPr wrap="square" lIns="0" tIns="0" rIns="0" bIns="0" rtlCol="0" anchor="ctr"/>
          <a:lstStyle/>
          <a:p>
            <a:pPr algn="ctr" indent="0" marL="0">
              <a:buNone/>
            </a:pPr>
            <a:r>
              <a:rPr lang="en-US" sz="1050" b="1" i="1" dirty="0">
                <a:solidFill>
                  <a:srgbClr val="A31515"/>
                </a:solidFill>
                <a:latin typeface="Calibri" pitchFamily="34" charset="0"/>
                <a:ea typeface="Calibri" pitchFamily="34" charset="-122"/>
                <a:cs typeface="Calibri" pitchFamily="34" charset="-120"/>
              </a:rPr>
              <a:t>Daily / Weekly</a:t>
            </a:r>
            <a:endParaRPr lang="en-US" sz="1050" dirty="0"/>
          </a:p>
        </p:txBody>
      </p:sp>
      <p:sp>
        <p:nvSpPr>
          <p:cNvPr id="15" name="Text 13"/>
          <p:cNvSpPr txBox="1"/>
          <p:nvPr/>
        </p:nvSpPr>
        <p:spPr>
          <a:xfrm>
            <a:off x="274320" y="4919472"/>
            <a:ext cx="1691640" cy="384048"/>
          </a:xfrm>
          <a:prstGeom prst="rect">
            <a:avLst/>
          </a:prstGeom>
          <a:noFill/>
          <a:ln/>
        </p:spPr>
        <p:txBody>
          <a:bodyPr wrap="square" lIns="0" tIns="0" rIns="0" bIns="0" rtlCol="0" anchor="t"/>
          <a:lstStyle/>
          <a:p>
            <a:pPr algn="ctr" indent="0" marL="0">
              <a:buNone/>
            </a:pPr>
            <a:r>
              <a:rPr lang="en-US" sz="850" i="1" dirty="0">
                <a:solidFill>
                  <a:srgbClr val="7A8599"/>
                </a:solidFill>
                <a:latin typeface="Calibri" pitchFamily="34" charset="0"/>
                <a:ea typeface="Calibri" pitchFamily="34" charset="-122"/>
                <a:cs typeface="Calibri" pitchFamily="34" charset="-120"/>
              </a:rPr>
              <a:t>Daily stand-ups · Weekly reviews · Sprint planning</a:t>
            </a:r>
            <a:endParaRPr lang="en-US" sz="850" dirty="0"/>
          </a:p>
        </p:txBody>
      </p:sp>
      <p:sp>
        <p:nvSpPr>
          <p:cNvPr id="16" name="Shape 14"/>
          <p:cNvSpPr/>
          <p:nvPr/>
        </p:nvSpPr>
        <p:spPr>
          <a:xfrm>
            <a:off x="274320" y="2578608"/>
            <a:ext cx="8275320" cy="0"/>
          </a:xfrm>
          <a:prstGeom prst="line">
            <a:avLst/>
          </a:prstGeom>
          <a:noFill/>
          <a:ln w="12700">
            <a:solidFill>
              <a:srgbClr val="1F4E9A"/>
            </a:solidFill>
            <a:prstDash val="dash"/>
          </a:ln>
        </p:spPr>
      </p:sp>
      <p:sp>
        <p:nvSpPr>
          <p:cNvPr id="17" name="Shape 15"/>
          <p:cNvSpPr/>
          <p:nvPr/>
        </p:nvSpPr>
        <p:spPr>
          <a:xfrm>
            <a:off x="274320" y="4206240"/>
            <a:ext cx="8275320" cy="0"/>
          </a:xfrm>
          <a:prstGeom prst="line">
            <a:avLst/>
          </a:prstGeom>
          <a:noFill/>
          <a:ln w="12700">
            <a:solidFill>
              <a:srgbClr val="1F4E9A"/>
            </a:solidFill>
            <a:prstDash val="dash"/>
          </a:ln>
        </p:spPr>
      </p:sp>
      <p:pic>
        <p:nvPicPr>
          <p:cNvPr id="18" name="Image 0" descr="D:\Testing\My-Staples-PoC\2. AL PoC\V2 - Categ from the scratch\outputs\ppt\assets\title_logo_staples.png">    </p:cNvPr>
          <p:cNvPicPr>
            <a:picLocks noChangeAspect="1"/>
          </p:cNvPicPr>
          <p:nvPr/>
        </p:nvPicPr>
        <p:blipFill>
          <a:blip r:embed="rId1"/>
          <a:srcRect l="0" r="0" t="0" b="0"/>
          <a:stretch/>
        </p:blipFill>
        <p:spPr>
          <a:xfrm>
            <a:off x="2011680" y="1856232"/>
            <a:ext cx="1188720" cy="246888"/>
          </a:xfrm>
          <a:prstGeom prst="rect">
            <a:avLst/>
          </a:prstGeom>
        </p:spPr>
      </p:pic>
      <p:sp>
        <p:nvSpPr>
          <p:cNvPr id="19" name="Shape 16"/>
          <p:cNvSpPr/>
          <p:nvPr/>
        </p:nvSpPr>
        <p:spPr>
          <a:xfrm>
            <a:off x="3337560" y="1591056"/>
            <a:ext cx="3017520" cy="786384"/>
          </a:xfrm>
          <a:prstGeom prst="rect">
            <a:avLst/>
          </a:prstGeom>
          <a:ln w="12700">
            <a:solidFill>
              <a:srgbClr val="7F9CC0"/>
            </a:solidFill>
            <a:prstDash val="sysDot"/>
          </a:ln>
        </p:spPr>
      </p:sp>
      <p:sp>
        <p:nvSpPr>
          <p:cNvPr id="20" name="Shape 17"/>
          <p:cNvSpPr/>
          <p:nvPr/>
        </p:nvSpPr>
        <p:spPr>
          <a:xfrm>
            <a:off x="3547872" y="1746504"/>
            <a:ext cx="1188720" cy="475488"/>
          </a:xfrm>
          <a:prstGeom prst="roundRect">
            <a:avLst>
              <a:gd name="adj" fmla="val 15385"/>
            </a:avLst>
          </a:prstGeom>
          <a:solidFill>
            <a:srgbClr val="BE2827"/>
          </a:solidFill>
          <a:ln w="12700">
            <a:solidFill>
              <a:srgbClr val="BE2827"/>
            </a:solidFill>
            <a:prstDash val="solid"/>
          </a:ln>
        </p:spPr>
      </p:sp>
      <p:sp>
        <p:nvSpPr>
          <p:cNvPr id="21" name="Text 18"/>
          <p:cNvSpPr txBox="1"/>
          <p:nvPr/>
        </p:nvSpPr>
        <p:spPr>
          <a:xfrm>
            <a:off x="3584448"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sp>
        <p:nvSpPr>
          <p:cNvPr id="22" name="Shape 19"/>
          <p:cNvSpPr/>
          <p:nvPr/>
        </p:nvSpPr>
        <p:spPr>
          <a:xfrm>
            <a:off x="4956048" y="1746504"/>
            <a:ext cx="1188720" cy="475488"/>
          </a:xfrm>
          <a:prstGeom prst="roundRect">
            <a:avLst>
              <a:gd name="adj" fmla="val 15385"/>
            </a:avLst>
          </a:prstGeom>
          <a:solidFill>
            <a:srgbClr val="1F4E9A"/>
          </a:solidFill>
          <a:ln w="12700">
            <a:solidFill>
              <a:srgbClr val="1F4E9A"/>
            </a:solidFill>
            <a:prstDash val="solid"/>
          </a:ln>
        </p:spPr>
      </p:sp>
      <p:sp>
        <p:nvSpPr>
          <p:cNvPr id="23" name="Text 20"/>
          <p:cNvSpPr txBox="1"/>
          <p:nvPr/>
        </p:nvSpPr>
        <p:spPr>
          <a:xfrm>
            <a:off x="4992624"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pic>
        <p:nvPicPr>
          <p:cNvPr id="24" name="Image 1" descr="D:\Testing\My-Staples-PoC\2. AL PoC\V2 - Categ from the scratch\outputs\ppt\assets\title_logo_latentview.png">    </p:cNvPr>
          <p:cNvPicPr>
            <a:picLocks noChangeAspect="1"/>
          </p:cNvPicPr>
          <p:nvPr/>
        </p:nvPicPr>
        <p:blipFill>
          <a:blip r:embed="rId2"/>
          <a:srcRect l="0" r="0" t="0" b="0"/>
          <a:stretch/>
        </p:blipFill>
        <p:spPr>
          <a:xfrm>
            <a:off x="6537960" y="1847088"/>
            <a:ext cx="1188720" cy="274320"/>
          </a:xfrm>
          <a:prstGeom prst="rect">
            <a:avLst/>
          </a:prstGeom>
        </p:spPr>
      </p:pic>
      <p:sp>
        <p:nvSpPr>
          <p:cNvPr id="25" name="Shape 21"/>
          <p:cNvSpPr/>
          <p:nvPr/>
        </p:nvSpPr>
        <p:spPr>
          <a:xfrm>
            <a:off x="4846320" y="2395728"/>
            <a:ext cx="0" cy="329184"/>
          </a:xfrm>
          <a:prstGeom prst="line">
            <a:avLst/>
          </a:prstGeom>
          <a:noFill/>
          <a:ln w="15875">
            <a:solidFill>
              <a:srgbClr val="000000"/>
            </a:solidFill>
            <a:prstDash val="solid"/>
            <a:headEnd type="triangle"/>
          </a:ln>
        </p:spPr>
      </p:sp>
      <p:sp>
        <p:nvSpPr>
          <p:cNvPr id="26" name="Shape 22"/>
          <p:cNvSpPr/>
          <p:nvPr/>
        </p:nvSpPr>
        <p:spPr>
          <a:xfrm>
            <a:off x="3337560" y="2743200"/>
            <a:ext cx="3017520" cy="1207008"/>
          </a:xfrm>
          <a:prstGeom prst="rect">
            <a:avLst/>
          </a:prstGeom>
          <a:ln w="12700">
            <a:solidFill>
              <a:srgbClr val="7F9CC0"/>
            </a:solidFill>
            <a:prstDash val="sysDot"/>
          </a:ln>
        </p:spPr>
      </p:sp>
      <p:sp>
        <p:nvSpPr>
          <p:cNvPr id="27" name="Shape 23"/>
          <p:cNvSpPr/>
          <p:nvPr/>
        </p:nvSpPr>
        <p:spPr>
          <a:xfrm>
            <a:off x="3493008" y="2852928"/>
            <a:ext cx="1261872" cy="420624"/>
          </a:xfrm>
          <a:prstGeom prst="roundRect">
            <a:avLst>
              <a:gd name="adj" fmla="val 17391"/>
            </a:avLst>
          </a:prstGeom>
          <a:solidFill>
            <a:srgbClr val="BE2827"/>
          </a:solidFill>
          <a:ln w="12700">
            <a:solidFill>
              <a:srgbClr val="BE2827"/>
            </a:solidFill>
            <a:prstDash val="solid"/>
          </a:ln>
        </p:spPr>
      </p:sp>
      <p:sp>
        <p:nvSpPr>
          <p:cNvPr id="28" name="Text 24"/>
          <p:cNvSpPr txBox="1"/>
          <p:nvPr/>
        </p:nvSpPr>
        <p:spPr>
          <a:xfrm>
            <a:off x="352958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 Team</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Leads</a:t>
            </a:r>
            <a:endParaRPr lang="en-US" sz="950" dirty="0"/>
          </a:p>
        </p:txBody>
      </p:sp>
      <p:sp>
        <p:nvSpPr>
          <p:cNvPr id="29" name="Shape 25"/>
          <p:cNvSpPr/>
          <p:nvPr/>
        </p:nvSpPr>
        <p:spPr>
          <a:xfrm>
            <a:off x="3493008" y="3401568"/>
            <a:ext cx="1261872" cy="420624"/>
          </a:xfrm>
          <a:prstGeom prst="roundRect">
            <a:avLst>
              <a:gd name="adj" fmla="val 17391"/>
            </a:avLst>
          </a:prstGeom>
          <a:solidFill>
            <a:srgbClr val="BE2827"/>
          </a:solidFill>
          <a:ln w="12700">
            <a:solidFill>
              <a:srgbClr val="BE2827"/>
            </a:solidFill>
            <a:prstDash val="solid"/>
          </a:ln>
        </p:spPr>
      </p:sp>
      <p:sp>
        <p:nvSpPr>
          <p:cNvPr id="30" name="Text 26"/>
          <p:cNvSpPr txBox="1"/>
          <p:nvPr/>
        </p:nvSpPr>
        <p:spPr>
          <a:xfrm>
            <a:off x="352958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Stakeholders</a:t>
            </a:r>
            <a:endParaRPr lang="en-US" sz="950" dirty="0"/>
          </a:p>
        </p:txBody>
      </p:sp>
      <p:sp>
        <p:nvSpPr>
          <p:cNvPr id="31" name="Shape 27"/>
          <p:cNvSpPr/>
          <p:nvPr/>
        </p:nvSpPr>
        <p:spPr>
          <a:xfrm>
            <a:off x="4956048" y="2852928"/>
            <a:ext cx="1261872" cy="420624"/>
          </a:xfrm>
          <a:prstGeom prst="roundRect">
            <a:avLst>
              <a:gd name="adj" fmla="val 17391"/>
            </a:avLst>
          </a:prstGeom>
          <a:solidFill>
            <a:srgbClr val="1F4E9A"/>
          </a:solidFill>
          <a:ln w="12700">
            <a:solidFill>
              <a:srgbClr val="1F4E9A"/>
            </a:solidFill>
            <a:prstDash val="solid"/>
          </a:ln>
        </p:spPr>
      </p:sp>
      <p:sp>
        <p:nvSpPr>
          <p:cNvPr id="32" name="Text 28"/>
          <p:cNvSpPr txBox="1"/>
          <p:nvPr/>
        </p:nvSpPr>
        <p:spPr>
          <a:xfrm>
            <a:off x="499262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Client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Partners</a:t>
            </a:r>
            <a:endParaRPr lang="en-US" sz="950" dirty="0"/>
          </a:p>
        </p:txBody>
      </p:sp>
      <p:sp>
        <p:nvSpPr>
          <p:cNvPr id="33" name="Shape 29"/>
          <p:cNvSpPr/>
          <p:nvPr/>
        </p:nvSpPr>
        <p:spPr>
          <a:xfrm>
            <a:off x="4956048" y="3401568"/>
            <a:ext cx="1261872" cy="420624"/>
          </a:xfrm>
          <a:prstGeom prst="roundRect">
            <a:avLst>
              <a:gd name="adj" fmla="val 17391"/>
            </a:avLst>
          </a:prstGeom>
          <a:solidFill>
            <a:srgbClr val="1F4E9A"/>
          </a:solidFill>
          <a:ln w="12700">
            <a:solidFill>
              <a:srgbClr val="1F4E9A"/>
            </a:solidFill>
            <a:prstDash val="solid"/>
          </a:ln>
        </p:spPr>
      </p:sp>
      <p:sp>
        <p:nvSpPr>
          <p:cNvPr id="34" name="Text 30"/>
          <p:cNvSpPr txBox="1"/>
          <p:nvPr/>
        </p:nvSpPr>
        <p:spPr>
          <a:xfrm>
            <a:off x="499262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Account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Managers</a:t>
            </a:r>
            <a:endParaRPr lang="en-US" sz="950" dirty="0"/>
          </a:p>
        </p:txBody>
      </p:sp>
      <p:sp>
        <p:nvSpPr>
          <p:cNvPr id="35" name="Shape 31"/>
          <p:cNvSpPr/>
          <p:nvPr/>
        </p:nvSpPr>
        <p:spPr>
          <a:xfrm>
            <a:off x="6217920" y="3063240"/>
            <a:ext cx="219456" cy="0"/>
          </a:xfrm>
          <a:prstGeom prst="line">
            <a:avLst/>
          </a:prstGeom>
          <a:noFill/>
          <a:ln w="12700">
            <a:solidFill>
              <a:srgbClr val="44546A"/>
            </a:solidFill>
            <a:prstDash val="solid"/>
          </a:ln>
        </p:spPr>
      </p:sp>
      <p:sp>
        <p:nvSpPr>
          <p:cNvPr id="36" name="Shape 32"/>
          <p:cNvSpPr/>
          <p:nvPr/>
        </p:nvSpPr>
        <p:spPr>
          <a:xfrm>
            <a:off x="6217920" y="3611880"/>
            <a:ext cx="219456" cy="0"/>
          </a:xfrm>
          <a:prstGeom prst="line">
            <a:avLst/>
          </a:prstGeom>
          <a:noFill/>
          <a:ln w="12700">
            <a:solidFill>
              <a:srgbClr val="44546A"/>
            </a:solidFill>
            <a:prstDash val="solid"/>
          </a:ln>
        </p:spPr>
      </p:sp>
      <p:sp>
        <p:nvSpPr>
          <p:cNvPr id="37" name="Shape 33"/>
          <p:cNvSpPr/>
          <p:nvPr/>
        </p:nvSpPr>
        <p:spPr>
          <a:xfrm>
            <a:off x="6437376" y="3063240"/>
            <a:ext cx="0" cy="548640"/>
          </a:xfrm>
          <a:prstGeom prst="line">
            <a:avLst/>
          </a:prstGeom>
          <a:noFill/>
          <a:ln w="12700">
            <a:solidFill>
              <a:srgbClr val="44546A"/>
            </a:solidFill>
            <a:prstDash val="solid"/>
          </a:ln>
        </p:spPr>
      </p:sp>
      <p:sp>
        <p:nvSpPr>
          <p:cNvPr id="38" name="Shape 34"/>
          <p:cNvSpPr/>
          <p:nvPr/>
        </p:nvSpPr>
        <p:spPr>
          <a:xfrm>
            <a:off x="6437376" y="3337560"/>
            <a:ext cx="201168" cy="0"/>
          </a:xfrm>
          <a:prstGeom prst="line">
            <a:avLst/>
          </a:prstGeom>
          <a:noFill/>
          <a:ln w="12700">
            <a:solidFill>
              <a:srgbClr val="44546A"/>
            </a:solidFill>
            <a:prstDash val="solid"/>
            <a:tailEnd type="triangle"/>
          </a:ln>
        </p:spPr>
      </p:sp>
      <p:sp>
        <p:nvSpPr>
          <p:cNvPr id="39" name="Shape 35"/>
          <p:cNvSpPr/>
          <p:nvPr/>
        </p:nvSpPr>
        <p:spPr>
          <a:xfrm>
            <a:off x="6656832" y="3017520"/>
            <a:ext cx="1463040" cy="640080"/>
          </a:xfrm>
          <a:prstGeom prst="roundRect">
            <a:avLst>
              <a:gd name="adj" fmla="val 17143"/>
            </a:avLst>
          </a:prstGeom>
          <a:solidFill>
            <a:srgbClr val="E6E6E6"/>
          </a:solidFill>
          <a:ln w="12700">
            <a:solidFill>
              <a:srgbClr val="E6E6E6"/>
            </a:solidFill>
            <a:prstDash val="solid"/>
          </a:ln>
        </p:spPr>
      </p:sp>
      <p:sp>
        <p:nvSpPr>
          <p:cNvPr id="40" name="Text 36"/>
          <p:cNvSpPr txBox="1"/>
          <p:nvPr/>
        </p:nvSpPr>
        <p:spPr>
          <a:xfrm>
            <a:off x="6711696" y="3017520"/>
            <a:ext cx="1353312" cy="64008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Collectively own program management</a:t>
            </a:r>
            <a:endParaRPr lang="en-US" sz="950" dirty="0"/>
          </a:p>
        </p:txBody>
      </p:sp>
      <p:sp>
        <p:nvSpPr>
          <p:cNvPr id="41" name="Shape 37"/>
          <p:cNvSpPr/>
          <p:nvPr/>
        </p:nvSpPr>
        <p:spPr>
          <a:xfrm>
            <a:off x="4846320" y="3968496"/>
            <a:ext cx="0" cy="347472"/>
          </a:xfrm>
          <a:prstGeom prst="line">
            <a:avLst/>
          </a:prstGeom>
          <a:noFill/>
          <a:ln w="15875">
            <a:solidFill>
              <a:srgbClr val="000000"/>
            </a:solidFill>
            <a:prstDash val="solid"/>
            <a:headEnd type="triangle"/>
          </a:ln>
        </p:spPr>
      </p:sp>
      <p:sp>
        <p:nvSpPr>
          <p:cNvPr id="42" name="Shape 38"/>
          <p:cNvSpPr/>
          <p:nvPr/>
        </p:nvSpPr>
        <p:spPr>
          <a:xfrm>
            <a:off x="2194560" y="4334256"/>
            <a:ext cx="5943600" cy="1682496"/>
          </a:xfrm>
          <a:prstGeom prst="rect">
            <a:avLst/>
          </a:prstGeom>
          <a:ln w="12700">
            <a:solidFill>
              <a:srgbClr val="7F9CC0"/>
            </a:solidFill>
            <a:prstDash val="sysDot"/>
          </a:ln>
        </p:spPr>
      </p:sp>
      <p:sp>
        <p:nvSpPr>
          <p:cNvPr id="43" name="Shape 39"/>
          <p:cNvSpPr/>
          <p:nvPr/>
        </p:nvSpPr>
        <p:spPr>
          <a:xfrm>
            <a:off x="2313432" y="4425696"/>
            <a:ext cx="5705856" cy="1499616"/>
          </a:xfrm>
          <a:prstGeom prst="rect">
            <a:avLst/>
          </a:prstGeom>
          <a:solidFill>
            <a:srgbClr val="FFFFFF"/>
          </a:solidFill>
          <a:ln w="12700">
            <a:solidFill>
              <a:srgbClr val="C0504D"/>
            </a:solidFill>
            <a:prstDash val="solid"/>
          </a:ln>
        </p:spPr>
      </p:sp>
      <p:sp>
        <p:nvSpPr>
          <p:cNvPr id="44" name="Text 40"/>
          <p:cNvSpPr txBox="1"/>
          <p:nvPr/>
        </p:nvSpPr>
        <p:spPr>
          <a:xfrm>
            <a:off x="2313432" y="4462272"/>
            <a:ext cx="5705856" cy="237744"/>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Data Engineering / Business Intelligence / Data Science Team</a:t>
            </a:r>
            <a:endParaRPr lang="en-US" sz="1050" dirty="0"/>
          </a:p>
        </p:txBody>
      </p:sp>
      <p:pic>
        <p:nvPicPr>
          <p:cNvPr id="45" name="Image 2" descr="preencoded.png">    </p:cNvPr>
          <p:cNvPicPr>
            <a:picLocks noChangeAspect="1"/>
          </p:cNvPicPr>
          <p:nvPr/>
        </p:nvPicPr>
        <p:blipFill>
          <a:blip r:embed="rId3"/>
          <a:stretch>
            <a:fillRect/>
          </a:stretch>
        </p:blipFill>
        <p:spPr>
          <a:xfrm>
            <a:off x="4206240" y="4736592"/>
            <a:ext cx="274320" cy="274320"/>
          </a:xfrm>
          <a:prstGeom prst="rect">
            <a:avLst/>
          </a:prstGeom>
        </p:spPr>
      </p:pic>
      <p:sp>
        <p:nvSpPr>
          <p:cNvPr id="46" name="Text 41"/>
          <p:cNvSpPr txBox="1"/>
          <p:nvPr/>
        </p:nvSpPr>
        <p:spPr>
          <a:xfrm>
            <a:off x="384048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Staples Team Lead</a:t>
            </a:r>
            <a:endParaRPr lang="en-US" sz="750" dirty="0"/>
          </a:p>
        </p:txBody>
      </p:sp>
      <p:sp>
        <p:nvSpPr>
          <p:cNvPr id="47" name="Shape 42"/>
          <p:cNvSpPr/>
          <p:nvPr/>
        </p:nvSpPr>
        <p:spPr>
          <a:xfrm>
            <a:off x="4572000" y="4818888"/>
            <a:ext cx="640080" cy="118872"/>
          </a:xfrm>
          <a:prstGeom prst="leftRightArrow">
            <a:avLst/>
          </a:prstGeom>
          <a:solidFill>
            <a:srgbClr val="A6A6A6"/>
          </a:solidFill>
          <a:ln w="12700">
            <a:solidFill>
              <a:srgbClr val="A6A6A6"/>
            </a:solidFill>
            <a:prstDash val="solid"/>
          </a:ln>
        </p:spPr>
      </p:sp>
      <p:pic>
        <p:nvPicPr>
          <p:cNvPr id="48" name="Image 3" descr="preencoded.png">    </p:cNvPr>
          <p:cNvPicPr>
            <a:picLocks noChangeAspect="1"/>
          </p:cNvPicPr>
          <p:nvPr/>
        </p:nvPicPr>
        <p:blipFill>
          <a:blip r:embed="rId4"/>
          <a:stretch>
            <a:fillRect/>
          </a:stretch>
        </p:blipFill>
        <p:spPr>
          <a:xfrm>
            <a:off x="5303520" y="4736592"/>
            <a:ext cx="274320" cy="274320"/>
          </a:xfrm>
          <a:prstGeom prst="rect">
            <a:avLst/>
          </a:prstGeom>
        </p:spPr>
      </p:pic>
      <p:sp>
        <p:nvSpPr>
          <p:cNvPr id="49" name="Text 43"/>
          <p:cNvSpPr txBox="1"/>
          <p:nvPr/>
        </p:nvSpPr>
        <p:spPr>
          <a:xfrm>
            <a:off x="493776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LV Program Manager</a:t>
            </a:r>
            <a:endParaRPr lang="en-US" sz="750" dirty="0"/>
          </a:p>
        </p:txBody>
      </p:sp>
      <p:sp>
        <p:nvSpPr>
          <p:cNvPr id="50" name="Shape 44"/>
          <p:cNvSpPr/>
          <p:nvPr/>
        </p:nvSpPr>
        <p:spPr>
          <a:xfrm>
            <a:off x="5367528" y="5212080"/>
            <a:ext cx="109728" cy="237744"/>
          </a:xfrm>
          <a:prstGeom prst="upDownArrow">
            <a:avLst/>
          </a:prstGeom>
          <a:solidFill>
            <a:srgbClr val="A6A6A6"/>
          </a:solidFill>
          <a:ln w="12700">
            <a:solidFill>
              <a:srgbClr val="A6A6A6"/>
            </a:solidFill>
            <a:prstDash val="solid"/>
          </a:ln>
        </p:spPr>
      </p:sp>
      <p:sp>
        <p:nvSpPr>
          <p:cNvPr id="51" name="Shape 45"/>
          <p:cNvSpPr/>
          <p:nvPr/>
        </p:nvSpPr>
        <p:spPr>
          <a:xfrm>
            <a:off x="2468880" y="5486400"/>
            <a:ext cx="5394960" cy="347472"/>
          </a:xfrm>
          <a:prstGeom prst="rect">
            <a:avLst/>
          </a:prstGeom>
          <a:solidFill>
            <a:srgbClr val="F0F0F0"/>
          </a:solidFill>
          <a:ln w="12700">
            <a:solidFill>
              <a:srgbClr val="F0F0F0"/>
            </a:solidFill>
            <a:prstDash val="solid"/>
          </a:ln>
        </p:spPr>
      </p:sp>
      <p:sp>
        <p:nvSpPr>
          <p:cNvPr id="52" name="Text 46"/>
          <p:cNvSpPr txBox="1"/>
          <p:nvPr/>
        </p:nvSpPr>
        <p:spPr>
          <a:xfrm>
            <a:off x="256032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Big Data Engineer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Architect</a:t>
            </a:r>
            <a:endParaRPr lang="en-US" sz="850" dirty="0"/>
          </a:p>
        </p:txBody>
      </p:sp>
      <p:sp>
        <p:nvSpPr>
          <p:cNvPr id="53" name="Text 47"/>
          <p:cNvSpPr txBox="1"/>
          <p:nvPr/>
        </p:nvSpPr>
        <p:spPr>
          <a:xfrm>
            <a:off x="434340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 Developer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BI Analyst</a:t>
            </a:r>
            <a:endParaRPr lang="en-US" sz="850" dirty="0"/>
          </a:p>
        </p:txBody>
      </p:sp>
      <p:sp>
        <p:nvSpPr>
          <p:cNvPr id="54" name="Text 48"/>
          <p:cNvSpPr txBox="1"/>
          <p:nvPr/>
        </p:nvSpPr>
        <p:spPr>
          <a:xfrm>
            <a:off x="612648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Data Scientist</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Analyst</a:t>
            </a:r>
            <a:endParaRPr lang="en-US" sz="850" dirty="0"/>
          </a:p>
        </p:txBody>
      </p:sp>
      <p:pic>
        <p:nvPicPr>
          <p:cNvPr id="55" name="Image 4" descr="preencoded.png">    </p:cNvPr>
          <p:cNvPicPr>
            <a:picLocks noChangeAspect="1"/>
          </p:cNvPicPr>
          <p:nvPr/>
        </p:nvPicPr>
        <p:blipFill>
          <a:blip r:embed="rId5"/>
          <a:stretch>
            <a:fillRect/>
          </a:stretch>
        </p:blipFill>
        <p:spPr>
          <a:xfrm>
            <a:off x="274320" y="6217920"/>
            <a:ext cx="182880" cy="182880"/>
          </a:xfrm>
          <a:prstGeom prst="rect">
            <a:avLst/>
          </a:prstGeom>
        </p:spPr>
      </p:pic>
      <p:sp>
        <p:nvSpPr>
          <p:cNvPr id="56" name="Text 49"/>
          <p:cNvSpPr txBox="1"/>
          <p:nvPr/>
        </p:nvSpPr>
        <p:spPr>
          <a:xfrm>
            <a:off x="493776" y="6217920"/>
            <a:ext cx="73152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Staples</a:t>
            </a:r>
            <a:endParaRPr lang="en-US" sz="950" dirty="0"/>
          </a:p>
        </p:txBody>
      </p:sp>
      <p:pic>
        <p:nvPicPr>
          <p:cNvPr id="57" name="Image 5" descr="preencoded.png">    </p:cNvPr>
          <p:cNvPicPr>
            <a:picLocks noChangeAspect="1"/>
          </p:cNvPicPr>
          <p:nvPr/>
        </p:nvPicPr>
        <p:blipFill>
          <a:blip r:embed="rId6"/>
          <a:stretch>
            <a:fillRect/>
          </a:stretch>
        </p:blipFill>
        <p:spPr>
          <a:xfrm>
            <a:off x="1234440" y="6217920"/>
            <a:ext cx="182880" cy="182880"/>
          </a:xfrm>
          <a:prstGeom prst="rect">
            <a:avLst/>
          </a:prstGeom>
        </p:spPr>
      </p:pic>
      <p:sp>
        <p:nvSpPr>
          <p:cNvPr id="58" name="Text 50"/>
          <p:cNvSpPr txBox="1"/>
          <p:nvPr/>
        </p:nvSpPr>
        <p:spPr>
          <a:xfrm>
            <a:off x="1453896" y="6217920"/>
            <a:ext cx="91440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LatentView</a:t>
            </a:r>
            <a:endParaRPr lang="en-US" sz="950" dirty="0"/>
          </a:p>
        </p:txBody>
      </p:sp>
      <p:sp>
        <p:nvSpPr>
          <p:cNvPr id="59" name="Shape 51"/>
          <p:cNvSpPr/>
          <p:nvPr/>
        </p:nvSpPr>
        <p:spPr>
          <a:xfrm>
            <a:off x="8741664" y="1508760"/>
            <a:ext cx="0" cy="4526280"/>
          </a:xfrm>
          <a:prstGeom prst="line">
            <a:avLst/>
          </a:prstGeom>
          <a:noFill/>
          <a:ln w="9525">
            <a:solidFill>
              <a:srgbClr val="7F9CC0"/>
            </a:solidFill>
            <a:prstDash val="dash"/>
          </a:ln>
        </p:spPr>
      </p:sp>
      <p:sp>
        <p:nvSpPr>
          <p:cNvPr id="60" name="Shape 52"/>
          <p:cNvSpPr/>
          <p:nvPr/>
        </p:nvSpPr>
        <p:spPr>
          <a:xfrm>
            <a:off x="8851392" y="1508760"/>
            <a:ext cx="2926080" cy="4023360"/>
          </a:xfrm>
          <a:prstGeom prst="rect">
            <a:avLst/>
          </a:prstGeom>
          <a:solidFill>
            <a:srgbClr val="F3F3F3"/>
          </a:solidFill>
          <a:ln w="12700">
            <a:solidFill>
              <a:srgbClr val="F3F3F3"/>
            </a:solidFill>
            <a:prstDash val="solid"/>
          </a:ln>
        </p:spPr>
      </p:sp>
      <p:pic>
        <p:nvPicPr>
          <p:cNvPr id="61" name="Image 6" descr="preencoded.png">    </p:cNvPr>
          <p:cNvPicPr>
            <a:picLocks noChangeAspect="1"/>
          </p:cNvPicPr>
          <p:nvPr/>
        </p:nvPicPr>
        <p:blipFill>
          <a:blip r:embed="rId7"/>
          <a:stretch>
            <a:fillRect/>
          </a:stretch>
        </p:blipFill>
        <p:spPr>
          <a:xfrm>
            <a:off x="8906256" y="1572768"/>
            <a:ext cx="182880" cy="182880"/>
          </a:xfrm>
          <a:prstGeom prst="rect">
            <a:avLst/>
          </a:prstGeom>
        </p:spPr>
      </p:pic>
      <p:sp>
        <p:nvSpPr>
          <p:cNvPr id="62" name="Shape 53"/>
          <p:cNvSpPr/>
          <p:nvPr/>
        </p:nvSpPr>
        <p:spPr>
          <a:xfrm>
            <a:off x="9125712" y="1627632"/>
            <a:ext cx="2514600" cy="329184"/>
          </a:xfrm>
          <a:prstGeom prst="rect">
            <a:avLst/>
          </a:prstGeom>
          <a:ln w="12700">
            <a:solidFill>
              <a:srgbClr val="7F9CC0"/>
            </a:solidFill>
            <a:prstDash val="sysDot"/>
          </a:ln>
        </p:spPr>
      </p:sp>
      <p:sp>
        <p:nvSpPr>
          <p:cNvPr id="63" name="Text 54"/>
          <p:cNvSpPr txBox="1"/>
          <p:nvPr/>
        </p:nvSpPr>
        <p:spPr>
          <a:xfrm>
            <a:off x="9125712" y="1627632"/>
            <a:ext cx="2514600" cy="329184"/>
          </a:xfrm>
          <a:prstGeom prst="rect">
            <a:avLst/>
          </a:prstGeom>
          <a:noFill/>
          <a:ln/>
        </p:spPr>
        <p:txBody>
          <a:bodyPr wrap="square" lIns="0" tIns="0" rIns="0" bIns="0" rtlCol="0" anchor="ctr"/>
          <a:lstStyle/>
          <a:p>
            <a:pPr algn="ctr" indent="0" marL="0">
              <a:buNone/>
            </a:pPr>
            <a:r>
              <a:rPr lang="en-US" sz="1000" b="1" dirty="0">
                <a:solidFill>
                  <a:srgbClr val="1F4E9A"/>
                </a:solidFill>
                <a:latin typeface="Calibri" pitchFamily="34" charset="0"/>
                <a:ea typeface="Calibri" pitchFamily="34" charset="-122"/>
                <a:cs typeface="Calibri" pitchFamily="34" charset="-120"/>
              </a:rPr>
              <a:t>Access To Scalable analytics team</a:t>
            </a:r>
            <a:endParaRPr lang="en-US" sz="1000" dirty="0"/>
          </a:p>
        </p:txBody>
      </p:sp>
      <p:sp>
        <p:nvSpPr>
          <p:cNvPr id="64" name="Shape 55"/>
          <p:cNvSpPr/>
          <p:nvPr/>
        </p:nvSpPr>
        <p:spPr>
          <a:xfrm>
            <a:off x="9034272" y="2084832"/>
            <a:ext cx="2560320" cy="2139696"/>
          </a:xfrm>
          <a:prstGeom prst="rect">
            <a:avLst/>
          </a:prstGeom>
          <a:ln w="12700">
            <a:solidFill>
              <a:srgbClr val="7F9CC0"/>
            </a:solidFill>
            <a:prstDash val="sysDot"/>
          </a:ln>
        </p:spPr>
      </p:sp>
      <p:sp>
        <p:nvSpPr>
          <p:cNvPr id="65" name="Text 56"/>
          <p:cNvSpPr txBox="1"/>
          <p:nvPr/>
        </p:nvSpPr>
        <p:spPr>
          <a:xfrm>
            <a:off x="9034272" y="2121408"/>
            <a:ext cx="2560320" cy="256032"/>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Org Expertise</a:t>
            </a:r>
            <a:endParaRPr lang="en-US" sz="1150" dirty="0"/>
          </a:p>
        </p:txBody>
      </p:sp>
      <p:sp>
        <p:nvSpPr>
          <p:cNvPr id="66" name="Shape 57"/>
          <p:cNvSpPr/>
          <p:nvPr/>
        </p:nvSpPr>
        <p:spPr>
          <a:xfrm>
            <a:off x="9189720" y="2414016"/>
            <a:ext cx="2249424" cy="0"/>
          </a:xfrm>
          <a:prstGeom prst="line">
            <a:avLst/>
          </a:prstGeom>
          <a:noFill/>
          <a:ln w="9525">
            <a:solidFill>
              <a:srgbClr val="1F4E9A"/>
            </a:solidFill>
            <a:prstDash val="dash"/>
          </a:ln>
        </p:spPr>
      </p:sp>
      <p:sp>
        <p:nvSpPr>
          <p:cNvPr id="67" name="Shape 58"/>
          <p:cNvSpPr/>
          <p:nvPr/>
        </p:nvSpPr>
        <p:spPr>
          <a:xfrm>
            <a:off x="9125712" y="2505456"/>
            <a:ext cx="1170432" cy="457200"/>
          </a:xfrm>
          <a:prstGeom prst="roundRect">
            <a:avLst>
              <a:gd name="adj" fmla="val 16000"/>
            </a:avLst>
          </a:prstGeom>
          <a:solidFill>
            <a:srgbClr val="1F4E9A"/>
          </a:solidFill>
          <a:ln w="12700">
            <a:solidFill>
              <a:srgbClr val="1F4E9A"/>
            </a:solidFill>
            <a:prstDash val="solid"/>
          </a:ln>
        </p:spPr>
      </p:sp>
      <p:sp>
        <p:nvSpPr>
          <p:cNvPr id="68" name="Text 59"/>
          <p:cNvSpPr txBox="1"/>
          <p:nvPr/>
        </p:nvSpPr>
        <p:spPr>
          <a:xfrm>
            <a:off x="9162288"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DE Horizontal</a:t>
            </a:r>
            <a:endParaRPr lang="en-US" sz="850" dirty="0"/>
          </a:p>
        </p:txBody>
      </p:sp>
      <p:sp>
        <p:nvSpPr>
          <p:cNvPr id="69" name="Shape 60"/>
          <p:cNvSpPr/>
          <p:nvPr/>
        </p:nvSpPr>
        <p:spPr>
          <a:xfrm>
            <a:off x="10332720" y="2505456"/>
            <a:ext cx="1170432" cy="457200"/>
          </a:xfrm>
          <a:prstGeom prst="roundRect">
            <a:avLst>
              <a:gd name="adj" fmla="val 16000"/>
            </a:avLst>
          </a:prstGeom>
          <a:solidFill>
            <a:srgbClr val="1F4E9A"/>
          </a:solidFill>
          <a:ln w="12700">
            <a:solidFill>
              <a:srgbClr val="1F4E9A"/>
            </a:solidFill>
            <a:prstDash val="solid"/>
          </a:ln>
        </p:spPr>
      </p:sp>
      <p:sp>
        <p:nvSpPr>
          <p:cNvPr id="70" name="Text 61"/>
          <p:cNvSpPr txBox="1"/>
          <p:nvPr/>
        </p:nvSpPr>
        <p:spPr>
          <a:xfrm>
            <a:off x="10369296"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Data</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Science &amp; AI Horizontal</a:t>
            </a:r>
            <a:endParaRPr lang="en-US" sz="850" dirty="0"/>
          </a:p>
        </p:txBody>
      </p:sp>
      <p:sp>
        <p:nvSpPr>
          <p:cNvPr id="71" name="Shape 62"/>
          <p:cNvSpPr/>
          <p:nvPr/>
        </p:nvSpPr>
        <p:spPr>
          <a:xfrm>
            <a:off x="9125712" y="3035808"/>
            <a:ext cx="1170432" cy="457200"/>
          </a:xfrm>
          <a:prstGeom prst="roundRect">
            <a:avLst>
              <a:gd name="adj" fmla="val 16000"/>
            </a:avLst>
          </a:prstGeom>
          <a:solidFill>
            <a:srgbClr val="1F4E9A"/>
          </a:solidFill>
          <a:ln w="12700">
            <a:solidFill>
              <a:srgbClr val="1F4E9A"/>
            </a:solidFill>
            <a:prstDash val="solid"/>
          </a:ln>
        </p:spPr>
      </p:sp>
      <p:sp>
        <p:nvSpPr>
          <p:cNvPr id="72" name="Text 63"/>
          <p:cNvSpPr txBox="1"/>
          <p:nvPr/>
        </p:nvSpPr>
        <p:spPr>
          <a:xfrm>
            <a:off x="9162288"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BI</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Center of Excellence</a:t>
            </a:r>
            <a:endParaRPr lang="en-US" sz="850" dirty="0"/>
          </a:p>
        </p:txBody>
      </p:sp>
      <p:sp>
        <p:nvSpPr>
          <p:cNvPr id="73" name="Shape 64"/>
          <p:cNvSpPr/>
          <p:nvPr/>
        </p:nvSpPr>
        <p:spPr>
          <a:xfrm>
            <a:off x="10332720" y="3035808"/>
            <a:ext cx="1170432" cy="457200"/>
          </a:xfrm>
          <a:prstGeom prst="roundRect">
            <a:avLst>
              <a:gd name="adj" fmla="val 16000"/>
            </a:avLst>
          </a:prstGeom>
          <a:solidFill>
            <a:srgbClr val="1F4E9A"/>
          </a:solidFill>
          <a:ln w="12700">
            <a:solidFill>
              <a:srgbClr val="1F4E9A"/>
            </a:solidFill>
            <a:prstDash val="solid"/>
          </a:ln>
        </p:spPr>
      </p:sp>
      <p:sp>
        <p:nvSpPr>
          <p:cNvPr id="74" name="Text 65"/>
          <p:cNvSpPr txBox="1"/>
          <p:nvPr/>
        </p:nvSpPr>
        <p:spPr>
          <a:xfrm>
            <a:off x="10369296"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Supply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Chain CoE</a:t>
            </a:r>
            <a:endParaRPr lang="en-US" sz="850" dirty="0"/>
          </a:p>
        </p:txBody>
      </p:sp>
      <p:sp>
        <p:nvSpPr>
          <p:cNvPr id="75" name="Shape 66"/>
          <p:cNvSpPr/>
          <p:nvPr/>
        </p:nvSpPr>
        <p:spPr>
          <a:xfrm>
            <a:off x="9729216" y="3566160"/>
            <a:ext cx="1170432" cy="457200"/>
          </a:xfrm>
          <a:prstGeom prst="roundRect">
            <a:avLst>
              <a:gd name="adj" fmla="val 16000"/>
            </a:avLst>
          </a:prstGeom>
          <a:solidFill>
            <a:srgbClr val="1F4E9A"/>
          </a:solidFill>
          <a:ln w="12700">
            <a:solidFill>
              <a:srgbClr val="1F4E9A"/>
            </a:solidFill>
            <a:prstDash val="solid"/>
          </a:ln>
        </p:spPr>
      </p:sp>
      <p:sp>
        <p:nvSpPr>
          <p:cNvPr id="76" name="Text 67"/>
          <p:cNvSpPr txBox="1"/>
          <p:nvPr/>
        </p:nvSpPr>
        <p:spPr>
          <a:xfrm>
            <a:off x="9765792" y="3566160"/>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Service Delivery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Excellence</a:t>
            </a:r>
            <a:endParaRPr lang="en-US" sz="850" dirty="0"/>
          </a:p>
        </p:txBody>
      </p:sp>
      <p:sp>
        <p:nvSpPr>
          <p:cNvPr id="77" name="Shape 68"/>
          <p:cNvSpPr/>
          <p:nvPr/>
        </p:nvSpPr>
        <p:spPr>
          <a:xfrm>
            <a:off x="8988552" y="4389120"/>
            <a:ext cx="2651760" cy="896112"/>
          </a:xfrm>
          <a:prstGeom prst="roundRect">
            <a:avLst>
              <a:gd name="adj" fmla="val 10204"/>
            </a:avLst>
          </a:prstGeom>
          <a:solidFill>
            <a:srgbClr val="7A1F4B"/>
          </a:solidFill>
          <a:ln w="9525">
            <a:solidFill>
              <a:srgbClr val="3A0F24"/>
            </a:solidFill>
            <a:prstDash val="sysDot"/>
          </a:ln>
        </p:spPr>
      </p:sp>
      <p:sp>
        <p:nvSpPr>
          <p:cNvPr id="78" name="Text 69"/>
          <p:cNvSpPr txBox="1"/>
          <p:nvPr/>
        </p:nvSpPr>
        <p:spPr>
          <a:xfrm>
            <a:off x="9052560" y="4389120"/>
            <a:ext cx="2523744" cy="89611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Buffer Pool of Trained Data Engineers, Data Scientists, Business Analysts &amp; BI developers for Contingency Management</a:t>
            </a:r>
            <a:endParaRPr lang="en-US" sz="950" dirty="0"/>
          </a:p>
        </p:txBody>
      </p:sp>
      <p:pic>
        <p:nvPicPr>
          <p:cNvPr id="79" name="Image 7" descr="preencoded.png">    </p:cNvPr>
          <p:cNvPicPr>
            <a:picLocks noChangeAspect="1"/>
          </p:cNvPicPr>
          <p:nvPr/>
        </p:nvPicPr>
        <p:blipFill>
          <a:blip r:embed="rId8"/>
          <a:stretch>
            <a:fillRect/>
          </a:stretch>
        </p:blipFill>
        <p:spPr>
          <a:xfrm>
            <a:off x="11430000" y="5120640"/>
            <a:ext cx="182880" cy="182880"/>
          </a:xfrm>
          <a:prstGeom prst="rect">
            <a:avLst/>
          </a:prstGeom>
        </p:spPr>
      </p:pic>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2026-10-13T07:33:44Z</dcterms:created>
  <dcterms:modified xsi:type="dcterms:W3CDTF">2026-10-13T07:33:44Z</dcterms:modified>
</cp:coreProperties>
</file>